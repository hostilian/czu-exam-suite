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258" r:id="rId3"/>
    <p:sldId id="270" r:id="rId4"/>
    <p:sldId id="271" r:id="rId5"/>
    <p:sldId id="277" r:id="rId6"/>
    <p:sldId id="278" r:id="rId7"/>
    <p:sldId id="325" r:id="rId8"/>
    <p:sldId id="326" r:id="rId9"/>
    <p:sldId id="279" r:id="rId10"/>
    <p:sldId id="283" r:id="rId11"/>
    <p:sldId id="327" r:id="rId12"/>
    <p:sldId id="284" r:id="rId13"/>
    <p:sldId id="328" r:id="rId14"/>
    <p:sldId id="329" r:id="rId15"/>
    <p:sldId id="286" r:id="rId16"/>
    <p:sldId id="331" r:id="rId17"/>
    <p:sldId id="330" r:id="rId18"/>
    <p:sldId id="332" r:id="rId19"/>
    <p:sldId id="333" r:id="rId20"/>
    <p:sldId id="335" r:id="rId21"/>
    <p:sldId id="336" r:id="rId22"/>
    <p:sldId id="337" r:id="rId23"/>
    <p:sldId id="338" r:id="rId24"/>
    <p:sldId id="339" r:id="rId25"/>
    <p:sldId id="341" r:id="rId26"/>
    <p:sldId id="342" r:id="rId27"/>
    <p:sldId id="345" r:id="rId28"/>
    <p:sldId id="294" r:id="rId29"/>
  </p:sldIdLst>
  <p:sldSz cx="9144000" cy="6858000" type="screen4x3"/>
  <p:notesSz cx="7099300" cy="10234613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Styl Světlá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38" autoAdjust="0"/>
    <p:restoredTop sz="80714" autoAdjust="0"/>
  </p:normalViewPr>
  <p:slideViewPr>
    <p:cSldViewPr>
      <p:cViewPr varScale="1">
        <p:scale>
          <a:sx n="69" d="100"/>
          <a:sy n="69" d="100"/>
        </p:scale>
        <p:origin x="232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1297" y="0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/>
          <a:lstStyle>
            <a:lvl1pPr algn="r">
              <a:defRPr sz="1300"/>
            </a:lvl1pPr>
          </a:lstStyle>
          <a:p>
            <a:fld id="{3DFDF4BB-19E4-4249-AD4F-E9648CF8E63C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26" tIns="49514" rIns="99026" bIns="49514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09931" y="4861444"/>
            <a:ext cx="5679440" cy="4605576"/>
          </a:xfrm>
          <a:prstGeom prst="rect">
            <a:avLst/>
          </a:prstGeom>
        </p:spPr>
        <p:txBody>
          <a:bodyPr vert="horz" lIns="99026" tIns="49514" rIns="99026" bIns="49514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3" y="9721109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1297" y="9721109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 anchor="b"/>
          <a:lstStyle>
            <a:lvl1pPr algn="r">
              <a:defRPr sz="13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21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0" dirty="0" err="1"/>
              <a:t>Meadows</a:t>
            </a:r>
            <a:r>
              <a:rPr lang="cs-CZ" b="0" dirty="0"/>
              <a:t> – show slinky</a:t>
            </a:r>
            <a:endParaRPr lang="cs-CZ" b="0" baseline="0" dirty="0"/>
          </a:p>
          <a:p>
            <a:endParaRPr lang="cs-CZ" b="0" baseline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51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1" dirty="0" err="1"/>
              <a:t>Zakadatel</a:t>
            </a:r>
            <a:r>
              <a:rPr lang="cs-CZ" dirty="0"/>
              <a:t> – MIT, když chtěl</a:t>
            </a:r>
            <a:r>
              <a:rPr lang="cs-CZ" baseline="0" dirty="0"/>
              <a:t> zkusit soukromou sféru, vedoucí laboratoře ho přibral k projektům NAVY, aby si ho udržel (40. léta). Změnil projekt z analogového na digitální počítač, během práce na projektu </a:t>
            </a:r>
            <a:r>
              <a:rPr lang="cs-CZ" baseline="0" dirty="0" err="1"/>
              <a:t>Whirlwind</a:t>
            </a:r>
            <a:r>
              <a:rPr lang="cs-CZ" baseline="0" dirty="0"/>
              <a:t> (digitální počítač), </a:t>
            </a:r>
            <a:r>
              <a:rPr lang="cs-CZ" baseline="0" dirty="0" err="1"/>
              <a:t>Forrester</a:t>
            </a:r>
            <a:r>
              <a:rPr lang="cs-CZ" baseline="0" dirty="0"/>
              <a:t> velice zdokonalil magnetickou paměť, předchůdce RAM.</a:t>
            </a:r>
            <a:endParaRPr lang="cs-CZ" dirty="0"/>
          </a:p>
          <a:p>
            <a:r>
              <a:rPr lang="cs-CZ" dirty="0"/>
              <a:t>50. Léta –</a:t>
            </a:r>
            <a:r>
              <a:rPr lang="cs-CZ" baseline="0" dirty="0"/>
              <a:t> </a:t>
            </a:r>
            <a:r>
              <a:rPr lang="cs-CZ" baseline="0" dirty="0" err="1"/>
              <a:t>Industrial</a:t>
            </a:r>
            <a:r>
              <a:rPr lang="cs-CZ" baseline="0" dirty="0"/>
              <a:t> Dynamics (kniha 1961)</a:t>
            </a:r>
            <a:endParaRPr lang="cs-CZ" dirty="0"/>
          </a:p>
          <a:p>
            <a:r>
              <a:rPr lang="cs-CZ" dirty="0"/>
              <a:t>V 70 letech Meze růstu</a:t>
            </a:r>
            <a:r>
              <a:rPr lang="cs-CZ" baseline="0" dirty="0"/>
              <a:t> lidského druhu – model světa </a:t>
            </a:r>
          </a:p>
          <a:p>
            <a:r>
              <a:rPr lang="cs-CZ" baseline="0" dirty="0"/>
              <a:t>– v mnoha ohledech jsou odpovědní za definování pojmu udržitelný rozvoj</a:t>
            </a:r>
            <a:endParaRPr lang="cs-CZ" dirty="0"/>
          </a:p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129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2000" i="1" noProof="0" dirty="0">
                <a:latin typeface="Arial" charset="0"/>
              </a:rPr>
              <a:t>System</a:t>
            </a:r>
            <a:r>
              <a:rPr lang="en-GB" sz="2000" noProof="0" dirty="0">
                <a:latin typeface="Arial" charset="0"/>
              </a:rPr>
              <a:t> – Set of elements or parts that is </a:t>
            </a:r>
            <a:r>
              <a:rPr lang="en-GB" sz="2000" noProof="0" dirty="0" err="1">
                <a:latin typeface="Arial" charset="0"/>
              </a:rPr>
              <a:t>coherentl</a:t>
            </a:r>
            <a:r>
              <a:rPr lang="cs-CZ" sz="2000" noProof="0" dirty="0">
                <a:latin typeface="Arial" charset="0"/>
              </a:rPr>
              <a:t>y</a:t>
            </a:r>
            <a:r>
              <a:rPr lang="en-GB" sz="2000" noProof="0" dirty="0">
                <a:latin typeface="Arial" charset="0"/>
              </a:rPr>
              <a:t> organised</a:t>
            </a:r>
            <a:r>
              <a:rPr lang="en-GB" sz="2000" baseline="0" noProof="0" dirty="0">
                <a:latin typeface="Arial" charset="0"/>
              </a:rPr>
              <a:t> and interconnected in a pattern or structure that produces a characteristic set of behaviours, often classified as its function or purpose</a:t>
            </a:r>
            <a:r>
              <a:rPr lang="en-GB" sz="2000" noProof="0" dirty="0">
                <a:latin typeface="Arial" charset="0"/>
              </a:rPr>
              <a:t>. (Meadows, 2008)</a:t>
            </a:r>
          </a:p>
          <a:p>
            <a:endParaRPr lang="en-GB" sz="2000" noProof="0" dirty="0">
              <a:latin typeface="Arial" charset="0"/>
            </a:endParaRPr>
          </a:p>
          <a:p>
            <a:pPr defTabSz="990379">
              <a:defRPr/>
            </a:pPr>
            <a:r>
              <a:rPr lang="en-GB" sz="2000" baseline="0" noProof="0" dirty="0"/>
              <a:t>SD </a:t>
            </a:r>
            <a:r>
              <a:rPr lang="en-GB" sz="2000" noProof="0" dirty="0"/>
              <a:t>-</a:t>
            </a:r>
            <a:r>
              <a:rPr lang="en-GB" sz="2000" baseline="0" noProof="0" dirty="0"/>
              <a:t> </a:t>
            </a:r>
            <a:r>
              <a:rPr lang="en-GB" sz="2000" baseline="0" noProof="0" dirty="0" err="1"/>
              <a:t>Škola</a:t>
            </a:r>
            <a:r>
              <a:rPr lang="en-GB" sz="2000" baseline="0" noProof="0" dirty="0"/>
              <a:t> je </a:t>
            </a:r>
            <a:r>
              <a:rPr lang="en-GB" sz="2000" baseline="0" noProof="0" dirty="0" err="1"/>
              <a:t>systém</a:t>
            </a:r>
            <a:r>
              <a:rPr lang="en-GB" sz="2000" baseline="0" noProof="0" dirty="0"/>
              <a:t>, </a:t>
            </a:r>
            <a:r>
              <a:rPr lang="en-GB" sz="2000" baseline="0" noProof="0" dirty="0" err="1"/>
              <a:t>strom</a:t>
            </a:r>
            <a:r>
              <a:rPr lang="en-GB" sz="2000" baseline="0" noProof="0" dirty="0"/>
              <a:t> je </a:t>
            </a:r>
            <a:r>
              <a:rPr lang="en-GB" sz="2000" baseline="0" noProof="0" dirty="0" err="1"/>
              <a:t>systém</a:t>
            </a:r>
            <a:r>
              <a:rPr lang="en-GB" sz="2000" baseline="0" noProof="0" dirty="0"/>
              <a:t>, </a:t>
            </a:r>
            <a:r>
              <a:rPr lang="en-GB" sz="2000" baseline="0" noProof="0" dirty="0" err="1"/>
              <a:t>země</a:t>
            </a:r>
            <a:r>
              <a:rPr lang="en-GB" sz="2000" baseline="0" noProof="0" dirty="0"/>
              <a:t> je </a:t>
            </a:r>
            <a:r>
              <a:rPr lang="en-GB" sz="2000" baseline="0" noProof="0" dirty="0" err="1"/>
              <a:t>systém</a:t>
            </a:r>
            <a:r>
              <a:rPr lang="en-GB" sz="2000" baseline="0" noProof="0" dirty="0"/>
              <a:t>… - z </a:t>
            </a:r>
            <a:r>
              <a:rPr lang="en-GB" sz="2000" baseline="0" noProof="0" dirty="0" err="1"/>
              <a:t>toho</a:t>
            </a:r>
            <a:r>
              <a:rPr lang="en-GB" sz="2000" baseline="0" noProof="0" dirty="0"/>
              <a:t> je </a:t>
            </a:r>
            <a:r>
              <a:rPr lang="en-GB" sz="2000" baseline="0" noProof="0" dirty="0" err="1"/>
              <a:t>východisko</a:t>
            </a:r>
            <a:r>
              <a:rPr lang="en-GB" sz="2000" baseline="0" noProof="0" dirty="0"/>
              <a:t> pro </a:t>
            </a:r>
            <a:r>
              <a:rPr lang="en-GB" sz="2000" baseline="0" noProof="0" dirty="0" err="1"/>
              <a:t>modelování</a:t>
            </a:r>
            <a:r>
              <a:rPr lang="en-GB" sz="2000" baseline="0" noProof="0" dirty="0"/>
              <a:t>: </a:t>
            </a:r>
            <a:r>
              <a:rPr lang="en-GB" sz="2000" b="1" i="1" baseline="0" noProof="0" dirty="0"/>
              <a:t>Make models of problems not systems.</a:t>
            </a:r>
            <a:endParaRPr lang="en-GB" sz="2000" noProof="0" dirty="0"/>
          </a:p>
          <a:p>
            <a:endParaRPr lang="en-GB" sz="2000" noProof="0" dirty="0">
              <a:latin typeface="Arial" charset="0"/>
            </a:endParaRPr>
          </a:p>
          <a:p>
            <a:r>
              <a:rPr lang="en-GB" sz="2000" noProof="0" dirty="0">
                <a:latin typeface="Arial" charset="0"/>
              </a:rPr>
              <a:t>Policy </a:t>
            </a:r>
            <a:r>
              <a:rPr lang="en-GB" sz="2000" i="1" noProof="0" dirty="0">
                <a:latin typeface="Arial" charset="0"/>
              </a:rPr>
              <a:t>„…g</a:t>
            </a:r>
            <a:r>
              <a:rPr lang="en-GB" sz="20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overns how the decisions are made</a:t>
            </a:r>
            <a:r>
              <a:rPr lang="en-GB" sz="2000" noProof="0" dirty="0">
                <a:latin typeface="Arial" charset="0"/>
              </a:rPr>
              <a:t>.“</a:t>
            </a:r>
          </a:p>
          <a:p>
            <a:r>
              <a:rPr lang="en-GB" sz="20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rules by which information sources are converted into a continuous flow of decisions</a:t>
            </a:r>
            <a:endParaRPr lang="en-GB" sz="2000" noProof="0" dirty="0">
              <a:latin typeface="Arial" charset="0"/>
            </a:endParaRPr>
          </a:p>
          <a:p>
            <a:endParaRPr lang="en-GB" sz="2000" i="1" noProof="0" dirty="0">
              <a:latin typeface="Arial" charset="0"/>
            </a:endParaRPr>
          </a:p>
          <a:p>
            <a:r>
              <a:rPr lang="en-GB" sz="2000" noProof="0" dirty="0">
                <a:latin typeface="Arial" charset="0"/>
              </a:rPr>
              <a:t>Complexity – complicated interconnections of elements – We can‘t do just one think. Everything is interconnected. </a:t>
            </a:r>
          </a:p>
          <a:p>
            <a:endParaRPr lang="en-GB" sz="2000" noProof="0" dirty="0">
              <a:latin typeface="Arial" charset="0"/>
            </a:endParaRPr>
          </a:p>
          <a:p>
            <a:pPr>
              <a:buFontTx/>
              <a:buChar char="-"/>
            </a:pPr>
            <a:r>
              <a:rPr lang="en-GB" sz="2000" noProof="0" dirty="0">
                <a:latin typeface="Arial" charset="0"/>
              </a:rPr>
              <a:t>Complexity isn‘t based on great number o</a:t>
            </a:r>
            <a:r>
              <a:rPr lang="cs-CZ" sz="2000" noProof="0" dirty="0">
                <a:latin typeface="Arial" charset="0"/>
              </a:rPr>
              <a:t>f</a:t>
            </a:r>
            <a:r>
              <a:rPr lang="en-GB" sz="2000" noProof="0" dirty="0">
                <a:latin typeface="Arial" charset="0"/>
              </a:rPr>
              <a:t> elements (that would be combinatorial</a:t>
            </a:r>
            <a:r>
              <a:rPr lang="en-GB" sz="2000" baseline="0" noProof="0" dirty="0">
                <a:latin typeface="Arial" charset="0"/>
              </a:rPr>
              <a:t> complexity</a:t>
            </a:r>
            <a:r>
              <a:rPr lang="en-GB" sz="2000" noProof="0" dirty="0">
                <a:latin typeface="Arial" charset="0"/>
              </a:rPr>
              <a:t>)</a:t>
            </a:r>
          </a:p>
          <a:p>
            <a:pPr>
              <a:buFontTx/>
              <a:buNone/>
            </a:pPr>
            <a:endParaRPr lang="en-GB" sz="2000" i="1" noProof="0" dirty="0">
              <a:latin typeface="Arial" charset="0"/>
            </a:endParaRPr>
          </a:p>
          <a:p>
            <a:pPr>
              <a:buFontTx/>
              <a:buNone/>
            </a:pPr>
            <a:r>
              <a:rPr lang="en-GB" sz="2000" i="1" noProof="0" dirty="0">
                <a:latin typeface="Arial" charset="0"/>
              </a:rPr>
              <a:t>Dynamic complexity</a:t>
            </a:r>
            <a:r>
              <a:rPr lang="en-GB" sz="2000" i="1" baseline="0" noProof="0" dirty="0">
                <a:latin typeface="Arial" charset="0"/>
              </a:rPr>
              <a:t>  emphasize the </a:t>
            </a:r>
            <a:r>
              <a:rPr lang="en-GB" sz="2000" i="1" baseline="0" noProof="0" dirty="0" err="1">
                <a:latin typeface="Arial" charset="0"/>
              </a:rPr>
              <a:t>multiloop</a:t>
            </a:r>
            <a:r>
              <a:rPr lang="en-GB" sz="2000" i="1" baseline="0" noProof="0" dirty="0">
                <a:latin typeface="Arial" charset="0"/>
              </a:rPr>
              <a:t>, multistate, nonlinear character of feedback systems.</a:t>
            </a:r>
            <a:r>
              <a:rPr lang="en-GB" sz="2000" noProof="0" dirty="0">
                <a:latin typeface="Arial" charset="0"/>
              </a:rPr>
              <a:t> </a:t>
            </a:r>
            <a:endParaRPr lang="en-GB" sz="2000" noProof="0" dirty="0"/>
          </a:p>
          <a:p>
            <a:endParaRPr lang="cs-CZ" sz="160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6475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i="1" dirty="0"/>
              <a:t>Vlastně definuje specifický pohled SD</a:t>
            </a:r>
          </a:p>
          <a:p>
            <a:r>
              <a:rPr lang="cs-CZ" dirty="0"/>
              <a:t>Dynamika – změna/vývoj/chování</a:t>
            </a:r>
            <a:r>
              <a:rPr lang="cs-CZ" baseline="0" dirty="0"/>
              <a:t> v čase</a:t>
            </a:r>
          </a:p>
          <a:p>
            <a:r>
              <a:rPr lang="cs-CZ" dirty="0"/>
              <a:t>Těsná propojenost – nemůžete udělat jen jednu věc</a:t>
            </a:r>
          </a:p>
          <a:p>
            <a:r>
              <a:rPr lang="cs-CZ" dirty="0"/>
              <a:t>X ovlivní</a:t>
            </a:r>
            <a:r>
              <a:rPr lang="cs-CZ" baseline="0" dirty="0"/>
              <a:t> Y to ovlivní Z a to pak ovlivní X</a:t>
            </a:r>
          </a:p>
          <a:p>
            <a:r>
              <a:rPr lang="cs-CZ" baseline="0" dirty="0" err="1"/>
              <a:t>Effect</a:t>
            </a:r>
            <a:r>
              <a:rPr lang="cs-CZ" baseline="0" dirty="0"/>
              <a:t> </a:t>
            </a:r>
            <a:r>
              <a:rPr lang="cs-CZ" baseline="0" dirty="0" err="1"/>
              <a:t>is</a:t>
            </a:r>
            <a:r>
              <a:rPr lang="cs-CZ" baseline="0" dirty="0"/>
              <a:t> </a:t>
            </a:r>
            <a:r>
              <a:rPr lang="cs-CZ" baseline="0" dirty="0" err="1"/>
              <a:t>rarely</a:t>
            </a:r>
            <a:r>
              <a:rPr lang="cs-CZ" baseline="0" dirty="0"/>
              <a:t> </a:t>
            </a:r>
            <a:r>
              <a:rPr lang="cs-CZ" baseline="0" dirty="0" err="1"/>
              <a:t>proportional</a:t>
            </a:r>
            <a:r>
              <a:rPr lang="cs-CZ" baseline="0" dirty="0"/>
              <a:t> to cause</a:t>
            </a:r>
          </a:p>
          <a:p>
            <a:pPr defTabSz="990379">
              <a:defRPr/>
            </a:pPr>
            <a:r>
              <a:rPr lang="cs-CZ" dirty="0"/>
              <a:t>Závislost na historii – rozhodnutí pro jednu cestu určuje možnosti v budoucnu</a:t>
            </a:r>
          </a:p>
          <a:p>
            <a:pPr defTabSz="990379">
              <a:defRPr/>
            </a:pPr>
            <a:r>
              <a:rPr lang="cs-CZ" dirty="0"/>
              <a:t>Sebe-organizace – chování systému vychází z jeho </a:t>
            </a:r>
            <a:r>
              <a:rPr lang="cs-CZ" dirty="0" err="1"/>
              <a:t>stuktury</a:t>
            </a:r>
            <a:r>
              <a:rPr lang="cs-CZ" dirty="0"/>
              <a:t>,</a:t>
            </a:r>
            <a:r>
              <a:rPr lang="cs-CZ" baseline="0" dirty="0"/>
              <a:t> je dáno vazbami mezi prvky a agenty v systému</a:t>
            </a:r>
          </a:p>
          <a:p>
            <a:pPr defTabSz="990379">
              <a:defRPr/>
            </a:pPr>
            <a:r>
              <a:rPr lang="cs-CZ" baseline="0" dirty="0" err="1"/>
              <a:t>Adativita</a:t>
            </a:r>
            <a:r>
              <a:rPr lang="cs-CZ" baseline="0" dirty="0"/>
              <a:t> – rozhodovací pravidla se v čase mění, dáno učením agentů</a:t>
            </a:r>
          </a:p>
          <a:p>
            <a:pPr defTabSz="990379">
              <a:defRPr/>
            </a:pPr>
            <a:r>
              <a:rPr lang="cs-CZ" baseline="0" dirty="0" err="1"/>
              <a:t>Protiintuitivnost</a:t>
            </a:r>
            <a:r>
              <a:rPr lang="cs-CZ" baseline="0" dirty="0"/>
              <a:t> – akce a reakce jsou vzdáleny v čase i prostoru (</a:t>
            </a:r>
            <a:r>
              <a:rPr lang="cs-CZ" baseline="0" dirty="0" err="1"/>
              <a:t>Coylův</a:t>
            </a:r>
            <a:r>
              <a:rPr lang="cs-CZ" baseline="0" dirty="0"/>
              <a:t> příklad na zpoždění s britským námořnictvem), toto souvisí i s mentálními modely a omezenou racionalitou</a:t>
            </a:r>
          </a:p>
          <a:p>
            <a:pPr defTabSz="990379">
              <a:defRPr/>
            </a:pPr>
            <a:r>
              <a:rPr lang="cs-CZ" baseline="0" dirty="0"/>
              <a:t>Resistence – systémy svou komplexitou přesahují naše možnosti porozumět jim – výsledek: mnoho zřejmých, očividných řešení selhává nebo situaci zhoršují</a:t>
            </a:r>
          </a:p>
          <a:p>
            <a:pPr defTabSz="990379">
              <a:defRPr/>
            </a:pPr>
            <a:r>
              <a:rPr lang="cs-CZ" baseline="0" dirty="0"/>
              <a:t>Substituční vztahy (z ekonomického hlediska) – zpoždění ve zpětných vazbách obvykle znamená rozdílné výsledky v krátkém a dlouhém období. Politiky s velikým pákovým efektem (</a:t>
            </a:r>
            <a:r>
              <a:rPr lang="cs-CZ" baseline="0" dirty="0" err="1"/>
              <a:t>high</a:t>
            </a:r>
            <a:r>
              <a:rPr lang="cs-CZ" baseline="0" dirty="0"/>
              <a:t> </a:t>
            </a:r>
            <a:r>
              <a:rPr lang="cs-CZ" baseline="0" dirty="0" err="1"/>
              <a:t>leverage</a:t>
            </a:r>
            <a:r>
              <a:rPr lang="cs-CZ" baseline="0" dirty="0"/>
              <a:t> </a:t>
            </a:r>
            <a:r>
              <a:rPr lang="cs-CZ" baseline="0" dirty="0" err="1"/>
              <a:t>policies</a:t>
            </a:r>
            <a:r>
              <a:rPr lang="cs-CZ" baseline="0" dirty="0"/>
              <a:t>) často způsobují nejdříve zhoršení a zlepšení až v delším období. Stejně tak naopak.</a:t>
            </a:r>
          </a:p>
          <a:p>
            <a:pPr defTabSz="990379">
              <a:defRPr/>
            </a:pPr>
            <a:endParaRPr lang="cs-CZ" baseline="0" dirty="0"/>
          </a:p>
          <a:p>
            <a:pPr defTabSz="990379">
              <a:defRPr/>
            </a:pPr>
            <a:endParaRPr lang="cs-CZ" baseline="0" dirty="0"/>
          </a:p>
          <a:p>
            <a:pPr defTabSz="990379">
              <a:defRPr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7524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379">
              <a:defRPr/>
            </a:pPr>
            <a:r>
              <a:rPr lang="cs-CZ" dirty="0"/>
              <a:t>Snížíme cenu, abychom získali větší tržní podíl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209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sz="1200" dirty="0">
              <a:latin typeface="Arial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ED96C-B576-43EA-BA80-73AFCDE52D65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172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379">
              <a:defRPr/>
            </a:pPr>
            <a:r>
              <a:rPr lang="cs-CZ" dirty="0"/>
              <a:t>Snížíme cenu, abychom získali větší tržní podíl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8734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1300" dirty="0"/>
              <a:t>Je však obtížné vnímat důsledky činnosti, které jsou časově i prostorově vzdáleny. Následky, které nebyly plánovány ani očekávány, mohou oslabovat účinnost původních akcí i zatěžovat jiné hráče, bývají nazývány vedlejšími efekty. </a:t>
            </a:r>
            <a:r>
              <a:rPr lang="cs-CZ" sz="1300" dirty="0" err="1"/>
              <a:t>Sterman</a:t>
            </a:r>
            <a:r>
              <a:rPr lang="cs-CZ" sz="1300" dirty="0"/>
              <a:t> (2000) však doplňuje, že </a:t>
            </a:r>
            <a:r>
              <a:rPr lang="cs-CZ" sz="1300" b="1" dirty="0"/>
              <a:t>vedlejší efekty nejsou součástí skutečnosti</a:t>
            </a:r>
            <a:r>
              <a:rPr lang="cs-CZ" sz="1300" dirty="0"/>
              <a:t>. Nedomyšlenost důsledků je charakteristika činnosti aktéra, v realitě je možné hovořit pouze o efektech.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63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Oba články </a:t>
            </a:r>
            <a:r>
              <a:rPr lang="cs-CZ" i="1" dirty="0"/>
              <a:t>P</a:t>
            </a:r>
            <a:r>
              <a:rPr lang="en-GB" i="1" dirty="0" err="1"/>
              <a:t>sychological</a:t>
            </a:r>
            <a:r>
              <a:rPr lang="en-GB" i="1" dirty="0"/>
              <a:t> Review</a:t>
            </a:r>
            <a:r>
              <a:rPr lang="en-GB" dirty="0"/>
              <a:t>, 1956, vol. 63, no. 2</a:t>
            </a:r>
            <a:endParaRPr lang="cs-CZ" dirty="0"/>
          </a:p>
          <a:p>
            <a:r>
              <a:rPr lang="cs-CZ" dirty="0"/>
              <a:t>Mentální modely</a:t>
            </a:r>
          </a:p>
          <a:p>
            <a:pPr lvl="1"/>
            <a:r>
              <a:rPr lang="cs-CZ" dirty="0"/>
              <a:t>„Relativně stálé a přístupné, ale omezené vnitřní pojmové reprezentace vnějších systémů, jejichž struktura zachovává vnímanou strukturu těchto systémů.“</a:t>
            </a:r>
          </a:p>
          <a:p>
            <a:pPr lvl="1"/>
            <a:r>
              <a:rPr lang="cs-CZ" b="1" i="1" dirty="0"/>
              <a:t>Pojmová reprezentace </a:t>
            </a:r>
            <a:r>
              <a:rPr lang="cs-CZ" dirty="0"/>
              <a:t>vyjadřuje relativní složitost této zvnitřněné představy, která představuje nutnost slovního vyjádření, pro obrazovou představu (mentální obraz) je již mentální model příliš složitý</a:t>
            </a:r>
            <a:endParaRPr lang="cs-CZ" b="1" i="1" dirty="0"/>
          </a:p>
          <a:p>
            <a:pPr lvl="1"/>
            <a:r>
              <a:rPr lang="cs-CZ" dirty="0"/>
              <a:t>individuální a sdílené</a:t>
            </a:r>
          </a:p>
          <a:p>
            <a:r>
              <a:rPr lang="cs-CZ" sz="1300" dirty="0" err="1"/>
              <a:t>Kim</a:t>
            </a:r>
            <a:r>
              <a:rPr lang="cs-CZ" sz="1300" dirty="0"/>
              <a:t> a </a:t>
            </a:r>
            <a:r>
              <a:rPr lang="cs-CZ" sz="1300" dirty="0" err="1"/>
              <a:t>Senge</a:t>
            </a:r>
            <a:r>
              <a:rPr lang="cs-CZ" sz="1300" dirty="0"/>
              <a:t> (1994, s. 278 – 281) zdůrazňují důležité dělení mentálních modelů na </a:t>
            </a:r>
            <a:r>
              <a:rPr lang="cs-CZ" sz="1300" b="1" dirty="0"/>
              <a:t>individuální</a:t>
            </a:r>
            <a:r>
              <a:rPr lang="cs-CZ" sz="1300" dirty="0"/>
              <a:t> a </a:t>
            </a:r>
            <a:r>
              <a:rPr lang="cs-CZ" sz="1300" b="1" dirty="0"/>
              <a:t>sdílené</a:t>
            </a:r>
            <a:r>
              <a:rPr lang="cs-CZ" sz="1300" dirty="0"/>
              <a:t>, které se v duchu systémové dynamiky vzájemně ovlivňují ve zpětnovazebné zpožděné smyčce učící se organizace.</a:t>
            </a:r>
          </a:p>
          <a:p>
            <a:pPr defTabSz="990379">
              <a:defRPr/>
            </a:pPr>
            <a:r>
              <a:rPr lang="cs-CZ" sz="1300" dirty="0"/>
              <a:t>Mentální modely určují nejen vnímání světa okolo nás, ale také </a:t>
            </a:r>
            <a:r>
              <a:rPr lang="cs-CZ" sz="1300" b="1" dirty="0"/>
              <a:t>chování v něm</a:t>
            </a:r>
            <a:r>
              <a:rPr lang="cs-CZ" sz="1300" dirty="0"/>
              <a:t>. </a:t>
            </a:r>
            <a:r>
              <a:rPr lang="cs-CZ" sz="1300" i="1" dirty="0"/>
              <a:t>Pokud se takové mentální modely stanou podvědomými, přestanou být chápány jako zjednodušení, mohou bránit pozitivní změně</a:t>
            </a:r>
            <a:r>
              <a:rPr lang="cs-CZ" sz="1300" dirty="0"/>
              <a:t>. Jejich reformulace ji však může i podpořit. Proto je důležité jejich odhalování a chápání </a:t>
            </a:r>
            <a:endParaRPr lang="cs-CZ" dirty="0"/>
          </a:p>
          <a:p>
            <a:pPr defTabSz="990379">
              <a:defRPr/>
            </a:pPr>
            <a:r>
              <a:rPr lang="cs-CZ" sz="1300" dirty="0"/>
              <a:t>Proto firma </a:t>
            </a:r>
            <a:r>
              <a:rPr lang="cs-CZ" sz="1300" b="1" dirty="0" err="1"/>
              <a:t>General</a:t>
            </a:r>
            <a:r>
              <a:rPr lang="cs-CZ" sz="1300" b="1" dirty="0"/>
              <a:t> </a:t>
            </a:r>
            <a:r>
              <a:rPr lang="cs-CZ" sz="1300" b="1" dirty="0" err="1"/>
              <a:t>Motors</a:t>
            </a:r>
            <a:r>
              <a:rPr lang="cs-CZ" sz="1300" b="1" dirty="0"/>
              <a:t> </a:t>
            </a:r>
            <a:r>
              <a:rPr lang="cs-CZ" sz="1300" dirty="0"/>
              <a:t>může být uváděna jako příklad statického myšlení a podvědomých mentálních modelů na konci osmdesátých let dvacátého století  i jako příklad firmy, které v letech devadesátých pomocí modelu systémové dynamiky pochopila a překonala špatné mentální modely ohledně krátkodobého leasingu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3733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379">
              <a:defRPr/>
            </a:pPr>
            <a:r>
              <a:rPr lang="cs-CZ" sz="1300" dirty="0"/>
              <a:t>Systémová dynamika sdílí kroky 1, 4 – 6 (obr. 3) s Soft OR, pouze přidává matematickou formulaci problému a simulaci (kroky 2 a 3). Krok 5 vyjadřuje jednak těsnost kontaktu mezi klientem a řešitelem, jednak vyjadřuje orientaci měkkého systémového myšlení. </a:t>
            </a:r>
          </a:p>
          <a:p>
            <a:r>
              <a:rPr lang="cs-CZ" sz="1300" dirty="0" err="1"/>
              <a:t>Forrester</a:t>
            </a:r>
            <a:r>
              <a:rPr lang="cs-CZ" sz="1300" dirty="0"/>
              <a:t> (1994, s. 246) navíc upozorňuje na zpětnou vazbu do předchozích kroků, tedy že simulace vede ke zpřesnění popisu systému. + odhad exponenciálního růstu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5617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1073236">
              <a:buFontTx/>
              <a:buChar char="-"/>
              <a:defRPr/>
            </a:pPr>
            <a:r>
              <a:rPr lang="cs-CZ" b="0" i="1" dirty="0"/>
              <a:t>Ontologie</a:t>
            </a:r>
            <a:r>
              <a:rPr lang="cs-CZ" b="0" dirty="0"/>
              <a:t> </a:t>
            </a:r>
            <a:r>
              <a:rPr lang="cs-CZ" dirty="0"/>
              <a:t>je </a:t>
            </a:r>
            <a:r>
              <a:rPr lang="cs-CZ" dirty="0">
                <a:solidFill>
                  <a:schemeClr val="tx1"/>
                </a:solidFill>
              </a:rPr>
              <a:t>filozofická </a:t>
            </a:r>
            <a:r>
              <a:rPr lang="cs-CZ" dirty="0"/>
              <a:t>disciplina, která se zabývá jsoucnem, bytím jako takovým a základními pojmy. </a:t>
            </a:r>
          </a:p>
          <a:p>
            <a:pPr>
              <a:buFontTx/>
              <a:buChar char="-"/>
            </a:pPr>
            <a:r>
              <a:rPr lang="cs-CZ" b="0" i="1" dirty="0"/>
              <a:t>Epistemologie</a:t>
            </a:r>
            <a:r>
              <a:rPr lang="cs-CZ" b="0" dirty="0"/>
              <a:t>  (nebo gnoseologie, noetika) </a:t>
            </a:r>
            <a:r>
              <a:rPr lang="cs-CZ" b="0" dirty="0">
                <a:solidFill>
                  <a:schemeClr val="tx1"/>
                </a:solidFill>
              </a:rPr>
              <a:t>je filozofická </a:t>
            </a:r>
            <a:r>
              <a:rPr lang="cs-CZ" b="0" dirty="0"/>
              <a:t>disciplina, která zkoumá lidské poznání, jeho vznik, proces a předmět.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106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379">
              <a:defRPr/>
            </a:pPr>
            <a:r>
              <a:rPr lang="cs-CZ" sz="1300" dirty="0"/>
              <a:t>Systémová dynamika sdílí kroky 1, 4 – 6 (obr. 3) s Soft OR, pouze přidává matematickou formulaci problému a simulaci (kroky 2 a 3). Krok 5 vyjadřuje jednak těsnost kontaktu mezi klientem a řešitelem, jednak vyjadřuje orientaci měkkého systémového myšlení. </a:t>
            </a:r>
          </a:p>
          <a:p>
            <a:r>
              <a:rPr lang="cs-CZ" sz="1300" dirty="0" err="1"/>
              <a:t>Forrester</a:t>
            </a:r>
            <a:r>
              <a:rPr lang="cs-CZ" sz="1300" dirty="0"/>
              <a:t> (1994, s. 246) navíc upozorňuje na zpětnou vazbu do předchozích kroků, tedy že simulace vede ke zpřesnění popisu systému. + odhad exponenciálního růstu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2D94F-2412-4F95-8680-296DCAAC3D29}" type="slidenum">
              <a:rPr lang="cs-CZ" smtClean="0"/>
              <a:pPr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2105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00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7E8A1E33-5B28-2C43-AFFB-11AF0DAF4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3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8B6B0297-ABC7-F84B-85A8-4DFECC7F5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9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DDA62E2-FE7A-4AFA-8044-1ED14126E70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4">
            <a:extLst>
              <a:ext uri="{FF2B5EF4-FFF2-40B4-BE49-F238E27FC236}">
                <a16:creationId xmlns:a16="http://schemas.microsoft.com/office/drawing/2014/main" id="{7602487F-3C29-4D79-9418-0A036B9FE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3">
            <a:extLst>
              <a:ext uri="{FF2B5EF4-FFF2-40B4-BE49-F238E27FC236}">
                <a16:creationId xmlns:a16="http://schemas.microsoft.com/office/drawing/2014/main" id="{F844F9EC-3F8E-4C04-9939-5FE5833C62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61B65073-2151-4C4E-9C3C-651867FC2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2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76E8AF4-6C04-4AD5-A275-DAF437588F3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75E6743E-3013-43C0-BCEE-F198C0D12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4">
            <a:extLst>
              <a:ext uri="{FF2B5EF4-FFF2-40B4-BE49-F238E27FC236}">
                <a16:creationId xmlns:a16="http://schemas.microsoft.com/office/drawing/2014/main" id="{67A4E56B-2C18-40EB-A1CF-C76A3F36BE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227D3A48-039E-724E-82EF-4F01CA8E0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5" name="Obrázek 14" descr="Obsah obrázku text&#10;&#10;Popis byl vytvořen automaticky">
            <a:extLst>
              <a:ext uri="{FF2B5EF4-FFF2-40B4-BE49-F238E27FC236}">
                <a16:creationId xmlns:a16="http://schemas.microsoft.com/office/drawing/2014/main" id="{E19424E9-4DDB-CF40-92C3-F70E30715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7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3899535-AA89-8F4E-97C4-9FA4F0DD5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878041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3F927B1-1D31-1749-A32D-E5B899D0E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BFBFB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77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5185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C4858C6-8C38-2B41-8CFE-1254036B4C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5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rgbClr val="C80C0F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D96739DC-B272-A942-A9ED-76826B025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00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587EC3D4-E53B-5446-B515-D3099FF581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0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DDC546C-2D13-A947-8672-83BE19C04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34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38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4198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4198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66B0A99E-A700-494A-928E-194351AE0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48E4E7FD-8E67-4CA1-B99F-8BF78FD8CF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B42C71F-24A2-4414-9417-B39450FE2AC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8E05BE6-9375-7B47-BE3D-8FD9100C579E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AC349FB-428C-7B42-B993-E97FBB98DCD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954099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52256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52256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6" name="Zástupný symbol pro text 6">
            <a:extLst>
              <a:ext uri="{FF2B5EF4-FFF2-40B4-BE49-F238E27FC236}">
                <a16:creationId xmlns:a16="http://schemas.microsoft.com/office/drawing/2014/main" id="{BFADBFEB-36FC-4372-B6CE-58EBC7FFB9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978F0355-7004-4CFE-9421-A8A1A62CF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CEE7F35-80D6-4A44-A79F-9A5BF9F28E3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B5A6409-23B7-A545-A4D8-A933AD41B5C6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999E4F-AF74-DB4E-8B4B-638D78E913AE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4019691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1903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1903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64907F56-1EFF-441C-9163-66B58475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0C077097-4898-476E-8653-0D75052D1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4993D17-DF83-49B5-BD7F-548B4A5A3AE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C0AD8F2-4BA5-D840-9CF9-1A60BE6D3AE9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3DFA86-88E0-D746-93B6-322B3E5FB3E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801998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79994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79994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271AC1B1-6DD2-4624-B5E1-05CD48AFF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9EB39BFC-3412-4994-BB20-6B3B39144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5E1CEE8-B267-482F-8FC9-A0CBECB5B5A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BD26F8C-C9C9-1844-B61C-5456ED1D14E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15D1AAD-326F-FE43-A378-B6195D1301DC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725086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6766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6766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C0B2EC7C-7295-4511-BEB9-1F21F76F5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466DB023-F78F-49C1-9875-70959FECA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C1BF5F3-421C-4882-84E2-ADC07FE86DF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C18F710-7ED6-AD41-9784-1327E6984D92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1D81C2-80D4-2548-91DB-82047245A7C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873477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E6C52F0-A869-994B-9A2A-946AD4F09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695142"/>
            <a:ext cx="3773562" cy="164110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you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attention</a:t>
            </a:r>
            <a:endParaRPr lang="cs-CZ" sz="3600" dirty="0">
              <a:solidFill>
                <a:schemeClr val="bg1"/>
              </a:solidFill>
              <a:effectLst>
                <a:glow rad="1397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69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7380FE-801F-3B4A-8E52-2A53DD273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41" y="5041976"/>
            <a:ext cx="3991716" cy="173598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83F6A2C-C2E5-B44A-9660-8F89AEEB2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1" y="5143576"/>
            <a:ext cx="3991716" cy="1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61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A9218E36-6589-BA4B-B382-FF8EA3F0C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DA8F002-9BA3-624D-B94C-A21C7E909596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</p:spTree>
    <p:extLst>
      <p:ext uri="{BB962C8B-B14F-4D97-AF65-F5344CB8AC3E}">
        <p14:creationId xmlns:p14="http://schemas.microsoft.com/office/powerpoint/2010/main" val="23965852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4F7AAA5-ECDB-B046-A48B-D0C2BB0C4FE7}"/>
              </a:ext>
            </a:extLst>
          </p:cNvPr>
          <p:cNvSpPr txBox="1"/>
          <p:nvPr/>
        </p:nvSpPr>
        <p:spPr>
          <a:xfrm>
            <a:off x="2065677" y="4072465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C53DF36-AD81-A945-BF7B-A39A3E50D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8" y="5739969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57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B431FA6-80EF-9449-90BD-C081B545B9C0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11C0A68-FD87-6A46-8195-D340F4861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534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62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AE9CB24-0D3C-1C4D-899E-1B118B5F7B14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 descr="Obsah obrázku text&#10;&#10;Popis byl vytvořen automaticky">
            <a:extLst>
              <a:ext uri="{FF2B5EF4-FFF2-40B4-BE49-F238E27FC236}">
                <a16:creationId xmlns:a16="http://schemas.microsoft.com/office/drawing/2014/main" id="{7ABA772E-3E2B-B94D-9EC0-C40803791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7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70606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74670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text 4"/>
          <p:cNvSpPr>
            <a:spLocks noGrp="1"/>
          </p:cNvSpPr>
          <p:nvPr>
            <p:ph type="body" sz="quarter" idx="10"/>
          </p:nvPr>
        </p:nvSpPr>
        <p:spPr>
          <a:xfrm>
            <a:off x="3492601" y="6308552"/>
            <a:ext cx="3815705" cy="287337"/>
          </a:xfrm>
        </p:spPr>
        <p:txBody>
          <a:bodyPr anchor="ctr" anchorCtr="0">
            <a:no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8" name="Zástupný symbol pro text 6"/>
          <p:cNvSpPr>
            <a:spLocks noGrp="1"/>
          </p:cNvSpPr>
          <p:nvPr>
            <p:ph type="body" sz="quarter" idx="11" hasCustomPrompt="1"/>
          </p:nvPr>
        </p:nvSpPr>
        <p:spPr>
          <a:xfrm>
            <a:off x="3492601" y="6595888"/>
            <a:ext cx="3815705" cy="262112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508924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text 4"/>
          <p:cNvSpPr>
            <a:spLocks noGrp="1"/>
          </p:cNvSpPr>
          <p:nvPr>
            <p:ph type="body" sz="quarter" idx="10"/>
          </p:nvPr>
        </p:nvSpPr>
        <p:spPr>
          <a:xfrm>
            <a:off x="3492601" y="6308552"/>
            <a:ext cx="3815705" cy="287337"/>
          </a:xfrm>
        </p:spPr>
        <p:txBody>
          <a:bodyPr anchor="ctr" anchorCtr="0">
            <a:no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8" name="Zástupný symbol pro text 6"/>
          <p:cNvSpPr>
            <a:spLocks noGrp="1"/>
          </p:cNvSpPr>
          <p:nvPr>
            <p:ph type="body" sz="quarter" idx="11" hasCustomPrompt="1"/>
          </p:nvPr>
        </p:nvSpPr>
        <p:spPr>
          <a:xfrm>
            <a:off x="3492601" y="6595888"/>
            <a:ext cx="3815705" cy="262112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803759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Nadpis, text a 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7132-DC61-4C9A-980A-14E6C9854D14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7299552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cs-CZ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01C92-5CE7-48BE-AF48-26AE546A6000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75262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41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4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Operations Research and Systems Analysis</a:t>
            </a:r>
            <a:endParaRPr lang="en-GB" noProof="0"/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0"/>
            <a:r>
              <a:rPr lang="en-GB" noProof="0"/>
              <a:t>System dynamics</a:t>
            </a:r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J. W. Forrester</a:t>
            </a:r>
          </a:p>
          <a:p>
            <a:endParaRPr lang="en-GB" dirty="0"/>
          </a:p>
          <a:p>
            <a:r>
              <a:rPr lang="en-GB" dirty="0"/>
              <a:t> was created during the 1950s</a:t>
            </a:r>
          </a:p>
          <a:p>
            <a:endParaRPr lang="en-GB" dirty="0"/>
          </a:p>
          <a:p>
            <a:r>
              <a:rPr lang="en-GB" dirty="0"/>
              <a:t>The best known (and probably the most criticised and misunderstood) SD project is The Limits to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System dynamics - definition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Forrester (1961, </a:t>
            </a:r>
            <a:r>
              <a:rPr lang="en-GB" i="1" noProof="0" dirty="0"/>
              <a:t>Industrial dynamics</a:t>
            </a:r>
            <a:r>
              <a:rPr lang="en-GB" noProof="0" dirty="0"/>
              <a:t>):</a:t>
            </a:r>
          </a:p>
          <a:p>
            <a:r>
              <a:rPr lang="en-GB" noProof="0" dirty="0"/>
              <a:t>„…</a:t>
            </a:r>
            <a:r>
              <a:rPr lang="en-GB" dirty="0"/>
              <a:t>is the </a:t>
            </a:r>
            <a:r>
              <a:rPr lang="en-GB" noProof="0" dirty="0"/>
              <a:t>investigation of the information-feedback character of industrial systems and the use of models for the design of improved organisational form and guiding policy.“ </a:t>
            </a:r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System dynamics - definition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04800" y="1554162"/>
            <a:ext cx="8686800" cy="5043190"/>
          </a:xfrm>
        </p:spPr>
        <p:txBody>
          <a:bodyPr>
            <a:normAutofit/>
          </a:bodyPr>
          <a:lstStyle/>
          <a:p>
            <a:r>
              <a:rPr lang="cs-CZ" noProof="0" dirty="0"/>
              <a:t>“</a:t>
            </a:r>
            <a:r>
              <a:rPr lang="en-GB" noProof="0" dirty="0"/>
              <a:t>System dynamics is a method to enhance learning in complex </a:t>
            </a:r>
            <a:r>
              <a:rPr lang="en-GB" b="1" noProof="0" dirty="0"/>
              <a:t>systems</a:t>
            </a:r>
            <a:r>
              <a:rPr lang="en-GB" noProof="0" dirty="0"/>
              <a:t>. Just as an airline uses flight simulators to help pilots learn, system dynamics is, partly, a method for developing management flight simulators, often </a:t>
            </a:r>
            <a:r>
              <a:rPr lang="en-GB" b="1" noProof="0" dirty="0"/>
              <a:t>computer simulation</a:t>
            </a:r>
            <a:r>
              <a:rPr lang="en-GB" noProof="0" dirty="0"/>
              <a:t> models, to help us learn about </a:t>
            </a:r>
            <a:r>
              <a:rPr lang="en-GB" b="1" noProof="0" dirty="0"/>
              <a:t>dynamic complexity</a:t>
            </a:r>
            <a:r>
              <a:rPr lang="en-GB" noProof="0" dirty="0"/>
              <a:t>, understand the sources of policy resistance, and design more effective </a:t>
            </a:r>
            <a:r>
              <a:rPr lang="en-GB" b="1" noProof="0" dirty="0"/>
              <a:t>policies</a:t>
            </a:r>
            <a:r>
              <a:rPr lang="en-GB" noProof="0" dirty="0"/>
              <a:t>.“ </a:t>
            </a:r>
          </a:p>
          <a:p>
            <a:pPr algn="r">
              <a:buNone/>
            </a:pPr>
            <a:r>
              <a:rPr lang="cs-CZ" noProof="0" dirty="0"/>
              <a:t>J. D. </a:t>
            </a:r>
            <a:r>
              <a:rPr lang="en-GB" noProof="0" dirty="0" err="1"/>
              <a:t>Sterman</a:t>
            </a:r>
            <a:r>
              <a:rPr lang="en-GB" noProof="0" dirty="0"/>
              <a:t>, </a:t>
            </a:r>
          </a:p>
          <a:p>
            <a:pPr algn="r">
              <a:buNone/>
            </a:pPr>
            <a:r>
              <a:rPr lang="en-GB" noProof="0" dirty="0"/>
              <a:t>2000</a:t>
            </a:r>
          </a:p>
          <a:p>
            <a:endParaRPr lang="cs-CZ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System dynamics - terms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41168"/>
          </a:xfrm>
        </p:spPr>
        <p:txBody>
          <a:bodyPr>
            <a:normAutofit/>
          </a:bodyPr>
          <a:lstStyle/>
          <a:p>
            <a:r>
              <a:rPr lang="en-GB" noProof="0" dirty="0"/>
              <a:t>System</a:t>
            </a:r>
            <a:endParaRPr lang="cs-CZ" noProof="0" dirty="0"/>
          </a:p>
          <a:p>
            <a:pPr lvl="1"/>
            <a:r>
              <a:rPr lang="en-GB" dirty="0">
                <a:latin typeface="Arial" charset="0"/>
              </a:rPr>
              <a:t>Set of elements or parts that is coherently organised and interconnected in a pattern or structure that produces a characteristic set of behaviours, often classified as its function or purpose. </a:t>
            </a:r>
            <a:endParaRPr lang="en-GB" noProof="0" dirty="0"/>
          </a:p>
          <a:p>
            <a:r>
              <a:rPr lang="en-GB" noProof="0" dirty="0"/>
              <a:t>Policy</a:t>
            </a:r>
            <a:endParaRPr lang="cs-CZ" noProof="0" dirty="0"/>
          </a:p>
          <a:p>
            <a:pPr lvl="1"/>
            <a:r>
              <a:rPr lang="en-GB" dirty="0"/>
              <a:t>„…governs how the decisions are made.“</a:t>
            </a:r>
          </a:p>
          <a:p>
            <a:pPr lvl="1"/>
            <a:r>
              <a:rPr lang="en-GB" dirty="0"/>
              <a:t>the rules by which information sources are converted into a continuous flow of decisions</a:t>
            </a:r>
          </a:p>
          <a:p>
            <a:r>
              <a:rPr lang="en-GB" noProof="0" dirty="0"/>
              <a:t>Dynamic complexity</a:t>
            </a:r>
            <a:endParaRPr lang="cs-CZ" noProof="0" dirty="0"/>
          </a:p>
          <a:p>
            <a:pPr lvl="1"/>
            <a:r>
              <a:rPr lang="en-GB" dirty="0"/>
              <a:t>emphasize the </a:t>
            </a:r>
            <a:r>
              <a:rPr lang="en-GB" dirty="0" err="1"/>
              <a:t>multiloop</a:t>
            </a:r>
            <a:r>
              <a:rPr lang="en-GB" dirty="0"/>
              <a:t>, multistate, nonlinear character of feedback systems. </a:t>
            </a:r>
          </a:p>
          <a:p>
            <a:pPr lvl="1"/>
            <a:endParaRPr lang="en-GB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/>
              <a:t>Dynamic complexity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04800" y="1628800"/>
            <a:ext cx="8461248" cy="446449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noProof="0" dirty="0"/>
              <a:t>Systems are:</a:t>
            </a:r>
          </a:p>
          <a:p>
            <a:endParaRPr lang="en-GB" sz="2300" noProof="0" dirty="0"/>
          </a:p>
          <a:p>
            <a:r>
              <a:rPr lang="en-GB" noProof="0" dirty="0"/>
              <a:t>Dynamic</a:t>
            </a:r>
          </a:p>
          <a:p>
            <a:r>
              <a:rPr lang="en-GB" noProof="0" dirty="0"/>
              <a:t>Tightly coupled</a:t>
            </a:r>
          </a:p>
          <a:p>
            <a:r>
              <a:rPr lang="en-GB" noProof="0" dirty="0"/>
              <a:t>Governed by feedback</a:t>
            </a:r>
          </a:p>
          <a:p>
            <a:r>
              <a:rPr lang="en-GB" noProof="0" dirty="0"/>
              <a:t>Nonlinear</a:t>
            </a:r>
          </a:p>
          <a:p>
            <a:r>
              <a:rPr lang="en-GB" noProof="0" dirty="0"/>
              <a:t>History-dependent</a:t>
            </a:r>
          </a:p>
          <a:p>
            <a:r>
              <a:rPr lang="en-GB" noProof="0" dirty="0"/>
              <a:t>Self-organizing</a:t>
            </a:r>
          </a:p>
          <a:p>
            <a:r>
              <a:rPr lang="en-GB" noProof="0" dirty="0"/>
              <a:t>Adaptive</a:t>
            </a:r>
          </a:p>
          <a:p>
            <a:r>
              <a:rPr lang="en-GB" noProof="0" dirty="0"/>
              <a:t>Counterintuitive</a:t>
            </a:r>
          </a:p>
          <a:p>
            <a:r>
              <a:rPr lang="en-GB" noProof="0" dirty="0"/>
              <a:t>Policy resistant</a:t>
            </a:r>
          </a:p>
          <a:p>
            <a:r>
              <a:rPr lang="en-GB" noProof="0" dirty="0"/>
              <a:t>Characterised by trade-offs</a:t>
            </a:r>
          </a:p>
          <a:p>
            <a:pPr algn="r">
              <a:buNone/>
            </a:pPr>
            <a:endParaRPr lang="en-GB" sz="2300" noProof="0" dirty="0"/>
          </a:p>
          <a:p>
            <a:pPr algn="r">
              <a:buNone/>
            </a:pPr>
            <a:r>
              <a:rPr lang="en-GB" noProof="0" dirty="0" err="1"/>
              <a:t>Sterman</a:t>
            </a:r>
            <a:endParaRPr lang="en-GB" noProof="0" dirty="0"/>
          </a:p>
          <a:p>
            <a:pPr algn="r">
              <a:buNone/>
            </a:pPr>
            <a:r>
              <a:rPr lang="en-GB" noProof="0" dirty="0"/>
              <a:t>2000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838200"/>
          </a:xfrm>
        </p:spPr>
        <p:txBody>
          <a:bodyPr>
            <a:normAutofit/>
          </a:bodyPr>
          <a:lstStyle/>
          <a:p>
            <a:pPr algn="ctr"/>
            <a:r>
              <a:rPr lang="en-GB" noProof="0" dirty="0"/>
              <a:t>Systems thinking</a:t>
            </a:r>
            <a:r>
              <a:rPr lang="cs-CZ" noProof="0" dirty="0"/>
              <a:t> </a:t>
            </a:r>
            <a:r>
              <a:rPr lang="cs-CZ" noProof="0" dirty="0" err="1"/>
              <a:t>vs</a:t>
            </a:r>
            <a:r>
              <a:rPr lang="cs-CZ" noProof="0" dirty="0"/>
              <a:t> </a:t>
            </a:r>
            <a:r>
              <a:rPr lang="cs-CZ" noProof="0" dirty="0" err="1"/>
              <a:t>system</a:t>
            </a:r>
            <a:r>
              <a:rPr lang="cs-CZ" noProof="0" dirty="0"/>
              <a:t> </a:t>
            </a:r>
            <a:r>
              <a:rPr lang="cs-CZ" noProof="0" dirty="0" err="1"/>
              <a:t>dynamics</a:t>
            </a:r>
            <a:endParaRPr lang="en-GB" noProof="0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1"/>
          </p:nvPr>
        </p:nvSpPr>
        <p:spPr>
          <a:xfrm>
            <a:off x="539552" y="1628800"/>
            <a:ext cx="8153400" cy="4495800"/>
          </a:xfrm>
        </p:spPr>
        <p:txBody>
          <a:bodyPr>
            <a:normAutofit/>
          </a:bodyPr>
          <a:lstStyle/>
          <a:p>
            <a:r>
              <a:rPr lang="cs-CZ" noProof="0" dirty="0" err="1"/>
              <a:t>Forrester</a:t>
            </a:r>
            <a:r>
              <a:rPr lang="cs-CZ" noProof="0" dirty="0"/>
              <a:t>:</a:t>
            </a:r>
          </a:p>
          <a:p>
            <a:pPr lvl="1"/>
            <a:r>
              <a:rPr lang="en-GB" dirty="0"/>
              <a:t>Systems thinking is coming to mean little more than thinking about systems,</a:t>
            </a:r>
            <a:r>
              <a:rPr lang="cs-CZ" dirty="0"/>
              <a:t> </a:t>
            </a:r>
            <a:r>
              <a:rPr lang="en-GB" dirty="0"/>
              <a:t>talking about systems, and acknowledging that systems are important. In other</a:t>
            </a:r>
            <a:r>
              <a:rPr lang="cs-CZ" dirty="0"/>
              <a:t> </a:t>
            </a:r>
            <a:r>
              <a:rPr lang="en-GB" dirty="0"/>
              <a:t>words, systems thinking implies a rather general and superficial awareness of</a:t>
            </a:r>
            <a:r>
              <a:rPr lang="cs-CZ" dirty="0"/>
              <a:t> </a:t>
            </a:r>
            <a:r>
              <a:rPr lang="en-GB" dirty="0"/>
              <a:t>systems.</a:t>
            </a:r>
            <a:endParaRPr lang="cs-CZ" dirty="0"/>
          </a:p>
          <a:p>
            <a:r>
              <a:rPr lang="cs-CZ" noProof="0" dirty="0" err="1"/>
              <a:t>Richmond</a:t>
            </a:r>
            <a:endParaRPr lang="cs-CZ" noProof="0" dirty="0"/>
          </a:p>
          <a:p>
            <a:pPr lvl="1"/>
            <a:r>
              <a:rPr lang="cs-CZ" dirty="0"/>
              <a:t>S</a:t>
            </a:r>
            <a:r>
              <a:rPr lang="en-GB" dirty="0" err="1"/>
              <a:t>ystems</a:t>
            </a:r>
            <a:r>
              <a:rPr lang="en-GB" dirty="0"/>
              <a:t> thinking is the art and science of making reliable inferences about</a:t>
            </a:r>
            <a:r>
              <a:rPr lang="cs-CZ" dirty="0"/>
              <a:t> </a:t>
            </a:r>
            <a:r>
              <a:rPr lang="en-GB" dirty="0" err="1"/>
              <a:t>behavior</a:t>
            </a:r>
            <a:r>
              <a:rPr lang="en-GB" dirty="0"/>
              <a:t> by developing an increasingly deep understanding of underlying</a:t>
            </a:r>
            <a:r>
              <a:rPr lang="cs-CZ" dirty="0"/>
              <a:t> </a:t>
            </a:r>
            <a:r>
              <a:rPr lang="en-GB" dirty="0"/>
              <a:t>structure.</a:t>
            </a:r>
            <a:endParaRPr lang="en-GB" noProof="0" dirty="0"/>
          </a:p>
        </p:txBody>
      </p:sp>
      <p:sp>
        <p:nvSpPr>
          <p:cNvPr id="5223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090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251521" y="1813728"/>
            <a:ext cx="110943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 sz="3200"/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115235" y="2398503"/>
            <a:ext cx="8790201" cy="3107432"/>
            <a:chOff x="2321" y="723"/>
            <a:chExt cx="6995" cy="2473"/>
          </a:xfrm>
        </p:grpSpPr>
        <p:sp>
          <p:nvSpPr>
            <p:cNvPr id="6" name="AutoShape 10"/>
            <p:cNvSpPr>
              <a:spLocks noChangeAspect="1" noChangeArrowheads="1" noTextEdit="1"/>
            </p:cNvSpPr>
            <p:nvPr/>
          </p:nvSpPr>
          <p:spPr bwMode="auto">
            <a:xfrm>
              <a:off x="2321" y="723"/>
              <a:ext cx="6995" cy="247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sz="3200"/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2514" y="1032"/>
              <a:ext cx="3137" cy="2067"/>
            </a:xfrm>
            <a:prstGeom prst="ellipse">
              <a:avLst/>
            </a:prstGeom>
            <a:solidFill>
              <a:srgbClr val="EEECE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altLang="cs-CZ" sz="20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System</a:t>
              </a:r>
              <a:r>
                <a:rPr kumimoji="0" lang="cs-CZ" altLang="cs-CZ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 </a:t>
              </a:r>
              <a:r>
                <a:rPr kumimoji="0" lang="cs-CZ" altLang="cs-CZ" sz="20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dynamics</a:t>
              </a:r>
              <a:endPara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965" y="1865"/>
              <a:ext cx="470" cy="4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endParaRPr lang="cs-CZ" sz="3200"/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3467" y="2364"/>
              <a:ext cx="1804" cy="34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altLang="cs-CZ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Systems </a:t>
              </a:r>
              <a:r>
                <a:rPr kumimoji="0" lang="cs-CZ" altLang="cs-CZ" sz="2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thinking</a:t>
              </a:r>
              <a:endPara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AutoShape 6"/>
            <p:cNvSpPr>
              <a:spLocks noChangeShapeType="1"/>
            </p:cNvSpPr>
            <p:nvPr/>
          </p:nvSpPr>
          <p:spPr bwMode="auto">
            <a:xfrm flipH="1" flipV="1">
              <a:off x="3470" y="2116"/>
              <a:ext cx="705" cy="2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 sz="3200"/>
            </a:p>
          </p:txBody>
        </p:sp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6068" y="1068"/>
              <a:ext cx="3137" cy="2013"/>
            </a:xfrm>
            <a:prstGeom prst="ellipse">
              <a:avLst/>
            </a:prstGeom>
            <a:solidFill>
              <a:srgbClr val="EEECE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cs-CZ" altLang="cs-CZ" sz="2000" b="1" dirty="0">
                  <a:latin typeface="Arial" panose="020B0604020202020204" pitchFamily="34" charset="0"/>
                  <a:ea typeface="Times New Roman" panose="02020603050405020304" pitchFamily="18" charset="0"/>
                </a:rPr>
                <a:t>Systems </a:t>
              </a:r>
              <a:r>
                <a:rPr lang="cs-CZ" altLang="cs-CZ" sz="2000" b="1" dirty="0" err="1">
                  <a:latin typeface="Arial" panose="020B0604020202020204" pitchFamily="34" charset="0"/>
                  <a:ea typeface="Times New Roman" panose="02020603050405020304" pitchFamily="18" charset="0"/>
                </a:rPr>
                <a:t>thinking</a:t>
              </a:r>
              <a:endParaRPr lang="cs-CZ" altLang="cs-CZ" sz="200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12" name="Oval 4"/>
            <p:cNvSpPr>
              <a:spLocks noChangeArrowheads="1"/>
            </p:cNvSpPr>
            <p:nvPr/>
          </p:nvSpPr>
          <p:spPr bwMode="auto">
            <a:xfrm>
              <a:off x="6195" y="1740"/>
              <a:ext cx="2883" cy="10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endParaRPr>
            </a:p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cs-CZ" altLang="cs-CZ" sz="2000" dirty="0" err="1">
                  <a:latin typeface="Arial" panose="020B0604020202020204" pitchFamily="34" charset="0"/>
                  <a:ea typeface="Times New Roman" panose="02020603050405020304" pitchFamily="18" charset="0"/>
                </a:rPr>
                <a:t>System</a:t>
              </a:r>
              <a:r>
                <a:rPr lang="cs-CZ" altLang="cs-CZ" sz="2000" dirty="0">
                  <a:latin typeface="Arial" panose="020B0604020202020204" pitchFamily="34" charset="0"/>
                  <a:ea typeface="Times New Roman" panose="02020603050405020304" pitchFamily="18" charset="0"/>
                </a:rPr>
                <a:t> </a:t>
              </a:r>
              <a:r>
                <a:rPr lang="cs-CZ" altLang="cs-CZ" sz="2000" dirty="0" err="1">
                  <a:latin typeface="Arial" panose="020B0604020202020204" pitchFamily="34" charset="0"/>
                  <a:ea typeface="Times New Roman" panose="02020603050405020304" pitchFamily="18" charset="0"/>
                </a:rPr>
                <a:t>dynamics</a:t>
              </a:r>
              <a:endParaRPr lang="cs-CZ" altLang="cs-CZ" sz="2000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3"/>
            <p:cNvSpPr txBox="1">
              <a:spLocks noChangeArrowheads="1"/>
            </p:cNvSpPr>
            <p:nvPr/>
          </p:nvSpPr>
          <p:spPr bwMode="auto">
            <a:xfrm>
              <a:off x="2767" y="760"/>
              <a:ext cx="2565" cy="3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altLang="cs-CZ" sz="2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Forrester</a:t>
              </a:r>
              <a:endPara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Text Box 2"/>
            <p:cNvSpPr txBox="1">
              <a:spLocks noChangeArrowheads="1"/>
            </p:cNvSpPr>
            <p:nvPr/>
          </p:nvSpPr>
          <p:spPr bwMode="auto">
            <a:xfrm>
              <a:off x="6308" y="760"/>
              <a:ext cx="2566" cy="3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altLang="cs-CZ" sz="2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Richmond</a:t>
              </a:r>
              <a:endParaRPr kumimoji="0" lang="cs-CZ" altLang="cs-CZ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 thinking</a:t>
            </a:r>
            <a:r>
              <a:rPr lang="cs-CZ" dirty="0"/>
              <a:t> </a:t>
            </a:r>
            <a:r>
              <a:rPr lang="cs-CZ" dirty="0" err="1"/>
              <a:t>vs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dynamics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86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838200"/>
          </a:xfrm>
        </p:spPr>
        <p:txBody>
          <a:bodyPr>
            <a:normAutofit/>
          </a:bodyPr>
          <a:lstStyle/>
          <a:p>
            <a:pPr algn="ctr"/>
            <a:r>
              <a:rPr lang="en-GB" noProof="0"/>
              <a:t>Systems thinking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1"/>
          </p:nvPr>
        </p:nvSpPr>
        <p:spPr>
          <a:xfrm>
            <a:off x="539552" y="1628800"/>
            <a:ext cx="8153400" cy="4495800"/>
          </a:xfrm>
        </p:spPr>
        <p:txBody>
          <a:bodyPr/>
          <a:lstStyle/>
          <a:p>
            <a:pPr lvl="0"/>
            <a:r>
              <a:rPr lang="en-GB" sz="2800" noProof="0"/>
              <a:t>Leave linear (event-oriented) worldview</a:t>
            </a:r>
          </a:p>
          <a:p>
            <a:endParaRPr lang="en-GB" noProof="0"/>
          </a:p>
        </p:txBody>
      </p:sp>
      <p:sp>
        <p:nvSpPr>
          <p:cNvPr id="5223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grpSp>
        <p:nvGrpSpPr>
          <p:cNvPr id="52225" name="Group 1"/>
          <p:cNvGrpSpPr>
            <a:grpSpLocks noChangeAspect="1"/>
          </p:cNvGrpSpPr>
          <p:nvPr/>
        </p:nvGrpSpPr>
        <p:grpSpPr bwMode="auto">
          <a:xfrm>
            <a:off x="323528" y="3140968"/>
            <a:ext cx="8569486" cy="576064"/>
            <a:chOff x="1235" y="0"/>
            <a:chExt cx="7240" cy="569"/>
          </a:xfrm>
        </p:grpSpPr>
        <p:sp>
          <p:nvSpPr>
            <p:cNvPr id="52236" name="AutoShape 12"/>
            <p:cNvSpPr>
              <a:spLocks noChangeAspect="1" noChangeArrowheads="1" noTextEdit="1"/>
            </p:cNvSpPr>
            <p:nvPr/>
          </p:nvSpPr>
          <p:spPr bwMode="auto">
            <a:xfrm>
              <a:off x="1235" y="0"/>
              <a:ext cx="7240" cy="56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52235" name="Rectangle 11"/>
            <p:cNvSpPr>
              <a:spLocks noChangeArrowheads="1"/>
            </p:cNvSpPr>
            <p:nvPr/>
          </p:nvSpPr>
          <p:spPr bwMode="auto">
            <a:xfrm>
              <a:off x="3455" y="71"/>
              <a:ext cx="1132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Problem</a:t>
              </a:r>
              <a:endParaRPr kumimoji="0" lang="en-GB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2234" name="Rectangle 10"/>
            <p:cNvSpPr>
              <a:spLocks noChangeArrowheads="1"/>
            </p:cNvSpPr>
            <p:nvPr/>
          </p:nvSpPr>
          <p:spPr bwMode="auto">
            <a:xfrm>
              <a:off x="5462" y="71"/>
              <a:ext cx="1166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Decision</a:t>
              </a:r>
              <a:endParaRPr kumimoji="0" lang="en-GB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2233" name="Rectangle 9"/>
            <p:cNvSpPr>
              <a:spLocks noChangeArrowheads="1"/>
            </p:cNvSpPr>
            <p:nvPr/>
          </p:nvSpPr>
          <p:spPr bwMode="auto">
            <a:xfrm>
              <a:off x="7531" y="71"/>
              <a:ext cx="861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Result</a:t>
              </a:r>
              <a:endParaRPr kumimoji="0" lang="en-GB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2229" name="Line 5"/>
            <p:cNvSpPr>
              <a:spLocks noChangeShapeType="1"/>
            </p:cNvSpPr>
            <p:nvPr/>
          </p:nvSpPr>
          <p:spPr bwMode="auto">
            <a:xfrm>
              <a:off x="4671" y="285"/>
              <a:ext cx="56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52228" name="Freeform 4"/>
            <p:cNvSpPr>
              <a:spLocks/>
            </p:cNvSpPr>
            <p:nvPr/>
          </p:nvSpPr>
          <p:spPr bwMode="auto">
            <a:xfrm>
              <a:off x="5158" y="214"/>
              <a:ext cx="228" cy="133"/>
            </a:xfrm>
            <a:custGeom>
              <a:avLst/>
              <a:gdLst/>
              <a:ahLst/>
              <a:cxnLst>
                <a:cxn ang="0">
                  <a:pos x="228" y="66"/>
                </a:cxn>
                <a:cxn ang="0">
                  <a:pos x="0" y="0"/>
                </a:cxn>
                <a:cxn ang="0">
                  <a:pos x="0" y="133"/>
                </a:cxn>
                <a:cxn ang="0">
                  <a:pos x="228" y="66"/>
                </a:cxn>
              </a:cxnLst>
              <a:rect l="0" t="0" r="r" b="b"/>
              <a:pathLst>
                <a:path w="228" h="133">
                  <a:moveTo>
                    <a:pt x="228" y="66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228" y="6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52226" name="Freeform 2"/>
            <p:cNvSpPr>
              <a:spLocks/>
            </p:cNvSpPr>
            <p:nvPr/>
          </p:nvSpPr>
          <p:spPr bwMode="auto">
            <a:xfrm>
              <a:off x="7226" y="214"/>
              <a:ext cx="227" cy="133"/>
            </a:xfrm>
            <a:custGeom>
              <a:avLst/>
              <a:gdLst/>
              <a:ahLst/>
              <a:cxnLst>
                <a:cxn ang="0">
                  <a:pos x="227" y="66"/>
                </a:cxn>
                <a:cxn ang="0">
                  <a:pos x="0" y="0"/>
                </a:cxn>
                <a:cxn ang="0">
                  <a:pos x="0" y="133"/>
                </a:cxn>
                <a:cxn ang="0">
                  <a:pos x="227" y="66"/>
                </a:cxn>
              </a:cxnLst>
              <a:rect l="0" t="0" r="r" b="b"/>
              <a:pathLst>
                <a:path w="227" h="133">
                  <a:moveTo>
                    <a:pt x="227" y="66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227" y="6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19" name="Freeform 2"/>
            <p:cNvSpPr>
              <a:spLocks/>
            </p:cNvSpPr>
            <p:nvPr/>
          </p:nvSpPr>
          <p:spPr bwMode="auto">
            <a:xfrm>
              <a:off x="3150" y="214"/>
              <a:ext cx="227" cy="133"/>
            </a:xfrm>
            <a:custGeom>
              <a:avLst/>
              <a:gdLst/>
              <a:ahLst/>
              <a:cxnLst>
                <a:cxn ang="0">
                  <a:pos x="227" y="66"/>
                </a:cxn>
                <a:cxn ang="0">
                  <a:pos x="0" y="0"/>
                </a:cxn>
                <a:cxn ang="0">
                  <a:pos x="0" y="133"/>
                </a:cxn>
                <a:cxn ang="0">
                  <a:pos x="227" y="66"/>
                </a:cxn>
              </a:cxnLst>
              <a:rect l="0" t="0" r="r" b="b"/>
              <a:pathLst>
                <a:path w="227" h="133">
                  <a:moveTo>
                    <a:pt x="227" y="66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227" y="6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20" name="Line 5"/>
            <p:cNvSpPr>
              <a:spLocks noChangeShapeType="1"/>
            </p:cNvSpPr>
            <p:nvPr/>
          </p:nvSpPr>
          <p:spPr bwMode="auto">
            <a:xfrm>
              <a:off x="6679" y="285"/>
              <a:ext cx="56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>
              <a:off x="2664" y="285"/>
              <a:ext cx="56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4000"/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1386" y="71"/>
              <a:ext cx="1182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cs-CZ" sz="28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Situation</a:t>
              </a:r>
              <a:endParaRPr kumimoji="0" lang="en-GB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/>
              <a:t>Every action has side effects, other agents react…:</a:t>
            </a:r>
          </a:p>
          <a:p>
            <a:endParaRPr lang="en-GB" noProof="0"/>
          </a:p>
        </p:txBody>
      </p:sp>
      <p:sp>
        <p:nvSpPr>
          <p:cNvPr id="4712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grpSp>
        <p:nvGrpSpPr>
          <p:cNvPr id="47105" name="Group 1"/>
          <p:cNvGrpSpPr>
            <a:grpSpLocks noChangeAspect="1"/>
          </p:cNvGrpSpPr>
          <p:nvPr/>
        </p:nvGrpSpPr>
        <p:grpSpPr bwMode="auto">
          <a:xfrm>
            <a:off x="2555776" y="2420888"/>
            <a:ext cx="4608512" cy="4274307"/>
            <a:chOff x="75" y="24"/>
            <a:chExt cx="4436" cy="4118"/>
          </a:xfrm>
        </p:grpSpPr>
        <p:sp>
          <p:nvSpPr>
            <p:cNvPr id="47126" name="AutoShape 22"/>
            <p:cNvSpPr>
              <a:spLocks noChangeAspect="1" noChangeArrowheads="1" noTextEdit="1"/>
            </p:cNvSpPr>
            <p:nvPr/>
          </p:nvSpPr>
          <p:spPr bwMode="auto">
            <a:xfrm>
              <a:off x="75" y="24"/>
              <a:ext cx="4436" cy="41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25" name="Rectangle 21"/>
            <p:cNvSpPr>
              <a:spLocks noChangeArrowheads="1"/>
            </p:cNvSpPr>
            <p:nvPr/>
          </p:nvSpPr>
          <p:spPr bwMode="auto">
            <a:xfrm>
              <a:off x="1563" y="578"/>
              <a:ext cx="1155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Problem</a:t>
              </a: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7124" name="Rectangle 20"/>
            <p:cNvSpPr>
              <a:spLocks noChangeArrowheads="1"/>
            </p:cNvSpPr>
            <p:nvPr/>
          </p:nvSpPr>
          <p:spPr bwMode="auto">
            <a:xfrm>
              <a:off x="2501" y="1342"/>
              <a:ext cx="1267" cy="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Decision</a:t>
              </a:r>
              <a:endParaRPr kumimoji="0" 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7123" name="Rectangle 19"/>
            <p:cNvSpPr>
              <a:spLocks noChangeArrowheads="1"/>
            </p:cNvSpPr>
            <p:nvPr/>
          </p:nvSpPr>
          <p:spPr bwMode="auto">
            <a:xfrm>
              <a:off x="214" y="1134"/>
              <a:ext cx="1264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Situation</a:t>
              </a:r>
              <a:endParaRPr kumimoji="0" lang="en-GB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7121" name="Arc 17"/>
            <p:cNvSpPr>
              <a:spLocks/>
            </p:cNvSpPr>
            <p:nvPr/>
          </p:nvSpPr>
          <p:spPr bwMode="auto">
            <a:xfrm>
              <a:off x="916" y="775"/>
              <a:ext cx="764" cy="1206"/>
            </a:xfrm>
            <a:custGeom>
              <a:avLst/>
              <a:gdLst>
                <a:gd name="G0" fmla="+- 13114 0 0"/>
                <a:gd name="G1" fmla="+- 20672 0 0"/>
                <a:gd name="G2" fmla="+- 21600 0 0"/>
                <a:gd name="T0" fmla="*/ 0 w 13114"/>
                <a:gd name="T1" fmla="*/ 3509 h 20672"/>
                <a:gd name="T2" fmla="*/ 6852 w 13114"/>
                <a:gd name="T3" fmla="*/ 0 h 20672"/>
                <a:gd name="T4" fmla="*/ 13114 w 13114"/>
                <a:gd name="T5" fmla="*/ 20672 h 20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114" h="20672" fill="none" extrusionOk="0">
                  <a:moveTo>
                    <a:pt x="-1" y="3508"/>
                  </a:moveTo>
                  <a:cubicBezTo>
                    <a:pt x="2055" y="1938"/>
                    <a:pt x="4376" y="749"/>
                    <a:pt x="6851" y="-1"/>
                  </a:cubicBezTo>
                </a:path>
                <a:path w="13114" h="20672" stroke="0" extrusionOk="0">
                  <a:moveTo>
                    <a:pt x="-1" y="3508"/>
                  </a:moveTo>
                  <a:cubicBezTo>
                    <a:pt x="2055" y="1938"/>
                    <a:pt x="4376" y="749"/>
                    <a:pt x="6851" y="-1"/>
                  </a:cubicBezTo>
                  <a:lnTo>
                    <a:pt x="13114" y="2067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20" name="Freeform 16"/>
            <p:cNvSpPr>
              <a:spLocks/>
            </p:cNvSpPr>
            <p:nvPr/>
          </p:nvSpPr>
          <p:spPr bwMode="auto">
            <a:xfrm>
              <a:off x="1297" y="705"/>
              <a:ext cx="235" cy="125"/>
            </a:xfrm>
            <a:custGeom>
              <a:avLst/>
              <a:gdLst/>
              <a:ahLst/>
              <a:cxnLst>
                <a:cxn ang="0">
                  <a:pos x="235" y="31"/>
                </a:cxn>
                <a:cxn ang="0">
                  <a:pos x="0" y="0"/>
                </a:cxn>
                <a:cxn ang="0">
                  <a:pos x="16" y="125"/>
                </a:cxn>
                <a:cxn ang="0">
                  <a:pos x="235" y="31"/>
                </a:cxn>
              </a:cxnLst>
              <a:rect l="0" t="0" r="r" b="b"/>
              <a:pathLst>
                <a:path w="235" h="125">
                  <a:moveTo>
                    <a:pt x="235" y="31"/>
                  </a:moveTo>
                  <a:lnTo>
                    <a:pt x="0" y="0"/>
                  </a:lnTo>
                  <a:lnTo>
                    <a:pt x="16" y="125"/>
                  </a:lnTo>
                  <a:lnTo>
                    <a:pt x="235" y="3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9" name="Arc 15"/>
            <p:cNvSpPr>
              <a:spLocks/>
            </p:cNvSpPr>
            <p:nvPr/>
          </p:nvSpPr>
          <p:spPr bwMode="auto">
            <a:xfrm>
              <a:off x="2024" y="829"/>
              <a:ext cx="830" cy="980"/>
            </a:xfrm>
            <a:custGeom>
              <a:avLst/>
              <a:gdLst>
                <a:gd name="G0" fmla="+- 0 0 0"/>
                <a:gd name="G1" fmla="+- 19729 0 0"/>
                <a:gd name="G2" fmla="+- 21600 0 0"/>
                <a:gd name="T0" fmla="*/ 8794 w 16750"/>
                <a:gd name="T1" fmla="*/ 0 h 19729"/>
                <a:gd name="T2" fmla="*/ 16750 w 16750"/>
                <a:gd name="T3" fmla="*/ 6090 h 19729"/>
                <a:gd name="T4" fmla="*/ 0 w 16750"/>
                <a:gd name="T5" fmla="*/ 19729 h 19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50" h="19729" fill="none" extrusionOk="0">
                  <a:moveTo>
                    <a:pt x="8793" y="0"/>
                  </a:moveTo>
                  <a:cubicBezTo>
                    <a:pt x="11886" y="1378"/>
                    <a:pt x="14611" y="3464"/>
                    <a:pt x="16749" y="6090"/>
                  </a:cubicBezTo>
                </a:path>
                <a:path w="16750" h="19729" stroke="0" extrusionOk="0">
                  <a:moveTo>
                    <a:pt x="8793" y="0"/>
                  </a:moveTo>
                  <a:cubicBezTo>
                    <a:pt x="11886" y="1378"/>
                    <a:pt x="14611" y="3464"/>
                    <a:pt x="16749" y="6090"/>
                  </a:cubicBezTo>
                  <a:lnTo>
                    <a:pt x="0" y="1972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8" name="Freeform 14"/>
            <p:cNvSpPr>
              <a:spLocks/>
            </p:cNvSpPr>
            <p:nvPr/>
          </p:nvSpPr>
          <p:spPr bwMode="auto">
            <a:xfrm>
              <a:off x="2813" y="1096"/>
              <a:ext cx="172" cy="235"/>
            </a:xfrm>
            <a:custGeom>
              <a:avLst/>
              <a:gdLst/>
              <a:ahLst/>
              <a:cxnLst>
                <a:cxn ang="0">
                  <a:pos x="172" y="235"/>
                </a:cxn>
                <a:cxn ang="0">
                  <a:pos x="109" y="0"/>
                </a:cxn>
                <a:cxn ang="0">
                  <a:pos x="0" y="63"/>
                </a:cxn>
                <a:cxn ang="0">
                  <a:pos x="172" y="235"/>
                </a:cxn>
              </a:cxnLst>
              <a:rect l="0" t="0" r="r" b="b"/>
              <a:pathLst>
                <a:path w="172" h="235">
                  <a:moveTo>
                    <a:pt x="172" y="235"/>
                  </a:moveTo>
                  <a:lnTo>
                    <a:pt x="109" y="0"/>
                  </a:lnTo>
                  <a:lnTo>
                    <a:pt x="0" y="63"/>
                  </a:lnTo>
                  <a:lnTo>
                    <a:pt x="172" y="23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7" name="Arc 13"/>
            <p:cNvSpPr>
              <a:spLocks/>
            </p:cNvSpPr>
            <p:nvPr/>
          </p:nvSpPr>
          <p:spPr bwMode="auto">
            <a:xfrm>
              <a:off x="1068" y="384"/>
              <a:ext cx="1770" cy="1574"/>
            </a:xfrm>
            <a:custGeom>
              <a:avLst/>
              <a:gdLst>
                <a:gd name="G0" fmla="+- 11853 0 0"/>
                <a:gd name="G1" fmla="+- 0 0 0"/>
                <a:gd name="G2" fmla="+- 21600 0 0"/>
                <a:gd name="T0" fmla="*/ 24341 w 24341"/>
                <a:gd name="T1" fmla="*/ 17624 h 21600"/>
                <a:gd name="T2" fmla="*/ 0 w 24341"/>
                <a:gd name="T3" fmla="*/ 18058 h 21600"/>
                <a:gd name="T4" fmla="*/ 11853 w 24341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341" h="21600" fill="none" extrusionOk="0">
                  <a:moveTo>
                    <a:pt x="24341" y="17624"/>
                  </a:moveTo>
                  <a:cubicBezTo>
                    <a:pt x="20690" y="20210"/>
                    <a:pt x="16326" y="21599"/>
                    <a:pt x="11853" y="21600"/>
                  </a:cubicBezTo>
                  <a:cubicBezTo>
                    <a:pt x="7641" y="21600"/>
                    <a:pt x="3521" y="20368"/>
                    <a:pt x="0" y="18057"/>
                  </a:cubicBezTo>
                </a:path>
                <a:path w="24341" h="21600" stroke="0" extrusionOk="0">
                  <a:moveTo>
                    <a:pt x="24341" y="17624"/>
                  </a:moveTo>
                  <a:cubicBezTo>
                    <a:pt x="20690" y="20210"/>
                    <a:pt x="16326" y="21599"/>
                    <a:pt x="11853" y="21600"/>
                  </a:cubicBezTo>
                  <a:cubicBezTo>
                    <a:pt x="7641" y="21600"/>
                    <a:pt x="3521" y="20368"/>
                    <a:pt x="0" y="18057"/>
                  </a:cubicBezTo>
                  <a:lnTo>
                    <a:pt x="11853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6" name="Freeform 12"/>
            <p:cNvSpPr>
              <a:spLocks/>
            </p:cNvSpPr>
            <p:nvPr/>
          </p:nvSpPr>
          <p:spPr bwMode="auto">
            <a:xfrm>
              <a:off x="906" y="1582"/>
              <a:ext cx="204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5" y="172"/>
                </a:cxn>
                <a:cxn ang="0">
                  <a:pos x="204" y="78"/>
                </a:cxn>
                <a:cxn ang="0">
                  <a:pos x="0" y="0"/>
                </a:cxn>
              </a:cxnLst>
              <a:rect l="0" t="0" r="r" b="b"/>
              <a:pathLst>
                <a:path w="204" h="172">
                  <a:moveTo>
                    <a:pt x="0" y="0"/>
                  </a:moveTo>
                  <a:lnTo>
                    <a:pt x="125" y="172"/>
                  </a:lnTo>
                  <a:lnTo>
                    <a:pt x="204" y="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1875" y="2803"/>
              <a:ext cx="1728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Side effects</a:t>
              </a: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7114" name="Arc 10"/>
            <p:cNvSpPr>
              <a:spLocks/>
            </p:cNvSpPr>
            <p:nvPr/>
          </p:nvSpPr>
          <p:spPr bwMode="auto">
            <a:xfrm>
              <a:off x="1712" y="1677"/>
              <a:ext cx="1368" cy="936"/>
            </a:xfrm>
            <a:custGeom>
              <a:avLst/>
              <a:gdLst>
                <a:gd name="G0" fmla="+- 0 0 0"/>
                <a:gd name="G1" fmla="+- 2568 0 0"/>
                <a:gd name="G2" fmla="+- 21600 0 0"/>
                <a:gd name="T0" fmla="*/ 21447 w 21600"/>
                <a:gd name="T1" fmla="*/ 0 h 14755"/>
                <a:gd name="T2" fmla="*/ 17834 w 21600"/>
                <a:gd name="T3" fmla="*/ 14755 h 14755"/>
                <a:gd name="T4" fmla="*/ 0 w 21600"/>
                <a:gd name="T5" fmla="*/ 2568 h 14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4755" fill="none" extrusionOk="0">
                  <a:moveTo>
                    <a:pt x="21446" y="0"/>
                  </a:moveTo>
                  <a:cubicBezTo>
                    <a:pt x="21548" y="852"/>
                    <a:pt x="21600" y="1709"/>
                    <a:pt x="21600" y="2568"/>
                  </a:cubicBezTo>
                  <a:cubicBezTo>
                    <a:pt x="21600" y="6916"/>
                    <a:pt x="20287" y="11164"/>
                    <a:pt x="17833" y="14754"/>
                  </a:cubicBezTo>
                </a:path>
                <a:path w="21600" h="14755" stroke="0" extrusionOk="0">
                  <a:moveTo>
                    <a:pt x="21446" y="0"/>
                  </a:moveTo>
                  <a:cubicBezTo>
                    <a:pt x="21548" y="852"/>
                    <a:pt x="21600" y="1709"/>
                    <a:pt x="21600" y="2568"/>
                  </a:cubicBezTo>
                  <a:cubicBezTo>
                    <a:pt x="21600" y="6916"/>
                    <a:pt x="20287" y="11164"/>
                    <a:pt x="17833" y="14754"/>
                  </a:cubicBezTo>
                  <a:lnTo>
                    <a:pt x="0" y="256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3" name="Freeform 9"/>
            <p:cNvSpPr>
              <a:spLocks/>
            </p:cNvSpPr>
            <p:nvPr/>
          </p:nvSpPr>
          <p:spPr bwMode="auto">
            <a:xfrm>
              <a:off x="2719" y="2568"/>
              <a:ext cx="188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188" y="78"/>
                </a:cxn>
                <a:cxn ang="0">
                  <a:pos x="78" y="0"/>
                </a:cxn>
                <a:cxn ang="0">
                  <a:pos x="0" y="219"/>
                </a:cxn>
              </a:cxnLst>
              <a:rect l="0" t="0" r="r" b="b"/>
              <a:pathLst>
                <a:path w="188" h="219">
                  <a:moveTo>
                    <a:pt x="0" y="219"/>
                  </a:moveTo>
                  <a:lnTo>
                    <a:pt x="188" y="78"/>
                  </a:lnTo>
                  <a:lnTo>
                    <a:pt x="78" y="0"/>
                  </a:lnTo>
                  <a:lnTo>
                    <a:pt x="0" y="2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2" name="Arc 8"/>
            <p:cNvSpPr>
              <a:spLocks/>
            </p:cNvSpPr>
            <p:nvPr/>
          </p:nvSpPr>
          <p:spPr bwMode="auto">
            <a:xfrm>
              <a:off x="699" y="1230"/>
              <a:ext cx="1637" cy="1659"/>
            </a:xfrm>
            <a:custGeom>
              <a:avLst/>
              <a:gdLst>
                <a:gd name="G0" fmla="+- 20475 0 0"/>
                <a:gd name="G1" fmla="+- 0 0 0"/>
                <a:gd name="G2" fmla="+- 21600 0 0"/>
                <a:gd name="T0" fmla="*/ 14349 w 20475"/>
                <a:gd name="T1" fmla="*/ 20713 h 20713"/>
                <a:gd name="T2" fmla="*/ 0 w 20475"/>
                <a:gd name="T3" fmla="*/ 6881 h 20713"/>
                <a:gd name="T4" fmla="*/ 20475 w 20475"/>
                <a:gd name="T5" fmla="*/ 0 h 20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475" h="20713" fill="none" extrusionOk="0">
                  <a:moveTo>
                    <a:pt x="14348" y="20713"/>
                  </a:moveTo>
                  <a:cubicBezTo>
                    <a:pt x="7597" y="18716"/>
                    <a:pt x="2243" y="13554"/>
                    <a:pt x="0" y="6880"/>
                  </a:cubicBezTo>
                </a:path>
                <a:path w="20475" h="20713" stroke="0" extrusionOk="0">
                  <a:moveTo>
                    <a:pt x="14348" y="20713"/>
                  </a:moveTo>
                  <a:cubicBezTo>
                    <a:pt x="7597" y="18716"/>
                    <a:pt x="2243" y="13554"/>
                    <a:pt x="0" y="6880"/>
                  </a:cubicBezTo>
                  <a:lnTo>
                    <a:pt x="2047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1" name="Freeform 7"/>
            <p:cNvSpPr>
              <a:spLocks/>
            </p:cNvSpPr>
            <p:nvPr/>
          </p:nvSpPr>
          <p:spPr bwMode="auto">
            <a:xfrm>
              <a:off x="625" y="1582"/>
              <a:ext cx="125" cy="219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0" y="219"/>
                </a:cxn>
                <a:cxn ang="0">
                  <a:pos x="125" y="188"/>
                </a:cxn>
                <a:cxn ang="0">
                  <a:pos x="31" y="0"/>
                </a:cxn>
              </a:cxnLst>
              <a:rect l="0" t="0" r="r" b="b"/>
              <a:pathLst>
                <a:path w="125" h="219">
                  <a:moveTo>
                    <a:pt x="31" y="0"/>
                  </a:moveTo>
                  <a:lnTo>
                    <a:pt x="0" y="219"/>
                  </a:lnTo>
                  <a:lnTo>
                    <a:pt x="125" y="188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10" name="Rectangle 6"/>
            <p:cNvSpPr>
              <a:spLocks noChangeArrowheads="1"/>
            </p:cNvSpPr>
            <p:nvPr/>
          </p:nvSpPr>
          <p:spPr bwMode="auto">
            <a:xfrm>
              <a:off x="213" y="3551"/>
              <a:ext cx="2772" cy="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ea typeface="Times New Roman" pitchFamily="18" charset="0"/>
                </a:rPr>
                <a:t>Other agents‘ actions</a:t>
              </a: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7109" name="Arc 5"/>
            <p:cNvSpPr>
              <a:spLocks/>
            </p:cNvSpPr>
            <p:nvPr/>
          </p:nvSpPr>
          <p:spPr bwMode="auto">
            <a:xfrm>
              <a:off x="469" y="1786"/>
              <a:ext cx="2008" cy="1765"/>
            </a:xfrm>
            <a:custGeom>
              <a:avLst/>
              <a:gdLst>
                <a:gd name="G0" fmla="+- 21600 0 0"/>
                <a:gd name="G1" fmla="+- 2936 0 0"/>
                <a:gd name="G2" fmla="+- 21600 0 0"/>
                <a:gd name="T0" fmla="*/ 7101 w 21600"/>
                <a:gd name="T1" fmla="*/ 18947 h 18947"/>
                <a:gd name="T2" fmla="*/ 200 w 21600"/>
                <a:gd name="T3" fmla="*/ 0 h 18947"/>
                <a:gd name="T4" fmla="*/ 21600 w 21600"/>
                <a:gd name="T5" fmla="*/ 2936 h 18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8947" fill="none" extrusionOk="0">
                  <a:moveTo>
                    <a:pt x="7101" y="18946"/>
                  </a:moveTo>
                  <a:cubicBezTo>
                    <a:pt x="2579" y="14852"/>
                    <a:pt x="0" y="9036"/>
                    <a:pt x="0" y="2936"/>
                  </a:cubicBezTo>
                  <a:cubicBezTo>
                    <a:pt x="-1" y="1953"/>
                    <a:pt x="66" y="973"/>
                    <a:pt x="200" y="0"/>
                  </a:cubicBezTo>
                </a:path>
                <a:path w="21600" h="18947" stroke="0" extrusionOk="0">
                  <a:moveTo>
                    <a:pt x="7101" y="18946"/>
                  </a:moveTo>
                  <a:cubicBezTo>
                    <a:pt x="2579" y="14852"/>
                    <a:pt x="0" y="9036"/>
                    <a:pt x="0" y="2936"/>
                  </a:cubicBezTo>
                  <a:cubicBezTo>
                    <a:pt x="-1" y="1953"/>
                    <a:pt x="66" y="973"/>
                    <a:pt x="200" y="0"/>
                  </a:cubicBezTo>
                  <a:lnTo>
                    <a:pt x="21600" y="293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08" name="Freeform 4"/>
            <p:cNvSpPr>
              <a:spLocks/>
            </p:cNvSpPr>
            <p:nvPr/>
          </p:nvSpPr>
          <p:spPr bwMode="auto">
            <a:xfrm>
              <a:off x="422" y="1582"/>
              <a:ext cx="125" cy="219"/>
            </a:xfrm>
            <a:custGeom>
              <a:avLst/>
              <a:gdLst/>
              <a:ahLst/>
              <a:cxnLst>
                <a:cxn ang="0">
                  <a:pos x="109" y="0"/>
                </a:cxn>
                <a:cxn ang="0">
                  <a:pos x="0" y="188"/>
                </a:cxn>
                <a:cxn ang="0">
                  <a:pos x="125" y="219"/>
                </a:cxn>
                <a:cxn ang="0">
                  <a:pos x="109" y="0"/>
                </a:cxn>
              </a:cxnLst>
              <a:rect l="0" t="0" r="r" b="b"/>
              <a:pathLst>
                <a:path w="125" h="219">
                  <a:moveTo>
                    <a:pt x="109" y="0"/>
                  </a:moveTo>
                  <a:lnTo>
                    <a:pt x="0" y="188"/>
                  </a:lnTo>
                  <a:lnTo>
                    <a:pt x="125" y="21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07" name="Arc 3"/>
            <p:cNvSpPr>
              <a:spLocks/>
            </p:cNvSpPr>
            <p:nvPr/>
          </p:nvSpPr>
          <p:spPr bwMode="auto">
            <a:xfrm>
              <a:off x="786" y="110"/>
              <a:ext cx="3590" cy="3930"/>
            </a:xfrm>
            <a:custGeom>
              <a:avLst/>
              <a:gdLst>
                <a:gd name="G0" fmla="+- 17934 0 0"/>
                <a:gd name="G1" fmla="+- 21600 0 0"/>
                <a:gd name="G2" fmla="+- 21600 0 0"/>
                <a:gd name="T0" fmla="*/ 0 w 39534"/>
                <a:gd name="T1" fmla="*/ 9562 h 43200"/>
                <a:gd name="T2" fmla="*/ 11829 w 39534"/>
                <a:gd name="T3" fmla="*/ 42319 h 43200"/>
                <a:gd name="T4" fmla="*/ 17934 w 39534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534" h="43200" fill="none" extrusionOk="0">
                  <a:moveTo>
                    <a:pt x="-1" y="9561"/>
                  </a:moveTo>
                  <a:cubicBezTo>
                    <a:pt x="4011" y="3585"/>
                    <a:pt x="10736" y="-1"/>
                    <a:pt x="17934" y="0"/>
                  </a:cubicBezTo>
                  <a:cubicBezTo>
                    <a:pt x="29863" y="0"/>
                    <a:pt x="39534" y="9670"/>
                    <a:pt x="39534" y="21600"/>
                  </a:cubicBezTo>
                  <a:cubicBezTo>
                    <a:pt x="39534" y="33529"/>
                    <a:pt x="29863" y="43200"/>
                    <a:pt x="17934" y="43200"/>
                  </a:cubicBezTo>
                  <a:cubicBezTo>
                    <a:pt x="15867" y="43200"/>
                    <a:pt x="13811" y="42903"/>
                    <a:pt x="11828" y="42319"/>
                  </a:cubicBezTo>
                </a:path>
                <a:path w="39534" h="43200" stroke="0" extrusionOk="0">
                  <a:moveTo>
                    <a:pt x="-1" y="9561"/>
                  </a:moveTo>
                  <a:cubicBezTo>
                    <a:pt x="4011" y="3585"/>
                    <a:pt x="10736" y="-1"/>
                    <a:pt x="17934" y="0"/>
                  </a:cubicBezTo>
                  <a:cubicBezTo>
                    <a:pt x="29863" y="0"/>
                    <a:pt x="39534" y="9670"/>
                    <a:pt x="39534" y="21600"/>
                  </a:cubicBezTo>
                  <a:cubicBezTo>
                    <a:pt x="39534" y="33529"/>
                    <a:pt x="29863" y="43200"/>
                    <a:pt x="17934" y="43200"/>
                  </a:cubicBezTo>
                  <a:cubicBezTo>
                    <a:pt x="15867" y="43200"/>
                    <a:pt x="13811" y="42903"/>
                    <a:pt x="11828" y="42319"/>
                  </a:cubicBezTo>
                  <a:lnTo>
                    <a:pt x="17934" y="2160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  <p:sp>
          <p:nvSpPr>
            <p:cNvPr id="47106" name="Freeform 2"/>
            <p:cNvSpPr>
              <a:spLocks/>
            </p:cNvSpPr>
            <p:nvPr/>
          </p:nvSpPr>
          <p:spPr bwMode="auto">
            <a:xfrm>
              <a:off x="1657" y="3899"/>
              <a:ext cx="218" cy="1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1" y="125"/>
                </a:cxn>
                <a:cxn ang="0">
                  <a:pos x="218" y="16"/>
                </a:cxn>
                <a:cxn ang="0">
                  <a:pos x="0" y="0"/>
                </a:cxn>
              </a:cxnLst>
              <a:rect l="0" t="0" r="r" b="b"/>
              <a:pathLst>
                <a:path w="218" h="125">
                  <a:moveTo>
                    <a:pt x="0" y="0"/>
                  </a:moveTo>
                  <a:lnTo>
                    <a:pt x="171" y="125"/>
                  </a:lnTo>
                  <a:lnTo>
                    <a:pt x="218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0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err="1"/>
              <a:t>Sterman</a:t>
            </a:r>
            <a:r>
              <a:rPr lang="cs-CZ" dirty="0"/>
              <a:t>:</a:t>
            </a:r>
          </a:p>
          <a:p>
            <a:pPr lvl="1"/>
            <a:r>
              <a:rPr lang="en-GB" dirty="0"/>
              <a:t>We frequently talk about side effects as if they were a feature of reality. Not so.</a:t>
            </a:r>
          </a:p>
          <a:p>
            <a:pPr lvl="1"/>
            <a:r>
              <a:rPr lang="en-GB" dirty="0"/>
              <a:t>In reality, there are no side effects, there are just effects.</a:t>
            </a:r>
            <a:endParaRPr lang="cs-CZ" dirty="0"/>
          </a:p>
          <a:p>
            <a:pPr lvl="1"/>
            <a:r>
              <a:rPr lang="en-GB" i="1" dirty="0"/>
              <a:t>Side effects are not a feature of reality but</a:t>
            </a:r>
            <a:r>
              <a:rPr lang="cs-CZ" i="1" dirty="0"/>
              <a:t> </a:t>
            </a:r>
            <a:r>
              <a:rPr lang="en-GB" i="1" dirty="0"/>
              <a:t>a sign that our understanding of the system is narrow and flawed.</a:t>
            </a:r>
          </a:p>
        </p:txBody>
      </p:sp>
    </p:spTree>
    <p:extLst>
      <p:ext uri="{BB962C8B-B14F-4D97-AF65-F5344CB8AC3E}">
        <p14:creationId xmlns:p14="http://schemas.microsoft.com/office/powerpoint/2010/main" val="296893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/>
              <a:t>Dynamic complex systems vs human capacity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 noProof="0" dirty="0"/>
          </a:p>
          <a:p>
            <a:r>
              <a:rPr lang="en-GB" noProof="0" dirty="0"/>
              <a:t>Bounded rationality</a:t>
            </a:r>
          </a:p>
          <a:p>
            <a:pPr lvl="1"/>
            <a:r>
              <a:rPr lang="en-GB" noProof="0" dirty="0"/>
              <a:t>Simon</a:t>
            </a:r>
            <a:endParaRPr lang="cs-CZ" noProof="0" dirty="0"/>
          </a:p>
          <a:p>
            <a:pPr lvl="1"/>
            <a:endParaRPr lang="en-GB" noProof="0" dirty="0"/>
          </a:p>
          <a:p>
            <a:r>
              <a:rPr lang="cs-CZ" dirty="0"/>
              <a:t>C</a:t>
            </a:r>
            <a:r>
              <a:rPr lang="en-GB" dirty="0" err="1"/>
              <a:t>ognitive</a:t>
            </a:r>
            <a:r>
              <a:rPr lang="en-GB" dirty="0"/>
              <a:t> capabilities</a:t>
            </a:r>
            <a:endParaRPr lang="cs-CZ" dirty="0"/>
          </a:p>
          <a:p>
            <a:endParaRPr lang="en-GB" noProof="0" dirty="0"/>
          </a:p>
          <a:p>
            <a:r>
              <a:rPr lang="en-GB" noProof="0" dirty="0"/>
              <a:t>Mental models</a:t>
            </a:r>
            <a:endParaRPr lang="cs-CZ" noProof="0" dirty="0"/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153400" cy="990600"/>
          </a:xfrm>
        </p:spPr>
        <p:txBody>
          <a:bodyPr>
            <a:normAutofit/>
          </a:bodyPr>
          <a:lstStyle/>
          <a:p>
            <a:r>
              <a:rPr lang="en-GB" noProof="0"/>
              <a:t>System dynamics process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749" y="2708920"/>
            <a:ext cx="9045251" cy="374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3666234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9552" y="0"/>
            <a:ext cx="8153400" cy="990600"/>
          </a:xfrm>
        </p:spPr>
        <p:txBody>
          <a:bodyPr/>
          <a:lstStyle/>
          <a:p>
            <a:pPr algn="ctr"/>
            <a:r>
              <a:rPr lang="cs-CZ" dirty="0"/>
              <a:t>SOFT OR vs. HARD OR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/>
          </a:p>
        </p:txBody>
      </p:sp>
      <p:graphicFrame>
        <p:nvGraphicFramePr>
          <p:cNvPr id="5" name="Zástupný symbol pro obsah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983901"/>
              </p:ext>
            </p:extLst>
          </p:nvPr>
        </p:nvGraphicFramePr>
        <p:xfrm>
          <a:off x="0" y="980728"/>
          <a:ext cx="9144000" cy="49723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016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Hard systems thinking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Soft</a:t>
                      </a:r>
                      <a:r>
                        <a:rPr lang="cs-CZ" noProof="0" dirty="0"/>
                        <a:t> </a:t>
                      </a:r>
                      <a:r>
                        <a:rPr lang="en-GB" noProof="0" dirty="0"/>
                        <a:t>systems thinking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284">
                <a:tc>
                  <a:txBody>
                    <a:bodyPr/>
                    <a:lstStyle/>
                    <a:p>
                      <a:r>
                        <a:rPr lang="en-GB" noProof="0"/>
                        <a:t>Oriented to goal seeking.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/>
                        <a:t>Oriented to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477">
                <a:tc>
                  <a:txBody>
                    <a:bodyPr/>
                    <a:lstStyle/>
                    <a:p>
                      <a:r>
                        <a:rPr lang="en-GB" noProof="0"/>
                        <a:t>Assumes the world contains systems that can be engineered.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Assumes the world is problematic but can be explored using </a:t>
                      </a:r>
                      <a:r>
                        <a:rPr lang="en-GB" noProof="0" dirty="0" err="1"/>
                        <a:t>syst</a:t>
                      </a:r>
                      <a:r>
                        <a:rPr lang="cs-CZ" noProof="0" dirty="0"/>
                        <a:t>e</a:t>
                      </a:r>
                      <a:r>
                        <a:rPr lang="en-GB" noProof="0" dirty="0"/>
                        <a:t>m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710">
                <a:tc>
                  <a:txBody>
                    <a:bodyPr/>
                    <a:lstStyle/>
                    <a:p>
                      <a:r>
                        <a:rPr lang="en-GB" noProof="0" dirty="0"/>
                        <a:t>Assumes system models are models of the world (ontology-based).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Assumes system models are intellectual constructs (epistemology-based).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42">
                <a:tc>
                  <a:txBody>
                    <a:bodyPr/>
                    <a:lstStyle/>
                    <a:p>
                      <a:r>
                        <a:rPr lang="en-GB" noProof="0" dirty="0"/>
                        <a:t>Speaks of “problems“ and “solutions“.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Speaks of “issues“ and “accommodations“.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5710">
                <a:tc>
                  <a:txBody>
                    <a:bodyPr/>
                    <a:lstStyle/>
                    <a:p>
                      <a:r>
                        <a:rPr lang="en-GB" b="1" noProof="0"/>
                        <a:t>Advantage: </a:t>
                      </a:r>
                      <a:r>
                        <a:rPr lang="en-GB" b="0" noProof="0"/>
                        <a:t>Allows the use of powerful techniques.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/>
                        <a:t>Advantage:</a:t>
                      </a:r>
                      <a:r>
                        <a:rPr lang="en-GB" noProof="0" dirty="0"/>
                        <a:t> Available to both problem owners and professional practitioners. Keeps in touch with the human content of problem situations.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5710">
                <a:tc>
                  <a:txBody>
                    <a:bodyPr/>
                    <a:lstStyle/>
                    <a:p>
                      <a:r>
                        <a:rPr lang="en-GB" b="1" noProof="0" dirty="0"/>
                        <a:t>Disadvantage: </a:t>
                      </a:r>
                      <a:r>
                        <a:rPr lang="en-GB" b="0" noProof="0" dirty="0"/>
                        <a:t>May need professional practitioners. May lose touch with aspects beyond the logic of the problem situation.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noProof="0" dirty="0"/>
                        <a:t>Disadvantage: </a:t>
                      </a:r>
                      <a:r>
                        <a:rPr lang="en-GB" noProof="0" dirty="0"/>
                        <a:t>Does not produce final answers. Accepts</a:t>
                      </a:r>
                      <a:r>
                        <a:rPr lang="en-GB" baseline="0" noProof="0" dirty="0"/>
                        <a:t> that inquiry is never-ending.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ovéPole 5"/>
          <p:cNvSpPr txBox="1"/>
          <p:nvPr/>
        </p:nvSpPr>
        <p:spPr>
          <a:xfrm>
            <a:off x="0" y="63093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dirty="0"/>
              <a:t>P. </a:t>
            </a:r>
            <a:r>
              <a:rPr lang="cs-CZ" dirty="0" err="1"/>
              <a:t>Checkland</a:t>
            </a:r>
            <a:r>
              <a:rPr lang="cs-CZ" dirty="0"/>
              <a:t>, 1985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153400" cy="990600"/>
          </a:xfrm>
        </p:spPr>
        <p:txBody>
          <a:bodyPr>
            <a:normAutofit/>
          </a:bodyPr>
          <a:lstStyle/>
          <a:p>
            <a:r>
              <a:rPr lang="en-GB" noProof="0"/>
              <a:t>System dynamics process</a:t>
            </a:r>
          </a:p>
        </p:txBody>
      </p:sp>
      <p:sp>
        <p:nvSpPr>
          <p:cNvPr id="5" name="Zaoblený obdélník 4"/>
          <p:cNvSpPr/>
          <p:nvPr/>
        </p:nvSpPr>
        <p:spPr>
          <a:xfrm>
            <a:off x="1619672" y="1556792"/>
            <a:ext cx="2880320" cy="4896544"/>
          </a:xfrm>
          <a:prstGeom prst="roundRect">
            <a:avLst/>
          </a:prstGeom>
          <a:solidFill>
            <a:schemeClr val="bg2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cs-CZ" sz="2800" b="1" dirty="0" err="1"/>
              <a:t>Hard</a:t>
            </a:r>
            <a:r>
              <a:rPr lang="cs-CZ" sz="2800" b="1" dirty="0"/>
              <a:t> OR</a:t>
            </a:r>
          </a:p>
        </p:txBody>
      </p:sp>
      <p:sp>
        <p:nvSpPr>
          <p:cNvPr id="7" name="Zaoblený obdélník 6"/>
          <p:cNvSpPr/>
          <p:nvPr/>
        </p:nvSpPr>
        <p:spPr>
          <a:xfrm>
            <a:off x="4572000" y="1556792"/>
            <a:ext cx="4572000" cy="4913074"/>
          </a:xfrm>
          <a:prstGeom prst="roundRect">
            <a:avLst/>
          </a:prstGeom>
          <a:solidFill>
            <a:schemeClr val="tx2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rtlCol="0" anchor="t" anchorCtr="0"/>
          <a:lstStyle/>
          <a:p>
            <a:pPr algn="ctr"/>
            <a:r>
              <a:rPr lang="cs-CZ" sz="2800" b="1" dirty="0"/>
              <a:t>Soft OR</a:t>
            </a:r>
          </a:p>
        </p:txBody>
      </p:sp>
      <p:sp>
        <p:nvSpPr>
          <p:cNvPr id="8" name="Zaoblený obdélník 7"/>
          <p:cNvSpPr/>
          <p:nvPr/>
        </p:nvSpPr>
        <p:spPr>
          <a:xfrm>
            <a:off x="0" y="1556792"/>
            <a:ext cx="1500166" cy="4913074"/>
          </a:xfrm>
          <a:prstGeom prst="roundRect">
            <a:avLst/>
          </a:prstGeom>
          <a:solidFill>
            <a:schemeClr val="tx2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cs-CZ" sz="2800" b="1" dirty="0"/>
              <a:t>Soft OR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749" y="2708920"/>
            <a:ext cx="9045251" cy="374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7" grpId="0" uiExpand="1" build="p" animBg="1"/>
      <p:bldP spid="8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loop diagrams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Causal loop diagrams (CLDs) are an important tool for representing the </a:t>
            </a:r>
            <a:r>
              <a:rPr lang="en-GB" b="1" dirty="0"/>
              <a:t>feedback</a:t>
            </a:r>
            <a:r>
              <a:rPr lang="cs-CZ" b="1" dirty="0"/>
              <a:t> </a:t>
            </a:r>
            <a:r>
              <a:rPr lang="en-GB" b="1" dirty="0"/>
              <a:t>structure </a:t>
            </a:r>
            <a:r>
              <a:rPr lang="en-GB" dirty="0"/>
              <a:t>of systems.</a:t>
            </a:r>
            <a:endParaRPr lang="cs-CZ" dirty="0"/>
          </a:p>
          <a:p>
            <a:r>
              <a:rPr lang="en-GB" dirty="0"/>
              <a:t>CLDs are excellent for</a:t>
            </a:r>
          </a:p>
          <a:p>
            <a:pPr lvl="1"/>
            <a:r>
              <a:rPr lang="en-GB" dirty="0"/>
              <a:t>Quickly capturing your hypotheses about the causes of dynamics;</a:t>
            </a:r>
          </a:p>
          <a:p>
            <a:pPr lvl="1"/>
            <a:r>
              <a:rPr lang="en-GB" dirty="0"/>
              <a:t>Eliciting and capturing the mental models of individuals or teams;</a:t>
            </a:r>
          </a:p>
          <a:p>
            <a:pPr lvl="1"/>
            <a:r>
              <a:rPr lang="en-GB" dirty="0"/>
              <a:t>Communicating the important feedbacks you believe are responsible for a</a:t>
            </a:r>
            <a:r>
              <a:rPr lang="cs-CZ" dirty="0"/>
              <a:t> </a:t>
            </a:r>
            <a:r>
              <a:rPr lang="en-GB" dirty="0"/>
              <a:t>problem.</a:t>
            </a:r>
          </a:p>
        </p:txBody>
      </p:sp>
    </p:spTree>
    <p:extLst>
      <p:ext uri="{BB962C8B-B14F-4D97-AF65-F5344CB8AC3E}">
        <p14:creationId xmlns:p14="http://schemas.microsoft.com/office/powerpoint/2010/main" val="895278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Zástupný symbol pro obsah 4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75351035"/>
                  </p:ext>
                </p:extLst>
              </p:nvPr>
            </p:nvGraphicFramePr>
            <p:xfrm>
              <a:off x="179512" y="116632"/>
              <a:ext cx="8784975" cy="651477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9442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044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363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9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800" u="none" strike="noStrike" kern="1200" baseline="0" dirty="0"/>
                            <a:t>Symbol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800" u="none" strike="noStrike" kern="1200" baseline="0" dirty="0"/>
                            <a:t>Interpretation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800" u="none" strike="noStrike" kern="1200" baseline="0" dirty="0"/>
                            <a:t>Mathematics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29641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u="none" strike="noStrike" kern="1200" baseline="0" dirty="0"/>
                            <a:t>All else equal, if X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increases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(decreases), then Y increases</a:t>
                          </a:r>
                          <a:r>
                            <a:rPr kumimoji="0" lang="cs-CZ" sz="1800" u="none" strike="noStrike" kern="1200" baseline="0" dirty="0"/>
                            <a:t> (</a:t>
                          </a:r>
                          <a:r>
                            <a:rPr kumimoji="0" lang="en-GB" sz="1800" u="none" strike="noStrike" kern="1200" baseline="0" dirty="0"/>
                            <a:t>decreases) above (below)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what it would have been.</a:t>
                          </a:r>
                          <a:endParaRPr kumimoji="0" lang="cs-CZ" sz="1800" u="none" strike="noStrike" kern="1200" baseline="0" dirty="0"/>
                        </a:p>
                        <a:p>
                          <a:pPr algn="l"/>
                          <a:r>
                            <a:rPr kumimoji="0" lang="en-GB" sz="1800" u="none" strike="noStrike" kern="1200" baseline="0" dirty="0"/>
                            <a:t>In the case of </a:t>
                          </a:r>
                          <a:r>
                            <a:rPr kumimoji="0" lang="cs-CZ" sz="1800" u="none" strike="noStrike" kern="1200" baseline="0" dirty="0"/>
                            <a:t>a</a:t>
                          </a:r>
                          <a:r>
                            <a:rPr kumimoji="0" lang="en-GB" sz="1800" u="none" strike="noStrike" kern="1200" baseline="0" dirty="0"/>
                            <a:t>accumulations,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X adds to Y.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cs-CZ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cs-CZ" dirty="0"/>
                        </a:p>
                        <a:p>
                          <a:pPr algn="ctr"/>
                          <a:r>
                            <a:rPr kumimoji="0" lang="en-GB" sz="18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 the case of</a:t>
                          </a:r>
                          <a:r>
                            <a:rPr kumimoji="0" lang="cs-CZ" sz="18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8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accumulations,</a:t>
                          </a:r>
                          <a:endParaRPr kumimoji="0" lang="cs-CZ" sz="1800" b="0" i="0" u="none" strike="noStrike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cs-CZ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cs-CZ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+…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cs-CZ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cs-CZ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cs-CZ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cs-CZ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41498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u="none" strike="noStrike" kern="1200" baseline="0" dirty="0"/>
                            <a:t>All else equal, if X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increases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(decreases), then Y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decreases </a:t>
                          </a:r>
                          <a:r>
                            <a:rPr kumimoji="0" lang="cs-CZ" sz="1800" u="none" strike="noStrike" kern="1200" baseline="0" dirty="0"/>
                            <a:t>(</a:t>
                          </a:r>
                          <a:r>
                            <a:rPr kumimoji="0" lang="en-GB" sz="1800" u="none" strike="noStrike" kern="1200" baseline="0" dirty="0"/>
                            <a:t>increases) below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(above)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what it would have been.</a:t>
                          </a:r>
                          <a:endParaRPr kumimoji="0" lang="cs-CZ" sz="1800" u="none" strike="noStrike" kern="1200" baseline="0" dirty="0"/>
                        </a:p>
                        <a:p>
                          <a:pPr algn="l"/>
                          <a:r>
                            <a:rPr kumimoji="0" lang="en-GB" sz="1800" u="none" strike="noStrike" kern="1200" baseline="0" dirty="0"/>
                            <a:t>In the case of </a:t>
                          </a:r>
                          <a:r>
                            <a:rPr kumimoji="0" lang="cs-CZ" sz="1800" u="none" strike="noStrike" kern="1200" baseline="0" dirty="0"/>
                            <a:t>a</a:t>
                          </a:r>
                          <a:r>
                            <a:rPr kumimoji="0" lang="en-GB" sz="1800" u="none" strike="noStrike" kern="1200" baseline="0" dirty="0"/>
                            <a:t>accumulations,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en-GB" sz="1800" u="none" strike="noStrike" kern="1200" baseline="0" dirty="0"/>
                            <a:t>X </a:t>
                          </a:r>
                          <a:r>
                            <a:rPr kumimoji="0" lang="cs-CZ" sz="1800" u="none" strike="noStrike" kern="1200" baseline="0" dirty="0" err="1"/>
                            <a:t>subtracts</a:t>
                          </a:r>
                          <a:r>
                            <a:rPr kumimoji="0" lang="cs-CZ" sz="1800" u="none" strike="noStrike" kern="1200" baseline="0" dirty="0"/>
                            <a:t> </a:t>
                          </a:r>
                          <a:r>
                            <a:rPr kumimoji="0" lang="cs-CZ" sz="1800" u="none" strike="noStrike" kern="1200" baseline="0" dirty="0" err="1"/>
                            <a:t>from</a:t>
                          </a:r>
                          <a:r>
                            <a:rPr kumimoji="0" lang="en-GB" sz="1800" u="none" strike="noStrike" kern="1200" baseline="0" dirty="0"/>
                            <a:t> Y.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  <m:r>
                                  <a:rPr lang="cs-CZ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cs-CZ" dirty="0"/>
                        </a:p>
                        <a:p>
                          <a:pPr algn="ctr"/>
                          <a:r>
                            <a:rPr kumimoji="0" lang="en-GB" sz="18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 the case of</a:t>
                          </a:r>
                          <a:r>
                            <a:rPr kumimoji="0" lang="cs-CZ" sz="18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GB" sz="18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accumulations,</a:t>
                          </a:r>
                          <a:endParaRPr kumimoji="0" lang="cs-CZ" sz="1800" b="0" i="0" u="none" strike="noStrike" kern="1200" baseline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cs-CZ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cs-CZ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+…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cs-CZ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cs-CZ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s-CZ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cs-CZ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cs-CZ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cs-CZ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6583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cs-CZ" dirty="0" err="1"/>
                            <a:t>Delay</a:t>
                          </a:r>
                          <a:r>
                            <a:rPr lang="cs-CZ" dirty="0"/>
                            <a:t> </a:t>
                          </a:r>
                          <a:r>
                            <a:rPr lang="cs-CZ" dirty="0" err="1"/>
                            <a:t>mark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29698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b="0" i="1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Positive (Reinforcing) Loop</a:t>
                          </a:r>
                          <a:endParaRPr lang="en-GB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7876">
                    <a:tc>
                      <a:txBody>
                        <a:bodyPr/>
                        <a:lstStyle/>
                        <a:p>
                          <a:endParaRPr lang="en-GB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b="0" i="1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Negative (Balancing) Loop</a:t>
                          </a:r>
                          <a:endParaRPr lang="en-GB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Zástupný symbol pro obsah 4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75351035"/>
                  </p:ext>
                </p:extLst>
              </p:nvPr>
            </p:nvGraphicFramePr>
            <p:xfrm>
              <a:off x="179512" y="116632"/>
              <a:ext cx="8784975" cy="666808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944216"/>
                    <a:gridCol w="4104456"/>
                    <a:gridCol w="2736303"/>
                  </a:tblGrid>
                  <a:tr h="499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800" u="none" strike="noStrike" kern="1200" baseline="0" dirty="0" smtClean="0"/>
                            <a:t>Symbol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800" u="none" strike="noStrike" kern="1200" baseline="0" dirty="0" smtClean="0"/>
                            <a:t>Interpretation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GB" sz="1800" u="none" strike="noStrike" kern="1200" baseline="0" dirty="0" smtClean="0"/>
                            <a:t>Mathematics</a:t>
                          </a:r>
                          <a:endParaRPr lang="en-GB" dirty="0"/>
                        </a:p>
                      </a:txBody>
                      <a:tcPr/>
                    </a:tc>
                  </a:tr>
                  <a:tr h="181222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u="none" strike="noStrike" kern="1200" baseline="0" dirty="0" smtClean="0"/>
                            <a:t>All else equal, if X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increases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(decreases), then Y increases</a:t>
                          </a:r>
                          <a:r>
                            <a:rPr kumimoji="0" lang="cs-CZ" sz="1800" u="none" strike="noStrike" kern="1200" baseline="0" dirty="0" smtClean="0"/>
                            <a:t> (</a:t>
                          </a:r>
                          <a:r>
                            <a:rPr kumimoji="0" lang="en-GB" sz="1800" u="none" strike="noStrike" kern="1200" baseline="0" dirty="0" smtClean="0"/>
                            <a:t>decreases) above (below)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what it would have been.</a:t>
                          </a:r>
                          <a:endParaRPr kumimoji="0" lang="cs-CZ" sz="1800" u="none" strike="noStrike" kern="1200" baseline="0" dirty="0" smtClean="0"/>
                        </a:p>
                        <a:p>
                          <a:pPr algn="l"/>
                          <a:r>
                            <a:rPr kumimoji="0" lang="en-GB" sz="1800" u="none" strike="noStrike" kern="1200" baseline="0" dirty="0" smtClean="0"/>
                            <a:t>In the case of </a:t>
                          </a:r>
                          <a:r>
                            <a:rPr kumimoji="0" lang="cs-CZ" sz="1800" u="none" strike="noStrike" kern="1200" baseline="0" dirty="0" smtClean="0"/>
                            <a:t>a</a:t>
                          </a:r>
                          <a:r>
                            <a:rPr kumimoji="0" lang="en-GB" sz="1800" u="none" strike="noStrike" kern="1200" baseline="0" dirty="0" smtClean="0"/>
                            <a:t>accumulations,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X adds to Y.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1381" t="-29293" r="-445" b="-241414"/>
                          </a:stretch>
                        </a:blipFill>
                      </a:tcPr>
                    </a:tc>
                  </a:tr>
                  <a:tr h="1812227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u="none" strike="noStrike" kern="1200" baseline="0" dirty="0" smtClean="0"/>
                            <a:t>All else equal, if X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increases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(decreases), then Y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decreases </a:t>
                          </a:r>
                          <a:r>
                            <a:rPr kumimoji="0" lang="cs-CZ" sz="1800" u="none" strike="noStrike" kern="1200" baseline="0" dirty="0" smtClean="0"/>
                            <a:t>(</a:t>
                          </a:r>
                          <a:r>
                            <a:rPr kumimoji="0" lang="en-GB" sz="1800" u="none" strike="noStrike" kern="1200" baseline="0" dirty="0" smtClean="0"/>
                            <a:t>increases) below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(above)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what it would have been.</a:t>
                          </a:r>
                          <a:endParaRPr kumimoji="0" lang="cs-CZ" sz="1800" u="none" strike="noStrike" kern="1200" baseline="0" dirty="0" smtClean="0"/>
                        </a:p>
                        <a:p>
                          <a:pPr algn="l"/>
                          <a:r>
                            <a:rPr kumimoji="0" lang="en-GB" sz="1800" u="none" strike="noStrike" kern="1200" baseline="0" dirty="0" smtClean="0"/>
                            <a:t>In the case of </a:t>
                          </a:r>
                          <a:r>
                            <a:rPr kumimoji="0" lang="cs-CZ" sz="1800" u="none" strike="noStrike" kern="1200" baseline="0" dirty="0" smtClean="0"/>
                            <a:t>a</a:t>
                          </a:r>
                          <a:r>
                            <a:rPr kumimoji="0" lang="en-GB" sz="1800" u="none" strike="noStrike" kern="1200" baseline="0" dirty="0" smtClean="0"/>
                            <a:t>accumulations,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en-GB" sz="1800" u="none" strike="noStrike" kern="1200" baseline="0" dirty="0" smtClean="0"/>
                            <a:t>X </a:t>
                          </a:r>
                          <a:r>
                            <a:rPr kumimoji="0" lang="cs-CZ" sz="1800" u="none" strike="noStrike" kern="1200" baseline="0" dirty="0" err="1" smtClean="0"/>
                            <a:t>subtracts</a:t>
                          </a:r>
                          <a:r>
                            <a:rPr kumimoji="0" lang="cs-CZ" sz="1800" u="none" strike="noStrike" kern="1200" baseline="0" dirty="0" smtClean="0"/>
                            <a:t> </a:t>
                          </a:r>
                          <a:r>
                            <a:rPr kumimoji="0" lang="cs-CZ" sz="1800" u="none" strike="noStrike" kern="1200" baseline="0" dirty="0" err="1" smtClean="0"/>
                            <a:t>from</a:t>
                          </a:r>
                          <a:r>
                            <a:rPr kumimoji="0" lang="en-GB" sz="1800" u="none" strike="noStrike" kern="1200" baseline="0" dirty="0" smtClean="0"/>
                            <a:t> Y.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21381" t="-128859" r="-445" b="-140604"/>
                          </a:stretch>
                        </a:blipFill>
                      </a:tcPr>
                    </a:tc>
                  </a:tr>
                  <a:tr h="736583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cs-CZ" dirty="0" err="1" smtClean="0"/>
                            <a:t>Delay</a:t>
                          </a:r>
                          <a:r>
                            <a:rPr lang="cs-CZ" dirty="0" smtClean="0"/>
                            <a:t> </a:t>
                          </a:r>
                          <a:r>
                            <a:rPr lang="cs-CZ" dirty="0" err="1" smtClean="0"/>
                            <a:t>mark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</a:tr>
                  <a:tr h="829698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b="0" i="1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Positive (Reinforcing) Loop</a:t>
                          </a:r>
                          <a:endParaRPr lang="en-GB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</a:tr>
                  <a:tr h="977876">
                    <a:tc>
                      <a:txBody>
                        <a:bodyPr/>
                        <a:lstStyle/>
                        <a:p>
                          <a:endParaRPr lang="en-GB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kumimoji="0" lang="en-GB" sz="1800" b="0" i="1" u="none" strike="noStrike" kern="1200" baseline="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Negative (Balancing) Loop</a:t>
                          </a:r>
                          <a:endParaRPr lang="en-GB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307260"/>
            <a:ext cx="1665338" cy="596496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24" y="3412584"/>
            <a:ext cx="1678050" cy="444199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86" y="4221088"/>
            <a:ext cx="1970438" cy="710719"/>
          </a:xfrm>
          <a:prstGeom prst="rect">
            <a:avLst/>
          </a:prstGeom>
        </p:spPr>
      </p:pic>
      <p:pic>
        <p:nvPicPr>
          <p:cNvPr id="13" name="Obrázek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880" y="4978827"/>
            <a:ext cx="1461938" cy="634570"/>
          </a:xfrm>
          <a:prstGeom prst="rect">
            <a:avLst/>
          </a:prstGeom>
        </p:spPr>
      </p:pic>
      <p:pic>
        <p:nvPicPr>
          <p:cNvPr id="14" name="Obrázek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536" y="5825101"/>
            <a:ext cx="1639913" cy="6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1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i="1" dirty="0"/>
              <a:t>Variable Names Should Be Nouns or Noun Phrases</a:t>
            </a:r>
            <a:endParaRPr lang="en-GB" sz="3800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38" y="3873740"/>
            <a:ext cx="4226833" cy="1100822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136" y="3861048"/>
            <a:ext cx="3723881" cy="1113514"/>
          </a:xfrm>
          <a:prstGeom prst="rect">
            <a:avLst/>
          </a:prstGeom>
        </p:spPr>
      </p:pic>
      <p:sp>
        <p:nvSpPr>
          <p:cNvPr id="7" name="TextovéPole 6"/>
          <p:cNvSpPr txBox="1"/>
          <p:nvPr/>
        </p:nvSpPr>
        <p:spPr>
          <a:xfrm>
            <a:off x="612647" y="1916832"/>
            <a:ext cx="7899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 err="1"/>
              <a:t>Which</a:t>
            </a:r>
            <a:r>
              <a:rPr lang="cs-CZ" sz="3200" dirty="0"/>
              <a:t> </a:t>
            </a:r>
            <a:r>
              <a:rPr lang="cs-CZ" sz="3200" dirty="0" err="1"/>
              <a:t>one</a:t>
            </a:r>
            <a:r>
              <a:rPr lang="cs-CZ" sz="3200" dirty="0"/>
              <a:t> </a:t>
            </a:r>
            <a:r>
              <a:rPr lang="cs-CZ" sz="3200" dirty="0" err="1"/>
              <a:t>is</a:t>
            </a:r>
            <a:r>
              <a:rPr lang="cs-CZ" sz="3200" dirty="0"/>
              <a:t> </a:t>
            </a:r>
            <a:r>
              <a:rPr lang="cs-CZ" sz="3200" dirty="0" err="1"/>
              <a:t>correct</a:t>
            </a:r>
            <a:r>
              <a:rPr lang="cs-CZ" sz="3200" dirty="0"/>
              <a:t>?</a:t>
            </a:r>
            <a:endParaRPr lang="en-GB" sz="3200" dirty="0"/>
          </a:p>
        </p:txBody>
      </p:sp>
      <p:sp>
        <p:nvSpPr>
          <p:cNvPr id="8" name="Kříž 7"/>
          <p:cNvSpPr/>
          <p:nvPr/>
        </p:nvSpPr>
        <p:spPr>
          <a:xfrm rot="2627138">
            <a:off x="1141556" y="3034552"/>
            <a:ext cx="2569671" cy="2561351"/>
          </a:xfrm>
          <a:prstGeom prst="plus">
            <a:avLst>
              <a:gd name="adj" fmla="val 40623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3" y="3356992"/>
            <a:ext cx="4579759" cy="1191214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i="1" dirty="0"/>
              <a:t>Variable Names Must Have a Clear Sense of Direction</a:t>
            </a:r>
            <a:endParaRPr lang="en-GB" sz="3800" dirty="0"/>
          </a:p>
        </p:txBody>
      </p:sp>
      <p:sp>
        <p:nvSpPr>
          <p:cNvPr id="7" name="TextovéPole 6"/>
          <p:cNvSpPr txBox="1"/>
          <p:nvPr/>
        </p:nvSpPr>
        <p:spPr>
          <a:xfrm>
            <a:off x="612647" y="1916832"/>
            <a:ext cx="7899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 err="1"/>
              <a:t>Which</a:t>
            </a:r>
            <a:r>
              <a:rPr lang="cs-CZ" sz="3200" dirty="0"/>
              <a:t> </a:t>
            </a:r>
            <a:r>
              <a:rPr lang="cs-CZ" sz="3200" dirty="0" err="1"/>
              <a:t>one</a:t>
            </a:r>
            <a:r>
              <a:rPr lang="cs-CZ" sz="3200" dirty="0"/>
              <a:t> </a:t>
            </a:r>
            <a:r>
              <a:rPr lang="cs-CZ" sz="3200" dirty="0" err="1"/>
              <a:t>is</a:t>
            </a:r>
            <a:r>
              <a:rPr lang="cs-CZ" sz="3200" dirty="0"/>
              <a:t> </a:t>
            </a:r>
            <a:r>
              <a:rPr lang="cs-CZ" sz="3200" dirty="0" err="1"/>
              <a:t>correct</a:t>
            </a:r>
            <a:r>
              <a:rPr lang="cs-CZ" sz="3200" dirty="0"/>
              <a:t>?</a:t>
            </a:r>
            <a:endParaRPr lang="en-GB" sz="3200" dirty="0"/>
          </a:p>
        </p:txBody>
      </p:sp>
      <p:sp>
        <p:nvSpPr>
          <p:cNvPr id="8" name="Kříž 7"/>
          <p:cNvSpPr/>
          <p:nvPr/>
        </p:nvSpPr>
        <p:spPr>
          <a:xfrm rot="2627138">
            <a:off x="996454" y="2671923"/>
            <a:ext cx="2569671" cy="2561351"/>
          </a:xfrm>
          <a:prstGeom prst="plus">
            <a:avLst>
              <a:gd name="adj" fmla="val 40623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875" y="3308883"/>
            <a:ext cx="4373331" cy="128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6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71" y="3524407"/>
            <a:ext cx="4041127" cy="1152691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i="1" dirty="0"/>
              <a:t>Choose Variables Whose Normal Sense of Direction Is Positive</a:t>
            </a:r>
            <a:endParaRPr lang="en-GB" sz="3800" dirty="0"/>
          </a:p>
        </p:txBody>
      </p:sp>
      <p:sp>
        <p:nvSpPr>
          <p:cNvPr id="7" name="TextovéPole 6"/>
          <p:cNvSpPr txBox="1"/>
          <p:nvPr/>
        </p:nvSpPr>
        <p:spPr>
          <a:xfrm>
            <a:off x="612647" y="1916832"/>
            <a:ext cx="7899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 err="1"/>
              <a:t>Which</a:t>
            </a:r>
            <a:r>
              <a:rPr lang="cs-CZ" sz="3200" dirty="0"/>
              <a:t> </a:t>
            </a:r>
            <a:r>
              <a:rPr lang="cs-CZ" sz="3200" dirty="0" err="1"/>
              <a:t>one</a:t>
            </a:r>
            <a:r>
              <a:rPr lang="cs-CZ" sz="3200" dirty="0"/>
              <a:t> </a:t>
            </a:r>
            <a:r>
              <a:rPr lang="cs-CZ" sz="3200" dirty="0" err="1"/>
              <a:t>is</a:t>
            </a:r>
            <a:r>
              <a:rPr lang="cs-CZ" sz="3200" dirty="0"/>
              <a:t> </a:t>
            </a:r>
            <a:r>
              <a:rPr lang="cs-CZ" sz="3200" dirty="0" err="1"/>
              <a:t>correct</a:t>
            </a:r>
            <a:r>
              <a:rPr lang="cs-CZ" sz="3200" dirty="0"/>
              <a:t>?</a:t>
            </a:r>
            <a:endParaRPr lang="en-GB" sz="3200" dirty="0"/>
          </a:p>
        </p:txBody>
      </p:sp>
      <p:sp>
        <p:nvSpPr>
          <p:cNvPr id="8" name="Kříž 7"/>
          <p:cNvSpPr/>
          <p:nvPr/>
        </p:nvSpPr>
        <p:spPr>
          <a:xfrm rot="2627138">
            <a:off x="5236619" y="2729479"/>
            <a:ext cx="2569671" cy="2561351"/>
          </a:xfrm>
          <a:prstGeom prst="plus">
            <a:avLst>
              <a:gd name="adj" fmla="val 40623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3" y="3524407"/>
            <a:ext cx="4170489" cy="127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0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8784976" cy="990600"/>
          </a:xfrm>
        </p:spPr>
        <p:txBody>
          <a:bodyPr>
            <a:normAutofit/>
          </a:bodyPr>
          <a:lstStyle/>
          <a:p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– feedback </a:t>
            </a:r>
            <a:r>
              <a:rPr lang="cs-CZ" dirty="0" err="1"/>
              <a:t>identification</a:t>
            </a:r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858039"/>
            <a:ext cx="2987438" cy="2157539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2564904"/>
            <a:ext cx="3292538" cy="24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42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717032"/>
            <a:ext cx="5428238" cy="2220996"/>
          </a:xfrm>
          <a:prstGeom prst="rect">
            <a:avLst/>
          </a:prstGeom>
        </p:spPr>
      </p:pic>
      <p:sp>
        <p:nvSpPr>
          <p:cNvPr id="6" name="Nadpis 1"/>
          <p:cNvSpPr txBox="1">
            <a:spLocks/>
          </p:cNvSpPr>
          <p:nvPr/>
        </p:nvSpPr>
        <p:spPr>
          <a:xfrm>
            <a:off x="179512" y="228600"/>
            <a:ext cx="8784976" cy="990600"/>
          </a:xfrm>
          <a:prstGeom prst="rect">
            <a:avLst/>
          </a:prstGeom>
        </p:spPr>
        <p:txBody>
          <a:bodyPr vert="horz" anchor="ctr">
            <a:normAutofit fontScale="9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– feedback </a:t>
            </a:r>
            <a:r>
              <a:rPr lang="cs-CZ" dirty="0" err="1"/>
              <a:t>identification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7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/>
          <p:cNvSpPr txBox="1">
            <a:spLocks/>
          </p:cNvSpPr>
          <p:nvPr/>
        </p:nvSpPr>
        <p:spPr>
          <a:xfrm>
            <a:off x="179512" y="228600"/>
            <a:ext cx="8784976" cy="990600"/>
          </a:xfrm>
          <a:prstGeom prst="rect">
            <a:avLst/>
          </a:prstGeom>
        </p:spPr>
        <p:txBody>
          <a:bodyPr vert="horz" anchor="ctr">
            <a:normAutofit fontScale="9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– feedback </a:t>
            </a:r>
            <a:r>
              <a:rPr lang="cs-CZ" dirty="0" err="1"/>
              <a:t>identification</a:t>
            </a:r>
            <a:endParaRPr lang="en-GB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55" y="2780928"/>
            <a:ext cx="6216413" cy="32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67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/>
          <p:cNvSpPr txBox="1">
            <a:spLocks/>
          </p:cNvSpPr>
          <p:nvPr/>
        </p:nvSpPr>
        <p:spPr>
          <a:xfrm>
            <a:off x="179512" y="228600"/>
            <a:ext cx="8784976" cy="990600"/>
          </a:xfrm>
          <a:prstGeom prst="rect">
            <a:avLst/>
          </a:prstGeom>
        </p:spPr>
        <p:txBody>
          <a:bodyPr vert="horz" anchor="ctr">
            <a:normAutofit fontScale="9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– feedback </a:t>
            </a:r>
            <a:r>
              <a:rPr lang="cs-CZ" dirty="0" err="1"/>
              <a:t>identification</a:t>
            </a:r>
            <a:endParaRPr lang="en-GB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74" y="1349929"/>
            <a:ext cx="8593651" cy="550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52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II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Linear</a:t>
            </a:r>
            <a:r>
              <a:rPr lang="cs-CZ" dirty="0"/>
              <a:t> </a:t>
            </a:r>
            <a:r>
              <a:rPr lang="cs-CZ" dirty="0" err="1"/>
              <a:t>thinking</a:t>
            </a:r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20888"/>
            <a:ext cx="5326538" cy="201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51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r>
              <a:rPr lang="cs-CZ" dirty="0"/>
              <a:t> II</a:t>
            </a:r>
            <a:endParaRPr lang="en-GB" dirty="0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41" y="1772816"/>
            <a:ext cx="8047013" cy="365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cs-CZ" dirty="0"/>
          </a:p>
          <a:p>
            <a:pPr marL="0" indent="0" algn="ctr">
              <a:buNone/>
            </a:pP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dynamics</a:t>
            </a:r>
            <a:r>
              <a:rPr lang="cs-CZ" dirty="0"/>
              <a:t> – </a:t>
            </a:r>
            <a:r>
              <a:rPr lang="cs-CZ" dirty="0" err="1"/>
              <a:t>impact</a:t>
            </a:r>
            <a:r>
              <a:rPr lang="cs-CZ" dirty="0"/>
              <a:t> on management (</a:t>
            </a:r>
            <a:r>
              <a:rPr lang="cs-CZ" b="1" dirty="0" err="1"/>
              <a:t>without</a:t>
            </a:r>
            <a:r>
              <a:rPr lang="cs-CZ" b="1" dirty="0"/>
              <a:t> </a:t>
            </a:r>
            <a:r>
              <a:rPr lang="cs-CZ" b="1" dirty="0" err="1"/>
              <a:t>simulation</a:t>
            </a:r>
            <a:r>
              <a:rPr lang="cs-CZ" dirty="0"/>
              <a:t>!)</a:t>
            </a:r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81" y="1844824"/>
            <a:ext cx="7429437" cy="455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37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66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1" id="{B0B25E39-7186-46C5-9D39-950CFB3AB267}" vid="{2449E244-AD5F-4BB9-8A5A-7BFBD4B00EA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0</TotalTime>
  <Words>1766</Words>
  <Application>Microsoft Office PowerPoint</Application>
  <PresentationFormat>Předvádění na obrazovce (4:3)</PresentationFormat>
  <Paragraphs>196</Paragraphs>
  <Slides>28</Slides>
  <Notes>13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36" baseType="lpstr">
      <vt:lpstr>Arial</vt:lpstr>
      <vt:lpstr>Calibri</vt:lpstr>
      <vt:lpstr>Cambria Math</vt:lpstr>
      <vt:lpstr>Roboto</vt:lpstr>
      <vt:lpstr>Roboto Black</vt:lpstr>
      <vt:lpstr>Roboto Medium</vt:lpstr>
      <vt:lpstr>Wingdings</vt:lpstr>
      <vt:lpstr>Motiv1</vt:lpstr>
      <vt:lpstr>Prezentace aplikace PowerPoint</vt:lpstr>
      <vt:lpstr>History</vt:lpstr>
      <vt:lpstr>System dynamics - definition</vt:lpstr>
      <vt:lpstr>System dynamics - definition</vt:lpstr>
      <vt:lpstr>System dynamics - terms</vt:lpstr>
      <vt:lpstr>Dynamic complexity</vt:lpstr>
      <vt:lpstr>Systems thinking vs system dynamics</vt:lpstr>
      <vt:lpstr>Systems thinking vs system dynamics</vt:lpstr>
      <vt:lpstr>Systems thinking</vt:lpstr>
      <vt:lpstr>Prezentace aplikace PowerPoint</vt:lpstr>
      <vt:lpstr>Prezentace aplikace PowerPoint</vt:lpstr>
      <vt:lpstr>Dynamic complex systems vs human capacity</vt:lpstr>
      <vt:lpstr>System dynamics process</vt:lpstr>
      <vt:lpstr>SOFT OR vs. HARD OR</vt:lpstr>
      <vt:lpstr>System dynamics process</vt:lpstr>
      <vt:lpstr>Causal loop diagrams</vt:lpstr>
      <vt:lpstr>Prezentace aplikace PowerPoint</vt:lpstr>
      <vt:lpstr>Variable Names Should Be Nouns or Noun Phrases</vt:lpstr>
      <vt:lpstr>Variable Names Must Have a Clear Sense of Direction</vt:lpstr>
      <vt:lpstr>Choose Variables Whose Normal Sense of Direction Is Positive</vt:lpstr>
      <vt:lpstr>Simple example – feedback identification</vt:lpstr>
      <vt:lpstr>Prezentace aplikace PowerPoint</vt:lpstr>
      <vt:lpstr>Prezentace aplikace PowerPoint</vt:lpstr>
      <vt:lpstr>Prezentace aplikace PowerPoint</vt:lpstr>
      <vt:lpstr>Simple example II</vt:lpstr>
      <vt:lpstr>Simple example II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625</cp:revision>
  <dcterms:created xsi:type="dcterms:W3CDTF">2012-01-18T09:02:27Z</dcterms:created>
  <dcterms:modified xsi:type="dcterms:W3CDTF">2024-10-28T21:57:41Z</dcterms:modified>
</cp:coreProperties>
</file>