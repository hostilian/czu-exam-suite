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2"/>
  </p:notesMasterIdLst>
  <p:sldIdLst>
    <p:sldId id="256" r:id="rId2"/>
    <p:sldId id="287" r:id="rId3"/>
    <p:sldId id="288" r:id="rId4"/>
    <p:sldId id="290" r:id="rId5"/>
    <p:sldId id="325" r:id="rId6"/>
    <p:sldId id="327" r:id="rId7"/>
    <p:sldId id="326" r:id="rId8"/>
    <p:sldId id="328" r:id="rId9"/>
    <p:sldId id="291" r:id="rId10"/>
    <p:sldId id="292" r:id="rId11"/>
    <p:sldId id="293" r:id="rId12"/>
    <p:sldId id="294" r:id="rId13"/>
    <p:sldId id="329" r:id="rId14"/>
    <p:sldId id="298" r:id="rId15"/>
    <p:sldId id="330" r:id="rId16"/>
    <p:sldId id="331" r:id="rId17"/>
    <p:sldId id="311" r:id="rId18"/>
    <p:sldId id="332" r:id="rId19"/>
    <p:sldId id="333" r:id="rId20"/>
    <p:sldId id="334" r:id="rId21"/>
    <p:sldId id="312" r:id="rId22"/>
    <p:sldId id="335" r:id="rId23"/>
    <p:sldId id="313" r:id="rId24"/>
    <p:sldId id="336" r:id="rId25"/>
    <p:sldId id="339" r:id="rId26"/>
    <p:sldId id="341" r:id="rId27"/>
    <p:sldId id="342" r:id="rId28"/>
    <p:sldId id="343" r:id="rId29"/>
    <p:sldId id="344" r:id="rId30"/>
    <p:sldId id="345" r:id="rId31"/>
  </p:sldIdLst>
  <p:sldSz cx="9144000" cy="6858000" type="screen4x3"/>
  <p:notesSz cx="7099300" cy="10234613"/>
  <p:defaultTextStyle>
    <a:defPPr>
      <a:defRPr lang="cs-CZ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Střední styl 2 – zvýraznění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842" autoAdjust="0"/>
    <p:restoredTop sz="80714" autoAdjust="0"/>
  </p:normalViewPr>
  <p:slideViewPr>
    <p:cSldViewPr>
      <p:cViewPr varScale="1">
        <p:scale>
          <a:sx n="69" d="100"/>
          <a:sy n="69" d="100"/>
        </p:scale>
        <p:origin x="127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1297" y="0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/>
          <a:lstStyle>
            <a:lvl1pPr algn="r">
              <a:defRPr sz="1300"/>
            </a:lvl1pPr>
          </a:lstStyle>
          <a:p>
            <a:fld id="{3DFDF4BB-19E4-4249-AD4F-E9648CF8E63C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9938"/>
            <a:ext cx="5114925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26" tIns="49514" rIns="99026" bIns="49514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09931" y="4861444"/>
            <a:ext cx="5679440" cy="4605576"/>
          </a:xfrm>
          <a:prstGeom prst="rect">
            <a:avLst/>
          </a:prstGeom>
        </p:spPr>
        <p:txBody>
          <a:bodyPr vert="horz" lIns="99026" tIns="49514" rIns="99026" bIns="49514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3" y="9721109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1297" y="9721109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 anchor="b"/>
          <a:lstStyle>
            <a:lvl1pPr algn="r">
              <a:defRPr sz="1300"/>
            </a:lvl1pPr>
          </a:lstStyle>
          <a:p>
            <a:fld id="{2F931F19-2CCB-4CD0-A569-BC4C390A5E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21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b="0" dirty="0" err="1"/>
              <a:t>Meadows</a:t>
            </a:r>
            <a:r>
              <a:rPr lang="cs-CZ" b="0" dirty="0"/>
              <a:t> – show slinky</a:t>
            </a:r>
            <a:endParaRPr lang="cs-CZ" b="0" baseline="0" dirty="0"/>
          </a:p>
          <a:p>
            <a:endParaRPr lang="cs-CZ" b="0" baseline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515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Názvy funkcí a obrázky jsou z</a:t>
            </a:r>
            <a:r>
              <a:rPr lang="cs-CZ" baseline="0" dirty="0"/>
              <a:t> tohoto </a:t>
            </a:r>
            <a:r>
              <a:rPr lang="cs-CZ" baseline="0" dirty="0" err="1"/>
              <a:t>sw</a:t>
            </a:r>
            <a:endParaRPr lang="cs-CZ" baseline="0" dirty="0"/>
          </a:p>
          <a:p>
            <a:r>
              <a:rPr lang="cs-CZ" dirty="0"/>
              <a:t>Další SW například </a:t>
            </a:r>
            <a:r>
              <a:rPr lang="cs-CZ" dirty="0" err="1"/>
              <a:t>iThing</a:t>
            </a:r>
            <a:r>
              <a:rPr lang="cs-CZ" dirty="0"/>
              <a:t>, STELLA či </a:t>
            </a:r>
            <a:r>
              <a:rPr lang="cs-CZ" dirty="0" err="1"/>
              <a:t>PowerSim</a:t>
            </a:r>
            <a:r>
              <a:rPr lang="cs-CZ" dirty="0"/>
              <a:t>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2859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Stock</a:t>
            </a:r>
            <a:r>
              <a:rPr lang="cs-CZ" dirty="0"/>
              <a:t>: </a:t>
            </a:r>
            <a:r>
              <a:rPr lang="cs-CZ" sz="1300" dirty="0"/>
              <a:t>obvyklým příkladem je vana napuštěná vodou.</a:t>
            </a:r>
          </a:p>
          <a:p>
            <a:pPr defTabSz="990379">
              <a:defRPr/>
            </a:pPr>
            <a:r>
              <a:rPr lang="cs-CZ" sz="1300" dirty="0" err="1"/>
              <a:t>Flow</a:t>
            </a:r>
            <a:r>
              <a:rPr lang="cs-CZ" sz="1300" dirty="0"/>
              <a:t>:</a:t>
            </a:r>
            <a:r>
              <a:rPr lang="cs-CZ" sz="1300" b="1" i="1" dirty="0"/>
              <a:t> </a:t>
            </a:r>
            <a:r>
              <a:rPr lang="cs-CZ" sz="1300" dirty="0"/>
              <a:t>je vstupem nebo výstupem z akumulace, příkladem by byla přitékající voda z kohoutku. </a:t>
            </a:r>
          </a:p>
          <a:p>
            <a:pPr defTabSz="990379">
              <a:defRPr/>
            </a:pPr>
            <a:r>
              <a:rPr lang="cs-CZ" sz="1300" dirty="0" err="1"/>
              <a:t>Clouds</a:t>
            </a:r>
            <a:r>
              <a:rPr lang="cs-CZ" sz="1300" baseline="0" dirty="0"/>
              <a:t> – </a:t>
            </a:r>
            <a:r>
              <a:rPr lang="cs-CZ" sz="1300" baseline="0" dirty="0" err="1"/>
              <a:t>source</a:t>
            </a:r>
            <a:r>
              <a:rPr lang="cs-CZ" sz="1300" baseline="0" dirty="0"/>
              <a:t> </a:t>
            </a:r>
            <a:r>
              <a:rPr lang="cs-CZ" sz="1300" baseline="0" dirty="0" err="1"/>
              <a:t>or</a:t>
            </a:r>
            <a:r>
              <a:rPr lang="cs-CZ" sz="1300" baseline="0" dirty="0"/>
              <a:t> </a:t>
            </a:r>
            <a:r>
              <a:rPr lang="cs-CZ" sz="1300" baseline="0" dirty="0" err="1"/>
              <a:t>sing</a:t>
            </a:r>
            <a:r>
              <a:rPr lang="cs-CZ" sz="1300" baseline="0" dirty="0"/>
              <a:t> – </a:t>
            </a:r>
            <a:r>
              <a:rPr lang="cs-CZ" sz="1300" baseline="0" dirty="0" err="1"/>
              <a:t>stock</a:t>
            </a:r>
            <a:r>
              <a:rPr lang="cs-CZ" sz="1300" baseline="0" dirty="0"/>
              <a:t> </a:t>
            </a:r>
            <a:r>
              <a:rPr lang="cs-CZ" sz="1300" baseline="0" dirty="0" err="1"/>
              <a:t>variable</a:t>
            </a:r>
            <a:r>
              <a:rPr lang="cs-CZ" sz="1300" baseline="0" dirty="0"/>
              <a:t> </a:t>
            </a:r>
            <a:r>
              <a:rPr lang="cs-CZ" sz="1300" baseline="0" dirty="0" err="1"/>
              <a:t>outside</a:t>
            </a:r>
            <a:r>
              <a:rPr lang="cs-CZ" sz="1300" baseline="0" dirty="0"/>
              <a:t> </a:t>
            </a:r>
            <a:r>
              <a:rPr lang="cs-CZ" sz="1300" baseline="0" dirty="0" err="1"/>
              <a:t>the</a:t>
            </a:r>
            <a:r>
              <a:rPr lang="cs-CZ" sz="1300" baseline="0" dirty="0"/>
              <a:t> model</a:t>
            </a:r>
            <a:endParaRPr lang="cs-CZ" sz="1300" dirty="0"/>
          </a:p>
          <a:p>
            <a:pPr defTabSz="990379">
              <a:defRPr/>
            </a:pPr>
            <a:r>
              <a:rPr lang="cs-CZ" sz="1300" dirty="0"/>
              <a:t>Proměnná, která slouží jako pomocná je vyjádřena jejím názvem bez rámečku, stejně jsou značeny konstanty.</a:t>
            </a:r>
          </a:p>
          <a:p>
            <a:r>
              <a:rPr lang="cs-CZ" sz="1300" dirty="0"/>
              <a:t>Kauzální vazba, vyjadřuje vliv jedné proměnné na jinou. </a:t>
            </a:r>
          </a:p>
          <a:p>
            <a:r>
              <a:rPr lang="cs-CZ" sz="1300" dirty="0"/>
              <a:t>Polarita vazby (+):</a:t>
            </a:r>
          </a:p>
          <a:p>
            <a:r>
              <a:rPr lang="cs-CZ" dirty="0"/>
              <a:t>Za jinak neměnných okolností při růstu </a:t>
            </a:r>
            <a:r>
              <a:rPr lang="cs-CZ" i="1" dirty="0"/>
              <a:t>x</a:t>
            </a:r>
            <a:r>
              <a:rPr lang="cs-CZ" dirty="0"/>
              <a:t> roste </a:t>
            </a:r>
            <a:r>
              <a:rPr lang="cs-CZ" i="1" dirty="0"/>
              <a:t>y</a:t>
            </a:r>
            <a:r>
              <a:rPr lang="cs-CZ" dirty="0"/>
              <a:t> nad úroveň, na které by bylo v případě konstantního </a:t>
            </a:r>
            <a:r>
              <a:rPr lang="cs-CZ" i="1" dirty="0" err="1"/>
              <a:t>x</a:t>
            </a:r>
            <a:r>
              <a:rPr lang="cs-CZ" b="1" i="1" dirty="0"/>
              <a:t>. </a:t>
            </a:r>
            <a:r>
              <a:rPr lang="cs-CZ" dirty="0"/>
              <a:t>V případě, že y je stavová proměnná (akumulace): </a:t>
            </a:r>
            <a:br>
              <a:rPr lang="cs-CZ" dirty="0"/>
            </a:br>
            <a:r>
              <a:rPr lang="cs-CZ" i="1" dirty="0"/>
              <a:t>x</a:t>
            </a:r>
            <a:r>
              <a:rPr lang="cs-CZ" dirty="0"/>
              <a:t> přibývá k </a:t>
            </a:r>
            <a:r>
              <a:rPr lang="cs-CZ" dirty="0" err="1"/>
              <a:t>y</a:t>
            </a:r>
            <a:r>
              <a:rPr lang="cs-CZ" b="1" i="1" dirty="0"/>
              <a:t>.</a:t>
            </a:r>
            <a:endParaRPr lang="cs-CZ" sz="1300" dirty="0"/>
          </a:p>
          <a:p>
            <a:r>
              <a:rPr lang="cs-CZ" sz="1300" dirty="0"/>
              <a:t> 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1928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Počáteční hodnota</a:t>
            </a:r>
            <a:r>
              <a:rPr lang="cs-CZ" baseline="0" dirty="0"/>
              <a:t> je rovna 0</a:t>
            </a:r>
          </a:p>
          <a:p>
            <a:r>
              <a:rPr lang="cs-CZ" baseline="0" dirty="0"/>
              <a:t>Dolní schéma je pro </a:t>
            </a:r>
            <a:r>
              <a:rPr lang="cs-CZ" baseline="0" dirty="0" err="1"/>
              <a:t>sinusoidový</a:t>
            </a:r>
            <a:r>
              <a:rPr lang="cs-CZ" baseline="0" dirty="0"/>
              <a:t> vstup (viz dále)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8589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Time</a:t>
            </a:r>
            <a:r>
              <a:rPr lang="cs-CZ" dirty="0"/>
              <a:t> step = 0.125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4468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379">
              <a:defRPr/>
            </a:pPr>
            <a:r>
              <a:rPr lang="cs-CZ" sz="1300" dirty="0"/>
              <a:t>Funkce PULSE má podobu impulsu o hodnotě rovné jedné. Na prvním místě v závorce má počáteční čas, na druhém pak šířku pulsu (vlastně dobu trvání).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131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379">
              <a:defRPr/>
            </a:pPr>
            <a:r>
              <a:rPr lang="cs-CZ" sz="1300" dirty="0"/>
              <a:t>Funkce PULSE TRAIN je periodické opakování funkce PULSE. V závorce je navíc na třetím místě čas mezi počátky jednotlivých pulsů a na čtvrtém místě konečný čas.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0214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99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439 805 km (Střední vzdálenost Měsíce od Země je 384 403 km), když 50 krát, tak jste na ¾ cesty ke slunci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41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z="1300" b="1" dirty="0"/>
              <a:t>Přeskočit</a:t>
            </a:r>
            <a:r>
              <a:rPr lang="cs-CZ" sz="1300" dirty="0"/>
              <a:t> – jen upozornit:</a:t>
            </a:r>
            <a:r>
              <a:rPr lang="cs-CZ" sz="1300" baseline="0" dirty="0"/>
              <a:t> pro zájemce</a:t>
            </a:r>
            <a:endParaRPr lang="cs-CZ" sz="1300" dirty="0"/>
          </a:p>
          <a:p>
            <a:r>
              <a:rPr lang="cs-CZ" sz="1300" dirty="0"/>
              <a:t>U lineárního systému prvního řádu lze snadno dosáhnout řešení analyticky.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0923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z="1300" dirty="0" err="1"/>
              <a:t>t</a:t>
            </a:r>
            <a:r>
              <a:rPr lang="cs-CZ" sz="1300" baseline="-25000" dirty="0" err="1"/>
              <a:t>d</a:t>
            </a:r>
            <a:r>
              <a:rPr lang="cs-CZ" sz="1300" baseline="-25000" dirty="0"/>
              <a:t> </a:t>
            </a:r>
            <a:r>
              <a:rPr lang="cs-CZ" sz="1300" dirty="0"/>
              <a:t>(</a:t>
            </a:r>
            <a:r>
              <a:rPr lang="cs-CZ" sz="1300" dirty="0" err="1"/>
              <a:t>doubling</a:t>
            </a:r>
            <a:r>
              <a:rPr lang="cs-CZ" sz="1300" dirty="0"/>
              <a:t> </a:t>
            </a:r>
            <a:r>
              <a:rPr lang="cs-CZ" sz="1300" dirty="0" err="1"/>
              <a:t>time</a:t>
            </a:r>
            <a:r>
              <a:rPr lang="cs-CZ" sz="1300" dirty="0"/>
              <a:t>)</a:t>
            </a:r>
          </a:p>
          <a:p>
            <a:endParaRPr lang="cs-CZ" sz="1300" dirty="0"/>
          </a:p>
          <a:p>
            <a:r>
              <a:rPr lang="cs-CZ" sz="1300" dirty="0"/>
              <a:t>Existují studie dokazující, že větší počet bodů ani matematické vzdělání nemá vliv na odhad exponenciálního růstu. Obecně lidé vývoj podhodnocují.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8901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986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Představte si ale například produkční funkci, kdy je produkce závislá na množství práce, použitých technologiích a aktivech jako jsou stroje, software, atp. (proměnné v modelu). V případě nulové práce musí být produkce nulová i v případě, že má zkoumaná firma </a:t>
            </a:r>
            <a:r>
              <a:rPr lang="cs-CZ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Hi-tech</a:t>
            </a:r>
            <a:r>
              <a:rPr lang="cs-CZ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stroje i nejmodernější pracovní postupy – bez lidské práce budou pouze bez využití zahálet. Takto se bude chovat funkce součinu – nula (práce) bude násobit ostatní proměnné a výsledná produkce bude nulová také. Součet by naopak generoval produkci na základě všech ostatních proměnných, plus nula za práci. 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680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symbol pro text 3">
            <a:extLst>
              <a:ext uri="{FF2B5EF4-FFF2-40B4-BE49-F238E27FC236}">
                <a16:creationId xmlns:a16="http://schemas.microsoft.com/office/drawing/2014/main" id="{3E1E80FF-CDE1-4659-A50D-18C8BA373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24B457C-E1CC-4DF8-B068-F9E0D15995C0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3BDD9C-B482-4C8C-BAAA-47D61575D20D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7" name="Zástupný symbol obrázku 3">
            <a:extLst>
              <a:ext uri="{FF2B5EF4-FFF2-40B4-BE49-F238E27FC236}">
                <a16:creationId xmlns:a16="http://schemas.microsoft.com/office/drawing/2014/main" id="{81CEE838-8921-437D-853F-408EC4B07E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334000"/>
          </a:xfrm>
          <a:prstGeom prst="rect">
            <a:avLst/>
          </a:prstGeom>
        </p:spPr>
        <p:txBody>
          <a:bodyPr lIns="180000" tIns="180000" rIns="180000" bIns="180000"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1" name="Zástupný symbol pro text 4">
            <a:extLst>
              <a:ext uri="{FF2B5EF4-FFF2-40B4-BE49-F238E27FC236}">
                <a16:creationId xmlns:a16="http://schemas.microsoft.com/office/drawing/2014/main" id="{E690251E-0C52-4982-8171-60DC0B794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1" name="Obrázek 10" descr="Obsah obrázku text&#10;&#10;Popis byl vytvořen automaticky">
            <a:extLst>
              <a:ext uri="{FF2B5EF4-FFF2-40B4-BE49-F238E27FC236}">
                <a16:creationId xmlns:a16="http://schemas.microsoft.com/office/drawing/2014/main" id="{7E8A1E33-5B28-2C43-AFFB-11AF0DAF4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7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8B6B0297-ABC7-F84B-85A8-4DFECC7F5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62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CF31F7D-C775-4367-BA11-D7AC535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A5FBF3AD-5E16-47E0-9F0F-47120662628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1DDA62E2-FE7A-4AFA-8044-1ED14126E70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4">
            <a:extLst>
              <a:ext uri="{FF2B5EF4-FFF2-40B4-BE49-F238E27FC236}">
                <a16:creationId xmlns:a16="http://schemas.microsoft.com/office/drawing/2014/main" id="{7602487F-3C29-4D79-9418-0A036B9FED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3">
            <a:extLst>
              <a:ext uri="{FF2B5EF4-FFF2-40B4-BE49-F238E27FC236}">
                <a16:creationId xmlns:a16="http://schemas.microsoft.com/office/drawing/2014/main" id="{F844F9EC-3F8E-4C04-9939-5FE5833C62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61B65073-2151-4C4E-9C3C-651867FC2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9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D5BF138-FAF5-4C22-A496-6023824A818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576E8AF4-6C04-4AD5-A275-DAF437588F3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75E6743E-3013-43C0-BCEE-F198C0D12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4">
            <a:extLst>
              <a:ext uri="{FF2B5EF4-FFF2-40B4-BE49-F238E27FC236}">
                <a16:creationId xmlns:a16="http://schemas.microsoft.com/office/drawing/2014/main" id="{67A4E56B-2C18-40EB-A1CF-C76A3F36BE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227D3A48-039E-724E-82EF-4F01CA8E06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0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5" name="Obrázek 14" descr="Obsah obrázku text&#10;&#10;Popis byl vytvořen automaticky">
            <a:extLst>
              <a:ext uri="{FF2B5EF4-FFF2-40B4-BE49-F238E27FC236}">
                <a16:creationId xmlns:a16="http://schemas.microsoft.com/office/drawing/2014/main" id="{E19424E9-4DDB-CF40-92C3-F70E307154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8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93899535-AA89-8F4E-97C4-9FA4F0DD5E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6" name="Zástupný symbol pro text 3">
            <a:extLst>
              <a:ext uri="{FF2B5EF4-FFF2-40B4-BE49-F238E27FC236}">
                <a16:creationId xmlns:a16="http://schemas.microsoft.com/office/drawing/2014/main" id="{137FF405-C523-4C6D-A210-824A893F5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27624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3F927B1-1D31-1749-A32D-E5B899D0E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BFBFB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77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FD279ADA-FDAB-4914-9469-CB105F4C5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2899075"/>
            <a:ext cx="7615238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84186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7C4858C6-8C38-2B41-8CFE-1254036B4C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0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rgbClr val="C80C0F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D96739DC-B272-A942-A9ED-76826B0255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12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920000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587EC3D4-E53B-5446-B515-D3099FF581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7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text 3">
            <a:extLst>
              <a:ext uri="{FF2B5EF4-FFF2-40B4-BE49-F238E27FC236}">
                <a16:creationId xmlns:a16="http://schemas.microsoft.com/office/drawing/2014/main" id="{A6D9A389-F059-4682-BB5E-006EEEC6D2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63" y="2899075"/>
            <a:ext cx="8143875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obrázku 3">
            <a:extLst>
              <a:ext uri="{FF2B5EF4-FFF2-40B4-BE49-F238E27FC236}">
                <a16:creationId xmlns:a16="http://schemas.microsoft.com/office/drawing/2014/main" id="{8E8F7AB6-976A-4CB0-A0AE-8B783479B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3" y="724799"/>
            <a:ext cx="8137800" cy="54072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8DDC546C-2D13-A947-8672-83BE19C04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39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ED13C98-A460-4EE5-BFBB-681BBDA81D3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C766699-8A1C-452E-BA3A-E469A225BEE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8BE1237B-FF84-4FBE-AC1D-9DB2202BD7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4C33C50D-A72F-494F-B092-15858B2C6C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31BC1C8-BCF5-484D-8C94-7FAA0AE50120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061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4198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4198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66B0A99E-A700-494A-928E-194351AE0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48E4E7FD-8E67-4CA1-B99F-8BF78FD8CF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B42C71F-24A2-4414-9417-B39450FE2AC9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8E05BE6-9375-7B47-BE3D-8FD9100C579E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6AC349FB-428C-7B42-B993-E97FBB98DCD8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910222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52256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52256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6" name="Zástupný symbol pro text 6">
            <a:extLst>
              <a:ext uri="{FF2B5EF4-FFF2-40B4-BE49-F238E27FC236}">
                <a16:creationId xmlns:a16="http://schemas.microsoft.com/office/drawing/2014/main" id="{BFADBFEB-36FC-4372-B6CE-58EBC7FFB9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978F0355-7004-4CFE-9421-A8A1A62CF8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CEE7F35-80D6-4A44-A79F-9A5BF9F28E3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B5A6409-23B7-A545-A4D8-A933AD41B5C6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0999E4F-AF74-DB4E-8B4B-638D78E913AE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698775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1903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1903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64907F56-1EFF-441C-9163-66B58475F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0C077097-4898-476E-8653-0D75052D17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4993D17-DF83-49B5-BD7F-548B4A5A3AE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FC0AD8F2-4BA5-D840-9CF9-1A60BE6D3AE9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A3DFA86-88E0-D746-93B6-322B3E5FB3EB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949017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79994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79994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271AC1B1-6DD2-4624-B5E1-05CD48AFFD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9EB39BFC-3412-4994-BB20-6B3B39144D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5E1CEE8-B267-482F-8FC9-A0CBECB5B5A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BD26F8C-C9C9-1844-B61C-5456ED1D14E3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15D1AAD-326F-FE43-A378-B6195D1301DC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05435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6766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6766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C0B2EC7C-7295-4511-BEB9-1F21F76F5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466DB023-F78F-49C1-9875-70959FECA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3C1BF5F3-421C-4882-84E2-ADC07FE86DF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5C18F710-7ED6-AD41-9784-1327E6984D92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EA1D81C2-80D4-2548-91DB-82047245A7C1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1849409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53EAF9F-01E9-4701-B3CE-E5EC1515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9E6C52F0-A869-994B-9A2A-946AD4F096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695142"/>
            <a:ext cx="3773562" cy="1641106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7301F1C3-936F-43D4-96DB-8DB86F629B10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you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for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attention</a:t>
            </a:r>
            <a:endParaRPr lang="cs-CZ" sz="3600" dirty="0">
              <a:solidFill>
                <a:schemeClr val="bg1"/>
              </a:solidFill>
              <a:effectLst>
                <a:glow rad="1397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012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F7380FE-801F-3B4A-8E52-2A53DD2732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541" y="5041976"/>
            <a:ext cx="3991716" cy="173598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83F6A2C-C2E5-B44A-9660-8F89AEEB2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41" y="5143576"/>
            <a:ext cx="3991716" cy="17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841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A9218E36-6589-BA4B-B382-FF8EA3F0CB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FDA8F002-9BA3-624D-B94C-A21C7E909596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</p:spTree>
    <p:extLst>
      <p:ext uri="{BB962C8B-B14F-4D97-AF65-F5344CB8AC3E}">
        <p14:creationId xmlns:p14="http://schemas.microsoft.com/office/powerpoint/2010/main" val="2113541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4F7AAA5-ECDB-B046-A48B-D0C2BB0C4FE7}"/>
              </a:ext>
            </a:extLst>
          </p:cNvPr>
          <p:cNvSpPr txBox="1"/>
          <p:nvPr/>
        </p:nvSpPr>
        <p:spPr>
          <a:xfrm>
            <a:off x="2065677" y="4072465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C53DF36-AD81-A945-BF7B-A39A3E50D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8" y="5739969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187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B431FA6-80EF-9449-90BD-C081B545B9C0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11C0A68-FD87-6A46-8195-D340F48614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534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158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5D978B46-7738-414B-B6A8-3DB65F29768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AE9CB24-0D3C-1C4D-899E-1B118B5F7B14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 descr="Obsah obrázku text&#10;&#10;Popis byl vytvořen automaticky">
            <a:extLst>
              <a:ext uri="{FF2B5EF4-FFF2-40B4-BE49-F238E27FC236}">
                <a16:creationId xmlns:a16="http://schemas.microsoft.com/office/drawing/2014/main" id="{7ABA772E-3E2B-B94D-9EC0-C40803791A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808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D678B2-D910-4B9F-8745-B0B8C181CD2F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694668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D3B-B00F-4DF2-A530-C9E5BC8837BB}" type="datetimeFigureOut">
              <a:rPr lang="cs-CZ" smtClean="0"/>
              <a:pPr/>
              <a:t>28.10.2024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9740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51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Operations Research and Systems Analysis</a:t>
            </a:r>
            <a:endParaRPr lang="en-GB" noProof="0"/>
          </a:p>
        </p:txBody>
      </p:sp>
      <p:sp>
        <p:nvSpPr>
          <p:cNvPr id="3" name="Podnadpis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0"/>
            <a:r>
              <a:rPr lang="en-GB" noProof="0" dirty="0"/>
              <a:t>System dynamics</a:t>
            </a:r>
            <a:r>
              <a:rPr lang="cs-CZ" noProof="0" dirty="0"/>
              <a:t> II</a:t>
            </a:r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SD Software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 noProof="0" dirty="0"/>
          </a:p>
          <a:p>
            <a:r>
              <a:rPr lang="en-GB" noProof="0" dirty="0" err="1"/>
              <a:t>iThing</a:t>
            </a:r>
            <a:r>
              <a:rPr lang="en-GB" noProof="0" dirty="0"/>
              <a:t>, STELLA, </a:t>
            </a:r>
            <a:r>
              <a:rPr lang="en-GB" noProof="0" dirty="0" err="1"/>
              <a:t>PowerSim</a:t>
            </a:r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We will use: </a:t>
            </a:r>
            <a:r>
              <a:rPr lang="en-GB" noProof="0" dirty="0" err="1"/>
              <a:t>Vensim</a:t>
            </a:r>
            <a:r>
              <a:rPr lang="en-GB" noProof="0" dirty="0"/>
              <a:t> PLE Plus</a:t>
            </a:r>
          </a:p>
          <a:p>
            <a:endParaRPr lang="en-GB" noProof="0" dirty="0"/>
          </a:p>
          <a:p>
            <a:r>
              <a:rPr lang="en-GB" noProof="0" dirty="0"/>
              <a:t>It is possible to download Personal Learning Edition at:</a:t>
            </a:r>
          </a:p>
          <a:p>
            <a:pPr lvl="1"/>
            <a:r>
              <a:rPr lang="en-GB" noProof="0" dirty="0"/>
              <a:t>http://www.vensim.com/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aoblený obdélník 5"/>
          <p:cNvSpPr/>
          <p:nvPr/>
        </p:nvSpPr>
        <p:spPr>
          <a:xfrm>
            <a:off x="5796136" y="1241376"/>
            <a:ext cx="3168352" cy="5427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Stock and flow diagram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04800" y="1556792"/>
            <a:ext cx="5347320" cy="5301208"/>
          </a:xfrm>
        </p:spPr>
        <p:txBody>
          <a:bodyPr>
            <a:normAutofit/>
          </a:bodyPr>
          <a:lstStyle/>
          <a:p>
            <a:endParaRPr lang="en-GB" i="1" noProof="0"/>
          </a:p>
          <a:p>
            <a:r>
              <a:rPr lang="en-GB" i="1" noProof="0"/>
              <a:t>Stock, level, box variable</a:t>
            </a:r>
            <a:endParaRPr lang="en-GB" noProof="0"/>
          </a:p>
          <a:p>
            <a:endParaRPr lang="en-GB" noProof="0"/>
          </a:p>
          <a:p>
            <a:r>
              <a:rPr lang="en-GB" i="1" noProof="0"/>
              <a:t>Flow</a:t>
            </a:r>
            <a:endParaRPr lang="en-GB" noProof="0"/>
          </a:p>
          <a:p>
            <a:endParaRPr lang="en-GB" noProof="0"/>
          </a:p>
          <a:p>
            <a:r>
              <a:rPr lang="en-GB" i="1" noProof="0"/>
              <a:t>Auxiliary</a:t>
            </a:r>
            <a:r>
              <a:rPr lang="en-GB" noProof="0"/>
              <a:t> </a:t>
            </a:r>
            <a:r>
              <a:rPr lang="en-GB" i="1" noProof="0"/>
              <a:t>variable, constant</a:t>
            </a:r>
            <a:endParaRPr lang="en-GB" noProof="0"/>
          </a:p>
          <a:p>
            <a:endParaRPr lang="en-GB" noProof="0"/>
          </a:p>
          <a:p>
            <a:r>
              <a:rPr lang="en-GB" i="1" noProof="0"/>
              <a:t>Causal link, arrow</a:t>
            </a:r>
            <a:endParaRPr lang="en-GB" noProof="0"/>
          </a:p>
        </p:txBody>
      </p:sp>
      <p:sp>
        <p:nvSpPr>
          <p:cNvPr id="5" name="TextovéPole 4"/>
          <p:cNvSpPr txBox="1"/>
          <p:nvPr/>
        </p:nvSpPr>
        <p:spPr>
          <a:xfrm>
            <a:off x="5796136" y="1196752"/>
            <a:ext cx="3096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i="1" dirty="0" err="1"/>
              <a:t>Vensim</a:t>
            </a:r>
            <a:endParaRPr lang="cs-CZ" b="1" dirty="0"/>
          </a:p>
        </p:txBody>
      </p:sp>
      <p:pic>
        <p:nvPicPr>
          <p:cNvPr id="3686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1988840"/>
            <a:ext cx="1389112" cy="694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0152" y="3068960"/>
            <a:ext cx="2857175" cy="775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16216" y="4365104"/>
            <a:ext cx="1264146" cy="46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68144" y="4797152"/>
            <a:ext cx="3085390" cy="1728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System representation (I)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23528" y="1556792"/>
            <a:ext cx="7344816" cy="5301208"/>
          </a:xfrm>
        </p:spPr>
        <p:txBody>
          <a:bodyPr>
            <a:normAutofit/>
          </a:bodyPr>
          <a:lstStyle/>
          <a:p>
            <a:r>
              <a:rPr lang="en-GB" sz="2800" noProof="0" dirty="0"/>
              <a:t>Stock and flow diagram: </a:t>
            </a:r>
          </a:p>
          <a:p>
            <a:endParaRPr lang="en-GB" sz="2800" noProof="0" dirty="0"/>
          </a:p>
          <a:p>
            <a:endParaRPr lang="en-GB" sz="2800" noProof="0" dirty="0"/>
          </a:p>
          <a:p>
            <a:endParaRPr lang="en-GB" sz="2800" noProof="0" dirty="0"/>
          </a:p>
          <a:p>
            <a:r>
              <a:rPr lang="en-GB" sz="2800" noProof="0" dirty="0"/>
              <a:t>Integral:</a:t>
            </a:r>
          </a:p>
          <a:p>
            <a:endParaRPr lang="en-GB" sz="2800" noProof="0" dirty="0"/>
          </a:p>
          <a:p>
            <a:r>
              <a:rPr lang="en-GB" sz="2800" noProof="0" dirty="0"/>
              <a:t>Differential:</a:t>
            </a:r>
          </a:p>
          <a:p>
            <a:endParaRPr lang="en-GB" sz="2800" noProof="0" dirty="0"/>
          </a:p>
          <a:p>
            <a:endParaRPr lang="en-GB" sz="2800" noProof="0" dirty="0"/>
          </a:p>
          <a:p>
            <a:r>
              <a:rPr lang="en-GB" sz="2800" noProof="0" dirty="0" err="1"/>
              <a:t>Vensim</a:t>
            </a:r>
            <a:r>
              <a:rPr lang="en-GB" sz="2800" noProof="0" dirty="0"/>
              <a:t>:  </a:t>
            </a:r>
          </a:p>
          <a:p>
            <a:endParaRPr lang="en-GB" noProof="0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2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3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36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37" name="Rectangle 21"/>
          <p:cNvSpPr>
            <a:spLocks noChangeArrowheads="1"/>
          </p:cNvSpPr>
          <p:nvPr/>
        </p:nvSpPr>
        <p:spPr bwMode="auto">
          <a:xfrm>
            <a:off x="0" y="2057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043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41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43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45" name="Rectangle 2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46" name="Rectangle 30"/>
          <p:cNvSpPr>
            <a:spLocks noChangeArrowheads="1"/>
          </p:cNvSpPr>
          <p:nvPr/>
        </p:nvSpPr>
        <p:spPr bwMode="auto">
          <a:xfrm>
            <a:off x="0" y="1438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0448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50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2204864"/>
            <a:ext cx="5060813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55776" y="3645024"/>
            <a:ext cx="6431074" cy="829816"/>
          </a:xfrm>
          <a:prstGeom prst="rect">
            <a:avLst/>
          </a:prstGeom>
          <a:noFill/>
        </p:spPr>
      </p:pic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23928" y="5085184"/>
            <a:ext cx="3764522" cy="643508"/>
          </a:xfrm>
          <a:prstGeom prst="rect">
            <a:avLst/>
          </a:prstGeom>
          <a:noFill/>
        </p:spPr>
      </p:pic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3848" y="6453336"/>
            <a:ext cx="5052832" cy="4046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r>
              <a:rPr lang="cs-CZ" dirty="0" err="1"/>
              <a:t>Is</a:t>
            </a:r>
            <a:r>
              <a:rPr lang="cs-CZ" dirty="0"/>
              <a:t> gross </a:t>
            </a:r>
            <a:r>
              <a:rPr lang="cs-CZ" dirty="0" err="1"/>
              <a:t>domestic</a:t>
            </a:r>
            <a:r>
              <a:rPr lang="cs-CZ" dirty="0"/>
              <a:t> </a:t>
            </a:r>
            <a:r>
              <a:rPr lang="cs-CZ" dirty="0" err="1"/>
              <a:t>product</a:t>
            </a:r>
            <a:r>
              <a:rPr lang="cs-CZ" dirty="0"/>
              <a:t> </a:t>
            </a:r>
            <a:r>
              <a:rPr lang="cs-CZ" dirty="0" err="1"/>
              <a:t>flow</a:t>
            </a:r>
            <a:r>
              <a:rPr lang="cs-CZ" dirty="0"/>
              <a:t> </a:t>
            </a:r>
            <a:r>
              <a:rPr lang="cs-CZ" dirty="0" err="1"/>
              <a:t>or</a:t>
            </a:r>
            <a:r>
              <a:rPr lang="cs-CZ" dirty="0"/>
              <a:t> </a:t>
            </a:r>
            <a:r>
              <a:rPr lang="cs-CZ" dirty="0" err="1"/>
              <a:t>level</a:t>
            </a:r>
            <a:r>
              <a:rPr lang="cs-CZ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874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álný bublinový popisek 3"/>
          <p:cNvSpPr/>
          <p:nvPr/>
        </p:nvSpPr>
        <p:spPr>
          <a:xfrm>
            <a:off x="6444208" y="2132856"/>
            <a:ext cx="2592288" cy="3600400"/>
          </a:xfrm>
          <a:prstGeom prst="wedgeEllipseCallout">
            <a:avLst>
              <a:gd name="adj1" fmla="val -55480"/>
              <a:gd name="adj2" fmla="val -44499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/>
              <a:t>See? Stock variable is changing only on the basis of inflows and outflows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System</a:t>
            </a:r>
            <a:r>
              <a:rPr lang="cs-CZ" dirty="0"/>
              <a:t> – </a:t>
            </a:r>
            <a:r>
              <a:rPr lang="cs-CZ" dirty="0" err="1"/>
              <a:t>mathematical</a:t>
            </a:r>
            <a:r>
              <a:rPr lang="cs-CZ" dirty="0"/>
              <a:t> </a:t>
            </a:r>
            <a:r>
              <a:rPr lang="cs-CZ" dirty="0" err="1"/>
              <a:t>formulation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symbol pro obsah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709120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Stock</a:t>
                </a:r>
              </a:p>
              <a:p>
                <a:pPr lvl="3" indent="0">
                  <a:buNone/>
                </a:pPr>
                <a:r>
                  <a:rPr lang="en-GB" sz="26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GB" sz="30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sz="3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GB" dirty="0"/>
              </a:p>
              <a:p>
                <a:r>
                  <a:rPr lang="en-GB" dirty="0"/>
                  <a:t>Flow</a:t>
                </a:r>
              </a:p>
              <a:p>
                <a:pPr lvl="1"/>
                <a:r>
                  <a:rPr lang="en-GB" dirty="0"/>
                  <a:t>Inflow	</a:t>
                </a:r>
              </a:p>
              <a:p>
                <a:pPr lvl="2" indent="0">
                  <a:buNone/>
                </a:pPr>
                <a:r>
                  <a:rPr lang="en-GB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GB" sz="2600" dirty="0"/>
              </a:p>
              <a:p>
                <a:pPr lvl="1"/>
                <a:endParaRPr lang="en-GB" dirty="0"/>
              </a:p>
              <a:p>
                <a:pPr lvl="1"/>
                <a:r>
                  <a:rPr lang="en-GB" dirty="0"/>
                  <a:t>Outflow</a:t>
                </a:r>
              </a:p>
              <a:p>
                <a:pPr marL="457200" lvl="1" indent="0">
                  <a:buNone/>
                </a:pPr>
                <a:r>
                  <a:rPr lang="en-GB" dirty="0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GB" dirty="0"/>
              </a:p>
              <a:p>
                <a:pPr lvl="1"/>
                <a:endParaRPr lang="en-GB" dirty="0"/>
              </a:p>
              <a:p>
                <a:pPr lvl="1"/>
                <a:r>
                  <a:rPr lang="en-GB" i="1" dirty="0"/>
                  <a:t>U</a:t>
                </a:r>
                <a:r>
                  <a:rPr lang="en-GB" dirty="0"/>
                  <a:t> are exogenous variables and </a:t>
                </a:r>
                <a:r>
                  <a:rPr lang="en-GB" i="1" dirty="0"/>
                  <a:t>C</a:t>
                </a:r>
                <a:r>
                  <a:rPr lang="en-GB" dirty="0"/>
                  <a:t> are parameters and constants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Zástupný symbol pro obsah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7091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062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Order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system</a:t>
            </a:r>
            <a:r>
              <a:rPr lang="cs-CZ" dirty="0"/>
              <a:t> </a:t>
            </a:r>
            <a:r>
              <a:rPr lang="cs-CZ" dirty="0" err="1"/>
              <a:t>or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loop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b="1" i="1" dirty="0"/>
          </a:p>
          <a:p>
            <a:endParaRPr lang="cs-CZ" b="1" i="1" dirty="0"/>
          </a:p>
          <a:p>
            <a:r>
              <a:rPr lang="en-AU" b="1" i="1" dirty="0"/>
              <a:t>Order </a:t>
            </a:r>
            <a:r>
              <a:rPr lang="en-AU" dirty="0"/>
              <a:t>is the number of stock variables in the </a:t>
            </a:r>
            <a:r>
              <a:rPr lang="en-AU" dirty="0" err="1"/>
              <a:t>systém</a:t>
            </a:r>
            <a:r>
              <a:rPr lang="en-AU" dirty="0"/>
              <a:t> or in the loop</a:t>
            </a:r>
          </a:p>
          <a:p>
            <a:endParaRPr lang="en-AU" dirty="0"/>
          </a:p>
          <a:p>
            <a:r>
              <a:rPr lang="en-AU" dirty="0"/>
              <a:t>It applies also to the </a:t>
            </a:r>
            <a:r>
              <a:rPr lang="en-AU" dirty="0" err="1"/>
              <a:t>dealays</a:t>
            </a:r>
            <a:r>
              <a:rPr lang="en-AU" dirty="0"/>
              <a:t>.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06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Linear</a:t>
            </a:r>
            <a:r>
              <a:rPr lang="cs-CZ" dirty="0"/>
              <a:t> </a:t>
            </a:r>
            <a:r>
              <a:rPr lang="cs-CZ" dirty="0" err="1"/>
              <a:t>system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symbol pro obsah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In </a:t>
                </a:r>
                <a:r>
                  <a:rPr lang="en-GB" b="1" dirty="0"/>
                  <a:t>linear system</a:t>
                </a:r>
                <a:r>
                  <a:rPr lang="en-GB" dirty="0"/>
                  <a:t>, all flow variables are the linear combination of stock and exogenous variables.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flow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i="1" dirty="0"/>
                  <a:t>a</a:t>
                </a:r>
                <a:r>
                  <a:rPr lang="en-GB" dirty="0"/>
                  <a:t> and </a:t>
                </a:r>
                <a:r>
                  <a:rPr lang="en-GB" i="1" dirty="0"/>
                  <a:t>b</a:t>
                </a:r>
                <a:r>
                  <a:rPr lang="en-GB" dirty="0"/>
                  <a:t> are constants and parameters.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Even linear system can produce non-linear behaviour!</a:t>
                </a:r>
              </a:p>
            </p:txBody>
          </p:sp>
        </mc:Choice>
        <mc:Fallback>
          <p:sp>
            <p:nvSpPr>
              <p:cNvPr id="3" name="Zástupný symbol pro obsah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11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aoblený obdélník 4"/>
          <p:cNvSpPr/>
          <p:nvPr/>
        </p:nvSpPr>
        <p:spPr>
          <a:xfrm>
            <a:off x="395536" y="1988840"/>
            <a:ext cx="3888432" cy="13681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System representation (II)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0" y="2708920"/>
            <a:ext cx="4572000" cy="2736304"/>
          </a:xfrm>
        </p:spPr>
        <p:txBody>
          <a:bodyPr>
            <a:normAutofit/>
          </a:bodyPr>
          <a:lstStyle/>
          <a:p>
            <a:r>
              <a:rPr lang="en-GB" noProof="0"/>
              <a:t>Parameters in text form:</a:t>
            </a:r>
          </a:p>
          <a:p>
            <a:pPr lvl="1">
              <a:spcBef>
                <a:spcPts val="0"/>
              </a:spcBef>
            </a:pPr>
            <a:r>
              <a:rPr lang="en-GB" noProof="0"/>
              <a:t>FINAL TIME  =</a:t>
            </a:r>
          </a:p>
          <a:p>
            <a:pPr lvl="1">
              <a:spcBef>
                <a:spcPts val="0"/>
              </a:spcBef>
            </a:pPr>
            <a:r>
              <a:rPr lang="en-GB" noProof="0"/>
              <a:t>INITIAL TIME  =</a:t>
            </a:r>
          </a:p>
          <a:p>
            <a:pPr lvl="1">
              <a:spcBef>
                <a:spcPts val="0"/>
              </a:spcBef>
            </a:pPr>
            <a:r>
              <a:rPr lang="en-GB" noProof="0"/>
              <a:t>TIME STEP  =</a:t>
            </a:r>
          </a:p>
          <a:p>
            <a:pPr lvl="1">
              <a:spcBef>
                <a:spcPts val="0"/>
              </a:spcBef>
            </a:pPr>
            <a:r>
              <a:rPr lang="en-GB" noProof="0"/>
              <a:t>Stock = INTEG (Input, 0)</a:t>
            </a:r>
          </a:p>
          <a:p>
            <a:endParaRPr lang="en-GB" noProof="0"/>
          </a:p>
        </p:txBody>
      </p:sp>
      <p:sp>
        <p:nvSpPr>
          <p:cNvPr id="14" name="Ohnutý pruh 13"/>
          <p:cNvSpPr/>
          <p:nvPr/>
        </p:nvSpPr>
        <p:spPr>
          <a:xfrm rot="2259147">
            <a:off x="320665" y="4510006"/>
            <a:ext cx="847060" cy="364923"/>
          </a:xfrm>
          <a:prstGeom prst="blockArc">
            <a:avLst>
              <a:gd name="adj1" fmla="val 10800000"/>
              <a:gd name="adj2" fmla="val 19009954"/>
              <a:gd name="adj3" fmla="val 33739"/>
            </a:avLst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grpSp>
        <p:nvGrpSpPr>
          <p:cNvPr id="4" name="Skupina 21"/>
          <p:cNvGrpSpPr/>
          <p:nvPr/>
        </p:nvGrpSpPr>
        <p:grpSpPr>
          <a:xfrm>
            <a:off x="539552" y="4869160"/>
            <a:ext cx="3597442" cy="1072471"/>
            <a:chOff x="637674" y="4944979"/>
            <a:chExt cx="3597442" cy="1072471"/>
          </a:xfrm>
        </p:grpSpPr>
        <p:sp>
          <p:nvSpPr>
            <p:cNvPr id="17" name="Volný tvar 16"/>
            <p:cNvSpPr/>
            <p:nvPr/>
          </p:nvSpPr>
          <p:spPr>
            <a:xfrm>
              <a:off x="899592" y="5157192"/>
              <a:ext cx="3104148" cy="860258"/>
            </a:xfrm>
            <a:custGeom>
              <a:avLst/>
              <a:gdLst>
                <a:gd name="connsiteX0" fmla="*/ 0 w 3104148"/>
                <a:gd name="connsiteY0" fmla="*/ 36095 h 860258"/>
                <a:gd name="connsiteX1" fmla="*/ 481263 w 3104148"/>
                <a:gd name="connsiteY1" fmla="*/ 685800 h 860258"/>
                <a:gd name="connsiteX2" fmla="*/ 2598821 w 3104148"/>
                <a:gd name="connsiteY2" fmla="*/ 745958 h 860258"/>
                <a:gd name="connsiteX3" fmla="*/ 3104148 w 3104148"/>
                <a:gd name="connsiteY3" fmla="*/ 0 h 860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148" h="860258">
                  <a:moveTo>
                    <a:pt x="0" y="36095"/>
                  </a:moveTo>
                  <a:cubicBezTo>
                    <a:pt x="24063" y="301792"/>
                    <a:pt x="48126" y="567490"/>
                    <a:pt x="481263" y="685800"/>
                  </a:cubicBezTo>
                  <a:cubicBezTo>
                    <a:pt x="914400" y="804111"/>
                    <a:pt x="2161674" y="860258"/>
                    <a:pt x="2598821" y="745958"/>
                  </a:cubicBezTo>
                  <a:cubicBezTo>
                    <a:pt x="3035968" y="631658"/>
                    <a:pt x="3005890" y="124326"/>
                    <a:pt x="3104148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Volný tvar 17"/>
            <p:cNvSpPr/>
            <p:nvPr/>
          </p:nvSpPr>
          <p:spPr>
            <a:xfrm>
              <a:off x="637674" y="4969042"/>
              <a:ext cx="264694" cy="216569"/>
            </a:xfrm>
            <a:custGeom>
              <a:avLst/>
              <a:gdLst>
                <a:gd name="connsiteX0" fmla="*/ 0 w 264694"/>
                <a:gd name="connsiteY0" fmla="*/ 0 h 216569"/>
                <a:gd name="connsiteX1" fmla="*/ 204537 w 264694"/>
                <a:gd name="connsiteY1" fmla="*/ 84221 h 216569"/>
                <a:gd name="connsiteX2" fmla="*/ 264694 w 264694"/>
                <a:gd name="connsiteY2" fmla="*/ 216569 h 216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4694" h="216569">
                  <a:moveTo>
                    <a:pt x="0" y="0"/>
                  </a:moveTo>
                  <a:cubicBezTo>
                    <a:pt x="80210" y="24063"/>
                    <a:pt x="160421" y="48126"/>
                    <a:pt x="204537" y="84221"/>
                  </a:cubicBezTo>
                  <a:cubicBezTo>
                    <a:pt x="248653" y="120316"/>
                    <a:pt x="236620" y="180474"/>
                    <a:pt x="264694" y="216569"/>
                  </a:cubicBezTo>
                </a:path>
              </a:pathLst>
            </a:cu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0" name="Volný tvar 19"/>
            <p:cNvSpPr/>
            <p:nvPr/>
          </p:nvSpPr>
          <p:spPr>
            <a:xfrm>
              <a:off x="4006516" y="4944979"/>
              <a:ext cx="228600" cy="228600"/>
            </a:xfrm>
            <a:custGeom>
              <a:avLst/>
              <a:gdLst>
                <a:gd name="connsiteX0" fmla="*/ 0 w 228600"/>
                <a:gd name="connsiteY0" fmla="*/ 228600 h 228600"/>
                <a:gd name="connsiteX1" fmla="*/ 60158 w 228600"/>
                <a:gd name="connsiteY1" fmla="*/ 72189 h 228600"/>
                <a:gd name="connsiteX2" fmla="*/ 228600 w 228600"/>
                <a:gd name="connsiteY2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" h="228600">
                  <a:moveTo>
                    <a:pt x="0" y="228600"/>
                  </a:moveTo>
                  <a:cubicBezTo>
                    <a:pt x="11029" y="169444"/>
                    <a:pt x="22058" y="110289"/>
                    <a:pt x="60158" y="72189"/>
                  </a:cubicBezTo>
                  <a:cubicBezTo>
                    <a:pt x="98258" y="34089"/>
                    <a:pt x="190500" y="22058"/>
                    <a:pt x="228600" y="0"/>
                  </a:cubicBezTo>
                </a:path>
              </a:pathLst>
            </a:cu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cxnSp>
        <p:nvCxnSpPr>
          <p:cNvPr id="24" name="Přímá spojovací čára 23"/>
          <p:cNvCxnSpPr/>
          <p:nvPr/>
        </p:nvCxnSpPr>
        <p:spPr>
          <a:xfrm>
            <a:off x="945486" y="4721333"/>
            <a:ext cx="144016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25"/>
          <p:cNvCxnSpPr/>
          <p:nvPr/>
        </p:nvCxnSpPr>
        <p:spPr>
          <a:xfrm>
            <a:off x="873478" y="4721333"/>
            <a:ext cx="144016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římá spojovací čára 26"/>
          <p:cNvCxnSpPr/>
          <p:nvPr/>
        </p:nvCxnSpPr>
        <p:spPr>
          <a:xfrm>
            <a:off x="1017494" y="4721333"/>
            <a:ext cx="216024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Přímá spojovací čára 28"/>
          <p:cNvCxnSpPr/>
          <p:nvPr/>
        </p:nvCxnSpPr>
        <p:spPr>
          <a:xfrm>
            <a:off x="873478" y="4721333"/>
            <a:ext cx="72008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římá spojovací čára 30"/>
          <p:cNvCxnSpPr/>
          <p:nvPr/>
        </p:nvCxnSpPr>
        <p:spPr>
          <a:xfrm>
            <a:off x="1017494" y="4721333"/>
            <a:ext cx="144016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ovéPole 31"/>
          <p:cNvSpPr txBox="1"/>
          <p:nvPr/>
        </p:nvSpPr>
        <p:spPr>
          <a:xfrm>
            <a:off x="1618790" y="4142307"/>
            <a:ext cx="2953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/>
              <a:t>This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bathtub</a:t>
            </a:r>
            <a:endParaRPr lang="cs-CZ" dirty="0"/>
          </a:p>
        </p:txBody>
      </p:sp>
      <p:sp>
        <p:nvSpPr>
          <p:cNvPr id="19" name="Volný tvar 18"/>
          <p:cNvSpPr/>
          <p:nvPr/>
        </p:nvSpPr>
        <p:spPr>
          <a:xfrm>
            <a:off x="3465766" y="5801453"/>
            <a:ext cx="266700" cy="251883"/>
          </a:xfrm>
          <a:custGeom>
            <a:avLst/>
            <a:gdLst>
              <a:gd name="connsiteX0" fmla="*/ 0 w 266700"/>
              <a:gd name="connsiteY0" fmla="*/ 0 h 251883"/>
              <a:gd name="connsiteX1" fmla="*/ 152400 w 266700"/>
              <a:gd name="connsiteY1" fmla="*/ 63500 h 251883"/>
              <a:gd name="connsiteX2" fmla="*/ 101600 w 266700"/>
              <a:gd name="connsiteY2" fmla="*/ 228600 h 251883"/>
              <a:gd name="connsiteX3" fmla="*/ 266700 w 266700"/>
              <a:gd name="connsiteY3" fmla="*/ 203200 h 25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0" h="251883">
                <a:moveTo>
                  <a:pt x="0" y="0"/>
                </a:moveTo>
                <a:cubicBezTo>
                  <a:pt x="67733" y="12700"/>
                  <a:pt x="135467" y="25400"/>
                  <a:pt x="152400" y="63500"/>
                </a:cubicBezTo>
                <a:cubicBezTo>
                  <a:pt x="169333" y="101600"/>
                  <a:pt x="82550" y="205317"/>
                  <a:pt x="101600" y="228600"/>
                </a:cubicBezTo>
                <a:cubicBezTo>
                  <a:pt x="120650" y="251883"/>
                  <a:pt x="266700" y="203200"/>
                  <a:pt x="266700" y="203200"/>
                </a:cubicBezTo>
              </a:path>
            </a:pathLst>
          </a:cu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Volný tvar 20"/>
          <p:cNvSpPr/>
          <p:nvPr/>
        </p:nvSpPr>
        <p:spPr>
          <a:xfrm>
            <a:off x="1161510" y="5801453"/>
            <a:ext cx="266700" cy="251883"/>
          </a:xfrm>
          <a:custGeom>
            <a:avLst/>
            <a:gdLst>
              <a:gd name="connsiteX0" fmla="*/ 0 w 266700"/>
              <a:gd name="connsiteY0" fmla="*/ 0 h 251883"/>
              <a:gd name="connsiteX1" fmla="*/ 152400 w 266700"/>
              <a:gd name="connsiteY1" fmla="*/ 63500 h 251883"/>
              <a:gd name="connsiteX2" fmla="*/ 101600 w 266700"/>
              <a:gd name="connsiteY2" fmla="*/ 228600 h 251883"/>
              <a:gd name="connsiteX3" fmla="*/ 266700 w 266700"/>
              <a:gd name="connsiteY3" fmla="*/ 203200 h 25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0" h="251883">
                <a:moveTo>
                  <a:pt x="0" y="0"/>
                </a:moveTo>
                <a:cubicBezTo>
                  <a:pt x="67733" y="12700"/>
                  <a:pt x="135467" y="25400"/>
                  <a:pt x="152400" y="63500"/>
                </a:cubicBezTo>
                <a:cubicBezTo>
                  <a:pt x="169333" y="101600"/>
                  <a:pt x="82550" y="205317"/>
                  <a:pt x="101600" y="228600"/>
                </a:cubicBezTo>
                <a:cubicBezTo>
                  <a:pt x="120650" y="251883"/>
                  <a:pt x="266700" y="203200"/>
                  <a:pt x="266700" y="203200"/>
                </a:cubicBezTo>
              </a:path>
            </a:pathLst>
          </a:custGeom>
          <a:ln w="31750">
            <a:solidFill>
              <a:schemeClr val="tx1"/>
            </a:solidFill>
          </a:ln>
          <a:scene3d>
            <a:camera prst="orthographicFront">
              <a:rot lat="0" lon="10799999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060848"/>
            <a:ext cx="3596009" cy="135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/>
              <a:t>Constant input – draw development of stock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b="1" noProof="0"/>
              <a:t>C</a:t>
            </a:r>
            <a:r>
              <a:rPr lang="en-GB" b="1" noProof="0"/>
              <a:t>onstant</a:t>
            </a:r>
            <a:r>
              <a:rPr lang="en-GB" b="1" noProof="0" dirty="0"/>
              <a:t> input</a:t>
            </a:r>
            <a:r>
              <a:rPr lang="en-GB" noProof="0" dirty="0"/>
              <a:t>: Input = 1</a:t>
            </a:r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060848"/>
            <a:ext cx="4176464" cy="429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988840"/>
            <a:ext cx="4392488" cy="4482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Pulse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42900" lvl="1" indent="-342900">
              <a:buFont typeface="Wingdings 2"/>
              <a:buChar char=""/>
            </a:pPr>
            <a:r>
              <a:rPr lang="en-GB" sz="3200" b="1" noProof="0" dirty="0"/>
              <a:t>One pulse</a:t>
            </a:r>
            <a:r>
              <a:rPr lang="en-GB" sz="3200" noProof="0" dirty="0"/>
              <a:t>: Input = PULSE (1, 1)</a:t>
            </a:r>
          </a:p>
          <a:p>
            <a:endParaRPr lang="en-GB" noProof="0" dirty="0"/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3888432" cy="3994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2348880"/>
            <a:ext cx="3816424" cy="3894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Series of pulses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42900" lvl="1" indent="-342900">
              <a:buFont typeface="Wingdings 2"/>
              <a:buChar char=""/>
            </a:pPr>
            <a:r>
              <a:rPr lang="en-GB" sz="3200" b="1" noProof="0"/>
              <a:t>Series of pulses</a:t>
            </a:r>
            <a:r>
              <a:rPr lang="en-GB" sz="3200" noProof="0"/>
              <a:t>: Input </a:t>
            </a:r>
            <a:r>
              <a:rPr lang="en-GB" sz="3200"/>
              <a:t>= </a:t>
            </a:r>
            <a:br>
              <a:rPr lang="en-GB" sz="3200"/>
            </a:br>
            <a:r>
              <a:rPr lang="en-GB" sz="3200"/>
              <a:t>			PULSE TRAIN(1, 0.5, 1, 10 )</a:t>
            </a:r>
          </a:p>
          <a:p>
            <a:endParaRPr lang="en-GB" dirty="0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2636912"/>
            <a:ext cx="3744416" cy="3847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2708920"/>
            <a:ext cx="3627998" cy="3702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 err="1"/>
              <a:t>d</a:t>
            </a:r>
            <a:r>
              <a:rPr lang="cs-CZ" i="1" dirty="0" err="1"/>
              <a:t>t</a:t>
            </a:r>
            <a:endParaRPr lang="cs-CZ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pro obsah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Increase the accuracy until it improve the results</a:t>
                </a:r>
              </a:p>
              <a:p>
                <a:endParaRPr lang="en-AU" dirty="0"/>
              </a:p>
              <a:p>
                <a:r>
                  <a:rPr lang="en-AU" dirty="0"/>
                  <a:t>Coyle (1996):</a:t>
                </a:r>
              </a:p>
              <a:p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i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𝑚𝑖𝑛𝑖𝑚𝑎𝑙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𝑑𝑒𝑙𝑎𝑦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4∙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𝑜𝑟𝑑𝑒𝑟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𝑑𝑒𝑙𝑎𝑦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 .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en-AU" dirty="0"/>
                  <a:t>The delay in the model mustn't be smaller than </a:t>
                </a:r>
                <a:r>
                  <a:rPr lang="en-AU" dirty="0" err="1"/>
                  <a:t>d</a:t>
                </a:r>
                <a:r>
                  <a:rPr lang="en-AU" i="1" dirty="0" err="1"/>
                  <a:t>t</a:t>
                </a:r>
                <a:r>
                  <a:rPr lang="en-AU" dirty="0" err="1"/>
                  <a:t>.</a:t>
                </a: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Zástupný symbol pro obsah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776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Brain test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r>
              <a:rPr lang="en-GB" dirty="0"/>
              <a:t>Freezing lake:</a:t>
            </a:r>
          </a:p>
          <a:p>
            <a:pPr lvl="1"/>
            <a:r>
              <a:rPr lang="en-GB" noProof="0" dirty="0"/>
              <a:t>Whole lake is covered by ice after 100 days.</a:t>
            </a:r>
          </a:p>
          <a:p>
            <a:pPr lvl="1"/>
            <a:r>
              <a:rPr lang="en-GB" noProof="0" dirty="0"/>
              <a:t>The area of ice doubles each day.</a:t>
            </a:r>
          </a:p>
          <a:p>
            <a:pPr lvl="1"/>
            <a:r>
              <a:rPr lang="en-GB" noProof="0" dirty="0"/>
              <a:t>What day, will be exactly half of lake covered by ice?</a:t>
            </a:r>
          </a:p>
          <a:p>
            <a:endParaRPr lang="en-GB" noProof="0" dirty="0"/>
          </a:p>
          <a:p>
            <a:pPr marL="0" indent="0">
              <a:buNone/>
            </a:pPr>
            <a:endParaRPr lang="cs-CZ" dirty="0"/>
          </a:p>
          <a:p>
            <a:r>
              <a:rPr lang="cs-CZ" dirty="0" err="1"/>
              <a:t>You</a:t>
            </a:r>
            <a:r>
              <a:rPr lang="cs-CZ" dirty="0"/>
              <a:t> are </a:t>
            </a:r>
            <a:r>
              <a:rPr lang="cs-CZ" dirty="0" err="1"/>
              <a:t>folding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paper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0.1mm </a:t>
            </a:r>
            <a:r>
              <a:rPr lang="cs-CZ" dirty="0" err="1"/>
              <a:t>thickness</a:t>
            </a:r>
            <a:r>
              <a:rPr lang="cs-CZ" dirty="0"/>
              <a:t>. </a:t>
            </a:r>
            <a:r>
              <a:rPr lang="cs-CZ" dirty="0" err="1"/>
              <a:t>What</a:t>
            </a:r>
            <a:r>
              <a:rPr lang="cs-CZ" dirty="0"/>
              <a:t> </a:t>
            </a:r>
            <a:r>
              <a:rPr lang="cs-CZ" dirty="0" err="1"/>
              <a:t>will</a:t>
            </a:r>
            <a:r>
              <a:rPr lang="cs-CZ" dirty="0"/>
              <a:t> </a:t>
            </a:r>
            <a:r>
              <a:rPr lang="cs-CZ" dirty="0" err="1"/>
              <a:t>happen</a:t>
            </a:r>
            <a:r>
              <a:rPr lang="cs-CZ" dirty="0"/>
              <a:t> </a:t>
            </a:r>
            <a:r>
              <a:rPr lang="cs-CZ" dirty="0" err="1"/>
              <a:t>if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fold</a:t>
            </a:r>
            <a:r>
              <a:rPr lang="cs-CZ" dirty="0"/>
              <a:t> </a:t>
            </a:r>
            <a:r>
              <a:rPr lang="cs-CZ" dirty="0" err="1"/>
              <a:t>it</a:t>
            </a:r>
            <a:r>
              <a:rPr lang="cs-CZ" dirty="0"/>
              <a:t> 42 </a:t>
            </a:r>
            <a:r>
              <a:rPr lang="cs-CZ" dirty="0" err="1"/>
              <a:t>times</a:t>
            </a:r>
            <a:r>
              <a:rPr lang="cs-CZ" dirty="0"/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Exponential</a:t>
            </a:r>
            <a:r>
              <a:rPr lang="cs-CZ" dirty="0"/>
              <a:t> </a:t>
            </a:r>
            <a:r>
              <a:rPr lang="cs-CZ" dirty="0" err="1"/>
              <a:t>growth</a:t>
            </a:r>
            <a:endParaRPr lang="cs-CZ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pro obsah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cs-CZ" dirty="0"/>
                  <a:t>First </a:t>
                </a:r>
                <a:r>
                  <a:rPr lang="cs-CZ" dirty="0" err="1"/>
                  <a:t>order</a:t>
                </a:r>
                <a:r>
                  <a:rPr lang="cs-CZ" dirty="0"/>
                  <a:t> </a:t>
                </a:r>
                <a:r>
                  <a:rPr lang="cs-CZ" dirty="0" err="1"/>
                  <a:t>system</a:t>
                </a:r>
                <a:endParaRPr lang="cs-CZ" dirty="0"/>
              </a:p>
              <a:p>
                <a:pPr marL="0" indent="0">
                  <a:buNone/>
                </a:pPr>
                <a:r>
                  <a:rPr lang="cs-CZ" dirty="0"/>
                  <a:t>	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𝐼𝑁𝑇𝐸𝐺</m:t>
                    </m:r>
                    <m:d>
                      <m:dPr>
                        <m:ctrlPr>
                          <a:rPr lang="cs-C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𝐼𝑛𝑓𝑙𝑜𝑤</m:t>
                        </m:r>
                        <m:r>
                          <a:rPr lang="cs-CZ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cs-CZ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cs-CZ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cs-CZ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cs-CZ" dirty="0"/>
              </a:p>
              <a:p>
                <a:pPr marL="0" indent="0">
                  <a:buNone/>
                </a:pPr>
                <a:r>
                  <a:rPr lang="cs-CZ" dirty="0"/>
                  <a:t>	</a:t>
                </a: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𝐼𝑛𝑓𝑙𝑜𝑤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cs-C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cs-CZ" dirty="0"/>
              </a:p>
              <a:p>
                <a:pPr>
                  <a:tabLst>
                    <a:tab pos="892175" algn="l"/>
                  </a:tabLst>
                </a:pPr>
                <a:r>
                  <a:rPr lang="cs-CZ" dirty="0" err="1"/>
                  <a:t>Linear</a:t>
                </a:r>
                <a:r>
                  <a:rPr lang="cs-CZ" dirty="0"/>
                  <a:t> </a:t>
                </a:r>
                <a:r>
                  <a:rPr lang="cs-CZ" dirty="0" err="1"/>
                  <a:t>first</a:t>
                </a:r>
                <a:r>
                  <a:rPr lang="cs-CZ" dirty="0"/>
                  <a:t> </a:t>
                </a:r>
                <a:r>
                  <a:rPr lang="cs-CZ" dirty="0" err="1"/>
                  <a:t>order</a:t>
                </a:r>
                <a:r>
                  <a:rPr lang="cs-CZ" dirty="0"/>
                  <a:t> </a:t>
                </a:r>
                <a:r>
                  <a:rPr lang="cs-CZ" dirty="0" err="1"/>
                  <a:t>system</a:t>
                </a:r>
                <a:br>
                  <a:rPr lang="cs-CZ" dirty="0"/>
                </a:br>
                <a:r>
                  <a:rPr lang="cs-CZ" dirty="0"/>
                  <a:t>	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𝐼𝑁𝑇𝐸𝐺</m:t>
                    </m:r>
                    <m:d>
                      <m:dPr>
                        <m:ctrlPr>
                          <a:rPr lang="cs-C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𝐼𝑛𝑓𝑙𝑜𝑤</m:t>
                        </m:r>
                        <m:r>
                          <a:rPr lang="cs-CZ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cs-CZ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cs-CZ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cs-CZ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cs-CZ" dirty="0"/>
              </a:p>
              <a:p>
                <a:pPr marL="0" indent="0">
                  <a:buNone/>
                </a:pPr>
                <a:r>
                  <a:rPr lang="cs-CZ" dirty="0"/>
                  <a:t>	</a:t>
                </a: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𝐼𝑛𝑓𝑙𝑜𝑤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𝑔𝑆</m:t>
                    </m:r>
                  </m:oMath>
                </a14:m>
                <a:endParaRPr lang="cs-CZ" sz="2800" dirty="0"/>
              </a:p>
              <a:p>
                <a:endParaRPr lang="cs-CZ" dirty="0"/>
              </a:p>
            </p:txBody>
          </p:sp>
        </mc:Choice>
        <mc:Fallback xmlns="">
          <p:sp>
            <p:nvSpPr>
              <p:cNvPr id="3" name="Zástupný symbol pro obsah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024" y="4654565"/>
            <a:ext cx="3712270" cy="182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72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Exponential</a:t>
            </a:r>
            <a:r>
              <a:rPr lang="cs-CZ" dirty="0"/>
              <a:t> </a:t>
            </a:r>
            <a:r>
              <a:rPr lang="cs-CZ" dirty="0" err="1"/>
              <a:t>growth</a:t>
            </a:r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600200"/>
            <a:ext cx="3712270" cy="1822435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3068960"/>
            <a:ext cx="3631774" cy="1903463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740" y="4869160"/>
            <a:ext cx="3539799" cy="179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58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Exponential</a:t>
            </a:r>
            <a:r>
              <a:rPr lang="cs-CZ" dirty="0"/>
              <a:t> </a:t>
            </a:r>
            <a:r>
              <a:rPr lang="cs-CZ" dirty="0" err="1"/>
              <a:t>growth</a:t>
            </a:r>
            <a:r>
              <a:rPr lang="cs-CZ" dirty="0"/>
              <a:t> - </a:t>
            </a:r>
            <a:r>
              <a:rPr lang="cs-CZ" dirty="0" err="1"/>
              <a:t>example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err="1"/>
              <a:t>Population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200 </a:t>
            </a:r>
            <a:r>
              <a:rPr lang="cs-CZ" dirty="0" err="1"/>
              <a:t>people</a:t>
            </a:r>
            <a:r>
              <a:rPr lang="cs-CZ" dirty="0"/>
              <a:t> </a:t>
            </a:r>
          </a:p>
          <a:p>
            <a:r>
              <a:rPr lang="cs-CZ" dirty="0" err="1"/>
              <a:t>Fractional</a:t>
            </a:r>
            <a:r>
              <a:rPr lang="cs-CZ" dirty="0"/>
              <a:t> </a:t>
            </a:r>
            <a:r>
              <a:rPr lang="cs-CZ" dirty="0" err="1"/>
              <a:t>birth</a:t>
            </a:r>
            <a:r>
              <a:rPr lang="cs-CZ" dirty="0"/>
              <a:t> </a:t>
            </a:r>
            <a:r>
              <a:rPr lang="cs-CZ" dirty="0" err="1"/>
              <a:t>rate</a:t>
            </a:r>
            <a:r>
              <a:rPr lang="cs-CZ" dirty="0"/>
              <a:t> 4%</a:t>
            </a:r>
          </a:p>
        </p:txBody>
      </p:sp>
    </p:spTree>
    <p:extLst>
      <p:ext uri="{BB962C8B-B14F-4D97-AF65-F5344CB8AC3E}">
        <p14:creationId xmlns:p14="http://schemas.microsoft.com/office/powerpoint/2010/main" val="1253208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251520" y="1988839"/>
            <a:ext cx="8686800" cy="4394221"/>
          </a:xfrm>
        </p:spPr>
        <p:txBody>
          <a:bodyPr/>
          <a:lstStyle/>
          <a:p>
            <a:r>
              <a:rPr lang="cs-CZ" dirty="0" err="1"/>
              <a:t>We</a:t>
            </a:r>
            <a:r>
              <a:rPr lang="cs-CZ" dirty="0"/>
              <a:t> </a:t>
            </a:r>
            <a:r>
              <a:rPr lang="cs-CZ" dirty="0" err="1"/>
              <a:t>know</a:t>
            </a:r>
            <a:r>
              <a:rPr lang="cs-CZ" dirty="0"/>
              <a:t>: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 err="1"/>
              <a:t>Separation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variables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 err="1"/>
              <a:t>Integration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113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98732" y="1844824"/>
            <a:ext cx="1190625" cy="809625"/>
          </a:xfrm>
          <a:prstGeom prst="rect">
            <a:avLst/>
          </a:prstGeom>
          <a:noFill/>
        </p:spPr>
      </p:pic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32040" y="3501008"/>
            <a:ext cx="1333500" cy="809625"/>
          </a:xfrm>
          <a:prstGeom prst="rect">
            <a:avLst/>
          </a:prstGeom>
          <a:noFill/>
        </p:spPr>
      </p:pic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1141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8757" y="5085184"/>
            <a:ext cx="1981200" cy="847725"/>
          </a:xfrm>
          <a:prstGeom prst="rect">
            <a:avLst/>
          </a:prstGeom>
          <a:noFill/>
        </p:spPr>
      </p:pic>
      <p:sp>
        <p:nvSpPr>
          <p:cNvPr id="10" name="Nadpis 1"/>
          <p:cNvSpPr txBox="1">
            <a:spLocks/>
          </p:cNvSpPr>
          <p:nvPr/>
        </p:nvSpPr>
        <p:spPr>
          <a:xfrm>
            <a:off x="251520" y="228600"/>
            <a:ext cx="8686800" cy="990600"/>
          </a:xfrm>
          <a:prstGeom prst="rect">
            <a:avLst/>
          </a:prstGeom>
        </p:spPr>
        <p:txBody>
          <a:bodyPr vert="horz" anchor="ctr">
            <a:normAutofit fontScale="92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Exponential growth – analytical solution</a:t>
            </a:r>
          </a:p>
        </p:txBody>
      </p:sp>
    </p:spTree>
    <p:extLst>
      <p:ext uri="{BB962C8B-B14F-4D97-AF65-F5344CB8AC3E}">
        <p14:creationId xmlns:p14="http://schemas.microsoft.com/office/powerpoint/2010/main" val="3354141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04800" y="1714286"/>
            <a:ext cx="8686800" cy="4811058"/>
          </a:xfrm>
        </p:spPr>
        <p:txBody>
          <a:bodyPr>
            <a:normAutofit/>
          </a:bodyPr>
          <a:lstStyle/>
          <a:p>
            <a:r>
              <a:rPr lang="cs-CZ" dirty="0" err="1"/>
              <a:t>Solution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integral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In </a:t>
            </a:r>
            <a:r>
              <a:rPr lang="cs-CZ" i="1" dirty="0"/>
              <a:t>T</a:t>
            </a:r>
            <a:r>
              <a:rPr lang="cs-CZ" baseline="-25000" dirty="0"/>
              <a:t>0</a:t>
            </a:r>
            <a:r>
              <a:rPr lang="cs-CZ" dirty="0"/>
              <a:t> (</a:t>
            </a:r>
            <a:r>
              <a:rPr lang="cs-CZ" dirty="0" err="1"/>
              <a:t>i.e</a:t>
            </a:r>
            <a:r>
              <a:rPr lang="cs-CZ" dirty="0"/>
              <a:t>. </a:t>
            </a:r>
            <a:r>
              <a:rPr lang="cs-CZ" i="1" dirty="0"/>
              <a:t>t</a:t>
            </a:r>
            <a:r>
              <a:rPr lang="cs-CZ" dirty="0"/>
              <a:t>=0)			   so	</a:t>
            </a:r>
          </a:p>
          <a:p>
            <a:endParaRPr lang="cs-CZ" dirty="0"/>
          </a:p>
          <a:p>
            <a:r>
              <a:rPr lang="cs-CZ" dirty="0" err="1"/>
              <a:t>Therefore</a:t>
            </a:r>
            <a:endParaRPr lang="cs-CZ" dirty="0"/>
          </a:p>
          <a:p>
            <a:endParaRPr lang="cs-CZ" dirty="0"/>
          </a:p>
        </p:txBody>
      </p:sp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420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55976" y="2348880"/>
            <a:ext cx="2076450" cy="447675"/>
          </a:xfrm>
          <a:prstGeom prst="rect">
            <a:avLst/>
          </a:prstGeom>
          <a:noFill/>
        </p:spPr>
      </p:pic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32040" y="3032956"/>
            <a:ext cx="1371600" cy="447675"/>
          </a:xfrm>
          <a:prstGeom prst="rect">
            <a:avLst/>
          </a:prstGeom>
          <a:noFill/>
        </p:spPr>
      </p:pic>
      <p:sp>
        <p:nvSpPr>
          <p:cNvPr id="942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421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12990" y="3672139"/>
            <a:ext cx="1390650" cy="447675"/>
          </a:xfrm>
          <a:prstGeom prst="rect">
            <a:avLst/>
          </a:prstGeom>
          <a:noFill/>
        </p:spPr>
      </p:pic>
      <p:sp>
        <p:nvSpPr>
          <p:cNvPr id="9421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sp>
        <p:nvSpPr>
          <p:cNvPr id="9421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4217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95675" y="5022383"/>
            <a:ext cx="1076325" cy="447675"/>
          </a:xfrm>
          <a:prstGeom prst="rect">
            <a:avLst/>
          </a:prstGeom>
          <a:noFill/>
        </p:spPr>
      </p:pic>
      <p:sp>
        <p:nvSpPr>
          <p:cNvPr id="9422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4221" name="Picture 1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96942" y="4956754"/>
            <a:ext cx="1171575" cy="485775"/>
          </a:xfrm>
          <a:prstGeom prst="rect">
            <a:avLst/>
          </a:prstGeom>
          <a:noFill/>
        </p:spPr>
      </p:pic>
      <p:sp>
        <p:nvSpPr>
          <p:cNvPr id="9422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4223" name="Picture 1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13347" y="6039569"/>
            <a:ext cx="1600200" cy="485775"/>
          </a:xfrm>
          <a:prstGeom prst="rect">
            <a:avLst/>
          </a:prstGeom>
          <a:noFill/>
        </p:spPr>
      </p:pic>
      <p:sp>
        <p:nvSpPr>
          <p:cNvPr id="17" name="Nadpis 1"/>
          <p:cNvSpPr txBox="1">
            <a:spLocks/>
          </p:cNvSpPr>
          <p:nvPr/>
        </p:nvSpPr>
        <p:spPr>
          <a:xfrm>
            <a:off x="251520" y="228600"/>
            <a:ext cx="8686800" cy="990600"/>
          </a:xfrm>
          <a:prstGeom prst="rect">
            <a:avLst/>
          </a:prstGeom>
        </p:spPr>
        <p:txBody>
          <a:bodyPr vert="horz" anchor="ctr">
            <a:normAutofit fontScale="92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Exponential growth – analytical solution</a:t>
            </a:r>
          </a:p>
        </p:txBody>
      </p:sp>
    </p:spTree>
    <p:extLst>
      <p:ext uri="{BB962C8B-B14F-4D97-AF65-F5344CB8AC3E}">
        <p14:creationId xmlns:p14="http://schemas.microsoft.com/office/powerpoint/2010/main" val="2111940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5000628" y="1916832"/>
            <a:ext cx="3990972" cy="4392488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cs-CZ" sz="3500" b="1" dirty="0"/>
              <a:t>Rule </a:t>
            </a:r>
            <a:r>
              <a:rPr lang="cs-CZ" sz="3500" b="1" dirty="0" err="1"/>
              <a:t>of</a:t>
            </a:r>
            <a:r>
              <a:rPr lang="cs-CZ" sz="3500" b="1" dirty="0"/>
              <a:t> 70:</a:t>
            </a:r>
          </a:p>
          <a:p>
            <a:endParaRPr lang="cs-CZ" dirty="0"/>
          </a:p>
          <a:p>
            <a:endParaRPr lang="cs-CZ" dirty="0"/>
          </a:p>
          <a:p>
            <a:pPr>
              <a:spcBef>
                <a:spcPts val="0"/>
              </a:spcBef>
              <a:buNone/>
            </a:pPr>
            <a:endParaRPr lang="cs-CZ" dirty="0"/>
          </a:p>
          <a:p>
            <a:pPr>
              <a:spcBef>
                <a:spcPts val="0"/>
              </a:spcBef>
              <a:buNone/>
            </a:pPr>
            <a:endParaRPr lang="cs-CZ" dirty="0"/>
          </a:p>
          <a:p>
            <a:pPr marL="0" algn="r">
              <a:spcBef>
                <a:spcPts val="0"/>
              </a:spcBef>
              <a:buNone/>
            </a:pPr>
            <a:r>
              <a:rPr lang="cs-CZ" dirty="0" err="1"/>
              <a:t>Seventy</a:t>
            </a:r>
            <a:r>
              <a:rPr lang="cs-CZ" dirty="0"/>
              <a:t> </a:t>
            </a:r>
            <a:r>
              <a:rPr lang="cs-CZ" dirty="0" err="1"/>
              <a:t>divided</a:t>
            </a:r>
            <a:r>
              <a:rPr lang="cs-CZ" dirty="0"/>
              <a:t> by </a:t>
            </a:r>
            <a:r>
              <a:rPr lang="cs-CZ" dirty="0" err="1"/>
              <a:t>growth</a:t>
            </a:r>
            <a:r>
              <a:rPr lang="cs-CZ" dirty="0"/>
              <a:t> </a:t>
            </a:r>
            <a:r>
              <a:rPr lang="cs-CZ" dirty="0" err="1"/>
              <a:t>gives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approximation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doubling</a:t>
            </a:r>
            <a:r>
              <a:rPr lang="cs-CZ" dirty="0"/>
              <a:t> </a:t>
            </a:r>
            <a:r>
              <a:rPr lang="cs-CZ" dirty="0" err="1"/>
              <a:t>time</a:t>
            </a:r>
            <a:endParaRPr lang="cs-CZ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625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15320" y="1843318"/>
            <a:ext cx="2057400" cy="485775"/>
          </a:xfrm>
          <a:prstGeom prst="rect">
            <a:avLst/>
          </a:prstGeom>
          <a:noFill/>
        </p:spPr>
      </p:pic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6259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23942" y="2445703"/>
            <a:ext cx="1209675" cy="447675"/>
          </a:xfrm>
          <a:prstGeom prst="rect">
            <a:avLst/>
          </a:prstGeom>
          <a:noFill/>
        </p:spPr>
      </p:pic>
      <p:sp>
        <p:nvSpPr>
          <p:cNvPr id="9626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6261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15108" y="2950880"/>
            <a:ext cx="1733550" cy="447675"/>
          </a:xfrm>
          <a:prstGeom prst="rect">
            <a:avLst/>
          </a:prstGeom>
          <a:noFill/>
        </p:spPr>
      </p:pic>
      <p:sp>
        <p:nvSpPr>
          <p:cNvPr id="9626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6263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15108" y="3560852"/>
            <a:ext cx="1733550" cy="447675"/>
          </a:xfrm>
          <a:prstGeom prst="rect">
            <a:avLst/>
          </a:prstGeom>
          <a:noFill/>
        </p:spPr>
      </p:pic>
      <p:sp>
        <p:nvSpPr>
          <p:cNvPr id="9626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6265" name="Picture 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02768" y="4160132"/>
            <a:ext cx="1533525" cy="895350"/>
          </a:xfrm>
          <a:prstGeom prst="rect">
            <a:avLst/>
          </a:prstGeom>
          <a:noFill/>
        </p:spPr>
      </p:pic>
      <p:sp>
        <p:nvSpPr>
          <p:cNvPr id="9626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6267" name="Picture 1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09901" y="5229200"/>
            <a:ext cx="1704975" cy="876300"/>
          </a:xfrm>
          <a:prstGeom prst="rect">
            <a:avLst/>
          </a:prstGeom>
          <a:noFill/>
        </p:spPr>
      </p:pic>
      <p:sp>
        <p:nvSpPr>
          <p:cNvPr id="9627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96269" name="Picture 1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08469" y="2669540"/>
            <a:ext cx="1485900" cy="876300"/>
          </a:xfrm>
          <a:prstGeom prst="rect">
            <a:avLst/>
          </a:prstGeom>
          <a:noFill/>
        </p:spPr>
      </p:pic>
      <p:cxnSp>
        <p:nvCxnSpPr>
          <p:cNvPr id="19" name="Přímá spojovací šipka 18"/>
          <p:cNvCxnSpPr/>
          <p:nvPr/>
        </p:nvCxnSpPr>
        <p:spPr>
          <a:xfrm rot="5400000">
            <a:off x="-601868" y="3849607"/>
            <a:ext cx="3528392" cy="1588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Přímá spojovací šipka 27"/>
          <p:cNvCxnSpPr/>
          <p:nvPr/>
        </p:nvCxnSpPr>
        <p:spPr>
          <a:xfrm flipV="1">
            <a:off x="3923928" y="3284984"/>
            <a:ext cx="2664296" cy="1944217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Nadpis 1"/>
          <p:cNvSpPr txBox="1">
            <a:spLocks/>
          </p:cNvSpPr>
          <p:nvPr/>
        </p:nvSpPr>
        <p:spPr>
          <a:xfrm>
            <a:off x="304800" y="203501"/>
            <a:ext cx="86868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Exponential growth – </a:t>
            </a:r>
            <a:r>
              <a:rPr lang="cs-CZ" dirty="0" err="1"/>
              <a:t>doubling</a:t>
            </a:r>
            <a:r>
              <a:rPr lang="cs-CZ" dirty="0"/>
              <a:t> </a:t>
            </a:r>
            <a:r>
              <a:rPr lang="cs-CZ" dirty="0" err="1"/>
              <a:t>time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5747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Exponential</a:t>
            </a:r>
            <a:r>
              <a:rPr lang="cs-CZ" dirty="0"/>
              <a:t> </a:t>
            </a:r>
            <a:r>
              <a:rPr lang="cs-CZ" dirty="0" err="1"/>
              <a:t>decay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 err="1"/>
              <a:t>Similarly</a:t>
            </a:r>
            <a:r>
              <a:rPr lang="cs-CZ" dirty="0"/>
              <a:t> to </a:t>
            </a:r>
            <a:r>
              <a:rPr lang="cs-CZ" dirty="0" err="1"/>
              <a:t>exponential</a:t>
            </a:r>
            <a:r>
              <a:rPr lang="cs-CZ" dirty="0"/>
              <a:t> </a:t>
            </a:r>
            <a:r>
              <a:rPr lang="cs-CZ" dirty="0" err="1"/>
              <a:t>growth</a:t>
            </a:r>
            <a:r>
              <a:rPr lang="cs-CZ" dirty="0"/>
              <a:t>, </a:t>
            </a:r>
            <a:r>
              <a:rPr lang="cs-CZ" dirty="0" err="1"/>
              <a:t>we</a:t>
            </a:r>
            <a:r>
              <a:rPr lang="cs-CZ" dirty="0"/>
              <a:t> </a:t>
            </a:r>
            <a:r>
              <a:rPr lang="cs-CZ" dirty="0" err="1"/>
              <a:t>have</a:t>
            </a:r>
            <a:r>
              <a:rPr lang="cs-CZ" dirty="0"/>
              <a:t> </a:t>
            </a:r>
            <a:r>
              <a:rPr lang="cs-CZ" dirty="0" err="1"/>
              <a:t>halving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 (</a:t>
            </a:r>
            <a:r>
              <a:rPr lang="cs-CZ" dirty="0" err="1"/>
              <a:t>again</a:t>
            </a:r>
            <a:r>
              <a:rPr lang="cs-CZ" dirty="0"/>
              <a:t> rule </a:t>
            </a:r>
            <a:r>
              <a:rPr lang="cs-CZ" dirty="0" err="1"/>
              <a:t>of</a:t>
            </a:r>
            <a:r>
              <a:rPr lang="cs-CZ" dirty="0"/>
              <a:t> 70)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1772816"/>
            <a:ext cx="4645469" cy="233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96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Exponential</a:t>
            </a:r>
            <a:r>
              <a:rPr lang="cs-CZ" dirty="0"/>
              <a:t> </a:t>
            </a:r>
            <a:r>
              <a:rPr lang="cs-CZ" dirty="0" err="1"/>
              <a:t>decay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err="1"/>
              <a:t>Population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200 </a:t>
            </a:r>
            <a:r>
              <a:rPr lang="cs-CZ" dirty="0" err="1"/>
              <a:t>people</a:t>
            </a:r>
            <a:endParaRPr lang="cs-CZ" dirty="0"/>
          </a:p>
          <a:p>
            <a:r>
              <a:rPr lang="cs-CZ" dirty="0" err="1"/>
              <a:t>Avegage</a:t>
            </a:r>
            <a:r>
              <a:rPr lang="cs-CZ" dirty="0"/>
              <a:t> </a:t>
            </a:r>
            <a:r>
              <a:rPr lang="cs-CZ" dirty="0" err="1"/>
              <a:t>lenght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life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65years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842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Population</a:t>
            </a:r>
            <a:r>
              <a:rPr lang="cs-CZ" dirty="0"/>
              <a:t> model - </a:t>
            </a:r>
            <a:r>
              <a:rPr lang="cs-CZ" dirty="0" err="1"/>
              <a:t>capacity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carrying</a:t>
            </a:r>
            <a:r>
              <a:rPr lang="cs-CZ" dirty="0"/>
              <a:t> </a:t>
            </a:r>
            <a:r>
              <a:rPr lang="cs-CZ" dirty="0" err="1"/>
              <a:t>capacity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enviroment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10 000</a:t>
            </a:r>
          </a:p>
          <a:p>
            <a:r>
              <a:rPr lang="cs-CZ" dirty="0" err="1"/>
              <a:t>Fractional</a:t>
            </a:r>
            <a:r>
              <a:rPr lang="cs-CZ" dirty="0"/>
              <a:t> </a:t>
            </a:r>
            <a:r>
              <a:rPr lang="cs-CZ" dirty="0" err="1"/>
              <a:t>birth</a:t>
            </a:r>
            <a:r>
              <a:rPr lang="cs-CZ" dirty="0"/>
              <a:t> </a:t>
            </a:r>
            <a:r>
              <a:rPr lang="cs-CZ" dirty="0" err="1"/>
              <a:t>rate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then</a:t>
            </a:r>
            <a:r>
              <a:rPr lang="cs-CZ" dirty="0"/>
              <a:t>: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Max </a:t>
            </a:r>
            <a:r>
              <a:rPr lang="cs-CZ" dirty="0" err="1"/>
              <a:t>fractional</a:t>
            </a:r>
            <a:r>
              <a:rPr lang="cs-CZ" dirty="0"/>
              <a:t> </a:t>
            </a:r>
            <a:r>
              <a:rPr lang="cs-CZ" dirty="0" err="1"/>
              <a:t>birth</a:t>
            </a:r>
            <a:r>
              <a:rPr lang="cs-CZ" dirty="0"/>
              <a:t> </a:t>
            </a:r>
            <a:r>
              <a:rPr lang="cs-CZ" dirty="0" err="1"/>
              <a:t>rate</a:t>
            </a:r>
            <a:r>
              <a:rPr lang="cs-CZ" dirty="0"/>
              <a:t> * (1-Population/</a:t>
            </a:r>
            <a:r>
              <a:rPr lang="cs-CZ" dirty="0" err="1"/>
              <a:t>Carrying</a:t>
            </a:r>
            <a:r>
              <a:rPr lang="cs-CZ" dirty="0"/>
              <a:t> </a:t>
            </a:r>
            <a:r>
              <a:rPr lang="cs-CZ" dirty="0" err="1"/>
              <a:t>capacity</a:t>
            </a:r>
            <a:r>
              <a:rPr lang="cs-CZ" dirty="0"/>
              <a:t>)</a:t>
            </a:r>
          </a:p>
          <a:p>
            <a:endParaRPr lang="cs-CZ" dirty="0"/>
          </a:p>
          <a:p>
            <a:r>
              <a:rPr lang="cs-CZ" dirty="0"/>
              <a:t>Max </a:t>
            </a:r>
            <a:r>
              <a:rPr lang="cs-CZ" dirty="0" err="1"/>
              <a:t>fractional</a:t>
            </a:r>
            <a:r>
              <a:rPr lang="cs-CZ" dirty="0"/>
              <a:t> </a:t>
            </a:r>
            <a:r>
              <a:rPr lang="cs-CZ" dirty="0" err="1"/>
              <a:t>birth</a:t>
            </a:r>
            <a:r>
              <a:rPr lang="cs-CZ" dirty="0"/>
              <a:t> </a:t>
            </a:r>
            <a:r>
              <a:rPr lang="cs-CZ" dirty="0" err="1"/>
              <a:t>rate</a:t>
            </a:r>
            <a:r>
              <a:rPr lang="cs-CZ" dirty="0"/>
              <a:t> = 4%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059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Material</a:t>
            </a:r>
            <a:r>
              <a:rPr lang="cs-CZ" dirty="0"/>
              <a:t> </a:t>
            </a:r>
            <a:r>
              <a:rPr lang="cs-CZ" dirty="0" err="1"/>
              <a:t>delay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Fixed</a:t>
            </a:r>
            <a:r>
              <a:rPr lang="cs-CZ" dirty="0"/>
              <a:t> </a:t>
            </a:r>
            <a:r>
              <a:rPr lang="cs-CZ" dirty="0" err="1"/>
              <a:t>delay</a:t>
            </a:r>
            <a:endParaRPr lang="cs-CZ" dirty="0"/>
          </a:p>
          <a:p>
            <a:pPr lvl="1"/>
            <a:r>
              <a:rPr lang="cs-CZ" dirty="0" err="1"/>
              <a:t>Delay</a:t>
            </a:r>
            <a:r>
              <a:rPr lang="cs-CZ" dirty="0"/>
              <a:t> </a:t>
            </a:r>
            <a:r>
              <a:rPr lang="cs-CZ" dirty="0" err="1"/>
              <a:t>fixed</a:t>
            </a:r>
            <a:r>
              <a:rPr lang="cs-CZ" dirty="0"/>
              <a:t> (input, </a:t>
            </a:r>
            <a:r>
              <a:rPr lang="cs-CZ" dirty="0" err="1"/>
              <a:t>delay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, </a:t>
            </a:r>
            <a:r>
              <a:rPr lang="cs-CZ" dirty="0" err="1"/>
              <a:t>initial</a:t>
            </a:r>
            <a:r>
              <a:rPr lang="cs-CZ" dirty="0"/>
              <a:t> </a:t>
            </a:r>
            <a:r>
              <a:rPr lang="cs-CZ" dirty="0" err="1"/>
              <a:t>value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FIFO</a:t>
            </a:r>
          </a:p>
          <a:p>
            <a:r>
              <a:rPr lang="cs-CZ" dirty="0" err="1"/>
              <a:t>First</a:t>
            </a:r>
            <a:r>
              <a:rPr lang="cs-CZ" dirty="0"/>
              <a:t> </a:t>
            </a:r>
            <a:r>
              <a:rPr lang="cs-CZ" dirty="0" err="1"/>
              <a:t>order</a:t>
            </a:r>
            <a:r>
              <a:rPr lang="cs-CZ" dirty="0"/>
              <a:t> </a:t>
            </a:r>
            <a:r>
              <a:rPr lang="cs-CZ" dirty="0" err="1"/>
              <a:t>delay</a:t>
            </a:r>
            <a:endParaRPr lang="cs-CZ" dirty="0"/>
          </a:p>
          <a:p>
            <a:pPr lvl="1"/>
            <a:r>
              <a:rPr lang="cs-CZ" dirty="0"/>
              <a:t>Output= </a:t>
            </a:r>
            <a:r>
              <a:rPr lang="cs-CZ" dirty="0" err="1"/>
              <a:t>Stock</a:t>
            </a:r>
            <a:r>
              <a:rPr lang="cs-CZ" dirty="0"/>
              <a:t>/</a:t>
            </a:r>
            <a:r>
              <a:rPr lang="cs-CZ" dirty="0" err="1"/>
              <a:t>delay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 </a:t>
            </a:r>
          </a:p>
          <a:p>
            <a:pPr lvl="1"/>
            <a:r>
              <a:rPr lang="cs-CZ" dirty="0"/>
              <a:t>Delay1I (input, </a:t>
            </a:r>
            <a:r>
              <a:rPr lang="cs-CZ" dirty="0" err="1"/>
              <a:t>delay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, </a:t>
            </a:r>
            <a:r>
              <a:rPr lang="cs-CZ" dirty="0" err="1"/>
              <a:t>initial</a:t>
            </a:r>
            <a:r>
              <a:rPr lang="cs-CZ" dirty="0"/>
              <a:t> </a:t>
            </a:r>
            <a:r>
              <a:rPr lang="cs-CZ" dirty="0" err="1"/>
              <a:t>value</a:t>
            </a:r>
            <a:r>
              <a:rPr lang="cs-CZ" dirty="0"/>
              <a:t>)</a:t>
            </a:r>
          </a:p>
          <a:p>
            <a:r>
              <a:rPr lang="cs-CZ" i="1" dirty="0" err="1"/>
              <a:t>N</a:t>
            </a:r>
            <a:r>
              <a:rPr lang="cs-CZ" dirty="0" err="1"/>
              <a:t>th</a:t>
            </a:r>
            <a:r>
              <a:rPr lang="cs-CZ" dirty="0"/>
              <a:t> </a:t>
            </a:r>
            <a:r>
              <a:rPr lang="cs-CZ" dirty="0" err="1"/>
              <a:t>order</a:t>
            </a:r>
            <a:r>
              <a:rPr lang="cs-CZ" dirty="0"/>
              <a:t> </a:t>
            </a:r>
            <a:r>
              <a:rPr lang="cs-CZ" dirty="0" err="1"/>
              <a:t>delay</a:t>
            </a:r>
            <a:endParaRPr lang="cs-CZ" dirty="0"/>
          </a:p>
          <a:p>
            <a:pPr lvl="1"/>
            <a:r>
              <a:rPr lang="cs-CZ" dirty="0" err="1"/>
              <a:t>Delay</a:t>
            </a:r>
            <a:r>
              <a:rPr lang="cs-CZ" dirty="0"/>
              <a:t> N (input, </a:t>
            </a:r>
            <a:r>
              <a:rPr lang="cs-CZ" dirty="0" err="1"/>
              <a:t>delay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, </a:t>
            </a:r>
            <a:r>
              <a:rPr lang="cs-CZ" dirty="0" err="1"/>
              <a:t>initial</a:t>
            </a:r>
            <a:r>
              <a:rPr lang="cs-CZ" dirty="0"/>
              <a:t> </a:t>
            </a:r>
            <a:r>
              <a:rPr lang="cs-CZ" dirty="0" err="1"/>
              <a:t>value</a:t>
            </a:r>
            <a:r>
              <a:rPr lang="cs-CZ" dirty="0"/>
              <a:t>, </a:t>
            </a:r>
            <a:r>
              <a:rPr lang="cs-CZ" dirty="0" err="1"/>
              <a:t>order</a:t>
            </a:r>
            <a:r>
              <a:rPr lang="cs-CZ" dirty="0"/>
              <a:t>)</a:t>
            </a:r>
          </a:p>
          <a:p>
            <a:pPr lvl="1"/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be</a:t>
            </a:r>
            <a:r>
              <a:rPr lang="cs-CZ" dirty="0"/>
              <a:t> </a:t>
            </a:r>
            <a:r>
              <a:rPr lang="cs-CZ" dirty="0" err="1"/>
              <a:t>created</a:t>
            </a:r>
            <a:r>
              <a:rPr lang="cs-CZ" dirty="0"/>
              <a:t> as </a:t>
            </a:r>
            <a:r>
              <a:rPr lang="cs-CZ" dirty="0" err="1"/>
              <a:t>chain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first</a:t>
            </a:r>
            <a:r>
              <a:rPr lang="cs-CZ" dirty="0"/>
              <a:t> </a:t>
            </a:r>
            <a:r>
              <a:rPr lang="cs-CZ" dirty="0" err="1"/>
              <a:t>order</a:t>
            </a:r>
            <a:r>
              <a:rPr lang="cs-CZ" dirty="0"/>
              <a:t> </a:t>
            </a:r>
            <a:r>
              <a:rPr lang="cs-CZ" dirty="0" err="1"/>
              <a:t>delays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46623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Information</a:t>
            </a:r>
            <a:r>
              <a:rPr lang="cs-CZ" dirty="0"/>
              <a:t> </a:t>
            </a:r>
            <a:r>
              <a:rPr lang="cs-CZ" dirty="0" err="1"/>
              <a:t>delay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Not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slow</a:t>
            </a:r>
            <a:r>
              <a:rPr lang="cs-CZ" dirty="0"/>
              <a:t> </a:t>
            </a:r>
            <a:r>
              <a:rPr lang="cs-CZ" dirty="0" err="1"/>
              <a:t>reaction</a:t>
            </a:r>
            <a:r>
              <a:rPr lang="cs-CZ" dirty="0"/>
              <a:t> but </a:t>
            </a:r>
            <a:r>
              <a:rPr lang="cs-CZ" dirty="0" err="1"/>
              <a:t>e.g</a:t>
            </a:r>
            <a:r>
              <a:rPr lang="cs-CZ" dirty="0"/>
              <a:t>. </a:t>
            </a:r>
            <a:r>
              <a:rPr lang="cs-CZ" dirty="0" err="1"/>
              <a:t>Gradual</a:t>
            </a:r>
            <a:r>
              <a:rPr lang="cs-CZ" dirty="0"/>
              <a:t> </a:t>
            </a:r>
            <a:r>
              <a:rPr lang="cs-CZ" dirty="0" err="1"/>
              <a:t>accomodation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SMOOTH (Input, </a:t>
            </a:r>
            <a:r>
              <a:rPr lang="cs-CZ" dirty="0" err="1"/>
              <a:t>delay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)</a:t>
            </a:r>
          </a:p>
          <a:p>
            <a:r>
              <a:rPr lang="cs-CZ" dirty="0"/>
              <a:t>SMOOTH N (Input, </a:t>
            </a:r>
            <a:r>
              <a:rPr lang="cs-CZ" dirty="0" err="1"/>
              <a:t>delay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, </a:t>
            </a:r>
            <a:r>
              <a:rPr lang="cs-CZ" dirty="0" err="1"/>
              <a:t>initial</a:t>
            </a:r>
            <a:r>
              <a:rPr lang="cs-CZ" dirty="0"/>
              <a:t> </a:t>
            </a:r>
            <a:r>
              <a:rPr lang="cs-CZ" dirty="0" err="1"/>
              <a:t>value</a:t>
            </a:r>
            <a:r>
              <a:rPr lang="cs-CZ" dirty="0"/>
              <a:t>, </a:t>
            </a:r>
            <a:r>
              <a:rPr lang="cs-CZ" dirty="0" err="1"/>
              <a:t>order</a:t>
            </a:r>
            <a:r>
              <a:rPr lang="cs-CZ" dirty="0"/>
              <a:t>)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717032"/>
            <a:ext cx="4332259" cy="25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5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Dealy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source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oscilation</a:t>
            </a:r>
            <a:endParaRPr lang="cs-CZ" dirty="0"/>
          </a:p>
        </p:txBody>
      </p:sp>
      <p:sp>
        <p:nvSpPr>
          <p:cNvPr id="6" name="Nadpis 1"/>
          <p:cNvSpPr txBox="1">
            <a:spLocks/>
          </p:cNvSpPr>
          <p:nvPr/>
        </p:nvSpPr>
        <p:spPr>
          <a:xfrm>
            <a:off x="457200" y="1123513"/>
            <a:ext cx="8229600" cy="566936"/>
          </a:xfrm>
          <a:prstGeom prst="rect">
            <a:avLst/>
          </a:prstGeom>
        </p:spPr>
        <p:txBody>
          <a:bodyPr vert="horz" anchor="ctr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cs-CZ" dirty="0"/>
          </a:p>
        </p:txBody>
      </p:sp>
      <p:pic>
        <p:nvPicPr>
          <p:cNvPr id="8" name="Obrázek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330464"/>
            <a:ext cx="4128891" cy="658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>
              <a:rot lat="0" lon="0" rev="16170000"/>
            </a:camera>
            <a:lightRig rig="threePt" dir="t"/>
          </a:scene3d>
        </p:spPr>
      </p:pic>
      <p:sp>
        <p:nvSpPr>
          <p:cNvPr id="9" name="TextovéPole 8"/>
          <p:cNvSpPr txBox="1"/>
          <p:nvPr/>
        </p:nvSpPr>
        <p:spPr>
          <a:xfrm>
            <a:off x="6271695" y="6271729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1" dirty="0" err="1"/>
              <a:t>Sterman</a:t>
            </a:r>
            <a:r>
              <a:rPr lang="cs-CZ" i="1" dirty="0"/>
              <a:t>, 2000, p. 667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13333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Stock</a:t>
            </a:r>
            <a:r>
              <a:rPr lang="cs-CZ" dirty="0"/>
              <a:t> </a:t>
            </a:r>
            <a:r>
              <a:rPr lang="cs-CZ" dirty="0" err="1"/>
              <a:t>variables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AU" dirty="0"/>
              <a:t>Stock variables are sources of delay and therefore also the oscillation and overshot of the limit.</a:t>
            </a:r>
          </a:p>
          <a:p>
            <a:pPr lvl="0"/>
            <a:r>
              <a:rPr lang="en-AU" dirty="0"/>
              <a:t>Stock (as delay) is connected with the inertia/memory of the system.</a:t>
            </a:r>
          </a:p>
          <a:p>
            <a:pPr lvl="0"/>
            <a:r>
              <a:rPr lang="en-AU" dirty="0"/>
              <a:t>Stock variables characterise the </a:t>
            </a:r>
            <a:r>
              <a:rPr lang="en-AU" dirty="0" err="1"/>
              <a:t>systém</a:t>
            </a:r>
            <a:r>
              <a:rPr lang="en-AU" dirty="0"/>
              <a:t> (e.g. wealth) – they influence the decision-making.</a:t>
            </a:r>
          </a:p>
          <a:p>
            <a:r>
              <a:rPr lang="en-AU" dirty="0"/>
              <a:t>Stock variables are sources of flows, they produce the mechanisms to reach the equilibrium.</a:t>
            </a:r>
          </a:p>
          <a:p>
            <a:r>
              <a:rPr lang="en-AU" i="1" dirty="0"/>
              <a:t>Good modelling starting point.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1422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Principle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Robustness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Principle of robustness states that the system should always perform as well as the circumstances allow, regardless of what the circumstances are.</a:t>
            </a:r>
            <a:endParaRPr lang="cs-CZ"/>
          </a:p>
          <a:p>
            <a:endParaRPr lang="en-AU" dirty="0"/>
          </a:p>
          <a:p>
            <a:pPr lvl="1"/>
            <a:r>
              <a:rPr lang="en-AU" dirty="0"/>
              <a:t>Behaviour under normal and extreme conditions</a:t>
            </a:r>
          </a:p>
          <a:p>
            <a:pPr lvl="1"/>
            <a:r>
              <a:rPr lang="en-AU" dirty="0"/>
              <a:t>Division by zero</a:t>
            </a:r>
          </a:p>
          <a:p>
            <a:pPr lvl="1"/>
            <a:r>
              <a:rPr lang="en-AU" dirty="0"/>
              <a:t>Negativity of variables that can‘t be less than zero</a:t>
            </a:r>
          </a:p>
          <a:p>
            <a:pPr lvl="1"/>
            <a:r>
              <a:rPr lang="en-AU" dirty="0"/>
              <a:t>Multiplication rather than addition to express the effect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7232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Zástupný obsah 7" descr="Obsah obrázku počítač, klipart, Výstupní zařízení, kreslené&#10;&#10;Popis byl vytvořen automaticky">
            <a:extLst>
              <a:ext uri="{FF2B5EF4-FFF2-40B4-BE49-F238E27FC236}">
                <a16:creationId xmlns:a16="http://schemas.microsoft.com/office/drawing/2014/main" id="{C0ABAB7E-EA15-9DF5-7460-07F79154EE4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725" y="2628900"/>
            <a:ext cx="2857500" cy="2438400"/>
          </a:xfrm>
        </p:spPr>
      </p:pic>
      <p:pic>
        <p:nvPicPr>
          <p:cNvPr id="4" name="Obráze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35" y="927208"/>
            <a:ext cx="9144000" cy="6678256"/>
          </a:xfrm>
          <a:prstGeom prst="rect">
            <a:avLst/>
          </a:prstGeom>
        </p:spPr>
      </p:pic>
      <p:sp>
        <p:nvSpPr>
          <p:cNvPr id="6" name="Nadpis 5">
            <a:extLst>
              <a:ext uri="{FF2B5EF4-FFF2-40B4-BE49-F238E27FC236}">
                <a16:creationId xmlns:a16="http://schemas.microsoft.com/office/drawing/2014/main" id="{F81CD053-8560-EB10-8FF4-2349E186C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8463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attention</a:t>
            </a:r>
            <a:r>
              <a:rPr lang="cs-CZ" dirty="0"/>
              <a:t>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2" algn="ctr"/>
            <a:endParaRPr lang="en-GB" sz="1600" noProof="0">
              <a:solidFill>
                <a:schemeClr val="bg1"/>
              </a:solidFill>
            </a:endParaRPr>
          </a:p>
          <a:p>
            <a:pPr lvl="1" algn="ctr"/>
            <a:endParaRPr lang="en-GB" sz="1600" noProof="0">
              <a:solidFill>
                <a:schemeClr val="bg1"/>
              </a:solidFill>
            </a:endParaRP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039324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1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1" id="{B0B25E39-7186-46C5-9D39-950CFB3AB267}" vid="{2449E244-AD5F-4BB9-8A5A-7BFBD4B00EA6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Motiv1</Template>
  <TotalTime>0</TotalTime>
  <Words>1186</Words>
  <Application>Microsoft Office PowerPoint</Application>
  <PresentationFormat>Předvádění na obrazovce (4:3)</PresentationFormat>
  <Paragraphs>214</Paragraphs>
  <Slides>30</Slides>
  <Notes>12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9" baseType="lpstr">
      <vt:lpstr>Arial</vt:lpstr>
      <vt:lpstr>Calibri</vt:lpstr>
      <vt:lpstr>Cambria Math</vt:lpstr>
      <vt:lpstr>Roboto</vt:lpstr>
      <vt:lpstr>Roboto Black</vt:lpstr>
      <vt:lpstr>Roboto Medium</vt:lpstr>
      <vt:lpstr>Wingdings</vt:lpstr>
      <vt:lpstr>Wingdings 2</vt:lpstr>
      <vt:lpstr>Motiv1</vt:lpstr>
      <vt:lpstr>Prezentace aplikace PowerPoint</vt:lpstr>
      <vt:lpstr>SD Software</vt:lpstr>
      <vt:lpstr>Stock and flow diagram</vt:lpstr>
      <vt:lpstr>System representation (I)</vt:lpstr>
      <vt:lpstr>Prezentace aplikace PowerPoint</vt:lpstr>
      <vt:lpstr>System – mathematical formulation</vt:lpstr>
      <vt:lpstr>Order of the system or of the loop</vt:lpstr>
      <vt:lpstr>Linear system</vt:lpstr>
      <vt:lpstr>System representation (II)</vt:lpstr>
      <vt:lpstr>Constant input – draw development of stock</vt:lpstr>
      <vt:lpstr>Pulse</vt:lpstr>
      <vt:lpstr>Series of pulses</vt:lpstr>
      <vt:lpstr>dt</vt:lpstr>
      <vt:lpstr>Brain test</vt:lpstr>
      <vt:lpstr>Exponential growth</vt:lpstr>
      <vt:lpstr>Exponential growth</vt:lpstr>
      <vt:lpstr>Exponential growth - example</vt:lpstr>
      <vt:lpstr>Prezentace aplikace PowerPoint</vt:lpstr>
      <vt:lpstr>Prezentace aplikace PowerPoint</vt:lpstr>
      <vt:lpstr>Prezentace aplikace PowerPoint</vt:lpstr>
      <vt:lpstr>Exponential decay</vt:lpstr>
      <vt:lpstr>Exponential decay</vt:lpstr>
      <vt:lpstr>Population model - capacity</vt:lpstr>
      <vt:lpstr>Material delay</vt:lpstr>
      <vt:lpstr>Information delay</vt:lpstr>
      <vt:lpstr>Dealy is the source of the oscilation</vt:lpstr>
      <vt:lpstr>Stock variables</vt:lpstr>
      <vt:lpstr>Principle of Robustness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Research and System Analysis</dc:title>
  <dc:creator>krejcii</dc:creator>
  <cp:lastModifiedBy>Horáková Tereza</cp:lastModifiedBy>
  <cp:revision>599</cp:revision>
  <dcterms:created xsi:type="dcterms:W3CDTF">2012-01-18T09:02:27Z</dcterms:created>
  <dcterms:modified xsi:type="dcterms:W3CDTF">2024-10-28T22:20:59Z</dcterms:modified>
</cp:coreProperties>
</file>