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9"/>
  </p:notesMasterIdLst>
  <p:sldIdLst>
    <p:sldId id="256" r:id="rId2"/>
    <p:sldId id="257" r:id="rId3"/>
    <p:sldId id="320" r:id="rId4"/>
    <p:sldId id="314" r:id="rId5"/>
    <p:sldId id="258" r:id="rId6"/>
    <p:sldId id="315" r:id="rId7"/>
    <p:sldId id="318" r:id="rId8"/>
    <p:sldId id="261" r:id="rId9"/>
    <p:sldId id="278" r:id="rId10"/>
    <p:sldId id="263" r:id="rId11"/>
    <p:sldId id="285" r:id="rId12"/>
    <p:sldId id="319" r:id="rId13"/>
    <p:sldId id="279" r:id="rId14"/>
    <p:sldId id="316" r:id="rId15"/>
    <p:sldId id="282" r:id="rId16"/>
    <p:sldId id="317" r:id="rId17"/>
    <p:sldId id="313" r:id="rId18"/>
  </p:sldIdLst>
  <p:sldSz cx="9144000" cy="6858000" type="screen4x3"/>
  <p:notesSz cx="7099300" cy="10234613"/>
  <p:defaultTextStyle>
    <a:defPPr>
      <a:defRPr lang="cs-CZ"/>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Bez stylu, mřížka tabulky">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15" autoAdjust="0"/>
    <p:restoredTop sz="71308" autoAdjust="0"/>
  </p:normalViewPr>
  <p:slideViewPr>
    <p:cSldViewPr>
      <p:cViewPr varScale="1">
        <p:scale>
          <a:sx n="79" d="100"/>
          <a:sy n="79" d="100"/>
        </p:scale>
        <p:origin x="2142"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2" y="0"/>
            <a:ext cx="3076363" cy="511731"/>
          </a:xfrm>
          <a:prstGeom prst="rect">
            <a:avLst/>
          </a:prstGeom>
        </p:spPr>
        <p:txBody>
          <a:bodyPr vert="horz" lIns="99033" tIns="49518" rIns="99033" bIns="49518" rtlCol="0"/>
          <a:lstStyle>
            <a:lvl1pPr algn="l">
              <a:defRPr sz="1300"/>
            </a:lvl1pPr>
          </a:lstStyle>
          <a:p>
            <a:endParaRPr lang="en-GB"/>
          </a:p>
        </p:txBody>
      </p:sp>
      <p:sp>
        <p:nvSpPr>
          <p:cNvPr id="3" name="Zástupný symbol pro datum 2"/>
          <p:cNvSpPr>
            <a:spLocks noGrp="1"/>
          </p:cNvSpPr>
          <p:nvPr>
            <p:ph type="dt" idx="1"/>
          </p:nvPr>
        </p:nvSpPr>
        <p:spPr>
          <a:xfrm>
            <a:off x="4021296" y="0"/>
            <a:ext cx="3076363" cy="511731"/>
          </a:xfrm>
          <a:prstGeom prst="rect">
            <a:avLst/>
          </a:prstGeom>
        </p:spPr>
        <p:txBody>
          <a:bodyPr vert="horz" lIns="99033" tIns="49518" rIns="99033" bIns="49518" rtlCol="0"/>
          <a:lstStyle>
            <a:lvl1pPr algn="r">
              <a:defRPr sz="1300"/>
            </a:lvl1pPr>
          </a:lstStyle>
          <a:p>
            <a:fld id="{3DFDF4BB-19E4-4249-AD4F-E9648CF8E63C}" type="datetimeFigureOut">
              <a:rPr lang="en-GB" smtClean="0"/>
              <a:pPr/>
              <a:t>23/02/2026</a:t>
            </a:fld>
            <a:endParaRPr lang="en-GB"/>
          </a:p>
        </p:txBody>
      </p:sp>
      <p:sp>
        <p:nvSpPr>
          <p:cNvPr id="4" name="Zástupný symbol pro obrázek snímku 3"/>
          <p:cNvSpPr>
            <a:spLocks noGrp="1" noRot="1" noChangeAspect="1"/>
          </p:cNvSpPr>
          <p:nvPr>
            <p:ph type="sldImg" idx="2"/>
          </p:nvPr>
        </p:nvSpPr>
        <p:spPr>
          <a:xfrm>
            <a:off x="992188" y="769938"/>
            <a:ext cx="5114925" cy="3835400"/>
          </a:xfrm>
          <a:prstGeom prst="rect">
            <a:avLst/>
          </a:prstGeom>
          <a:noFill/>
          <a:ln w="12700">
            <a:solidFill>
              <a:prstClr val="black"/>
            </a:solidFill>
          </a:ln>
        </p:spPr>
        <p:txBody>
          <a:bodyPr vert="horz" lIns="99033" tIns="49518" rIns="99033" bIns="49518" rtlCol="0" anchor="ctr"/>
          <a:lstStyle/>
          <a:p>
            <a:endParaRPr lang="en-GB"/>
          </a:p>
        </p:txBody>
      </p:sp>
      <p:sp>
        <p:nvSpPr>
          <p:cNvPr id="5" name="Zástupný symbol pro poznámky 4"/>
          <p:cNvSpPr>
            <a:spLocks noGrp="1"/>
          </p:cNvSpPr>
          <p:nvPr>
            <p:ph type="body" sz="quarter" idx="3"/>
          </p:nvPr>
        </p:nvSpPr>
        <p:spPr>
          <a:xfrm>
            <a:off x="709931" y="4861443"/>
            <a:ext cx="5679440" cy="4605576"/>
          </a:xfrm>
          <a:prstGeom prst="rect">
            <a:avLst/>
          </a:prstGeom>
        </p:spPr>
        <p:txBody>
          <a:bodyPr vert="horz" lIns="99033" tIns="49518" rIns="99033" bIns="49518" rtlCol="0">
            <a:normAutofit/>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2" y="9721108"/>
            <a:ext cx="3076363" cy="511731"/>
          </a:xfrm>
          <a:prstGeom prst="rect">
            <a:avLst/>
          </a:prstGeom>
        </p:spPr>
        <p:txBody>
          <a:bodyPr vert="horz" lIns="99033" tIns="49518" rIns="99033" bIns="49518" rtlCol="0" anchor="b"/>
          <a:lstStyle>
            <a:lvl1pPr algn="l">
              <a:defRPr sz="1300"/>
            </a:lvl1pPr>
          </a:lstStyle>
          <a:p>
            <a:endParaRPr lang="en-GB"/>
          </a:p>
        </p:txBody>
      </p:sp>
      <p:sp>
        <p:nvSpPr>
          <p:cNvPr id="7" name="Zástupný symbol pro číslo snímku 6"/>
          <p:cNvSpPr>
            <a:spLocks noGrp="1"/>
          </p:cNvSpPr>
          <p:nvPr>
            <p:ph type="sldNum" sz="quarter" idx="5"/>
          </p:nvPr>
        </p:nvSpPr>
        <p:spPr>
          <a:xfrm>
            <a:off x="4021296" y="9721108"/>
            <a:ext cx="3076363" cy="511731"/>
          </a:xfrm>
          <a:prstGeom prst="rect">
            <a:avLst/>
          </a:prstGeom>
        </p:spPr>
        <p:txBody>
          <a:bodyPr vert="horz" lIns="99033" tIns="49518" rIns="99033" bIns="49518" rtlCol="0" anchor="b"/>
          <a:lstStyle>
            <a:lvl1pPr algn="r">
              <a:defRPr sz="1300"/>
            </a:lvl1pPr>
          </a:lstStyle>
          <a:p>
            <a:fld id="{2F931F19-2CCB-4CD0-A569-BC4C390A5EE6}"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fontScale="70000" lnSpcReduction="20000"/>
          </a:bodyPr>
          <a:lstStyle/>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fontScale="70000" lnSpcReduction="20000"/>
          </a:bodyPr>
          <a:lstStyle/>
          <a:p>
            <a:r>
              <a:rPr lang="en-US" b="1" dirty="0"/>
              <a:t>1) Impact assessment of investments and projects</a:t>
            </a:r>
          </a:p>
          <a:p>
            <a:r>
              <a:rPr lang="en-US" b="1" dirty="0"/>
              <a:t>Question:</a:t>
            </a:r>
            <a:r>
              <a:rPr lang="en-US" dirty="0"/>
              <a:t> What happens to the economy when a new investment occurs (factory, highway, stadium)?</a:t>
            </a:r>
          </a:p>
          <a:p>
            <a:r>
              <a:rPr lang="en-US" dirty="0"/>
              <a:t>direct effect: the sector receiving the spending grows (e.g., construction),</a:t>
            </a:r>
          </a:p>
          <a:p>
            <a:r>
              <a:rPr lang="en-US" dirty="0"/>
              <a:t>indirect effect: suppliers (materials, energy, transport),</a:t>
            </a:r>
          </a:p>
          <a:p>
            <a:r>
              <a:rPr lang="en-US" dirty="0"/>
              <a:t>sometimes induced: employees spend wages (Type II).</a:t>
            </a:r>
          </a:p>
          <a:p>
            <a:r>
              <a:rPr lang="en-US" b="1" dirty="0"/>
              <a:t>Typical outputs:</a:t>
            </a:r>
            <a:endParaRPr lang="en-US" dirty="0"/>
          </a:p>
          <a:p>
            <a:r>
              <a:rPr lang="en-US" dirty="0"/>
              <a:t>production/output effects,</a:t>
            </a:r>
          </a:p>
          <a:p>
            <a:r>
              <a:rPr lang="en-US" dirty="0"/>
              <a:t>value added (GDP contribution),</a:t>
            </a:r>
          </a:p>
          <a:p>
            <a:r>
              <a:rPr lang="en-US" dirty="0"/>
              <a:t>employment effects,</a:t>
            </a:r>
          </a:p>
          <a:p>
            <a:r>
              <a:rPr lang="en-US" dirty="0"/>
              <a:t>public revenues (taxes), if relevant coefficients are available.</a:t>
            </a:r>
          </a:p>
          <a:p>
            <a:br>
              <a:rPr lang="en-US" dirty="0"/>
            </a:br>
            <a:endParaRPr lang="en-US" dirty="0"/>
          </a:p>
          <a:p>
            <a:r>
              <a:rPr lang="en-US" b="1" dirty="0"/>
              <a:t>2) Regional development and industrial policy</a:t>
            </a:r>
          </a:p>
          <a:p>
            <a:r>
              <a:rPr lang="en-US" b="1" dirty="0"/>
              <a:t>Question:</a:t>
            </a:r>
            <a:r>
              <a:rPr lang="en-US" dirty="0"/>
              <a:t> Which industries have the strongest multiplier effects in a region?</a:t>
            </a:r>
          </a:p>
          <a:p>
            <a:r>
              <a:rPr lang="en-US" dirty="0"/>
              <a:t>Helps allocate support (cluster policy, development programs).</a:t>
            </a:r>
          </a:p>
          <a:p>
            <a:r>
              <a:rPr lang="en-US" dirty="0"/>
              <a:t>Regional I–O tables are often used to evaluate subsidies and investment incentives.</a:t>
            </a:r>
          </a:p>
          <a:p>
            <a:br>
              <a:rPr lang="en-US" dirty="0"/>
            </a:br>
            <a:endParaRPr lang="en-US" dirty="0"/>
          </a:p>
          <a:p>
            <a:r>
              <a:rPr lang="en-US" b="1" dirty="0"/>
              <a:t>3) Supply chains, vulnerabilities, and shocks</a:t>
            </a:r>
          </a:p>
          <a:p>
            <a:r>
              <a:rPr lang="en-US" b="1" dirty="0"/>
              <a:t>Question:</a:t>
            </a:r>
            <a:r>
              <a:rPr lang="en-US" dirty="0"/>
              <a:t> What happens if a key input is disrupted (energy, chips, transport capacity)?</a:t>
            </a:r>
          </a:p>
          <a:p>
            <a:r>
              <a:rPr lang="en-US" dirty="0"/>
              <a:t>I–O can reveal which industries are most dependent on specific inputs.</a:t>
            </a:r>
          </a:p>
          <a:p>
            <a:r>
              <a:rPr lang="en-US" dirty="0"/>
              <a:t>Used in crisis contexts (energy crises, pandemics) for vulnerability mapping.</a:t>
            </a:r>
          </a:p>
          <a:p>
            <a:r>
              <a:rPr lang="en-US" dirty="0"/>
              <a:t>Note: the basic Leontief model is demand-driven; for supply disruptions, analysts often use adapted methods (supply-driven or hybrid models), but I–O data remain foundational.</a:t>
            </a:r>
          </a:p>
          <a:p>
            <a:br>
              <a:rPr lang="en-US" dirty="0"/>
            </a:br>
            <a:endParaRPr lang="en-US" dirty="0"/>
          </a:p>
          <a:p>
            <a:r>
              <a:rPr lang="en-US" b="1" dirty="0"/>
              <a:t>4) Environmental applications (EIO / EEIO)</a:t>
            </a:r>
          </a:p>
          <a:p>
            <a:r>
              <a:rPr lang="en-US" dirty="0"/>
              <a:t>This is a major practical use:</a:t>
            </a:r>
          </a:p>
          <a:p>
            <a:r>
              <a:rPr lang="en-US" dirty="0"/>
              <a:t>add </a:t>
            </a:r>
            <a:r>
              <a:rPr lang="en-US" b="1" dirty="0"/>
              <a:t>emission coefficients</a:t>
            </a:r>
            <a:r>
              <a:rPr lang="en-US" dirty="0"/>
              <a:t> (e.g., CO₂ per unit of industry output),</a:t>
            </a:r>
          </a:p>
          <a:p>
            <a:r>
              <a:rPr lang="en-US" dirty="0"/>
              <a:t>combine them with the Leontief inverse to compute the </a:t>
            </a:r>
            <a:r>
              <a:rPr lang="en-US" b="1" dirty="0"/>
              <a:t>carbon footprint of final demand</a:t>
            </a:r>
            <a:r>
              <a:rPr lang="en-US" dirty="0"/>
              <a:t>.</a:t>
            </a:r>
          </a:p>
          <a:p>
            <a:r>
              <a:rPr lang="en-US" b="1" dirty="0"/>
              <a:t>Typical questions:</a:t>
            </a:r>
            <a:endParaRPr lang="en-US" dirty="0"/>
          </a:p>
          <a:p>
            <a:r>
              <a:rPr lang="en-US" dirty="0"/>
              <a:t>What is the carbon footprint of household consumption?</a:t>
            </a:r>
          </a:p>
          <a:p>
            <a:r>
              <a:rPr lang="en-US" dirty="0"/>
              <a:t>How many emissions are “embodied” in imports?</a:t>
            </a:r>
          </a:p>
          <a:p>
            <a:r>
              <a:rPr lang="en-US" dirty="0"/>
              <a:t>Which sectors transmit the largest environmental impacts through the supply chain?</a:t>
            </a:r>
          </a:p>
          <a:p>
            <a:br>
              <a:rPr lang="en-US" dirty="0"/>
            </a:br>
            <a:endParaRPr lang="en-US" dirty="0"/>
          </a:p>
          <a:p>
            <a:r>
              <a:rPr lang="en-US" b="1" dirty="0"/>
              <a:t>5) Tourism and events (very common in practice)</a:t>
            </a:r>
          </a:p>
          <a:p>
            <a:r>
              <a:rPr lang="en-US" b="1" dirty="0"/>
              <a:t>Question:</a:t>
            </a:r>
            <a:r>
              <a:rPr lang="en-US" dirty="0"/>
              <a:t> What is the economic impact of tourism spending or a major event?</a:t>
            </a:r>
          </a:p>
          <a:p>
            <a:r>
              <a:rPr lang="en-US" dirty="0"/>
              <a:t>Tourist expenditure is mapped into final demand (accommodation, restaurants, services), and I–O spreads the effect to suppliers (food, energy, transport).</a:t>
            </a:r>
          </a:p>
          <a:p>
            <a:br>
              <a:rPr lang="en-US" dirty="0"/>
            </a:br>
            <a:endParaRPr lang="en-US" dirty="0"/>
          </a:p>
          <a:p>
            <a:r>
              <a:rPr lang="en-US" b="1" dirty="0"/>
              <a:t>6) Prices, taxes, and margins (extended models)</a:t>
            </a:r>
          </a:p>
          <a:p>
            <a:r>
              <a:rPr lang="en-US" dirty="0"/>
              <a:t>The basic I–O model does not model prices, but </a:t>
            </a:r>
            <a:r>
              <a:rPr lang="en-US" b="1" dirty="0"/>
              <a:t>price I–O models</a:t>
            </a:r>
            <a:r>
              <a:rPr lang="en-US" dirty="0"/>
              <a:t> exist and can be used to simulate:</a:t>
            </a:r>
          </a:p>
          <a:p>
            <a:endParaRPr lang="en-GB" noProof="0" dirty="0"/>
          </a:p>
          <a:p>
            <a:endParaRPr lang="cs-CZ" dirty="0"/>
          </a:p>
        </p:txBody>
      </p:sp>
      <p:sp>
        <p:nvSpPr>
          <p:cNvPr id="4" name="Zástupný symbol pro číslo snímku 3"/>
          <p:cNvSpPr>
            <a:spLocks noGrp="1"/>
          </p:cNvSpPr>
          <p:nvPr>
            <p:ph type="sldNum" sz="quarter" idx="5"/>
          </p:nvPr>
        </p:nvSpPr>
        <p:spPr/>
        <p:txBody>
          <a:bodyPr/>
          <a:lstStyle/>
          <a:p>
            <a:fld id="{2F931F19-2CCB-4CD0-A569-BC4C390A5EE6}" type="slidenum">
              <a:rPr lang="en-GB" smtClean="0"/>
              <a:pPr/>
              <a:t>3</a:t>
            </a:fld>
            <a:endParaRPr lang="en-GB"/>
          </a:p>
        </p:txBody>
      </p:sp>
    </p:spTree>
    <p:extLst>
      <p:ext uri="{BB962C8B-B14F-4D97-AF65-F5344CB8AC3E}">
        <p14:creationId xmlns:p14="http://schemas.microsoft.com/office/powerpoint/2010/main" val="1468778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F00C-B24E-A7B4-C6F1-2F9D82D5AA9D}"/>
            </a:ext>
          </a:extLst>
        </p:cNvPr>
        <p:cNvGrpSpPr/>
        <p:nvPr/>
      </p:nvGrpSpPr>
      <p:grpSpPr>
        <a:xfrm>
          <a:off x="0" y="0"/>
          <a:ext cx="0" cy="0"/>
          <a:chOff x="0" y="0"/>
          <a:chExt cx="0" cy="0"/>
        </a:xfrm>
      </p:grpSpPr>
      <p:sp>
        <p:nvSpPr>
          <p:cNvPr id="2" name="Zástupný symbol pro obrázek snímku 1">
            <a:extLst>
              <a:ext uri="{FF2B5EF4-FFF2-40B4-BE49-F238E27FC236}">
                <a16:creationId xmlns:a16="http://schemas.microsoft.com/office/drawing/2014/main" id="{54A25322-FC04-365F-73DE-37A9E310C3F0}"/>
              </a:ext>
            </a:extLst>
          </p:cNvPr>
          <p:cNvSpPr>
            <a:spLocks noGrp="1" noRot="1" noChangeAspect="1"/>
          </p:cNvSpPr>
          <p:nvPr>
            <p:ph type="sldImg"/>
          </p:nvPr>
        </p:nvSpPr>
        <p:spPr/>
      </p:sp>
      <p:sp>
        <p:nvSpPr>
          <p:cNvPr id="3" name="Zástupný symbol pro poznámky 2">
            <a:extLst>
              <a:ext uri="{FF2B5EF4-FFF2-40B4-BE49-F238E27FC236}">
                <a16:creationId xmlns:a16="http://schemas.microsoft.com/office/drawing/2014/main" id="{F9B7F55D-30A9-3343-3C7F-57770186EF54}"/>
              </a:ext>
            </a:extLst>
          </p:cNvPr>
          <p:cNvSpPr>
            <a:spLocks noGrp="1"/>
          </p:cNvSpPr>
          <p:nvPr>
            <p:ph type="body" idx="1"/>
          </p:nvPr>
        </p:nvSpPr>
        <p:spPr/>
        <p:txBody>
          <a:bodyPr>
            <a:normAutofit/>
          </a:bodyPr>
          <a:lstStyle/>
          <a:p>
            <a:r>
              <a:rPr lang="cs-CZ" dirty="0"/>
              <a:t>W. </a:t>
            </a:r>
            <a:r>
              <a:rPr lang="cs-CZ" dirty="0" err="1"/>
              <a:t>Leontief</a:t>
            </a:r>
            <a:r>
              <a:rPr lang="cs-CZ" dirty="0"/>
              <a:t> –</a:t>
            </a:r>
            <a:r>
              <a:rPr lang="cs-CZ" baseline="0" dirty="0"/>
              <a:t> master </a:t>
            </a:r>
            <a:r>
              <a:rPr lang="cs-CZ" baseline="0" dirty="0" err="1"/>
              <a:t>degree</a:t>
            </a:r>
            <a:r>
              <a:rPr lang="cs-CZ" baseline="0" dirty="0"/>
              <a:t> in </a:t>
            </a:r>
            <a:r>
              <a:rPr lang="cs-CZ" baseline="0" dirty="0" err="1"/>
              <a:t>economics</a:t>
            </a:r>
            <a:r>
              <a:rPr lang="cs-CZ" baseline="0" dirty="0"/>
              <a:t> in </a:t>
            </a:r>
            <a:r>
              <a:rPr lang="cs-CZ" baseline="0" dirty="0" err="1"/>
              <a:t>age</a:t>
            </a:r>
            <a:r>
              <a:rPr lang="cs-CZ" baseline="0" dirty="0"/>
              <a:t> </a:t>
            </a:r>
            <a:r>
              <a:rPr lang="cs-CZ" baseline="0" dirty="0" err="1"/>
              <a:t>of</a:t>
            </a:r>
            <a:r>
              <a:rPr lang="cs-CZ" baseline="0" dirty="0"/>
              <a:t> 19</a:t>
            </a:r>
          </a:p>
          <a:p>
            <a:r>
              <a:rPr lang="cs-CZ" baseline="0" dirty="0"/>
              <a:t>F. </a:t>
            </a:r>
            <a:r>
              <a:rPr lang="cs-CZ" baseline="0" dirty="0" err="1"/>
              <a:t>Quesnay</a:t>
            </a:r>
            <a:r>
              <a:rPr lang="cs-CZ" baseline="0" dirty="0"/>
              <a:t> – </a:t>
            </a:r>
            <a:r>
              <a:rPr lang="cs-CZ" baseline="0" dirty="0" err="1"/>
              <a:t>French</a:t>
            </a:r>
            <a:r>
              <a:rPr lang="cs-CZ" baseline="0" dirty="0"/>
              <a:t> </a:t>
            </a:r>
            <a:r>
              <a:rPr lang="cs-CZ" baseline="0" dirty="0" err="1"/>
              <a:t>economist</a:t>
            </a:r>
            <a:r>
              <a:rPr lang="cs-CZ" baseline="0" dirty="0"/>
              <a:t> </a:t>
            </a:r>
            <a:r>
              <a:rPr lang="cs-CZ" baseline="0" dirty="0" err="1"/>
              <a:t>of</a:t>
            </a:r>
            <a:r>
              <a:rPr lang="cs-CZ" baseline="0" dirty="0"/>
              <a:t> </a:t>
            </a:r>
            <a:r>
              <a:rPr lang="cs-CZ" baseline="0" dirty="0" err="1"/>
              <a:t>the</a:t>
            </a:r>
            <a:r>
              <a:rPr lang="cs-CZ" baseline="0" dirty="0"/>
              <a:t> </a:t>
            </a:r>
            <a:r>
              <a:rPr lang="cs-CZ" baseline="0" dirty="0" err="1"/>
              <a:t>Physiocratic</a:t>
            </a:r>
            <a:r>
              <a:rPr lang="cs-CZ" baseline="0" dirty="0"/>
              <a:t> </a:t>
            </a:r>
            <a:r>
              <a:rPr lang="cs-CZ" baseline="0" dirty="0" err="1"/>
              <a:t>school</a:t>
            </a:r>
            <a:endParaRPr lang="cs-CZ" baseline="0" dirty="0"/>
          </a:p>
          <a:p>
            <a:r>
              <a:rPr lang="cs-CZ" baseline="0" dirty="0" err="1"/>
              <a:t>Physiocratic</a:t>
            </a:r>
            <a:r>
              <a:rPr lang="cs-CZ" baseline="0" dirty="0"/>
              <a:t> </a:t>
            </a:r>
            <a:r>
              <a:rPr lang="cs-CZ" baseline="0" dirty="0" err="1"/>
              <a:t>school</a:t>
            </a:r>
            <a:r>
              <a:rPr lang="cs-CZ" baseline="0" dirty="0"/>
              <a:t>: </a:t>
            </a:r>
            <a:r>
              <a:rPr lang="en-US" dirty="0"/>
              <a:t>believed that the wealth of nations was derived solely from the value of "land</a:t>
            </a:r>
            <a:r>
              <a:rPr lang="cs-CZ" dirty="0"/>
              <a:t> </a:t>
            </a:r>
            <a:r>
              <a:rPr lang="cs-CZ" dirty="0" err="1"/>
              <a:t>agriculture</a:t>
            </a:r>
            <a:r>
              <a:rPr lang="en-US" dirty="0"/>
              <a:t>" or "land development."</a:t>
            </a:r>
            <a:endParaRPr lang="cs-CZ" baseline="0" dirty="0"/>
          </a:p>
          <a:p>
            <a:r>
              <a:rPr lang="cs-CZ" baseline="0" dirty="0" err="1"/>
              <a:t>Originaly</a:t>
            </a:r>
            <a:r>
              <a:rPr lang="cs-CZ" baseline="0" dirty="0"/>
              <a:t> </a:t>
            </a:r>
            <a:r>
              <a:rPr lang="cs-CZ" baseline="0" dirty="0" err="1"/>
              <a:t>doctor</a:t>
            </a:r>
            <a:r>
              <a:rPr lang="cs-CZ" baseline="0" dirty="0"/>
              <a:t> </a:t>
            </a:r>
            <a:r>
              <a:rPr lang="cs-CZ" baseline="0" dirty="0" err="1"/>
              <a:t>of</a:t>
            </a:r>
            <a:r>
              <a:rPr lang="cs-CZ" baseline="0" dirty="0"/>
              <a:t> </a:t>
            </a:r>
            <a:r>
              <a:rPr lang="cs-CZ" baseline="0" dirty="0" err="1"/>
              <a:t>medicine</a:t>
            </a:r>
            <a:r>
              <a:rPr lang="cs-CZ" baseline="0" dirty="0"/>
              <a:t> (</a:t>
            </a:r>
            <a:r>
              <a:rPr lang="cs-CZ" baseline="0" dirty="0" err="1"/>
              <a:t>surgeon</a:t>
            </a:r>
            <a:r>
              <a:rPr lang="cs-CZ"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noProof="0" dirty="0"/>
              <a:t>Tableau </a:t>
            </a:r>
            <a:r>
              <a:rPr lang="en-GB" baseline="0" noProof="0" dirty="0" err="1"/>
              <a:t>Economique</a:t>
            </a:r>
            <a:r>
              <a:rPr lang="en-GB" baseline="0" noProof="0" dirty="0"/>
              <a:t> 1759</a:t>
            </a:r>
            <a:endParaRPr lang="en-GB" noProof="0" dirty="0"/>
          </a:p>
        </p:txBody>
      </p:sp>
      <p:sp>
        <p:nvSpPr>
          <p:cNvPr id="4" name="Zástupný symbol pro číslo snímku 3">
            <a:extLst>
              <a:ext uri="{FF2B5EF4-FFF2-40B4-BE49-F238E27FC236}">
                <a16:creationId xmlns:a16="http://schemas.microsoft.com/office/drawing/2014/main" id="{A72564C1-A889-F03C-9DED-A0E862F6AB08}"/>
              </a:ext>
            </a:extLst>
          </p:cNvPr>
          <p:cNvSpPr>
            <a:spLocks noGrp="1"/>
          </p:cNvSpPr>
          <p:nvPr>
            <p:ph type="sldNum" sz="quarter" idx="10"/>
          </p:nvPr>
        </p:nvSpPr>
        <p:spPr/>
        <p:txBody>
          <a:bodyPr/>
          <a:lstStyle/>
          <a:p>
            <a:fld id="{2F931F19-2CCB-4CD0-A569-BC4C390A5EE6}" type="slidenum">
              <a:rPr lang="en-GB" smtClean="0"/>
              <a:pPr/>
              <a:t>4</a:t>
            </a:fld>
            <a:endParaRPr lang="en-GB"/>
          </a:p>
        </p:txBody>
      </p:sp>
    </p:spTree>
    <p:extLst>
      <p:ext uri="{BB962C8B-B14F-4D97-AF65-F5344CB8AC3E}">
        <p14:creationId xmlns:p14="http://schemas.microsoft.com/office/powerpoint/2010/main" val="1229856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p:spPr>
        <p:txBody>
          <a:bodyPr/>
          <a:lstStyle/>
          <a:p>
            <a:pPr marL="330159" indent="-330159">
              <a:buFontTx/>
              <a:buNone/>
            </a:pPr>
            <a:r>
              <a:rPr lang="cs-CZ" sz="2200" dirty="0" err="1">
                <a:solidFill>
                  <a:srgbClr val="FF0000"/>
                </a:solidFill>
                <a:latin typeface="Arial" charset="0"/>
              </a:rPr>
              <a:t>Final</a:t>
            </a:r>
            <a:r>
              <a:rPr lang="cs-CZ" sz="2200" dirty="0">
                <a:solidFill>
                  <a:srgbClr val="FF0000"/>
                </a:solidFill>
                <a:latin typeface="Arial" charset="0"/>
              </a:rPr>
              <a:t> </a:t>
            </a:r>
            <a:r>
              <a:rPr lang="cs-CZ" sz="2200" dirty="0" err="1">
                <a:solidFill>
                  <a:srgbClr val="FF0000"/>
                </a:solidFill>
                <a:latin typeface="Arial" charset="0"/>
              </a:rPr>
              <a:t>uses</a:t>
            </a:r>
            <a:r>
              <a:rPr lang="cs-CZ" sz="2200" dirty="0">
                <a:solidFill>
                  <a:srgbClr val="FF0000"/>
                </a:solidFill>
                <a:latin typeface="Arial" charset="0"/>
              </a:rPr>
              <a:t>: </a:t>
            </a:r>
          </a:p>
          <a:p>
            <a:pPr marL="330159" indent="-330159">
              <a:buFontTx/>
              <a:buNone/>
            </a:pPr>
            <a:r>
              <a:rPr lang="cs-CZ" sz="2200" dirty="0">
                <a:solidFill>
                  <a:srgbClr val="FF0000"/>
                </a:solidFill>
                <a:latin typeface="Arial" charset="0"/>
              </a:rPr>
              <a:t>export, GFCF, </a:t>
            </a:r>
            <a:r>
              <a:rPr lang="cs-CZ" sz="2200" dirty="0" err="1">
                <a:solidFill>
                  <a:srgbClr val="FF0000"/>
                </a:solidFill>
                <a:latin typeface="Arial" charset="0"/>
              </a:rPr>
              <a:t>final</a:t>
            </a:r>
            <a:r>
              <a:rPr lang="cs-CZ" sz="2200" dirty="0">
                <a:solidFill>
                  <a:srgbClr val="FF0000"/>
                </a:solidFill>
                <a:latin typeface="Arial" charset="0"/>
              </a:rPr>
              <a:t> </a:t>
            </a:r>
            <a:r>
              <a:rPr lang="cs-CZ" sz="2200" dirty="0" err="1">
                <a:solidFill>
                  <a:srgbClr val="FF0000"/>
                </a:solidFill>
                <a:latin typeface="Arial" charset="0"/>
              </a:rPr>
              <a:t>consumption</a:t>
            </a:r>
            <a:r>
              <a:rPr lang="cs-CZ" sz="2200" dirty="0">
                <a:solidFill>
                  <a:srgbClr val="FF0000"/>
                </a:solidFill>
                <a:latin typeface="Arial" charset="0"/>
              </a:rPr>
              <a:t> </a:t>
            </a:r>
            <a:r>
              <a:rPr lang="cs-CZ" sz="2200" dirty="0" err="1">
                <a:solidFill>
                  <a:srgbClr val="FF0000"/>
                </a:solidFill>
                <a:latin typeface="Arial" charset="0"/>
              </a:rPr>
              <a:t>expenditures</a:t>
            </a:r>
            <a:endParaRPr lang="cs-CZ" sz="2200" dirty="0">
              <a:solidFill>
                <a:srgbClr val="FF0000"/>
              </a:solidFill>
              <a:latin typeface="Arial" charset="0"/>
            </a:endParaRPr>
          </a:p>
          <a:p>
            <a:pPr marL="330159" indent="-330159">
              <a:buFontTx/>
              <a:buNone/>
            </a:pPr>
            <a:endParaRPr lang="cs-CZ" sz="2200" dirty="0">
              <a:solidFill>
                <a:srgbClr val="FF0000"/>
              </a:solidFill>
              <a:latin typeface="Arial" charset="0"/>
            </a:endParaRPr>
          </a:p>
          <a:p>
            <a:pPr marL="330159" indent="-330159">
              <a:buFontTx/>
              <a:buNone/>
            </a:pPr>
            <a:r>
              <a:rPr lang="cs-CZ" sz="2200" dirty="0" err="1">
                <a:solidFill>
                  <a:srgbClr val="FF0000"/>
                </a:solidFill>
                <a:latin typeface="Arial" charset="0"/>
              </a:rPr>
              <a:t>Output</a:t>
            </a:r>
            <a:r>
              <a:rPr lang="cs-CZ" sz="2200" dirty="0">
                <a:solidFill>
                  <a:srgbClr val="FF0000"/>
                </a:solidFill>
                <a:latin typeface="Arial" charset="0"/>
              </a:rPr>
              <a:t> </a:t>
            </a:r>
            <a:r>
              <a:rPr lang="cs-CZ" sz="2200" dirty="0" err="1">
                <a:solidFill>
                  <a:srgbClr val="FF0000"/>
                </a:solidFill>
                <a:latin typeface="Arial" charset="0"/>
              </a:rPr>
              <a:t>vs</a:t>
            </a:r>
            <a:r>
              <a:rPr lang="cs-CZ" sz="2200" dirty="0">
                <a:solidFill>
                  <a:srgbClr val="FF0000"/>
                </a:solidFill>
                <a:latin typeface="Arial" charset="0"/>
              </a:rPr>
              <a:t> </a:t>
            </a:r>
            <a:r>
              <a:rPr lang="cs-CZ" sz="2200" dirty="0" err="1">
                <a:solidFill>
                  <a:srgbClr val="FF0000"/>
                </a:solidFill>
                <a:latin typeface="Arial" charset="0"/>
              </a:rPr>
              <a:t>outputs</a:t>
            </a:r>
            <a:endParaRPr lang="cs-CZ" sz="2200" dirty="0">
              <a:solidFill>
                <a:srgbClr val="FF0000"/>
              </a:solidFill>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5"/>
          </p:nvPr>
        </p:nvSpPr>
        <p:spPr/>
        <p:txBody>
          <a:bodyPr/>
          <a:lstStyle/>
          <a:p>
            <a:fld id="{2F931F19-2CCB-4CD0-A569-BC4C390A5EE6}" type="slidenum">
              <a:rPr lang="en-GB" smtClean="0"/>
              <a:pPr/>
              <a:t>11</a:t>
            </a:fld>
            <a:endParaRPr lang="en-GB"/>
          </a:p>
        </p:txBody>
      </p:sp>
    </p:spTree>
    <p:extLst>
      <p:ext uri="{BB962C8B-B14F-4D97-AF65-F5344CB8AC3E}">
        <p14:creationId xmlns:p14="http://schemas.microsoft.com/office/powerpoint/2010/main" val="2079279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Slovník MS EXCEL </a:t>
            </a:r>
            <a:r>
              <a:rPr lang="en-GB" dirty="0"/>
              <a:t>http://o-excelu.blogspot.com/p/cesko-anglicky-slovnik-funkci-excelu.html</a:t>
            </a:r>
            <a:endParaRPr lang="cs-CZ" dirty="0"/>
          </a:p>
          <a:p>
            <a:r>
              <a:rPr lang="en-GB" dirty="0">
                <a:solidFill>
                  <a:srgbClr val="00B050"/>
                </a:solidFill>
              </a:rPr>
              <a:t>MS EXCEL:</a:t>
            </a:r>
          </a:p>
          <a:p>
            <a:pPr>
              <a:tabLst>
                <a:tab pos="2057400" algn="l"/>
              </a:tabLst>
            </a:pPr>
            <a:r>
              <a:rPr lang="en-GB" dirty="0">
                <a:solidFill>
                  <a:srgbClr val="00B050"/>
                </a:solidFill>
              </a:rPr>
              <a:t>Matrix multiplication	… =MMULT()</a:t>
            </a:r>
          </a:p>
          <a:p>
            <a:pPr>
              <a:tabLst>
                <a:tab pos="2057400" algn="l"/>
              </a:tabLst>
            </a:pPr>
            <a:r>
              <a:rPr lang="en-GB" dirty="0">
                <a:solidFill>
                  <a:srgbClr val="00B050"/>
                </a:solidFill>
              </a:rPr>
              <a:t>Scalar/Dot product	… =SUMPRODUCT()</a:t>
            </a:r>
          </a:p>
          <a:p>
            <a:pPr>
              <a:tabLst>
                <a:tab pos="2057400" algn="l"/>
              </a:tabLst>
            </a:pPr>
            <a:r>
              <a:rPr lang="en-GB" dirty="0">
                <a:solidFill>
                  <a:srgbClr val="00B050"/>
                </a:solidFill>
              </a:rPr>
              <a:t>Matrix inversion   	… =MINVERSE</a:t>
            </a:r>
            <a:r>
              <a:rPr lang="cs-CZ" dirty="0">
                <a:solidFill>
                  <a:srgbClr val="00B050"/>
                </a:solidFill>
              </a:rPr>
              <a:t>()</a:t>
            </a:r>
            <a:endParaRPr lang="en-GB" dirty="0">
              <a:solidFill>
                <a:srgbClr val="00B050"/>
              </a:solidFill>
            </a:endParaRPr>
          </a:p>
          <a:p>
            <a:endParaRPr lang="cs-CZ" dirty="0"/>
          </a:p>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13</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en-GB" dirty="0">
                <a:solidFill>
                  <a:srgbClr val="00B050"/>
                </a:solidFill>
              </a:rPr>
              <a:t>MS EXCEL:</a:t>
            </a:r>
            <a:endParaRPr lang="cs-CZ" dirty="0">
              <a:solidFill>
                <a:srgbClr val="00B050"/>
              </a:solidFill>
            </a:endParaRPr>
          </a:p>
          <a:p>
            <a:r>
              <a:rPr lang="en-GB" dirty="0">
                <a:solidFill>
                  <a:srgbClr val="00B050"/>
                </a:solidFill>
              </a:rPr>
              <a:t>Matrix transposition     … =TRANSPOSE</a:t>
            </a:r>
            <a:r>
              <a:rPr lang="cs-CZ" dirty="0">
                <a:solidFill>
                  <a:srgbClr val="00B050"/>
                </a:solidFill>
              </a:rPr>
              <a:t>()</a:t>
            </a:r>
            <a:endParaRPr lang="en-GB" dirty="0">
              <a:solidFill>
                <a:srgbClr val="00B050"/>
              </a:solidFill>
            </a:endParaRPr>
          </a:p>
          <a:p>
            <a:endParaRPr lang="cs-CZ" dirty="0"/>
          </a:p>
        </p:txBody>
      </p:sp>
      <p:sp>
        <p:nvSpPr>
          <p:cNvPr id="4" name="Zástupný symbol pro číslo snímku 3"/>
          <p:cNvSpPr>
            <a:spLocks noGrp="1"/>
          </p:cNvSpPr>
          <p:nvPr>
            <p:ph type="sldNum" sz="quarter" idx="5"/>
          </p:nvPr>
        </p:nvSpPr>
        <p:spPr/>
        <p:txBody>
          <a:bodyPr/>
          <a:lstStyle/>
          <a:p>
            <a:fld id="{2F931F19-2CCB-4CD0-A569-BC4C390A5EE6}" type="slidenum">
              <a:rPr lang="en-GB" smtClean="0"/>
              <a:pPr/>
              <a:t>15</a:t>
            </a:fld>
            <a:endParaRPr lang="en-GB"/>
          </a:p>
        </p:txBody>
      </p:sp>
    </p:spTree>
    <p:extLst>
      <p:ext uri="{BB962C8B-B14F-4D97-AF65-F5344CB8AC3E}">
        <p14:creationId xmlns:p14="http://schemas.microsoft.com/office/powerpoint/2010/main" val="31029662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Úvodní snímek 1">
    <p:spTree>
      <p:nvGrpSpPr>
        <p:cNvPr id="1" name=""/>
        <p:cNvGrpSpPr/>
        <p:nvPr/>
      </p:nvGrpSpPr>
      <p:grpSpPr>
        <a:xfrm>
          <a:off x="0" y="0"/>
          <a:ext cx="0" cy="0"/>
          <a:chOff x="0" y="0"/>
          <a:chExt cx="0" cy="0"/>
        </a:xfrm>
      </p:grpSpPr>
      <p:sp>
        <p:nvSpPr>
          <p:cNvPr id="19" name="Zástupný symbol pro text 3">
            <a:extLst>
              <a:ext uri="{FF2B5EF4-FFF2-40B4-BE49-F238E27FC236}">
                <a16:creationId xmlns:a16="http://schemas.microsoft.com/office/drawing/2014/main" id="{3E1E80FF-CDE1-4659-A50D-18C8BA37347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23/02/2026</a:t>
            </a:fld>
            <a:endParaRPr lang="en-GB" noProof="0"/>
          </a:p>
        </p:txBody>
      </p:sp>
      <p:sp>
        <p:nvSpPr>
          <p:cNvPr id="10" name="Obdélník 9">
            <a:extLst>
              <a:ext uri="{FF2B5EF4-FFF2-40B4-BE49-F238E27FC236}">
                <a16:creationId xmlns:a16="http://schemas.microsoft.com/office/drawing/2014/main" id="{024B457C-E1CC-4DF8-B068-F9E0D15995C0}"/>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2" name="TextovéPole 11">
            <a:extLst>
              <a:ext uri="{FF2B5EF4-FFF2-40B4-BE49-F238E27FC236}">
                <a16:creationId xmlns:a16="http://schemas.microsoft.com/office/drawing/2014/main" id="{903BDD9C-B482-4C8C-BAAA-47D61575D20D}"/>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7" name="Zástupný symbol obrázku 3">
            <a:extLst>
              <a:ext uri="{FF2B5EF4-FFF2-40B4-BE49-F238E27FC236}">
                <a16:creationId xmlns:a16="http://schemas.microsoft.com/office/drawing/2014/main" id="{81CEE838-8921-437D-853F-408EC4B07EB5}"/>
              </a:ext>
            </a:extLst>
          </p:cNvPr>
          <p:cNvSpPr>
            <a:spLocks noGrp="1"/>
          </p:cNvSpPr>
          <p:nvPr>
            <p:ph type="pic" sz="quarter" idx="10"/>
          </p:nvPr>
        </p:nvSpPr>
        <p:spPr>
          <a:xfrm>
            <a:off x="0" y="0"/>
            <a:ext cx="9144000" cy="5334000"/>
          </a:xfrm>
          <a:prstGeom prst="rect">
            <a:avLst/>
          </a:prstGeom>
        </p:spPr>
        <p:txBody>
          <a:bodyPr lIns="180000" tIns="180000" rIns="180000" bIns="180000"/>
          <a:lstStyle/>
          <a:p>
            <a:r>
              <a:rPr lang="cs-CZ"/>
              <a:t>Kliknutím na ikonu přidáte obrázek.</a:t>
            </a:r>
            <a:endParaRPr lang="cs-CZ" dirty="0"/>
          </a:p>
        </p:txBody>
      </p:sp>
      <p:sp>
        <p:nvSpPr>
          <p:cNvPr id="21" name="Zástupný symbol pro text 4">
            <a:extLst>
              <a:ext uri="{FF2B5EF4-FFF2-40B4-BE49-F238E27FC236}">
                <a16:creationId xmlns:a16="http://schemas.microsoft.com/office/drawing/2014/main" id="{E690251E-0C52-4982-8171-60DC0B794B2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1" name="Obrázek 10" descr="Obsah obrázku text&#10;&#10;Popis byl vytvořen automaticky">
            <a:extLst>
              <a:ext uri="{FF2B5EF4-FFF2-40B4-BE49-F238E27FC236}">
                <a16:creationId xmlns:a16="http://schemas.microsoft.com/office/drawing/2014/main" id="{7E8A1E33-5B28-2C43-AFFB-11AF0DAF4A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380453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Úvodní snímek 2">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 y="0"/>
            <a:ext cx="9142206" cy="535200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23/02/2026</a:t>
            </a:fld>
            <a:endParaRPr lang="en-GB" noProof="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8B6B0297-ABC7-F84B-85A8-4DFECC7F51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222718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Úvodní snímek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4CF31F7D-C775-4367-BA11-D7AC53523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5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23/02/2026</a:t>
            </a:fld>
            <a:endParaRPr lang="en-GB" noProof="0"/>
          </a:p>
        </p:txBody>
      </p:sp>
      <p:sp>
        <p:nvSpPr>
          <p:cNvPr id="19" name="Obdélník 18">
            <a:extLst>
              <a:ext uri="{FF2B5EF4-FFF2-40B4-BE49-F238E27FC236}">
                <a16:creationId xmlns:a16="http://schemas.microsoft.com/office/drawing/2014/main" id="{A5FBF3AD-5E16-47E0-9F0F-471206626283}"/>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1DDA62E2-FE7A-4AFA-8044-1ED14126E701}"/>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4">
            <a:extLst>
              <a:ext uri="{FF2B5EF4-FFF2-40B4-BE49-F238E27FC236}">
                <a16:creationId xmlns:a16="http://schemas.microsoft.com/office/drawing/2014/main" id="{7602487F-3C29-4D79-9418-0A036B9FED09}"/>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sp>
        <p:nvSpPr>
          <p:cNvPr id="14" name="Zástupný symbol pro text 3">
            <a:extLst>
              <a:ext uri="{FF2B5EF4-FFF2-40B4-BE49-F238E27FC236}">
                <a16:creationId xmlns:a16="http://schemas.microsoft.com/office/drawing/2014/main" id="{F844F9EC-3F8E-4C04-9939-5FE5833C6270}"/>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61B65073-2151-4C4E-9C3C-651867FC2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1116107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Úvodní snímek 4">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9143999"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23/02/2026</a:t>
            </a:fld>
            <a:endParaRPr lang="en-GB" noProof="0"/>
          </a:p>
        </p:txBody>
      </p:sp>
      <p:sp>
        <p:nvSpPr>
          <p:cNvPr id="19" name="Obdélník 18">
            <a:extLst>
              <a:ext uri="{FF2B5EF4-FFF2-40B4-BE49-F238E27FC236}">
                <a16:creationId xmlns:a16="http://schemas.microsoft.com/office/drawing/2014/main" id="{CD5BF138-FAF5-4C22-A496-6023824A818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576E8AF4-6C04-4AD5-A275-DAF437588F3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75E6743E-3013-43C0-BCEE-F198C0D12E42}"/>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4" name="Zástupný symbol pro text 4">
            <a:extLst>
              <a:ext uri="{FF2B5EF4-FFF2-40B4-BE49-F238E27FC236}">
                <a16:creationId xmlns:a16="http://schemas.microsoft.com/office/drawing/2014/main" id="{67A4E56B-2C18-40EB-A1CF-C76A3F36BEB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227D3A48-039E-724E-82EF-4F01CA8E06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1250887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Úvodní snímek 5">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23/02/2026</a:t>
            </a:fld>
            <a:endParaRPr lang="en-GB" noProof="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5" name="Obrázek 14" descr="Obsah obrázku text&#10;&#10;Popis byl vytvořen automaticky">
            <a:extLst>
              <a:ext uri="{FF2B5EF4-FFF2-40B4-BE49-F238E27FC236}">
                <a16:creationId xmlns:a16="http://schemas.microsoft.com/office/drawing/2014/main" id="{E19424E9-4DDB-CF40-92C3-F70E30715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880580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ddíl - Předěl - Kapitola 1">
    <p:spTree>
      <p:nvGrpSpPr>
        <p:cNvPr id="1" name=""/>
        <p:cNvGrpSpPr/>
        <p:nvPr/>
      </p:nvGrpSpPr>
      <p:grpSpPr>
        <a:xfrm>
          <a:off x="0" y="0"/>
          <a:ext cx="0" cy="0"/>
          <a:chOff x="0" y="0"/>
          <a:chExt cx="0" cy="0"/>
        </a:xfrm>
      </p:grpSpPr>
      <p:pic>
        <p:nvPicPr>
          <p:cNvPr id="3" name="Obrázek 2" descr="Obsah obrázku text&#10;&#10;Popis byl vytvořen automaticky">
            <a:extLst>
              <a:ext uri="{FF2B5EF4-FFF2-40B4-BE49-F238E27FC236}">
                <a16:creationId xmlns:a16="http://schemas.microsoft.com/office/drawing/2014/main" id="{93899535-AA89-8F4E-97C4-9FA4F0DD5E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6" name="Zástupný symbol pro text 3">
            <a:extLst>
              <a:ext uri="{FF2B5EF4-FFF2-40B4-BE49-F238E27FC236}">
                <a16:creationId xmlns:a16="http://schemas.microsoft.com/office/drawing/2014/main" id="{137FF405-C523-4C6D-A210-824A893F5307}"/>
              </a:ext>
            </a:extLst>
          </p:cNvPr>
          <p:cNvSpPr>
            <a:spLocks noGrp="1"/>
          </p:cNvSpPr>
          <p:nvPr>
            <p:ph type="body" sz="quarter" idx="12"/>
          </p:nvPr>
        </p:nvSpPr>
        <p:spPr>
          <a:xfrm>
            <a:off x="814388" y="2899075"/>
            <a:ext cx="7522369"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390590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ddíl - Předěl - Kapitola 2">
    <p:spTree>
      <p:nvGrpSpPr>
        <p:cNvPr id="1" name=""/>
        <p:cNvGrpSpPr/>
        <p:nvPr/>
      </p:nvGrpSpPr>
      <p:grpSpPr>
        <a:xfrm>
          <a:off x="0" y="0"/>
          <a:ext cx="0" cy="0"/>
          <a:chOff x="0" y="0"/>
          <a:chExt cx="0" cy="0"/>
        </a:xfrm>
      </p:grpSpPr>
      <p:pic>
        <p:nvPicPr>
          <p:cNvPr id="5" name="Obrázek 4" descr="Obsah obrázku text&#10;&#10;Popis byl vytvořen automaticky">
            <a:extLst>
              <a:ext uri="{FF2B5EF4-FFF2-40B4-BE49-F238E27FC236}">
                <a16:creationId xmlns:a16="http://schemas.microsoft.com/office/drawing/2014/main" id="{B3F927B1-1D31-1749-A32D-E5B899D0E9D8}"/>
              </a:ext>
            </a:extLst>
          </p:cNvPr>
          <p:cNvPicPr>
            <a:picLocks noChangeAspect="1"/>
          </p:cNvPicPr>
          <p:nvPr/>
        </p:nvPicPr>
        <p:blipFill>
          <a:blip r:embed="rId2" cstate="print">
            <a:duotone>
              <a:prstClr val="black"/>
              <a:srgbClr val="BFBFBF">
                <a:tint val="45000"/>
                <a:satMod val="400000"/>
              </a:srgb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359677"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Zástupný symbol pro text 3">
            <a:extLst>
              <a:ext uri="{FF2B5EF4-FFF2-40B4-BE49-F238E27FC236}">
                <a16:creationId xmlns:a16="http://schemas.microsoft.com/office/drawing/2014/main" id="{FD279ADA-FDAB-4914-9469-CB105F4C58BE}"/>
              </a:ext>
            </a:extLst>
          </p:cNvPr>
          <p:cNvSpPr>
            <a:spLocks noGrp="1"/>
          </p:cNvSpPr>
          <p:nvPr>
            <p:ph type="body" sz="quarter" idx="12"/>
          </p:nvPr>
        </p:nvSpPr>
        <p:spPr>
          <a:xfrm>
            <a:off x="785813" y="2899075"/>
            <a:ext cx="7615238"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2874904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ddíl - Předěl - Kapitola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36270"/>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8" name="Obrázek 7" descr="Obsah obrázku text&#10;&#10;Popis byl vytvořen automaticky">
            <a:extLst>
              <a:ext uri="{FF2B5EF4-FFF2-40B4-BE49-F238E27FC236}">
                <a16:creationId xmlns:a16="http://schemas.microsoft.com/office/drawing/2014/main" id="{7C4858C6-8C38-2B41-8CFE-1254036B4C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3737799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ddíl - Předěl - Kapitola 4">
    <p:spTree>
      <p:nvGrpSpPr>
        <p:cNvPr id="1" name=""/>
        <p:cNvGrpSpPr/>
        <p:nvPr/>
      </p:nvGrpSpPr>
      <p:grpSpPr>
        <a:xfrm>
          <a:off x="0" y="0"/>
          <a:ext cx="0" cy="0"/>
          <a:chOff x="0" y="0"/>
          <a:chExt cx="0" cy="0"/>
        </a:xfrm>
      </p:grpSpPr>
      <p:pic>
        <p:nvPicPr>
          <p:cNvPr id="2" name="Obráze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28249"/>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rgbClr val="C80C0F"/>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D96739DC-B272-A942-A9ED-76826B025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1151437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ddíl - Předěl - Kapitola 5">
    <p:spTree>
      <p:nvGrpSpPr>
        <p:cNvPr id="1" name=""/>
        <p:cNvGrpSpPr/>
        <p:nvPr/>
      </p:nvGrpSpPr>
      <p:grpSpPr>
        <a:xfrm>
          <a:off x="0" y="0"/>
          <a:ext cx="0" cy="0"/>
          <a:chOff x="0" y="0"/>
          <a:chExt cx="0" cy="0"/>
        </a:xfrm>
      </p:grpSpPr>
      <p:pic>
        <p:nvPicPr>
          <p:cNvPr id="3" name="Obráze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934" y="719999"/>
            <a:ext cx="8130633" cy="5356951"/>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920000"/>
          </a:xfrm>
          <a:prstGeom prst="rect">
            <a:avLst/>
          </a:prstGeom>
          <a:solidFill>
            <a:schemeClr val="bg1"/>
          </a:solidFill>
          <a:effectLst/>
        </p:spPr>
        <p:txBody>
          <a:bodyPr anchor="ctr" anchorCtr="0">
            <a:normAutofit/>
          </a:bodyPr>
          <a:lstStyle>
            <a:lvl1pPr marL="0" indent="0" algn="ctr">
              <a:lnSpc>
                <a:spcPct val="100000"/>
              </a:lnSpc>
              <a:spcBef>
                <a:spcPts val="0"/>
              </a:spcBef>
              <a:buNone/>
              <a:defRPr sz="4000">
                <a:solidFill>
                  <a:schemeClr val="tx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587EC3D4-E53B-5446-B515-D3099FF58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3488467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ddíl - Předěl - Kapitola 6">
    <p:spTree>
      <p:nvGrpSpPr>
        <p:cNvPr id="1" name=""/>
        <p:cNvGrpSpPr/>
        <p:nvPr/>
      </p:nvGrpSpPr>
      <p:grpSpPr>
        <a:xfrm>
          <a:off x="0" y="0"/>
          <a:ext cx="0" cy="0"/>
          <a:chOff x="0" y="0"/>
          <a:chExt cx="0" cy="0"/>
        </a:xfrm>
      </p:grpSpPr>
      <p:sp>
        <p:nvSpPr>
          <p:cNvPr id="8" name="Zástupný symbol pro text 3">
            <a:extLst>
              <a:ext uri="{FF2B5EF4-FFF2-40B4-BE49-F238E27FC236}">
                <a16:creationId xmlns:a16="http://schemas.microsoft.com/office/drawing/2014/main" id="{A6D9A389-F059-4682-BB5E-006EEEC6D29D}"/>
              </a:ext>
            </a:extLst>
          </p:cNvPr>
          <p:cNvSpPr>
            <a:spLocks noGrp="1"/>
          </p:cNvSpPr>
          <p:nvPr>
            <p:ph type="body" sz="quarter" idx="12"/>
          </p:nvPr>
        </p:nvSpPr>
        <p:spPr>
          <a:xfrm>
            <a:off x="500063" y="2899075"/>
            <a:ext cx="8143875"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5" name="Zástupný symbol obrázku 3">
            <a:extLst>
              <a:ext uri="{FF2B5EF4-FFF2-40B4-BE49-F238E27FC236}">
                <a16:creationId xmlns:a16="http://schemas.microsoft.com/office/drawing/2014/main" id="{8E8F7AB6-976A-4CB0-A0AE-8B783479B5E9}"/>
              </a:ext>
            </a:extLst>
          </p:cNvPr>
          <p:cNvSpPr>
            <a:spLocks noGrp="1"/>
          </p:cNvSpPr>
          <p:nvPr>
            <p:ph type="pic" sz="quarter" idx="10"/>
          </p:nvPr>
        </p:nvSpPr>
        <p:spPr>
          <a:xfrm>
            <a:off x="500063" y="724799"/>
            <a:ext cx="8137800" cy="5407200"/>
          </a:xfrm>
          <a:prstGeom prst="rect">
            <a:avLst/>
          </a:prstGeom>
        </p:spPr>
        <p:txBody>
          <a:bodyPr/>
          <a:lstStyle/>
          <a:p>
            <a:r>
              <a:rPr lang="cs-CZ"/>
              <a:t>Kliknutím na ikonu přidáte obrázek.</a:t>
            </a:r>
          </a:p>
        </p:txBody>
      </p:sp>
      <p:pic>
        <p:nvPicPr>
          <p:cNvPr id="7" name="Obrázek 6" descr="Obsah obrázku text&#10;&#10;Popis byl vytvořen automaticky">
            <a:extLst>
              <a:ext uri="{FF2B5EF4-FFF2-40B4-BE49-F238E27FC236}">
                <a16:creationId xmlns:a16="http://schemas.microsoft.com/office/drawing/2014/main" id="{8DDC546C-2D13-A947-8672-83BE19C04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3037864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ový slide 1">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66732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66732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7" name="TextovéPole 16">
            <a:extLst>
              <a:ext uri="{FF2B5EF4-FFF2-40B4-BE49-F238E27FC236}">
                <a16:creationId xmlns:a16="http://schemas.microsoft.com/office/drawing/2014/main" id="{DED13C98-A460-4EE5-BFBB-681BBDA81D3B}"/>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0"/>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TextovéPole 11">
            <a:extLst>
              <a:ext uri="{FF2B5EF4-FFF2-40B4-BE49-F238E27FC236}">
                <a16:creationId xmlns:a16="http://schemas.microsoft.com/office/drawing/2014/main" id="{2C766699-8A1C-452E-BA3A-E469A225BEE7}"/>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
        <p:nvSpPr>
          <p:cNvPr id="13" name="Zástupný symbol pro text 6">
            <a:extLst>
              <a:ext uri="{FF2B5EF4-FFF2-40B4-BE49-F238E27FC236}">
                <a16:creationId xmlns:a16="http://schemas.microsoft.com/office/drawing/2014/main" id="{8BE1237B-FF84-4FBE-AC1D-9DB2202BD76B}"/>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4C33C50D-A72F-494F-B092-15858B2C6CC1}"/>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2" name="TextovéPole 1">
            <a:extLst>
              <a:ext uri="{FF2B5EF4-FFF2-40B4-BE49-F238E27FC236}">
                <a16:creationId xmlns:a16="http://schemas.microsoft.com/office/drawing/2014/main" id="{631BC1C8-BCF5-484D-8C94-7FAA0AE50120}"/>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909839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ový slide 2">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4198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4198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66B0A99E-A700-494A-928E-194351AE09DC}"/>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48E4E7FD-8E67-4CA1-B99F-8BF78FD8CF5F}"/>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1B42C71F-24A2-4414-9417-B39450FE2AC9}"/>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8" name="TextovéPole 17">
            <a:extLst>
              <a:ext uri="{FF2B5EF4-FFF2-40B4-BE49-F238E27FC236}">
                <a16:creationId xmlns:a16="http://schemas.microsoft.com/office/drawing/2014/main" id="{08E05BE6-9375-7B47-BE3D-8FD9100C579E}"/>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20" name="TextovéPole 19">
            <a:extLst>
              <a:ext uri="{FF2B5EF4-FFF2-40B4-BE49-F238E27FC236}">
                <a16:creationId xmlns:a16="http://schemas.microsoft.com/office/drawing/2014/main" id="{6AC349FB-428C-7B42-B993-E97FBB98DCD8}"/>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0658555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ový slide 3">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52256"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52256"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6" name="Zástupný symbol pro text 6">
            <a:extLst>
              <a:ext uri="{FF2B5EF4-FFF2-40B4-BE49-F238E27FC236}">
                <a16:creationId xmlns:a16="http://schemas.microsoft.com/office/drawing/2014/main" id="{BFADBFEB-36FC-4372-B6CE-58EBC7FFB940}"/>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978F0355-7004-4CFE-9421-A8A1A62CF82D}"/>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CEE7F35-80D6-4A44-A79F-9A5BF9F28E3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0B5A6409-23B7-A545-A4D8-A933AD41B5C6}"/>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C0999E4F-AF74-DB4E-8B4B-638D78E913AE}"/>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014145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ový slide 4">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1903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1903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3" name="Zástupný symbol pro text 6">
            <a:extLst>
              <a:ext uri="{FF2B5EF4-FFF2-40B4-BE49-F238E27FC236}">
                <a16:creationId xmlns:a16="http://schemas.microsoft.com/office/drawing/2014/main" id="{64907F56-1EFF-441C-9163-66B58475FAF1}"/>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0C077097-4898-476E-8653-0D75052D1710}"/>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4993D17-DF83-49B5-BD7F-548B4A5A3AE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FC0AD8F2-4BA5-D840-9CF9-1A60BE6D3AE9}"/>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5A3DFA86-88E0-D746-93B6-322B3E5FB3EB}"/>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318207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ový slide 5">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79994"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79994"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271AC1B1-6DD2-4624-B5E1-05CD48AFFD96}"/>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9EB39BFC-3412-4994-BB20-6B3B39144DCD}"/>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D5E1CEE8-B267-482F-8FC9-A0CBECB5B5A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6" name="TextovéPole 15">
            <a:extLst>
              <a:ext uri="{FF2B5EF4-FFF2-40B4-BE49-F238E27FC236}">
                <a16:creationId xmlns:a16="http://schemas.microsoft.com/office/drawing/2014/main" id="{9BD26F8C-C9C9-1844-B61C-5456ED1D14E3}"/>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7" name="TextovéPole 16">
            <a:extLst>
              <a:ext uri="{FF2B5EF4-FFF2-40B4-BE49-F238E27FC236}">
                <a16:creationId xmlns:a16="http://schemas.microsoft.com/office/drawing/2014/main" id="{015D1AAD-326F-FE43-A378-B6195D1301DC}"/>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3984166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ový slide 6">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6766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6766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3" name="Zástupný symbol pro text 6">
            <a:extLst>
              <a:ext uri="{FF2B5EF4-FFF2-40B4-BE49-F238E27FC236}">
                <a16:creationId xmlns:a16="http://schemas.microsoft.com/office/drawing/2014/main" id="{C0B2EC7C-7295-4511-BEB9-1F21F76F55B4}"/>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466DB023-F78F-49C1-9875-70959FECAB0E}"/>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3C1BF5F3-421C-4882-84E2-ADC07FE86DF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5C18F710-7ED6-AD41-9784-1327E6984D92}"/>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EA1D81C2-80D4-2548-91DB-82047245A7C1}"/>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1380798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ávěr 1">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E53EAF9F-01E9-4701-B3CE-E5EC1515D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 name="Obrázek 3" descr="Obsah obrázku text&#10;&#10;Popis byl vytvořen automaticky">
            <a:extLst>
              <a:ext uri="{FF2B5EF4-FFF2-40B4-BE49-F238E27FC236}">
                <a16:creationId xmlns:a16="http://schemas.microsoft.com/office/drawing/2014/main" id="{9E6C52F0-A869-994B-9A2A-946AD4F096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695142"/>
            <a:ext cx="3773562" cy="1641106"/>
          </a:xfrm>
          <a:prstGeom prst="rect">
            <a:avLst/>
          </a:prstGeom>
        </p:spPr>
      </p:pic>
      <p:sp>
        <p:nvSpPr>
          <p:cNvPr id="6" name="TextovéPole 5">
            <a:extLst>
              <a:ext uri="{FF2B5EF4-FFF2-40B4-BE49-F238E27FC236}">
                <a16:creationId xmlns:a16="http://schemas.microsoft.com/office/drawing/2014/main" id="{7301F1C3-936F-43D4-96DB-8DB86F629B10}"/>
              </a:ext>
            </a:extLst>
          </p:cNvPr>
          <p:cNvSpPr txBox="1"/>
          <p:nvPr/>
        </p:nvSpPr>
        <p:spPr>
          <a:xfrm>
            <a:off x="2082610" y="3028891"/>
            <a:ext cx="4978781" cy="1200329"/>
          </a:xfrm>
          <a:prstGeom prst="rect">
            <a:avLst/>
          </a:prstGeom>
          <a:noFill/>
        </p:spPr>
        <p:txBody>
          <a:bodyPr wrap="square" rtlCol="0">
            <a:spAutoFit/>
          </a:bodyPr>
          <a:lstStyle/>
          <a:p>
            <a:pPr algn="ct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you</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for</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attention</a:t>
            </a:r>
            <a:endPar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5452711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Závěr 2">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F7380FE-801F-3B4A-8E52-2A53DD2732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1541" y="5041976"/>
            <a:ext cx="3991716" cy="1735981"/>
          </a:xfrm>
          <a:prstGeom prst="rect">
            <a:avLst/>
          </a:prstGeom>
        </p:spPr>
      </p:pic>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ovéPole 4">
            <a:extLst>
              <a:ext uri="{FF2B5EF4-FFF2-40B4-BE49-F238E27FC236}">
                <a16:creationId xmlns:a16="http://schemas.microsoft.com/office/drawing/2014/main" id="{83DE33A4-FB93-4AAA-A88F-B4FEF27E08A8}"/>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483F6A2C-C2E5-B44A-9660-8F89AEEB2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7741" y="5143576"/>
            <a:ext cx="3991716" cy="1735981"/>
          </a:xfrm>
          <a:prstGeom prst="rect">
            <a:avLst/>
          </a:prstGeom>
        </p:spPr>
      </p:pic>
    </p:spTree>
    <p:extLst>
      <p:ext uri="{BB962C8B-B14F-4D97-AF65-F5344CB8AC3E}">
        <p14:creationId xmlns:p14="http://schemas.microsoft.com/office/powerpoint/2010/main" val="1448692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Závěr 3">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rázek 7" descr="Obsah obrázku text&#10;&#10;Popis byl vytvořen automaticky">
            <a:extLst>
              <a:ext uri="{FF2B5EF4-FFF2-40B4-BE49-F238E27FC236}">
                <a16:creationId xmlns:a16="http://schemas.microsoft.com/office/drawing/2014/main" id="{A9218E36-6589-BA4B-B382-FF8EA3F0CB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
        <p:nvSpPr>
          <p:cNvPr id="9" name="TextovéPole 8">
            <a:extLst>
              <a:ext uri="{FF2B5EF4-FFF2-40B4-BE49-F238E27FC236}">
                <a16:creationId xmlns:a16="http://schemas.microsoft.com/office/drawing/2014/main" id="{FDA8F002-9BA3-624D-B94C-A21C7E909596}"/>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spTree>
    <p:extLst>
      <p:ext uri="{BB962C8B-B14F-4D97-AF65-F5344CB8AC3E}">
        <p14:creationId xmlns:p14="http://schemas.microsoft.com/office/powerpoint/2010/main" val="2876235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Závěr 4">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084" b="7777"/>
          <a:stretch/>
        </p:blipFill>
        <p:spPr>
          <a:xfrm>
            <a:off x="0" y="0"/>
            <a:ext cx="9144000" cy="6918247"/>
          </a:xfrm>
          <a:prstGeom prst="rect">
            <a:avLst/>
          </a:prstGeom>
        </p:spPr>
      </p:pic>
      <p:sp>
        <p:nvSpPr>
          <p:cNvPr id="6" name="TextovéPole 5">
            <a:extLst>
              <a:ext uri="{FF2B5EF4-FFF2-40B4-BE49-F238E27FC236}">
                <a16:creationId xmlns:a16="http://schemas.microsoft.com/office/drawing/2014/main" id="{D4F7AAA5-ECDB-B046-A48B-D0C2BB0C4FE7}"/>
              </a:ext>
            </a:extLst>
          </p:cNvPr>
          <p:cNvSpPr txBox="1"/>
          <p:nvPr/>
        </p:nvSpPr>
        <p:spPr>
          <a:xfrm>
            <a:off x="2065677" y="4072465"/>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EC53DF36-AD81-A945-BF7B-A39A3E50D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4668" y="5739969"/>
            <a:ext cx="2709334" cy="1178278"/>
          </a:xfrm>
          <a:prstGeom prst="rect">
            <a:avLst/>
          </a:prstGeom>
        </p:spPr>
      </p:pic>
    </p:spTree>
    <p:extLst>
      <p:ext uri="{BB962C8B-B14F-4D97-AF65-F5344CB8AC3E}">
        <p14:creationId xmlns:p14="http://schemas.microsoft.com/office/powerpoint/2010/main" val="2268521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ávěr 5">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9144000" cy="6858000"/>
          </a:xfrm>
          <a:prstGeom prst="rect">
            <a:avLst/>
          </a:prstGeom>
        </p:spPr>
      </p:pic>
      <p:sp>
        <p:nvSpPr>
          <p:cNvPr id="6" name="TextovéPole 5">
            <a:extLst>
              <a:ext uri="{FF2B5EF4-FFF2-40B4-BE49-F238E27FC236}">
                <a16:creationId xmlns:a16="http://schemas.microsoft.com/office/drawing/2014/main" id="{3B431FA6-80EF-9449-90BD-C081B545B9C0}"/>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9" name="Obrázek 8">
            <a:extLst>
              <a:ext uri="{FF2B5EF4-FFF2-40B4-BE49-F238E27FC236}">
                <a16:creationId xmlns:a16="http://schemas.microsoft.com/office/drawing/2014/main" id="{811C0A68-FD87-6A46-8195-D340F48614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700534"/>
            <a:ext cx="2709334" cy="1178278"/>
          </a:xfrm>
          <a:prstGeom prst="rect">
            <a:avLst/>
          </a:prstGeom>
        </p:spPr>
      </p:pic>
    </p:spTree>
    <p:extLst>
      <p:ext uri="{BB962C8B-B14F-4D97-AF65-F5344CB8AC3E}">
        <p14:creationId xmlns:p14="http://schemas.microsoft.com/office/powerpoint/2010/main" val="12156271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Závěr 6">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5D978B46-7738-414B-B6A8-3DB65F297682}"/>
              </a:ext>
            </a:extLst>
          </p:cNvPr>
          <p:cNvSpPr/>
          <p:nvPr/>
        </p:nvSpPr>
        <p:spPr>
          <a:xfrm>
            <a:off x="0" y="0"/>
            <a:ext cx="9144000" cy="6858000"/>
          </a:xfrm>
          <a:prstGeom prst="rect">
            <a:avLst/>
          </a:prstGeom>
          <a:gradFill>
            <a:gsLst>
              <a:gs pos="0">
                <a:srgbClr val="C80C0F"/>
              </a:gs>
              <a:gs pos="50000">
                <a:srgbClr val="9B0000"/>
              </a:gs>
              <a:gs pos="99000">
                <a:srgbClr val="C80C0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TextovéPole 6">
            <a:extLst>
              <a:ext uri="{FF2B5EF4-FFF2-40B4-BE49-F238E27FC236}">
                <a16:creationId xmlns:a16="http://schemas.microsoft.com/office/drawing/2014/main" id="{EAE9CB24-0D3C-1C4D-899E-1B118B5F7B14}"/>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pic>
        <p:nvPicPr>
          <p:cNvPr id="9" name="Obrázek 8" descr="Obsah obrázku text&#10;&#10;Popis byl vytvořen automaticky">
            <a:extLst>
              <a:ext uri="{FF2B5EF4-FFF2-40B4-BE49-F238E27FC236}">
                <a16:creationId xmlns:a16="http://schemas.microsoft.com/office/drawing/2014/main" id="{7ABA772E-3E2B-B94D-9EC0-C40803791A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Tree>
    <p:extLst>
      <p:ext uri="{BB962C8B-B14F-4D97-AF65-F5344CB8AC3E}">
        <p14:creationId xmlns:p14="http://schemas.microsoft.com/office/powerpoint/2010/main" val="201769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Úvodní snímek">
    <p:bg>
      <p:bgRef idx="1001">
        <a:schemeClr val="bg2"/>
      </p:bgRef>
    </p:bg>
    <p:spTree>
      <p:nvGrpSpPr>
        <p:cNvPr id="1" name=""/>
        <p:cNvGrpSpPr/>
        <p:nvPr/>
      </p:nvGrpSpPr>
      <p:grpSpPr>
        <a:xfrm>
          <a:off x="0" y="0"/>
          <a:ext cx="0" cy="0"/>
          <a:chOff x="0" y="0"/>
          <a:chExt cx="0" cy="0"/>
        </a:xfrm>
      </p:grpSpPr>
      <p:sp>
        <p:nvSpPr>
          <p:cNvPr id="8" name="Nadpis 7"/>
          <p:cNvSpPr>
            <a:spLocks noGrp="1"/>
          </p:cNvSpPr>
          <p:nvPr>
            <p:ph type="ctrTitle"/>
          </p:nvPr>
        </p:nvSpPr>
        <p:spPr>
          <a:xfrm>
            <a:off x="2362200" y="4038600"/>
            <a:ext cx="6477000" cy="1828800"/>
          </a:xfrm>
        </p:spPr>
        <p:txBody>
          <a:bodyPr anchor="b"/>
          <a:lstStyle>
            <a:lvl1pPr>
              <a:defRPr cap="all" baseline="0"/>
            </a:lvl1pPr>
          </a:lstStyle>
          <a:p>
            <a:r>
              <a:rPr kumimoji="0" lang="cs-CZ"/>
              <a:t>Klepnutím lze upravit styl předlohy nadpisů.</a:t>
            </a:r>
            <a:endParaRPr kumimoji="0" lang="en-US"/>
          </a:p>
        </p:txBody>
      </p:sp>
      <p:sp>
        <p:nvSpPr>
          <p:cNvPr id="9" name="Podnadpis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cs-CZ"/>
              <a:t>Klepnutím lze upravit styl předlohy podnadpisů.</a:t>
            </a:r>
            <a:endParaRPr kumimoji="0" lang="en-US"/>
          </a:p>
        </p:txBody>
      </p:sp>
      <p:sp>
        <p:nvSpPr>
          <p:cNvPr id="28" name="Zástupný symbol pro datum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7DBC9D3B-B00F-4DF2-A530-C9E5BC8837BB}" type="datetimeFigureOut">
              <a:rPr lang="en-GB" noProof="0" smtClean="0"/>
              <a:pPr/>
              <a:t>23/02/2026</a:t>
            </a:fld>
            <a:endParaRPr lang="en-GB" noProof="0"/>
          </a:p>
        </p:txBody>
      </p:sp>
      <p:sp>
        <p:nvSpPr>
          <p:cNvPr id="17" name="Zástupný symbol pro zápatí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GB" noProof="0"/>
          </a:p>
        </p:txBody>
      </p:sp>
      <p:sp>
        <p:nvSpPr>
          <p:cNvPr id="29" name="Zástupný symbol pro číslo snímku 28"/>
          <p:cNvSpPr>
            <a:spLocks noGrp="1"/>
          </p:cNvSpPr>
          <p:nvPr>
            <p:ph type="sldNum" sz="quarter" idx="12"/>
          </p:nvPr>
        </p:nvSpPr>
        <p:spPr>
          <a:xfrm>
            <a:off x="8001000" y="228600"/>
            <a:ext cx="838200" cy="381000"/>
          </a:xfrm>
        </p:spPr>
        <p:txBody>
          <a:bodyPr/>
          <a:lstStyle>
            <a:lvl1pPr>
              <a:defRPr>
                <a:solidFill>
                  <a:schemeClr val="tx2"/>
                </a:solidFill>
              </a:defRPr>
            </a:lvl1pPr>
          </a:lstStyle>
          <a:p>
            <a:fld id="{22D678B2-D910-4B9F-8745-B0B8C181CD2F}" type="slidenum">
              <a:rPr lang="en-GB" noProof="0" smtClean="0"/>
              <a:pPr/>
              <a:t>‹#›</a:t>
            </a:fld>
            <a:endParaRPr lang="en-GB" noProof="0"/>
          </a:p>
        </p:txBody>
      </p:sp>
    </p:spTree>
    <p:extLst>
      <p:ext uri="{BB962C8B-B14F-4D97-AF65-F5344CB8AC3E}">
        <p14:creationId xmlns:p14="http://schemas.microsoft.com/office/powerpoint/2010/main" val="3232607747"/>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a:xfrm>
            <a:off x="612648" y="228600"/>
            <a:ext cx="8153400" cy="990600"/>
          </a:xfrm>
        </p:spPr>
        <p:txBody>
          <a:bodyPr/>
          <a:lstStyle/>
          <a:p>
            <a:r>
              <a:rPr kumimoji="0" lang="cs-CZ"/>
              <a:t>Klepnutím lze upravit styl předlohy nadpisů.</a:t>
            </a:r>
            <a:endParaRPr kumimoji="0" lang="en-US"/>
          </a:p>
        </p:txBody>
      </p:sp>
      <p:sp>
        <p:nvSpPr>
          <p:cNvPr id="4" name="Zástupný symbol pro datum 3"/>
          <p:cNvSpPr>
            <a:spLocks noGrp="1"/>
          </p:cNvSpPr>
          <p:nvPr>
            <p:ph type="dt" sz="half" idx="10"/>
          </p:nvPr>
        </p:nvSpPr>
        <p:spPr/>
        <p:txBody>
          <a:bodyPr/>
          <a:lstStyle/>
          <a:p>
            <a:fld id="{7DBC9D3B-B00F-4DF2-A530-C9E5BC8837BB}" type="datetimeFigureOut">
              <a:rPr lang="cs-CZ" smtClean="0"/>
              <a:pPr/>
              <a:t>23.02.2026</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lvl1pPr>
              <a:defRPr>
                <a:solidFill>
                  <a:srgbClr val="FFFFFF"/>
                </a:solidFill>
              </a:defRPr>
            </a:lvl1pPr>
          </a:lstStyle>
          <a:p>
            <a:fld id="{22D678B2-D910-4B9F-8745-B0B8C181CD2F}" type="slidenum">
              <a:rPr lang="cs-CZ" smtClean="0"/>
              <a:pPr/>
              <a:t>‹#›</a:t>
            </a:fld>
            <a:endParaRPr lang="cs-CZ"/>
          </a:p>
        </p:txBody>
      </p:sp>
      <p:sp>
        <p:nvSpPr>
          <p:cNvPr id="8" name="Zástupný symbol pro obsah 7"/>
          <p:cNvSpPr>
            <a:spLocks noGrp="1"/>
          </p:cNvSpPr>
          <p:nvPr>
            <p:ph sz="quarter" idx="1"/>
          </p:nvPr>
        </p:nvSpPr>
        <p:spPr>
          <a:xfrm>
            <a:off x="612648" y="1600200"/>
            <a:ext cx="8153400" cy="4495800"/>
          </a:xfrm>
        </p:spPr>
        <p:txBody>
          <a:bodyPr/>
          <a:lstStyle/>
          <a:p>
            <a:pPr lvl="0" eaLnBrk="1" latinLnBrk="0" hangingPunct="1"/>
            <a:r>
              <a:rPr lang="cs-CZ"/>
              <a:t>Klepnutím lze upravit styly předlohy textu.</a:t>
            </a:r>
          </a:p>
          <a:p>
            <a:pPr lvl="1" eaLnBrk="1" latinLnBrk="0" hangingPunct="1"/>
            <a:r>
              <a:rPr lang="cs-CZ"/>
              <a:t>Druhá úroveň</a:t>
            </a:r>
          </a:p>
          <a:p>
            <a:pPr lvl="2" eaLnBrk="1" latinLnBrk="0" hangingPunct="1"/>
            <a:r>
              <a:rPr lang="cs-CZ"/>
              <a:t>Třetí úroveň</a:t>
            </a:r>
          </a:p>
          <a:p>
            <a:pPr lvl="3" eaLnBrk="1" latinLnBrk="0" hangingPunct="1"/>
            <a:r>
              <a:rPr lang="cs-CZ"/>
              <a:t>Čtvrtá úroveň</a:t>
            </a:r>
          </a:p>
          <a:p>
            <a:pPr lvl="4" eaLnBrk="1" latinLnBrk="0" hangingPunct="1"/>
            <a:r>
              <a:rPr lang="cs-CZ"/>
              <a:t>Pátá úroveň</a:t>
            </a:r>
            <a:endParaRPr kumimoji="0" lang="en-US"/>
          </a:p>
        </p:txBody>
      </p:sp>
    </p:spTree>
    <p:extLst>
      <p:ext uri="{BB962C8B-B14F-4D97-AF65-F5344CB8AC3E}">
        <p14:creationId xmlns:p14="http://schemas.microsoft.com/office/powerpoint/2010/main" val="407912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89742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hyperlink" Target="http://apl.czso.cz/pll/rocenka/rocenkaout.dod_uziti?mylang=EN" TargetMode="External"/><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23.emf"/></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722376" y="1116698"/>
            <a:ext cx="7699248" cy="2904067"/>
          </a:xfrm>
        </p:spPr>
        <p:txBody>
          <a:bodyPr anchor="ctr">
            <a:normAutofit/>
          </a:bodyPr>
          <a:lstStyle/>
          <a:p>
            <a:pPr>
              <a:spcAft>
                <a:spcPts val="600"/>
              </a:spcAft>
            </a:pPr>
            <a:r>
              <a:rPr lang="en-GB" noProof="0" dirty="0"/>
              <a:t>Operations Research and Systems Analysis</a:t>
            </a:r>
            <a:endParaRPr lang="en-GB" noProof="0"/>
          </a:p>
        </p:txBody>
      </p:sp>
      <p:sp>
        <p:nvSpPr>
          <p:cNvPr id="3" name="Podnadpis 2"/>
          <p:cNvSpPr>
            <a:spLocks noGrp="1"/>
          </p:cNvSpPr>
          <p:nvPr>
            <p:ph type="body" sz="quarter" idx="11"/>
          </p:nvPr>
        </p:nvSpPr>
        <p:spPr>
          <a:xfrm>
            <a:off x="3043719" y="4403630"/>
            <a:ext cx="3056562" cy="652774"/>
          </a:xfrm>
        </p:spPr>
        <p:txBody>
          <a:bodyPr>
            <a:normAutofit/>
          </a:bodyPr>
          <a:lstStyle/>
          <a:p>
            <a:pPr lvl="0"/>
            <a:r>
              <a:rPr lang="en-GB" noProof="0"/>
              <a:t>Input</a:t>
            </a:r>
            <a:r>
              <a:rPr lang="cs-CZ" noProof="0"/>
              <a:t>-</a:t>
            </a:r>
            <a:r>
              <a:rPr lang="en-GB" noProof="0"/>
              <a:t>output analysis - basics</a:t>
            </a:r>
            <a:endParaRPr lang="en-GB"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noProof="0" dirty="0" err="1"/>
              <a:t>Introduction</a:t>
            </a:r>
            <a:endParaRPr lang="en-GB" noProof="0" dirty="0"/>
          </a:p>
        </p:txBody>
      </p:sp>
      <p:sp>
        <p:nvSpPr>
          <p:cNvPr id="3" name="Zástupný symbol pro obsah 2"/>
          <p:cNvSpPr>
            <a:spLocks noGrp="1"/>
          </p:cNvSpPr>
          <p:nvPr>
            <p:ph sz="quarter" idx="1"/>
          </p:nvPr>
        </p:nvSpPr>
        <p:spPr>
          <a:xfrm>
            <a:off x="486216" y="980728"/>
            <a:ext cx="8279832" cy="5400600"/>
          </a:xfrm>
        </p:spPr>
        <p:txBody>
          <a:bodyPr/>
          <a:lstStyle/>
          <a:p>
            <a:r>
              <a:rPr lang="en-US" sz="1800" b="1" dirty="0"/>
              <a:t>Intuition:</a:t>
            </a:r>
            <a:r>
              <a:rPr lang="en-US" sz="1800" dirty="0"/>
              <a:t> The economy is a network of industries that supply inputs to each other. If demand for cars rises, not only car production increases, but also steel, electricity, transport, and other upstream sectors.</a:t>
            </a:r>
            <a:endParaRPr lang="cs-CZ" sz="1800" dirty="0"/>
          </a:p>
          <a:p>
            <a:r>
              <a:rPr lang="cs-CZ" sz="1800" dirty="0" err="1"/>
              <a:t>or</a:t>
            </a:r>
            <a:r>
              <a:rPr lang="cs-CZ" sz="1800" dirty="0"/>
              <a:t> </a:t>
            </a:r>
            <a:r>
              <a:rPr lang="en-US" sz="1800" dirty="0"/>
              <a:t>If final demand for the output of one industry increases (e.g., construction), how much must production increase in other industries (cement, energy, transport, etc.) so that the whole supply network can deliver?</a:t>
            </a:r>
            <a:endParaRPr lang="cs-CZ" sz="1800" dirty="0"/>
          </a:p>
          <a:p>
            <a:r>
              <a:rPr lang="en-US" sz="1800" b="1" dirty="0"/>
              <a:t>What I–O analysis is (the core idea)</a:t>
            </a:r>
          </a:p>
          <a:p>
            <a:r>
              <a:rPr lang="en-US" sz="1800" dirty="0"/>
              <a:t>Input–Output analysis describes the economy as a </a:t>
            </a:r>
            <a:r>
              <a:rPr lang="en-US" sz="1800" b="1" dirty="0"/>
              <a:t>network of industries</a:t>
            </a:r>
            <a:r>
              <a:rPr lang="en-US" sz="1800" dirty="0"/>
              <a:t> that supply inputs to one another.</a:t>
            </a:r>
          </a:p>
          <a:p>
            <a:r>
              <a:rPr lang="en-US" sz="1800" dirty="0"/>
              <a:t>Each industry produces an </a:t>
            </a:r>
            <a:r>
              <a:rPr lang="en-US" sz="1800" b="1" dirty="0"/>
              <a:t>output</a:t>
            </a:r>
            <a:r>
              <a:rPr lang="en-US" sz="1800" dirty="0"/>
              <a:t>.</a:t>
            </a:r>
          </a:p>
          <a:p>
            <a:r>
              <a:rPr lang="en-US" sz="1800" dirty="0"/>
              <a:t>To produce, it buys </a:t>
            </a:r>
            <a:r>
              <a:rPr lang="en-US" sz="1800" b="1" dirty="0"/>
              <a:t>intermediate inputs</a:t>
            </a:r>
            <a:r>
              <a:rPr lang="en-US" sz="1800" dirty="0"/>
              <a:t> from other industries (and sometimes from itself).</a:t>
            </a:r>
          </a:p>
          <a:p>
            <a:r>
              <a:rPr lang="en-US" sz="1800" dirty="0"/>
              <a:t>Part of its production goes to </a:t>
            </a:r>
            <a:r>
              <a:rPr lang="en-US" sz="1800" b="1" dirty="0"/>
              <a:t>final demand</a:t>
            </a:r>
            <a:r>
              <a:rPr lang="en-US" sz="1800" dirty="0"/>
              <a:t> (households, government, investment, exports).</a:t>
            </a:r>
          </a:p>
          <a:p>
            <a:pPr marL="0" indent="0">
              <a:buNone/>
            </a:pPr>
            <a:endParaRPr lang="en-US" sz="1800" dirty="0"/>
          </a:p>
          <a:p>
            <a:endParaRPr lang="cs-CZ" sz="1800" dirty="0"/>
          </a:p>
          <a:p>
            <a:endParaRPr lang="cs-CZ" sz="1800" noProof="0" dirty="0"/>
          </a:p>
          <a:p>
            <a:endParaRPr lang="en-GB"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ovéPole 4">
            <a:extLst>
              <a:ext uri="{FF2B5EF4-FFF2-40B4-BE49-F238E27FC236}">
                <a16:creationId xmlns:a16="http://schemas.microsoft.com/office/drawing/2014/main" id="{8F17A27F-84FA-5DF9-C273-2C3705149D02}"/>
              </a:ext>
            </a:extLst>
          </p:cNvPr>
          <p:cNvSpPr txBox="1"/>
          <p:nvPr/>
        </p:nvSpPr>
        <p:spPr>
          <a:xfrm>
            <a:off x="612648" y="692696"/>
            <a:ext cx="7918704" cy="3831818"/>
          </a:xfrm>
          <a:prstGeom prst="rect">
            <a:avLst/>
          </a:prstGeom>
          <a:noFill/>
        </p:spPr>
        <p:txBody>
          <a:bodyPr wrap="square">
            <a:spAutoFit/>
          </a:bodyPr>
          <a:lstStyle/>
          <a:p>
            <a:r>
              <a:rPr lang="cs-CZ" b="1" dirty="0" err="1"/>
              <a:t>Typical</a:t>
            </a:r>
            <a:r>
              <a:rPr lang="cs-CZ" b="1" dirty="0"/>
              <a:t> </a:t>
            </a:r>
            <a:r>
              <a:rPr lang="cs-CZ" b="1" dirty="0" err="1"/>
              <a:t>uses</a:t>
            </a:r>
            <a:r>
              <a:rPr lang="cs-CZ" b="1" dirty="0"/>
              <a:t> </a:t>
            </a:r>
            <a:r>
              <a:rPr lang="cs-CZ" b="1" dirty="0" err="1"/>
              <a:t>of</a:t>
            </a:r>
            <a:r>
              <a:rPr lang="cs-CZ" b="1" dirty="0"/>
              <a:t> I–O </a:t>
            </a:r>
            <a:r>
              <a:rPr lang="cs-CZ" b="1" dirty="0" err="1"/>
              <a:t>analysis</a:t>
            </a:r>
            <a:r>
              <a:rPr lang="cs-CZ" b="1" dirty="0"/>
              <a:t>:</a:t>
            </a:r>
            <a:endParaRPr lang="cs-CZ" dirty="0"/>
          </a:p>
          <a:p>
            <a:r>
              <a:rPr lang="cs-CZ" dirty="0" err="1"/>
              <a:t>estimating</a:t>
            </a:r>
            <a:r>
              <a:rPr lang="cs-CZ" dirty="0"/>
              <a:t> </a:t>
            </a:r>
            <a:r>
              <a:rPr lang="cs-CZ" dirty="0" err="1"/>
              <a:t>impacts</a:t>
            </a:r>
            <a:r>
              <a:rPr lang="cs-CZ" dirty="0"/>
              <a:t> </a:t>
            </a:r>
            <a:r>
              <a:rPr lang="cs-CZ" dirty="0" err="1"/>
              <a:t>of</a:t>
            </a:r>
            <a:r>
              <a:rPr lang="cs-CZ" dirty="0"/>
              <a:t> </a:t>
            </a:r>
            <a:r>
              <a:rPr lang="cs-CZ" dirty="0" err="1"/>
              <a:t>investments</a:t>
            </a:r>
            <a:r>
              <a:rPr lang="cs-CZ" dirty="0"/>
              <a:t> (</a:t>
            </a:r>
            <a:r>
              <a:rPr lang="cs-CZ" dirty="0" err="1"/>
              <a:t>e.g</a:t>
            </a:r>
            <a:r>
              <a:rPr lang="cs-CZ" dirty="0"/>
              <a:t>., “a </a:t>
            </a:r>
            <a:r>
              <a:rPr lang="cs-CZ" dirty="0" err="1"/>
              <a:t>new</a:t>
            </a:r>
            <a:r>
              <a:rPr lang="cs-CZ" dirty="0"/>
              <a:t> </a:t>
            </a:r>
            <a:r>
              <a:rPr lang="cs-CZ" dirty="0" err="1"/>
              <a:t>factory</a:t>
            </a:r>
            <a:r>
              <a:rPr lang="cs-CZ" dirty="0"/>
              <a:t>”),</a:t>
            </a:r>
          </a:p>
          <a:p>
            <a:r>
              <a:rPr lang="cs-CZ" dirty="0" err="1"/>
              <a:t>regional</a:t>
            </a:r>
            <a:r>
              <a:rPr lang="cs-CZ" dirty="0"/>
              <a:t> </a:t>
            </a:r>
            <a:r>
              <a:rPr lang="cs-CZ" dirty="0" err="1"/>
              <a:t>impact</a:t>
            </a:r>
            <a:r>
              <a:rPr lang="cs-CZ" dirty="0"/>
              <a:t> </a:t>
            </a:r>
            <a:r>
              <a:rPr lang="cs-CZ" dirty="0" err="1"/>
              <a:t>analysis</a:t>
            </a:r>
            <a:r>
              <a:rPr lang="cs-CZ" dirty="0"/>
              <a:t> (“</a:t>
            </a:r>
            <a:r>
              <a:rPr lang="cs-CZ" dirty="0" err="1"/>
              <a:t>how</a:t>
            </a:r>
            <a:r>
              <a:rPr lang="cs-CZ" dirty="0"/>
              <a:t> many </a:t>
            </a:r>
            <a:r>
              <a:rPr lang="cs-CZ" dirty="0" err="1"/>
              <a:t>jobs</a:t>
            </a:r>
            <a:r>
              <a:rPr lang="cs-CZ" dirty="0"/>
              <a:t> </a:t>
            </a:r>
            <a:r>
              <a:rPr lang="cs-CZ" dirty="0" err="1"/>
              <a:t>might</a:t>
            </a:r>
            <a:r>
              <a:rPr lang="cs-CZ" dirty="0"/>
              <a:t> </a:t>
            </a:r>
            <a:r>
              <a:rPr lang="cs-CZ" dirty="0" err="1"/>
              <a:t>this</a:t>
            </a:r>
            <a:r>
              <a:rPr lang="cs-CZ" dirty="0"/>
              <a:t> </a:t>
            </a:r>
            <a:r>
              <a:rPr lang="cs-CZ" dirty="0" err="1"/>
              <a:t>create</a:t>
            </a:r>
            <a:r>
              <a:rPr lang="cs-CZ" dirty="0"/>
              <a:t>”),</a:t>
            </a:r>
          </a:p>
          <a:p>
            <a:r>
              <a:rPr lang="cs-CZ" dirty="0" err="1"/>
              <a:t>environmental</a:t>
            </a:r>
            <a:r>
              <a:rPr lang="cs-CZ" dirty="0"/>
              <a:t> </a:t>
            </a:r>
            <a:r>
              <a:rPr lang="cs-CZ" dirty="0" err="1"/>
              <a:t>impacts</a:t>
            </a:r>
            <a:r>
              <a:rPr lang="cs-CZ" dirty="0"/>
              <a:t> (</a:t>
            </a:r>
            <a:r>
              <a:rPr lang="cs-CZ" dirty="0" err="1"/>
              <a:t>carbon</a:t>
            </a:r>
            <a:r>
              <a:rPr lang="cs-CZ" dirty="0"/>
              <a:t> </a:t>
            </a:r>
            <a:r>
              <a:rPr lang="cs-CZ" dirty="0" err="1"/>
              <a:t>footprint</a:t>
            </a:r>
            <a:r>
              <a:rPr lang="cs-CZ" dirty="0"/>
              <a:t> </a:t>
            </a:r>
            <a:r>
              <a:rPr lang="cs-CZ" dirty="0" err="1"/>
              <a:t>along</a:t>
            </a:r>
            <a:r>
              <a:rPr lang="cs-CZ" dirty="0"/>
              <a:t> </a:t>
            </a:r>
            <a:r>
              <a:rPr lang="cs-CZ" dirty="0" err="1"/>
              <a:t>supply</a:t>
            </a:r>
            <a:r>
              <a:rPr lang="cs-CZ" dirty="0"/>
              <a:t> </a:t>
            </a:r>
            <a:r>
              <a:rPr lang="cs-CZ" dirty="0" err="1"/>
              <a:t>chains</a:t>
            </a:r>
            <a:r>
              <a:rPr lang="cs-CZ" dirty="0"/>
              <a:t>),</a:t>
            </a:r>
          </a:p>
          <a:p>
            <a:r>
              <a:rPr lang="cs-CZ" dirty="0" err="1"/>
              <a:t>crisis</a:t>
            </a:r>
            <a:r>
              <a:rPr lang="cs-CZ" dirty="0"/>
              <a:t>/</a:t>
            </a:r>
            <a:r>
              <a:rPr lang="cs-CZ" dirty="0" err="1"/>
              <a:t>scenario</a:t>
            </a:r>
            <a:r>
              <a:rPr lang="cs-CZ" dirty="0"/>
              <a:t> </a:t>
            </a:r>
            <a:r>
              <a:rPr lang="cs-CZ" dirty="0" err="1"/>
              <a:t>analysis</a:t>
            </a:r>
            <a:r>
              <a:rPr lang="cs-CZ" dirty="0"/>
              <a:t> (input </a:t>
            </a:r>
            <a:r>
              <a:rPr lang="cs-CZ" dirty="0" err="1"/>
              <a:t>disruption</a:t>
            </a:r>
            <a:r>
              <a:rPr lang="cs-CZ" dirty="0"/>
              <a:t>, </a:t>
            </a:r>
            <a:r>
              <a:rPr lang="cs-CZ" dirty="0" err="1"/>
              <a:t>e.g</a:t>
            </a:r>
            <a:r>
              <a:rPr lang="cs-CZ" dirty="0"/>
              <a:t>., </a:t>
            </a:r>
            <a:r>
              <a:rPr lang="cs-CZ" dirty="0" err="1"/>
              <a:t>energy</a:t>
            </a:r>
            <a:r>
              <a:rPr lang="cs-CZ" dirty="0"/>
              <a:t> </a:t>
            </a:r>
            <a:r>
              <a:rPr lang="cs-CZ" dirty="0" err="1"/>
              <a:t>shortages</a:t>
            </a:r>
            <a:r>
              <a:rPr lang="cs-CZ" dirty="0"/>
              <a:t>).</a:t>
            </a:r>
          </a:p>
        </p:txBody>
      </p:sp>
    </p:spTree>
    <p:extLst>
      <p:ext uri="{BB962C8B-B14F-4D97-AF65-F5344CB8AC3E}">
        <p14:creationId xmlns:p14="http://schemas.microsoft.com/office/powerpoint/2010/main" val="2743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7DE6-AF6A-86AA-05B1-BB8F3762493D}"/>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FE914632-ED39-B433-0F6F-768DD6207CC2}"/>
              </a:ext>
            </a:extLst>
          </p:cNvPr>
          <p:cNvSpPr>
            <a:spLocks noGrp="1"/>
          </p:cNvSpPr>
          <p:nvPr>
            <p:ph type="title"/>
          </p:nvPr>
        </p:nvSpPr>
        <p:spPr/>
        <p:txBody>
          <a:bodyPr/>
          <a:lstStyle/>
          <a:p>
            <a:r>
              <a:rPr lang="en-GB" noProof="0" dirty="0"/>
              <a:t>Brief History</a:t>
            </a:r>
          </a:p>
        </p:txBody>
      </p:sp>
      <p:sp>
        <p:nvSpPr>
          <p:cNvPr id="3" name="Zástupný symbol pro obsah 2">
            <a:extLst>
              <a:ext uri="{FF2B5EF4-FFF2-40B4-BE49-F238E27FC236}">
                <a16:creationId xmlns:a16="http://schemas.microsoft.com/office/drawing/2014/main" id="{ED7B3E54-AC11-E69B-071A-C61D37EEA486}"/>
              </a:ext>
            </a:extLst>
          </p:cNvPr>
          <p:cNvSpPr>
            <a:spLocks noGrp="1"/>
          </p:cNvSpPr>
          <p:nvPr>
            <p:ph sz="quarter" idx="1"/>
          </p:nvPr>
        </p:nvSpPr>
        <p:spPr>
          <a:xfrm>
            <a:off x="612648" y="1600200"/>
            <a:ext cx="8279832" cy="4495800"/>
          </a:xfrm>
        </p:spPr>
        <p:txBody>
          <a:bodyPr/>
          <a:lstStyle/>
          <a:p>
            <a:r>
              <a:rPr lang="en-GB" noProof="0" dirty="0" err="1"/>
              <a:t>Wassily</a:t>
            </a:r>
            <a:r>
              <a:rPr lang="en-GB" noProof="0" dirty="0"/>
              <a:t> Leontief (1906 - 1999)</a:t>
            </a:r>
          </a:p>
          <a:p>
            <a:pPr lvl="1"/>
            <a:r>
              <a:rPr lang="en-GB" noProof="0" dirty="0"/>
              <a:t>Input-output tables  for American economy for years 1929 – 1939</a:t>
            </a:r>
          </a:p>
          <a:p>
            <a:pPr lvl="1"/>
            <a:r>
              <a:rPr lang="en-GB" noProof="0" dirty="0"/>
              <a:t>Nobel price in economic sciences in 1973</a:t>
            </a:r>
          </a:p>
          <a:p>
            <a:pPr lvl="1"/>
            <a:r>
              <a:rPr lang="en-GB" noProof="0" dirty="0"/>
              <a:t>Influenced by F. </a:t>
            </a:r>
            <a:r>
              <a:rPr lang="en-GB" noProof="0" dirty="0" err="1"/>
              <a:t>Quesnays</a:t>
            </a:r>
            <a:r>
              <a:rPr lang="en-GB" noProof="0" dirty="0"/>
              <a:t> </a:t>
            </a:r>
            <a:r>
              <a:rPr lang="en-GB" dirty="0"/>
              <a:t>(1694 – 1774)</a:t>
            </a:r>
            <a:r>
              <a:rPr lang="en-GB" noProof="0" dirty="0"/>
              <a:t> </a:t>
            </a:r>
            <a:r>
              <a:rPr lang="en-GB" b="1" i="1" dirty="0" err="1"/>
              <a:t>Tableaue</a:t>
            </a:r>
            <a:r>
              <a:rPr lang="en-GB" b="1" i="1" dirty="0"/>
              <a:t> </a:t>
            </a:r>
            <a:r>
              <a:rPr lang="en-GB" b="1" i="1" dirty="0" err="1"/>
              <a:t>économique</a:t>
            </a:r>
            <a:endParaRPr lang="en-GB" noProof="0" dirty="0"/>
          </a:p>
          <a:p>
            <a:pPr lvl="1"/>
            <a:r>
              <a:rPr lang="en-GB" dirty="0"/>
              <a:t>Input-Output model primarily focus on national economy</a:t>
            </a:r>
            <a:endParaRPr lang="en-GB" noProof="0" dirty="0"/>
          </a:p>
        </p:txBody>
      </p:sp>
    </p:spTree>
    <p:extLst>
      <p:ext uri="{BB962C8B-B14F-4D97-AF65-F5344CB8AC3E}">
        <p14:creationId xmlns:p14="http://schemas.microsoft.com/office/powerpoint/2010/main" val="2714964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4" name="Picture 2" descr="1759"/>
          <p:cNvPicPr>
            <a:picLocks noChangeAspect="1" noChangeArrowheads="1"/>
          </p:cNvPicPr>
          <p:nvPr/>
        </p:nvPicPr>
        <p:blipFill>
          <a:blip r:embed="rId2" cstate="print"/>
          <a:srcRect/>
          <a:stretch>
            <a:fillRect/>
          </a:stretch>
        </p:blipFill>
        <p:spPr bwMode="auto">
          <a:xfrm>
            <a:off x="1835696" y="0"/>
            <a:ext cx="5568950" cy="6858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78E8FFF-DCA3-383C-8108-4843874539E2}"/>
              </a:ext>
            </a:extLst>
          </p:cNvPr>
          <p:cNvSpPr>
            <a:spLocks noGrp="1"/>
          </p:cNvSpPr>
          <p:nvPr>
            <p:ph type="title"/>
          </p:nvPr>
        </p:nvSpPr>
        <p:spPr/>
        <p:txBody>
          <a:bodyPr/>
          <a:lstStyle/>
          <a:p>
            <a:r>
              <a:rPr lang="cs-CZ" dirty="0" err="1"/>
              <a:t>Key</a:t>
            </a:r>
            <a:r>
              <a:rPr lang="cs-CZ" dirty="0"/>
              <a:t> </a:t>
            </a:r>
            <a:r>
              <a:rPr lang="cs-CZ" dirty="0" err="1"/>
              <a:t>concepts</a:t>
            </a:r>
            <a:endParaRPr lang="cs-CZ" dirty="0"/>
          </a:p>
        </p:txBody>
      </p:sp>
      <p:sp>
        <p:nvSpPr>
          <p:cNvPr id="3" name="Zástupný obsah 2">
            <a:extLst>
              <a:ext uri="{FF2B5EF4-FFF2-40B4-BE49-F238E27FC236}">
                <a16:creationId xmlns:a16="http://schemas.microsoft.com/office/drawing/2014/main" id="{82EA2B3C-EEB6-94A8-6881-33777C57EDFF}"/>
              </a:ext>
            </a:extLst>
          </p:cNvPr>
          <p:cNvSpPr>
            <a:spLocks noGrp="1"/>
          </p:cNvSpPr>
          <p:nvPr>
            <p:ph sz="quarter" idx="1"/>
          </p:nvPr>
        </p:nvSpPr>
        <p:spPr/>
        <p:txBody>
          <a:bodyPr/>
          <a:lstStyle/>
          <a:p>
            <a:pPr marL="0" indent="0">
              <a:buNone/>
            </a:pPr>
            <a:r>
              <a:rPr lang="en-US" b="1" dirty="0"/>
              <a:t>Industries / sectors</a:t>
            </a:r>
          </a:p>
          <a:p>
            <a:r>
              <a:rPr lang="en-US" dirty="0"/>
              <a:t>We simplify the economy into a few sectors (e.g., Agriculture, Industry, Services).</a:t>
            </a:r>
          </a:p>
          <a:p>
            <a:pPr marL="0" indent="0">
              <a:buNone/>
            </a:pPr>
            <a:r>
              <a:rPr lang="en-US" b="1" dirty="0"/>
              <a:t>Intermediate demand</a:t>
            </a:r>
            <a:r>
              <a:rPr lang="cs-CZ" b="1" dirty="0"/>
              <a:t> /</a:t>
            </a:r>
            <a:r>
              <a:rPr lang="cs-CZ" b="1" dirty="0" err="1"/>
              <a:t>consumption</a:t>
            </a:r>
            <a:endParaRPr lang="en-US" b="1" dirty="0"/>
          </a:p>
          <a:p>
            <a:r>
              <a:rPr lang="en-US" dirty="0"/>
              <a:t>Goods and services industries buy </a:t>
            </a:r>
            <a:r>
              <a:rPr lang="en-US" b="1" dirty="0"/>
              <a:t>from each other</a:t>
            </a:r>
            <a:r>
              <a:rPr lang="en-US" dirty="0"/>
              <a:t> as inputs for production (e.g., Industry buys electricity).</a:t>
            </a:r>
          </a:p>
          <a:p>
            <a:pPr marL="0" indent="0">
              <a:buNone/>
            </a:pPr>
            <a:r>
              <a:rPr lang="en-US" b="1" dirty="0"/>
              <a:t>Final demand</a:t>
            </a:r>
            <a:r>
              <a:rPr lang="cs-CZ" b="1" dirty="0"/>
              <a:t> /</a:t>
            </a:r>
            <a:r>
              <a:rPr lang="cs-CZ" b="1" dirty="0" err="1"/>
              <a:t>uses</a:t>
            </a:r>
            <a:r>
              <a:rPr lang="en-US" b="1" dirty="0"/>
              <a:t> = y</a:t>
            </a:r>
          </a:p>
          <a:p>
            <a:r>
              <a:rPr lang="en-US" dirty="0"/>
              <a:t>Households, government, investment, exports… i.e., purchases </a:t>
            </a:r>
            <a:r>
              <a:rPr lang="en-US" b="1" dirty="0"/>
              <a:t>not used as inputs</a:t>
            </a:r>
            <a:r>
              <a:rPr lang="en-US" dirty="0"/>
              <a:t> for further production.</a:t>
            </a:r>
          </a:p>
          <a:p>
            <a:pPr marL="0" indent="0">
              <a:buNone/>
            </a:pPr>
            <a:r>
              <a:rPr lang="en-US" b="1" dirty="0"/>
              <a:t>Total output = x</a:t>
            </a:r>
          </a:p>
          <a:p>
            <a:r>
              <a:rPr lang="en-US" dirty="0"/>
              <a:t>How much each industry produces (and sells) in total: to other industries + to final demand.</a:t>
            </a:r>
          </a:p>
          <a:p>
            <a:endParaRPr lang="cs-CZ" dirty="0"/>
          </a:p>
        </p:txBody>
      </p:sp>
    </p:spTree>
    <p:extLst>
      <p:ext uri="{BB962C8B-B14F-4D97-AF65-F5344CB8AC3E}">
        <p14:creationId xmlns:p14="http://schemas.microsoft.com/office/powerpoint/2010/main" val="330730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TextovéPole 6">
                <a:extLst>
                  <a:ext uri="{FF2B5EF4-FFF2-40B4-BE49-F238E27FC236}">
                    <a16:creationId xmlns:a16="http://schemas.microsoft.com/office/drawing/2014/main" id="{62E3F77E-D877-0184-1AC6-614611F7D6DE}"/>
                  </a:ext>
                </a:extLst>
              </p:cNvPr>
              <p:cNvSpPr txBox="1"/>
              <p:nvPr/>
            </p:nvSpPr>
            <p:spPr>
              <a:xfrm>
                <a:off x="755576" y="260648"/>
                <a:ext cx="7848872" cy="5397375"/>
              </a:xfrm>
              <a:prstGeom prst="rect">
                <a:avLst/>
              </a:prstGeom>
              <a:noFill/>
            </p:spPr>
            <p:txBody>
              <a:bodyPr wrap="square">
                <a:spAutoFit/>
              </a:bodyPr>
              <a:lstStyle/>
              <a:p>
                <a:pPr>
                  <a:buNone/>
                </a:pPr>
                <a:r>
                  <a:rPr lang="cs-CZ" sz="1800" dirty="0"/>
                  <a:t>I–O </a:t>
                </a:r>
                <a:r>
                  <a:rPr lang="cs-CZ" sz="1800" dirty="0" err="1"/>
                  <a:t>tables</a:t>
                </a:r>
                <a:r>
                  <a:rPr lang="cs-CZ" sz="1800" dirty="0"/>
                  <a:t> are </a:t>
                </a:r>
                <a:r>
                  <a:rPr lang="cs-CZ" sz="1800" dirty="0" err="1"/>
                  <a:t>often</a:t>
                </a:r>
                <a:r>
                  <a:rPr lang="cs-CZ" sz="1800" dirty="0"/>
                  <a:t> </a:t>
                </a:r>
                <a:r>
                  <a:rPr lang="cs-CZ" sz="1800" dirty="0" err="1"/>
                  <a:t>presented</a:t>
                </a:r>
                <a:r>
                  <a:rPr lang="cs-CZ" sz="1800" dirty="0"/>
                  <a:t> as a </a:t>
                </a:r>
                <a:r>
                  <a:rPr lang="cs-CZ" sz="1800" b="1" dirty="0" err="1"/>
                  <a:t>four-quadrant</a:t>
                </a:r>
                <a:r>
                  <a:rPr lang="cs-CZ" sz="1800" b="1" dirty="0"/>
                  <a:t> (</a:t>
                </a:r>
                <a:r>
                  <a:rPr lang="cs-CZ" sz="1800" b="1" dirty="0" err="1"/>
                  <a:t>four-block</a:t>
                </a:r>
                <a:r>
                  <a:rPr lang="cs-CZ" sz="1800" b="1" dirty="0"/>
                  <a:t>) </a:t>
                </a:r>
                <a:r>
                  <a:rPr lang="cs-CZ" sz="1800" b="1" dirty="0" err="1"/>
                  <a:t>structure</a:t>
                </a:r>
                <a:r>
                  <a:rPr lang="cs-CZ" sz="1800" dirty="0"/>
                  <a:t>:</a:t>
                </a:r>
              </a:p>
              <a:p>
                <a:pPr>
                  <a:buNone/>
                </a:pPr>
                <a:r>
                  <a:rPr lang="cs-CZ" sz="1800" b="1" dirty="0" err="1"/>
                  <a:t>Quadrant</a:t>
                </a:r>
                <a:r>
                  <a:rPr lang="cs-CZ" sz="1800" b="1" dirty="0"/>
                  <a:t> I: Inter-</a:t>
                </a:r>
                <a:r>
                  <a:rPr lang="cs-CZ" sz="1800" b="1" dirty="0" err="1"/>
                  <a:t>industry</a:t>
                </a:r>
                <a:r>
                  <a:rPr lang="cs-CZ" sz="1800" b="1" dirty="0"/>
                  <a:t> </a:t>
                </a:r>
                <a:r>
                  <a:rPr lang="cs-CZ" sz="1800" b="1" dirty="0" err="1"/>
                  <a:t>transactions</a:t>
                </a:r>
                <a:r>
                  <a:rPr lang="cs-CZ" sz="1800" b="1" dirty="0"/>
                  <a:t> (</a:t>
                </a:r>
                <a:r>
                  <a:rPr lang="cs-CZ" sz="1800" b="1" dirty="0" err="1"/>
                  <a:t>Intermediate</a:t>
                </a:r>
                <a:r>
                  <a:rPr lang="cs-CZ" sz="1800" b="1" dirty="0"/>
                  <a:t> </a:t>
                </a:r>
                <a:r>
                  <a:rPr lang="cs-CZ" sz="1800" b="1" dirty="0" err="1"/>
                  <a:t>demand</a:t>
                </a:r>
                <a:r>
                  <a:rPr lang="cs-CZ" sz="1800" b="1" dirty="0"/>
                  <a:t>)</a:t>
                </a:r>
              </a:p>
              <a:p>
                <a:pPr>
                  <a:buFont typeface="Arial" panose="020B0604020202020204" pitchFamily="34" charset="0"/>
                  <a:buChar char="•"/>
                </a:pPr>
                <a:r>
                  <a:rPr lang="cs-CZ" sz="1800" dirty="0"/>
                  <a:t>Matrix A</a:t>
                </a:r>
                <a14:m>
                  <m:oMath xmlns:m="http://schemas.openxmlformats.org/officeDocument/2006/math">
                    <m:r>
                      <a:rPr lang="cs-CZ" sz="1800" i="0">
                        <a:latin typeface="Cambria Math" panose="02040503050406030204" pitchFamily="18" charset="0"/>
                      </a:rPr>
                      <m:t>=</m:t>
                    </m:r>
                    <m:d>
                      <m:dPr>
                        <m:begChr m:val="["/>
                        <m:endChr m:val="]"/>
                        <m:ctrlPr>
                          <a:rPr lang="ar-AE" sz="1800" i="1">
                            <a:latin typeface="Cambria Math" panose="02040503050406030204" pitchFamily="18" charset="0"/>
                          </a:rPr>
                        </m:ctrlPr>
                      </m:dPr>
                      <m:e>
                        <m:sSub>
                          <m:sSubPr>
                            <m:ctrlPr>
                              <a:rPr lang="ar-AE" sz="1800" i="1">
                                <a:latin typeface="Cambria Math" panose="02040503050406030204" pitchFamily="18" charset="0"/>
                              </a:rPr>
                            </m:ctrlPr>
                          </m:sSubPr>
                          <m:e>
                            <m:r>
                              <a:rPr lang="cs-CZ" sz="1800" b="0" i="1" smtClean="0">
                                <a:latin typeface="Cambria Math" panose="02040503050406030204" pitchFamily="18" charset="0"/>
                              </a:rPr>
                              <m:t>𝑎</m:t>
                            </m:r>
                          </m:e>
                          <m:sub>
                            <m:r>
                              <a:rPr lang="ar-AE" sz="1800" i="1">
                                <a:latin typeface="Cambria Math" panose="02040503050406030204" pitchFamily="18" charset="0"/>
                              </a:rPr>
                              <m:t>𝑖𝑗</m:t>
                            </m:r>
                          </m:sub>
                        </m:sSub>
                      </m:e>
                    </m:d>
                  </m:oMath>
                </a14:m>
                <a:r>
                  <a:rPr lang="ar-AE" sz="1800" dirty="0"/>
                  <a:t>: </a:t>
                </a:r>
                <a:r>
                  <a:rPr lang="cs-CZ" sz="1800" dirty="0" err="1"/>
                  <a:t>how</a:t>
                </a:r>
                <a:r>
                  <a:rPr lang="cs-CZ" sz="1800" dirty="0"/>
                  <a:t> much </a:t>
                </a:r>
                <a:r>
                  <a:rPr lang="cs-CZ" sz="1800" dirty="0" err="1"/>
                  <a:t>industry</a:t>
                </a:r>
                <a:r>
                  <a:rPr lang="cs-CZ" sz="1800" dirty="0"/>
                  <a:t> </a:t>
                </a:r>
                <a14:m>
                  <m:oMath xmlns:m="http://schemas.openxmlformats.org/officeDocument/2006/math">
                    <m:r>
                      <a:rPr lang="cs-CZ" sz="1800" i="1">
                        <a:latin typeface="Cambria Math" panose="02040503050406030204" pitchFamily="18" charset="0"/>
                      </a:rPr>
                      <m:t>𝑖</m:t>
                    </m:r>
                  </m:oMath>
                </a14:m>
                <a:r>
                  <a:rPr lang="cs-CZ" sz="1800" dirty="0" err="1"/>
                  <a:t>supplies</a:t>
                </a:r>
                <a:r>
                  <a:rPr lang="cs-CZ" sz="1800" dirty="0"/>
                  <a:t> to </a:t>
                </a:r>
                <a:r>
                  <a:rPr lang="cs-CZ" sz="1800" dirty="0" err="1"/>
                  <a:t>industry</a:t>
                </a:r>
                <a:r>
                  <a:rPr lang="cs-CZ" sz="1800" dirty="0"/>
                  <a:t> </a:t>
                </a:r>
                <a14:m>
                  <m:oMath xmlns:m="http://schemas.openxmlformats.org/officeDocument/2006/math">
                    <m:r>
                      <a:rPr lang="cs-CZ" sz="1800" i="1">
                        <a:latin typeface="Cambria Math" panose="02040503050406030204" pitchFamily="18" charset="0"/>
                      </a:rPr>
                      <m:t>𝑗</m:t>
                    </m:r>
                  </m:oMath>
                </a14:m>
                <a:r>
                  <a:rPr lang="cs-CZ" sz="1800" dirty="0"/>
                  <a:t>as </a:t>
                </a:r>
                <a:r>
                  <a:rPr lang="cs-CZ" sz="1800" dirty="0" err="1"/>
                  <a:t>an</a:t>
                </a:r>
                <a:r>
                  <a:rPr lang="cs-CZ" sz="1800" dirty="0"/>
                  <a:t> input.</a:t>
                </a:r>
              </a:p>
              <a:p>
                <a:pPr>
                  <a:buFont typeface="Arial" panose="020B0604020202020204" pitchFamily="34" charset="0"/>
                  <a:buChar char="•"/>
                </a:pPr>
                <a:r>
                  <a:rPr lang="cs-CZ" sz="1800" dirty="0" err="1"/>
                  <a:t>This</a:t>
                </a:r>
                <a:r>
                  <a:rPr lang="cs-CZ" sz="1800" dirty="0"/>
                  <a:t> </a:t>
                </a:r>
                <a:r>
                  <a:rPr lang="cs-CZ" sz="1800" dirty="0" err="1"/>
                  <a:t>is</a:t>
                </a:r>
                <a:r>
                  <a:rPr lang="cs-CZ" sz="1800" dirty="0"/>
                  <a:t> </a:t>
                </a:r>
                <a:r>
                  <a:rPr lang="cs-CZ" sz="1800" dirty="0" err="1"/>
                  <a:t>the</a:t>
                </a:r>
                <a:r>
                  <a:rPr lang="cs-CZ" sz="1800" dirty="0"/>
                  <a:t> “</a:t>
                </a:r>
                <a:r>
                  <a:rPr lang="cs-CZ" sz="1800" dirty="0" err="1"/>
                  <a:t>heart</a:t>
                </a:r>
                <a:r>
                  <a:rPr lang="cs-CZ" sz="1800" dirty="0"/>
                  <a:t>” </a:t>
                </a:r>
                <a:r>
                  <a:rPr lang="cs-CZ" sz="1800" dirty="0" err="1"/>
                  <a:t>of</a:t>
                </a:r>
                <a:r>
                  <a:rPr lang="cs-CZ" sz="1800" dirty="0"/>
                  <a:t> I–O </a:t>
                </a:r>
                <a:r>
                  <a:rPr lang="cs-CZ" sz="1800" dirty="0" err="1"/>
                  <a:t>analysis</a:t>
                </a:r>
                <a:r>
                  <a:rPr lang="cs-CZ" sz="1800" dirty="0"/>
                  <a:t>, </a:t>
                </a:r>
                <a:r>
                  <a:rPr lang="cs-CZ" sz="1800" dirty="0" err="1"/>
                  <a:t>because</a:t>
                </a:r>
                <a:r>
                  <a:rPr lang="cs-CZ" sz="1800" dirty="0"/>
                  <a:t> </a:t>
                </a:r>
                <a:r>
                  <a:rPr lang="cs-CZ" sz="1800" dirty="0" err="1"/>
                  <a:t>it</a:t>
                </a:r>
                <a:r>
                  <a:rPr lang="cs-CZ" sz="1800" dirty="0"/>
                  <a:t> </a:t>
                </a:r>
                <a:r>
                  <a:rPr lang="cs-CZ" sz="1800" dirty="0" err="1"/>
                  <a:t>is</a:t>
                </a:r>
                <a:r>
                  <a:rPr lang="cs-CZ" sz="1800" dirty="0"/>
                  <a:t> </a:t>
                </a:r>
                <a:r>
                  <a:rPr lang="cs-CZ" sz="1800" dirty="0" err="1"/>
                  <a:t>the</a:t>
                </a:r>
                <a:r>
                  <a:rPr lang="cs-CZ" sz="1800" dirty="0"/>
                  <a:t> </a:t>
                </a:r>
                <a:r>
                  <a:rPr lang="cs-CZ" sz="1800" dirty="0" err="1"/>
                  <a:t>basis</a:t>
                </a:r>
                <a:r>
                  <a:rPr lang="cs-CZ" sz="1800" dirty="0"/>
                  <a:t> </a:t>
                </a:r>
                <a:r>
                  <a:rPr lang="cs-CZ" sz="1800" dirty="0" err="1"/>
                  <a:t>for</a:t>
                </a:r>
                <a:r>
                  <a:rPr lang="cs-CZ" sz="1800" dirty="0"/>
                  <a:t> </a:t>
                </a:r>
                <a:r>
                  <a:rPr lang="cs-CZ" sz="1800" dirty="0" err="1"/>
                  <a:t>constructing</a:t>
                </a:r>
                <a:r>
                  <a:rPr lang="cs-CZ" sz="1800" dirty="0"/>
                  <a:t> matrix </a:t>
                </a:r>
                <a14:m>
                  <m:oMath xmlns:m="http://schemas.openxmlformats.org/officeDocument/2006/math">
                    <m:r>
                      <a:rPr lang="cs-CZ" sz="1800" i="1">
                        <a:latin typeface="Cambria Math" panose="02040503050406030204" pitchFamily="18" charset="0"/>
                      </a:rPr>
                      <m:t>𝐴</m:t>
                    </m:r>
                  </m:oMath>
                </a14:m>
                <a:r>
                  <a:rPr lang="cs-CZ" sz="1800" dirty="0"/>
                  <a:t>.</a:t>
                </a:r>
              </a:p>
              <a:p>
                <a:pPr>
                  <a:buNone/>
                </a:pPr>
                <a:r>
                  <a:rPr lang="cs-CZ" sz="1800" b="1" dirty="0" err="1"/>
                  <a:t>Quadrant</a:t>
                </a:r>
                <a:r>
                  <a:rPr lang="cs-CZ" sz="1800" b="1" dirty="0"/>
                  <a:t> II: </a:t>
                </a:r>
                <a:r>
                  <a:rPr lang="cs-CZ" sz="1800" b="1" dirty="0" err="1"/>
                  <a:t>Final</a:t>
                </a:r>
                <a:r>
                  <a:rPr lang="cs-CZ" sz="1800" b="1" dirty="0"/>
                  <a:t> </a:t>
                </a:r>
                <a:r>
                  <a:rPr lang="cs-CZ" sz="1800" b="1" dirty="0" err="1"/>
                  <a:t>demand</a:t>
                </a:r>
                <a:endParaRPr lang="cs-CZ" sz="1800" b="1" dirty="0"/>
              </a:p>
              <a:p>
                <a:pPr>
                  <a:buFont typeface="Arial" panose="020B0604020202020204" pitchFamily="34" charset="0"/>
                  <a:buChar char="•"/>
                </a:pPr>
                <a:r>
                  <a:rPr lang="cs-CZ" sz="1800" dirty="0" err="1"/>
                  <a:t>Household</a:t>
                </a:r>
                <a:r>
                  <a:rPr lang="cs-CZ" sz="1800" dirty="0"/>
                  <a:t> </a:t>
                </a:r>
                <a:r>
                  <a:rPr lang="cs-CZ" sz="1800" dirty="0" err="1"/>
                  <a:t>consumption</a:t>
                </a:r>
                <a:r>
                  <a:rPr lang="cs-CZ" sz="1800" dirty="0"/>
                  <a:t>, </a:t>
                </a:r>
                <a:r>
                  <a:rPr lang="cs-CZ" sz="1800" dirty="0" err="1"/>
                  <a:t>government</a:t>
                </a:r>
                <a:r>
                  <a:rPr lang="cs-CZ" sz="1800" dirty="0"/>
                  <a:t> </a:t>
                </a:r>
                <a:r>
                  <a:rPr lang="cs-CZ" sz="1800" dirty="0" err="1"/>
                  <a:t>consumption</a:t>
                </a:r>
                <a:r>
                  <a:rPr lang="cs-CZ" sz="1800" dirty="0"/>
                  <a:t>, </a:t>
                </a:r>
                <a:r>
                  <a:rPr lang="cs-CZ" sz="1800" dirty="0" err="1"/>
                  <a:t>investment</a:t>
                </a:r>
                <a:r>
                  <a:rPr lang="cs-CZ" sz="1800" dirty="0"/>
                  <a:t>, </a:t>
                </a:r>
                <a:r>
                  <a:rPr lang="cs-CZ" sz="1800" dirty="0" err="1"/>
                  <a:t>changes</a:t>
                </a:r>
                <a:r>
                  <a:rPr lang="cs-CZ" sz="1800" dirty="0"/>
                  <a:t> in </a:t>
                </a:r>
                <a:r>
                  <a:rPr lang="cs-CZ" sz="1800" dirty="0" err="1"/>
                  <a:t>inventories</a:t>
                </a:r>
                <a:r>
                  <a:rPr lang="cs-CZ" sz="1800" dirty="0"/>
                  <a:t>, </a:t>
                </a:r>
                <a:r>
                  <a:rPr lang="cs-CZ" sz="1800" dirty="0" err="1"/>
                  <a:t>exports</a:t>
                </a:r>
                <a:r>
                  <a:rPr lang="cs-CZ" sz="1800" dirty="0"/>
                  <a:t>…</a:t>
                </a:r>
              </a:p>
              <a:p>
                <a:pPr>
                  <a:buFont typeface="Arial" panose="020B0604020202020204" pitchFamily="34" charset="0"/>
                  <a:buChar char="•"/>
                </a:pPr>
                <a:r>
                  <a:rPr lang="cs-CZ" sz="1800" dirty="0" err="1"/>
                  <a:t>Row</a:t>
                </a:r>
                <a:r>
                  <a:rPr lang="cs-CZ" sz="1800" dirty="0"/>
                  <a:t> </a:t>
                </a:r>
                <a:r>
                  <a:rPr lang="cs-CZ" sz="1800" dirty="0" err="1"/>
                  <a:t>totals</a:t>
                </a:r>
                <a:r>
                  <a:rPr lang="cs-CZ" sz="1800" dirty="0"/>
                  <a:t> in </a:t>
                </a:r>
                <a:r>
                  <a:rPr lang="cs-CZ" sz="1800" dirty="0" err="1"/>
                  <a:t>this</a:t>
                </a:r>
                <a:r>
                  <a:rPr lang="cs-CZ" sz="1800" dirty="0"/>
                  <a:t> </a:t>
                </a:r>
                <a:r>
                  <a:rPr lang="cs-CZ" sz="1800" dirty="0" err="1"/>
                  <a:t>quadrant</a:t>
                </a:r>
                <a:r>
                  <a:rPr lang="cs-CZ" sz="1800" dirty="0"/>
                  <a:t> show </a:t>
                </a:r>
                <a:r>
                  <a:rPr lang="cs-CZ" sz="1800" dirty="0" err="1"/>
                  <a:t>how</a:t>
                </a:r>
                <a:r>
                  <a:rPr lang="cs-CZ" sz="1800" dirty="0"/>
                  <a:t> much </a:t>
                </a:r>
                <a:r>
                  <a:rPr lang="cs-CZ" sz="1800" dirty="0" err="1"/>
                  <a:t>of</a:t>
                </a:r>
                <a:r>
                  <a:rPr lang="cs-CZ" sz="1800" dirty="0"/>
                  <a:t> </a:t>
                </a:r>
                <a:r>
                  <a:rPr lang="cs-CZ" sz="1800" dirty="0" err="1"/>
                  <a:t>industry</a:t>
                </a:r>
                <a:r>
                  <a:rPr lang="cs-CZ" sz="1800" dirty="0"/>
                  <a:t> </a:t>
                </a:r>
                <a14:m>
                  <m:oMath xmlns:m="http://schemas.openxmlformats.org/officeDocument/2006/math">
                    <m:r>
                      <a:rPr lang="cs-CZ" sz="1800" i="1">
                        <a:latin typeface="Cambria Math" panose="02040503050406030204" pitchFamily="18" charset="0"/>
                      </a:rPr>
                      <m:t>𝑖</m:t>
                    </m:r>
                  </m:oMath>
                </a14:m>
                <a:r>
                  <a:rPr lang="cs-CZ" sz="1800" dirty="0"/>
                  <a:t>’s output </a:t>
                </a:r>
                <a:r>
                  <a:rPr lang="cs-CZ" sz="1800" dirty="0" err="1"/>
                  <a:t>goes</a:t>
                </a:r>
                <a:r>
                  <a:rPr lang="cs-CZ" sz="1800" dirty="0"/>
                  <a:t> to </a:t>
                </a:r>
                <a:r>
                  <a:rPr lang="cs-CZ" sz="1800" dirty="0" err="1"/>
                  <a:t>final</a:t>
                </a:r>
                <a:r>
                  <a:rPr lang="cs-CZ" sz="1800" dirty="0"/>
                  <a:t> </a:t>
                </a:r>
                <a:r>
                  <a:rPr lang="cs-CZ" sz="1800" dirty="0" err="1"/>
                  <a:t>users</a:t>
                </a:r>
                <a:r>
                  <a:rPr lang="cs-CZ" sz="1800" dirty="0"/>
                  <a:t>.</a:t>
                </a:r>
              </a:p>
              <a:p>
                <a:pPr>
                  <a:buNone/>
                </a:pPr>
                <a:r>
                  <a:rPr lang="cs-CZ" sz="1800" b="1" dirty="0" err="1"/>
                  <a:t>Quadrant</a:t>
                </a:r>
                <a:r>
                  <a:rPr lang="cs-CZ" sz="1800" b="1" dirty="0"/>
                  <a:t> III: </a:t>
                </a:r>
                <a:r>
                  <a:rPr lang="cs-CZ" sz="1800" b="1" dirty="0" err="1"/>
                  <a:t>Primary</a:t>
                </a:r>
                <a:r>
                  <a:rPr lang="cs-CZ" sz="1800" b="1" dirty="0"/>
                  <a:t> </a:t>
                </a:r>
                <a:r>
                  <a:rPr lang="cs-CZ" sz="1800" b="1" dirty="0" err="1"/>
                  <a:t>inputs</a:t>
                </a:r>
                <a:r>
                  <a:rPr lang="cs-CZ" sz="1800" b="1" dirty="0"/>
                  <a:t> / </a:t>
                </a:r>
                <a:r>
                  <a:rPr lang="cs-CZ" sz="1800" b="1" dirty="0" err="1"/>
                  <a:t>Value</a:t>
                </a:r>
                <a:r>
                  <a:rPr lang="cs-CZ" sz="1800" b="1" dirty="0"/>
                  <a:t> </a:t>
                </a:r>
                <a:r>
                  <a:rPr lang="cs-CZ" sz="1800" b="1" dirty="0" err="1"/>
                  <a:t>added</a:t>
                </a:r>
                <a:endParaRPr lang="cs-CZ" sz="1800" b="1" dirty="0"/>
              </a:p>
              <a:p>
                <a:pPr>
                  <a:buFont typeface="Arial" panose="020B0604020202020204" pitchFamily="34" charset="0"/>
                  <a:buChar char="•"/>
                </a:pPr>
                <a:r>
                  <a:rPr lang="cs-CZ" sz="1800" dirty="0" err="1"/>
                  <a:t>Wages</a:t>
                </a:r>
                <a:r>
                  <a:rPr lang="cs-CZ" sz="1800" dirty="0"/>
                  <a:t>, </a:t>
                </a:r>
                <a:r>
                  <a:rPr lang="cs-CZ" sz="1800" dirty="0" err="1"/>
                  <a:t>operating</a:t>
                </a:r>
                <a:r>
                  <a:rPr lang="cs-CZ" sz="1800" dirty="0"/>
                  <a:t> </a:t>
                </a:r>
                <a:r>
                  <a:rPr lang="cs-CZ" sz="1800" dirty="0" err="1"/>
                  <a:t>surplus</a:t>
                </a:r>
                <a:r>
                  <a:rPr lang="cs-CZ" sz="1800" dirty="0"/>
                  <a:t> (</a:t>
                </a:r>
                <a:r>
                  <a:rPr lang="cs-CZ" sz="1800" dirty="0" err="1"/>
                  <a:t>profits</a:t>
                </a:r>
                <a:r>
                  <a:rPr lang="cs-CZ" sz="1800" dirty="0"/>
                  <a:t>), </a:t>
                </a:r>
                <a:r>
                  <a:rPr lang="cs-CZ" sz="1800" dirty="0" err="1"/>
                  <a:t>taxes</a:t>
                </a:r>
                <a:r>
                  <a:rPr lang="cs-CZ" sz="1800" dirty="0"/>
                  <a:t> on </a:t>
                </a:r>
                <a:r>
                  <a:rPr lang="cs-CZ" sz="1800" dirty="0" err="1"/>
                  <a:t>production</a:t>
                </a:r>
                <a:r>
                  <a:rPr lang="cs-CZ" sz="1800" dirty="0"/>
                  <a:t> minus </a:t>
                </a:r>
                <a:r>
                  <a:rPr lang="cs-CZ" sz="1800" dirty="0" err="1"/>
                  <a:t>subsidies</a:t>
                </a:r>
                <a:r>
                  <a:rPr lang="cs-CZ" sz="1800" dirty="0"/>
                  <a:t> (and </a:t>
                </a:r>
                <a:r>
                  <a:rPr lang="cs-CZ" sz="1800" dirty="0" err="1"/>
                  <a:t>sometimes</a:t>
                </a:r>
                <a:r>
                  <a:rPr lang="cs-CZ" sz="1800" dirty="0"/>
                  <a:t> </a:t>
                </a:r>
                <a:r>
                  <a:rPr lang="cs-CZ" sz="1800" dirty="0" err="1"/>
                  <a:t>other</a:t>
                </a:r>
                <a:r>
                  <a:rPr lang="cs-CZ" sz="1800" dirty="0"/>
                  <a:t> </a:t>
                </a:r>
                <a:r>
                  <a:rPr lang="cs-CZ" sz="1800" dirty="0" err="1"/>
                  <a:t>primary</a:t>
                </a:r>
                <a:r>
                  <a:rPr lang="cs-CZ" sz="1800" dirty="0"/>
                  <a:t> </a:t>
                </a:r>
                <a:r>
                  <a:rPr lang="cs-CZ" sz="1800" dirty="0" err="1"/>
                  <a:t>inputs</a:t>
                </a:r>
                <a:r>
                  <a:rPr lang="cs-CZ" sz="1800" dirty="0"/>
                  <a:t>).</a:t>
                </a:r>
              </a:p>
              <a:p>
                <a:pPr>
                  <a:buFont typeface="Arial" panose="020B0604020202020204" pitchFamily="34" charset="0"/>
                  <a:buChar char="•"/>
                </a:pPr>
                <a:r>
                  <a:rPr lang="cs-CZ" sz="1800" dirty="0"/>
                  <a:t>These are </a:t>
                </a:r>
                <a:r>
                  <a:rPr lang="cs-CZ" sz="1800" dirty="0" err="1"/>
                  <a:t>inputs</a:t>
                </a:r>
                <a:r>
                  <a:rPr lang="cs-CZ" sz="1800" dirty="0"/>
                  <a:t> </a:t>
                </a:r>
                <a:r>
                  <a:rPr lang="cs-CZ" sz="1800" b="1" dirty="0"/>
                  <a:t>not </a:t>
                </a:r>
                <a:r>
                  <a:rPr lang="cs-CZ" sz="1800" b="1" dirty="0" err="1"/>
                  <a:t>produced</a:t>
                </a:r>
                <a:r>
                  <a:rPr lang="cs-CZ" sz="1800" b="1" dirty="0"/>
                  <a:t> by </a:t>
                </a:r>
                <a:r>
                  <a:rPr lang="cs-CZ" sz="1800" b="1" dirty="0" err="1"/>
                  <a:t>industries</a:t>
                </a:r>
                <a:r>
                  <a:rPr lang="cs-CZ" sz="1800" dirty="0"/>
                  <a:t> in </a:t>
                </a:r>
                <a:r>
                  <a:rPr lang="cs-CZ" sz="1800" dirty="0" err="1"/>
                  <a:t>the</a:t>
                </a:r>
                <a:r>
                  <a:rPr lang="cs-CZ" sz="1800" dirty="0"/>
                  <a:t> table (</a:t>
                </a:r>
                <a:r>
                  <a:rPr lang="cs-CZ" sz="1800" dirty="0" err="1"/>
                  <a:t>e.g</a:t>
                </a:r>
                <a:r>
                  <a:rPr lang="cs-CZ" sz="1800" dirty="0"/>
                  <a:t>., </a:t>
                </a:r>
                <a:r>
                  <a:rPr lang="cs-CZ" sz="1800" dirty="0" err="1"/>
                  <a:t>labor</a:t>
                </a:r>
                <a:r>
                  <a:rPr lang="cs-CZ" sz="1800" dirty="0"/>
                  <a:t> and </a:t>
                </a:r>
                <a:r>
                  <a:rPr lang="cs-CZ" sz="1800" dirty="0" err="1"/>
                  <a:t>capital</a:t>
                </a:r>
                <a:r>
                  <a:rPr lang="cs-CZ" sz="1800" dirty="0"/>
                  <a:t> </a:t>
                </a:r>
                <a:r>
                  <a:rPr lang="cs-CZ" sz="1800" dirty="0" err="1"/>
                  <a:t>services</a:t>
                </a:r>
                <a:r>
                  <a:rPr lang="cs-CZ" sz="1800" dirty="0"/>
                  <a:t>).</a:t>
                </a:r>
              </a:p>
              <a:p>
                <a:pPr>
                  <a:buNone/>
                </a:pPr>
                <a:r>
                  <a:rPr lang="cs-CZ" sz="1800" b="1" dirty="0" err="1"/>
                  <a:t>Quadrant</a:t>
                </a:r>
                <a:r>
                  <a:rPr lang="cs-CZ" sz="1800" b="1" dirty="0"/>
                  <a:t> IV: </a:t>
                </a:r>
                <a:r>
                  <a:rPr lang="cs-CZ" sz="1800" b="1" dirty="0" err="1"/>
                  <a:t>Supplementary</a:t>
                </a:r>
                <a:r>
                  <a:rPr lang="cs-CZ" sz="1800" b="1" dirty="0"/>
                  <a:t> </a:t>
                </a:r>
                <a:r>
                  <a:rPr lang="cs-CZ" sz="1800" b="1" dirty="0" err="1"/>
                  <a:t>block</a:t>
                </a:r>
                <a:r>
                  <a:rPr lang="cs-CZ" sz="1800" b="1" dirty="0"/>
                  <a:t> (</a:t>
                </a:r>
                <a:r>
                  <a:rPr lang="cs-CZ" sz="1800" b="1" dirty="0" err="1"/>
                  <a:t>often</a:t>
                </a:r>
                <a:r>
                  <a:rPr lang="cs-CZ" sz="1800" b="1" dirty="0"/>
                  <a:t> </a:t>
                </a:r>
                <a:r>
                  <a:rPr lang="cs-CZ" sz="1800" b="1" dirty="0" err="1"/>
                  <a:t>empty</a:t>
                </a:r>
                <a:r>
                  <a:rPr lang="cs-CZ" sz="1800" b="1" dirty="0"/>
                  <a:t> / not </a:t>
                </a:r>
                <a:r>
                  <a:rPr lang="cs-CZ" sz="1800" b="1" dirty="0" err="1"/>
                  <a:t>used</a:t>
                </a:r>
                <a:r>
                  <a:rPr lang="cs-CZ" sz="1800" b="1" dirty="0"/>
                  <a:t> in </a:t>
                </a:r>
                <a:r>
                  <a:rPr lang="cs-CZ" sz="1800" b="1" dirty="0" err="1"/>
                  <a:t>the</a:t>
                </a:r>
                <a:r>
                  <a:rPr lang="cs-CZ" sz="1800" b="1" dirty="0"/>
                  <a:t> basic model)</a:t>
                </a:r>
              </a:p>
              <a:p>
                <a:pPr>
                  <a:buFont typeface="Arial" panose="020B0604020202020204" pitchFamily="34" charset="0"/>
                  <a:buChar char="•"/>
                </a:pPr>
                <a:r>
                  <a:rPr lang="cs-CZ" sz="1800" dirty="0"/>
                  <a:t>In </a:t>
                </a:r>
                <a:r>
                  <a:rPr lang="cs-CZ" sz="1800" dirty="0" err="1"/>
                  <a:t>the</a:t>
                </a:r>
                <a:r>
                  <a:rPr lang="cs-CZ" sz="1800" dirty="0"/>
                  <a:t> </a:t>
                </a:r>
                <a:r>
                  <a:rPr lang="cs-CZ" sz="1800" dirty="0" err="1"/>
                  <a:t>simple</a:t>
                </a:r>
                <a:r>
                  <a:rPr lang="cs-CZ" sz="1800" dirty="0"/>
                  <a:t> </a:t>
                </a:r>
                <a:r>
                  <a:rPr lang="cs-CZ" sz="1800" dirty="0" err="1"/>
                  <a:t>Leontief</a:t>
                </a:r>
                <a:r>
                  <a:rPr lang="cs-CZ" sz="1800" dirty="0"/>
                  <a:t> model </a:t>
                </a:r>
                <a:r>
                  <a:rPr lang="cs-CZ" sz="1800" dirty="0" err="1"/>
                  <a:t>it</a:t>
                </a:r>
                <a:r>
                  <a:rPr lang="cs-CZ" sz="1800" dirty="0"/>
                  <a:t> </a:t>
                </a:r>
                <a:r>
                  <a:rPr lang="cs-CZ" sz="1800" dirty="0" err="1"/>
                  <a:t>is</a:t>
                </a:r>
                <a:r>
                  <a:rPr lang="cs-CZ" sz="1800" dirty="0"/>
                  <a:t> </a:t>
                </a:r>
                <a:r>
                  <a:rPr lang="cs-CZ" sz="1800" dirty="0" err="1"/>
                  <a:t>typically</a:t>
                </a:r>
                <a:r>
                  <a:rPr lang="cs-CZ" sz="1800" dirty="0"/>
                  <a:t> </a:t>
                </a:r>
                <a:r>
                  <a:rPr lang="cs-CZ" sz="1800" b="1" dirty="0"/>
                  <a:t>not </a:t>
                </a:r>
                <a:r>
                  <a:rPr lang="cs-CZ" sz="1800" b="1" dirty="0" err="1"/>
                  <a:t>directly</a:t>
                </a:r>
                <a:r>
                  <a:rPr lang="cs-CZ" sz="1800" b="1" dirty="0"/>
                  <a:t> </a:t>
                </a:r>
                <a:r>
                  <a:rPr lang="cs-CZ" sz="1800" b="1" dirty="0" err="1"/>
                  <a:t>used</a:t>
                </a:r>
                <a:r>
                  <a:rPr lang="cs-CZ" sz="1800" dirty="0"/>
                  <a:t>.</a:t>
                </a:r>
              </a:p>
              <a:p>
                <a:pPr>
                  <a:buFont typeface="Arial" panose="020B0604020202020204" pitchFamily="34" charset="0"/>
                  <a:buChar char="•"/>
                </a:pPr>
                <a:r>
                  <a:rPr lang="cs-CZ" sz="1800" dirty="0"/>
                  <a:t>In </a:t>
                </a:r>
                <a:r>
                  <a:rPr lang="cs-CZ" sz="1800" dirty="0" err="1"/>
                  <a:t>official</a:t>
                </a:r>
                <a:r>
                  <a:rPr lang="cs-CZ" sz="1800" dirty="0"/>
                  <a:t> </a:t>
                </a:r>
                <a:r>
                  <a:rPr lang="cs-CZ" sz="1800" dirty="0" err="1"/>
                  <a:t>statistical</a:t>
                </a:r>
                <a:r>
                  <a:rPr lang="cs-CZ" sz="1800" dirty="0"/>
                  <a:t> </a:t>
                </a:r>
                <a:r>
                  <a:rPr lang="cs-CZ" sz="1800" dirty="0" err="1"/>
                  <a:t>presentations</a:t>
                </a:r>
                <a:r>
                  <a:rPr lang="cs-CZ" sz="1800" dirty="0"/>
                  <a:t> </a:t>
                </a:r>
                <a:r>
                  <a:rPr lang="cs-CZ" sz="1800" dirty="0" err="1"/>
                  <a:t>it</a:t>
                </a:r>
                <a:r>
                  <a:rPr lang="cs-CZ" sz="1800" dirty="0"/>
                  <a:t> </a:t>
                </a:r>
                <a:r>
                  <a:rPr lang="cs-CZ" sz="1800" dirty="0" err="1"/>
                  <a:t>may</a:t>
                </a:r>
                <a:r>
                  <a:rPr lang="cs-CZ" sz="1800" dirty="0"/>
                  <a:t> </a:t>
                </a:r>
                <a:r>
                  <a:rPr lang="cs-CZ" sz="1800" dirty="0" err="1"/>
                  <a:t>contain</a:t>
                </a:r>
                <a:r>
                  <a:rPr lang="cs-CZ" sz="1800" dirty="0"/>
                  <a:t> </a:t>
                </a:r>
                <a:r>
                  <a:rPr lang="cs-CZ" sz="1800" dirty="0" err="1"/>
                  <a:t>additional</a:t>
                </a:r>
                <a:r>
                  <a:rPr lang="cs-CZ" sz="1800" dirty="0"/>
                  <a:t> </a:t>
                </a:r>
                <a:r>
                  <a:rPr lang="cs-CZ" sz="1800" dirty="0" err="1"/>
                  <a:t>decompositions</a:t>
                </a:r>
                <a:r>
                  <a:rPr lang="cs-CZ" sz="1800" dirty="0"/>
                  <a:t> (</a:t>
                </a:r>
                <a:r>
                  <a:rPr lang="cs-CZ" sz="1800" dirty="0" err="1"/>
                  <a:t>depending</a:t>
                </a:r>
                <a:r>
                  <a:rPr lang="cs-CZ" sz="1800" dirty="0"/>
                  <a:t> on </a:t>
                </a:r>
                <a:r>
                  <a:rPr lang="cs-CZ" sz="1800" dirty="0" err="1"/>
                  <a:t>the</a:t>
                </a:r>
                <a:r>
                  <a:rPr lang="cs-CZ" sz="1800" dirty="0"/>
                  <a:t> </a:t>
                </a:r>
                <a:r>
                  <a:rPr lang="cs-CZ" sz="1800" dirty="0" err="1"/>
                  <a:t>methodology</a:t>
                </a:r>
                <a:r>
                  <a:rPr lang="cs-CZ" sz="1800" dirty="0"/>
                  <a:t>).</a:t>
                </a:r>
              </a:p>
            </p:txBody>
          </p:sp>
        </mc:Choice>
        <mc:Fallback>
          <p:sp>
            <p:nvSpPr>
              <p:cNvPr id="7" name="TextovéPole 6">
                <a:extLst>
                  <a:ext uri="{FF2B5EF4-FFF2-40B4-BE49-F238E27FC236}">
                    <a16:creationId xmlns:a16="http://schemas.microsoft.com/office/drawing/2014/main" id="{62E3F77E-D877-0184-1AC6-614611F7D6DE}"/>
                  </a:ext>
                </a:extLst>
              </p:cNvPr>
              <p:cNvSpPr txBox="1">
                <a:spLocks noRot="1" noChangeAspect="1" noMove="1" noResize="1" noEditPoints="1" noAdjustHandles="1" noChangeArrowheads="1" noChangeShapeType="1" noTextEdit="1"/>
              </p:cNvSpPr>
              <p:nvPr/>
            </p:nvSpPr>
            <p:spPr>
              <a:xfrm>
                <a:off x="755576" y="260648"/>
                <a:ext cx="7848872" cy="5397375"/>
              </a:xfrm>
              <a:prstGeom prst="rect">
                <a:avLst/>
              </a:prstGeom>
              <a:blipFill>
                <a:blip r:embed="rId2"/>
                <a:stretch>
                  <a:fillRect l="-699" t="-678" b="-904"/>
                </a:stretch>
              </a:blipFill>
            </p:spPr>
            <p:txBody>
              <a:bodyPr/>
              <a:lstStyle/>
              <a:p>
                <a:r>
                  <a:rPr lang="cs-CZ">
                    <a:noFill/>
                  </a:rPr>
                  <a:t> </a:t>
                </a:r>
              </a:p>
            </p:txBody>
          </p:sp>
        </mc:Fallback>
      </mc:AlternateContent>
    </p:spTree>
    <p:extLst>
      <p:ext uri="{BB962C8B-B14F-4D97-AF65-F5344CB8AC3E}">
        <p14:creationId xmlns:p14="http://schemas.microsoft.com/office/powerpoint/2010/main" val="3038615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Nadpis 1"/>
          <p:cNvSpPr>
            <a:spLocks noGrp="1"/>
          </p:cNvSpPr>
          <p:nvPr>
            <p:ph type="title"/>
          </p:nvPr>
        </p:nvSpPr>
        <p:spPr/>
        <p:txBody>
          <a:bodyPr/>
          <a:lstStyle/>
          <a:p>
            <a:pPr eaLnBrk="1" hangingPunct="1"/>
            <a:r>
              <a:rPr lang="en-GB" noProof="0" dirty="0"/>
              <a:t>Input-output model</a:t>
            </a:r>
          </a:p>
        </p:txBody>
      </p:sp>
      <p:sp>
        <p:nvSpPr>
          <p:cNvPr id="12291" name="Zástupný symbol pro obsah 2"/>
          <p:cNvSpPr>
            <a:spLocks noGrp="1"/>
          </p:cNvSpPr>
          <p:nvPr>
            <p:ph sz="quarter" idx="1"/>
          </p:nvPr>
        </p:nvSpPr>
        <p:spPr>
          <a:xfrm>
            <a:off x="0" y="1484785"/>
            <a:ext cx="9144000" cy="504056"/>
          </a:xfrm>
        </p:spPr>
        <p:txBody>
          <a:bodyPr>
            <a:normAutofit/>
          </a:bodyPr>
          <a:lstStyle/>
          <a:p>
            <a:pPr eaLnBrk="1" hangingPunct="1"/>
            <a:r>
              <a:rPr lang="en-GB" noProof="0" dirty="0"/>
              <a:t>Each element/</a:t>
            </a:r>
            <a:r>
              <a:rPr lang="en-GB" dirty="0"/>
              <a:t>industry </a:t>
            </a:r>
            <a:r>
              <a:rPr lang="en-GB" noProof="0" dirty="0"/>
              <a:t>act as supplier and consumer/user.</a:t>
            </a:r>
          </a:p>
        </p:txBody>
      </p:sp>
      <p:graphicFrame>
        <p:nvGraphicFramePr>
          <p:cNvPr id="6188" name="Group 44"/>
          <p:cNvGraphicFramePr>
            <a:graphicFrameLocks noGrp="1"/>
          </p:cNvGraphicFramePr>
          <p:nvPr/>
        </p:nvGraphicFramePr>
        <p:xfrm>
          <a:off x="70991" y="1939833"/>
          <a:ext cx="9073009" cy="4918167"/>
        </p:xfrm>
        <a:graphic>
          <a:graphicData uri="http://schemas.openxmlformats.org/drawingml/2006/table">
            <a:tbl>
              <a:tblPr/>
              <a:tblGrid>
                <a:gridCol w="1354134">
                  <a:extLst>
                    <a:ext uri="{9D8B030D-6E8A-4147-A177-3AD203B41FA5}">
                      <a16:colId xmlns:a16="http://schemas.microsoft.com/office/drawing/2014/main" val="20000"/>
                    </a:ext>
                  </a:extLst>
                </a:gridCol>
                <a:gridCol w="1166146">
                  <a:extLst>
                    <a:ext uri="{9D8B030D-6E8A-4147-A177-3AD203B41FA5}">
                      <a16:colId xmlns:a16="http://schemas.microsoft.com/office/drawing/2014/main" val="20001"/>
                    </a:ext>
                  </a:extLst>
                </a:gridCol>
                <a:gridCol w="2520280">
                  <a:extLst>
                    <a:ext uri="{9D8B030D-6E8A-4147-A177-3AD203B41FA5}">
                      <a16:colId xmlns:a16="http://schemas.microsoft.com/office/drawing/2014/main" val="20002"/>
                    </a:ext>
                  </a:extLst>
                </a:gridCol>
                <a:gridCol w="1512168">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gridCol w="1368153">
                  <a:extLst>
                    <a:ext uri="{9D8B030D-6E8A-4147-A177-3AD203B41FA5}">
                      <a16:colId xmlns:a16="http://schemas.microsoft.com/office/drawing/2014/main" val="20005"/>
                    </a:ext>
                  </a:extLst>
                </a:gridCol>
              </a:tblGrid>
              <a:tr h="634737">
                <a:tc rowSpan="2"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dirty="0">
                        <a:ln>
                          <a:noFill/>
                        </a:ln>
                        <a:solidFill>
                          <a:srgbClr val="000000"/>
                        </a:solidFill>
                        <a:effectLst/>
                        <a:latin typeface="Arial" charset="0"/>
                      </a:endParaRPr>
                    </a:p>
                  </a:txBody>
                  <a:tcP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endParaRPr lang="cs-C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Industries/elements as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users/consumers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Final uses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Final uses total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Used resources total/</a:t>
                      </a:r>
                      <a:r>
                        <a:rPr kumimoji="0" lang="en-GB" sz="1800" b="0" i="1" u="none" strike="noStrike" cap="none" normalizeH="0" baseline="0" noProof="0" dirty="0">
                          <a:ln>
                            <a:noFill/>
                          </a:ln>
                          <a:solidFill>
                            <a:srgbClr val="000000"/>
                          </a:solidFill>
                          <a:effectLst/>
                          <a:latin typeface="Arial" charset="0"/>
                        </a:rPr>
                        <a:t>total outputs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4807">
                <a:tc gridSpan="2" vMerge="1">
                  <a:txBody>
                    <a:bodyPr/>
                    <a:lstStyle/>
                    <a:p>
                      <a:endParaRPr lang="cs-CZ"/>
                    </a:p>
                  </a:txBody>
                  <a:tcPr/>
                </a:tc>
                <a:tc hMerge="1" vMerge="1">
                  <a:txBody>
                    <a:bodyPr/>
                    <a:lstStyle/>
                    <a:p>
                      <a:endParaRPr lang="cs-C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1, 2, … 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1, 2, … 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cs-CZ"/>
                    </a:p>
                  </a:txBody>
                  <a:tcPr/>
                </a:tc>
                <a:tc vMerge="1">
                  <a:txBody>
                    <a:bodyPr/>
                    <a:lstStyle/>
                    <a:p>
                      <a:endParaRPr lang="cs-CZ"/>
                    </a:p>
                  </a:txBody>
                  <a:tcPr/>
                </a:tc>
                <a:extLst>
                  <a:ext uri="{0D108BD9-81ED-4DB2-BD59-A6C34878D82A}">
                    <a16:rowId xmlns:a16="http://schemas.microsoft.com/office/drawing/2014/main" val="10001"/>
                  </a:ext>
                </a:extLst>
              </a:tr>
              <a:tr h="11787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Industies/</a:t>
                      </a:r>
                      <a:br>
                        <a:rPr kumimoji="0" lang="en-GB" sz="1800" b="0" i="0" u="none" strike="noStrike" cap="none" normalizeH="0" baseline="0" noProof="0">
                          <a:ln>
                            <a:noFill/>
                          </a:ln>
                          <a:solidFill>
                            <a:srgbClr val="000000"/>
                          </a:solidFill>
                          <a:effectLst/>
                          <a:latin typeface="Arial" charset="0"/>
                        </a:rPr>
                      </a:br>
                      <a:r>
                        <a:rPr kumimoji="0" lang="en-GB" sz="1800" b="0" i="0" u="none" strike="noStrike" cap="none" normalizeH="0" baseline="0" noProof="0">
                          <a:ln>
                            <a:noFill/>
                          </a:ln>
                          <a:solidFill>
                            <a:srgbClr val="000000"/>
                          </a:solidFill>
                          <a:effectLst/>
                          <a:latin typeface="Arial" charset="0"/>
                        </a:rPr>
                        <a:t>elements as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suppliers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1</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2</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1</a:t>
                      </a:r>
                      <a:r>
                        <a:rPr kumimoji="0" lang="en-GB" sz="1800" b="0" i="0" u="none" strike="noStrike" cap="none" normalizeH="0" baseline="30000" noProof="0" dirty="0">
                          <a:ln>
                            <a:noFill/>
                          </a:ln>
                          <a:solidFill>
                            <a:srgbClr val="000000"/>
                          </a:solidFill>
                          <a:effectLst/>
                          <a:latin typeface="Arial" charset="0"/>
                        </a:rPr>
                        <a:t>st</a:t>
                      </a:r>
                      <a:r>
                        <a:rPr kumimoji="0" lang="en-GB" sz="1800" b="0" i="0" u="none" strike="noStrike" cap="none" normalizeH="0" baseline="0" noProof="0" dirty="0">
                          <a:ln>
                            <a:noFill/>
                          </a:ln>
                          <a:solidFill>
                            <a:srgbClr val="000000"/>
                          </a:solidFill>
                          <a:effectLst/>
                          <a:latin typeface="Arial" charset="0"/>
                        </a:rPr>
                        <a:t> quadrant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Intermediate consumption</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err="1">
                          <a:ln>
                            <a:noFill/>
                          </a:ln>
                          <a:solidFill>
                            <a:srgbClr val="000000"/>
                          </a:solidFill>
                          <a:effectLst/>
                          <a:latin typeface="Arial" charset="0"/>
                        </a:rPr>
                        <a:t>x</a:t>
                      </a:r>
                      <a:r>
                        <a:rPr kumimoji="0" lang="en-GB" sz="1800" b="0" i="0" u="none" strike="noStrike" cap="none" normalizeH="0" baseline="-25000" noProof="0" dirty="0" err="1">
                          <a:ln>
                            <a:noFill/>
                          </a:ln>
                          <a:solidFill>
                            <a:srgbClr val="000000"/>
                          </a:solidFill>
                          <a:effectLst/>
                          <a:latin typeface="Arial" charset="0"/>
                        </a:rPr>
                        <a:t>ij</a:t>
                      </a:r>
                      <a:endParaRPr kumimoji="0" lang="en-GB" sz="1800" b="0" i="0" u="none" strike="noStrike" cap="none" normalizeH="0" baseline="-25000" noProof="0" dirty="0">
                        <a:ln>
                          <a:noFill/>
                        </a:ln>
                        <a:solidFill>
                          <a:srgbClr val="000000"/>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2</a:t>
                      </a:r>
                      <a:r>
                        <a:rPr kumimoji="0" lang="en-GB" sz="1800" b="0" i="0" u="none" strike="noStrike" cap="none" normalizeH="0" baseline="30000" noProof="0">
                          <a:ln>
                            <a:noFill/>
                          </a:ln>
                          <a:solidFill>
                            <a:srgbClr val="000000"/>
                          </a:solidFill>
                          <a:effectLst/>
                          <a:latin typeface="Arial" charset="0"/>
                        </a:rPr>
                        <a:t>nd</a:t>
                      </a:r>
                      <a:r>
                        <a:rPr kumimoji="0" lang="en-GB" sz="1800" b="0" i="0" u="none" strike="noStrike" cap="none" normalizeH="0" baseline="0" noProof="0">
                          <a:ln>
                            <a:noFill/>
                          </a:ln>
                          <a:solidFill>
                            <a:srgbClr val="000000"/>
                          </a:solidFill>
                          <a:effectLst/>
                          <a:latin typeface="Arial" charset="0"/>
                        </a:rPr>
                        <a:t> quadrant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Final uses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y</a:t>
                      </a:r>
                      <a:r>
                        <a:rPr kumimoji="0" lang="en-GB" sz="1800" b="0" i="0" u="none" strike="noStrike" cap="none" normalizeH="0" baseline="-25000" noProof="0">
                          <a:ln>
                            <a:noFill/>
                          </a:ln>
                          <a:solidFill>
                            <a:srgbClr val="000000"/>
                          </a:solidFill>
                          <a:effectLst/>
                          <a:latin typeface="Arial" charset="0"/>
                        </a:rPr>
                        <a:t>il</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Y</a:t>
                      </a:r>
                      <a:r>
                        <a:rPr kumimoji="0" lang="en-GB" sz="1800" b="0" i="0" u="none" strike="noStrike" cap="none" normalizeH="0" baseline="-25000" noProof="0">
                          <a:ln>
                            <a:noFill/>
                          </a:ln>
                          <a:solidFill>
                            <a:srgbClr val="000000"/>
                          </a:solidFill>
                          <a:effectLst/>
                          <a:latin typeface="Arial"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X</a:t>
                      </a:r>
                      <a:r>
                        <a:rPr kumimoji="0" lang="en-GB" sz="1800" b="0" i="0" u="none" strike="noStrike" cap="none" normalizeH="0" baseline="-25000" noProof="0">
                          <a:ln>
                            <a:noFill/>
                          </a:ln>
                          <a:solidFill>
                            <a:srgbClr val="000000"/>
                          </a:solidFill>
                          <a:effectLst/>
                          <a:latin typeface="Arial"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5082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Value added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1</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2</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3</a:t>
                      </a:r>
                      <a:r>
                        <a:rPr kumimoji="0" lang="en-GB" sz="1800" b="0" i="0" u="none" strike="noStrike" cap="none" normalizeH="0" baseline="30000" noProof="0">
                          <a:ln>
                            <a:noFill/>
                          </a:ln>
                          <a:solidFill>
                            <a:srgbClr val="000000"/>
                          </a:solidFill>
                          <a:effectLst/>
                          <a:latin typeface="Arial" charset="0"/>
                        </a:rPr>
                        <a:t>rd</a:t>
                      </a:r>
                      <a:r>
                        <a:rPr kumimoji="0" lang="en-GB" sz="1800" b="0" i="0" u="none" strike="noStrike" cap="none" normalizeH="0" baseline="0" noProof="0">
                          <a:ln>
                            <a:noFill/>
                          </a:ln>
                          <a:solidFill>
                            <a:srgbClr val="000000"/>
                          </a:solidFill>
                          <a:effectLst/>
                          <a:latin typeface="Arial" charset="0"/>
                        </a:rPr>
                        <a:t>  quadrant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Compensation of employees, operating surplus, taxes, cfc</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a:ln>
                            <a:noFill/>
                          </a:ln>
                          <a:solidFill>
                            <a:srgbClr val="000000"/>
                          </a:solidFill>
                          <a:effectLst/>
                          <a:latin typeface="Arial" charset="0"/>
                        </a:rPr>
                        <a:t>z</a:t>
                      </a:r>
                      <a:r>
                        <a:rPr kumimoji="0" lang="en-GB" sz="1800" b="0" i="0" u="none" strike="noStrike" cap="none" normalizeH="0" baseline="-25000" noProof="0">
                          <a:ln>
                            <a:noFill/>
                          </a:ln>
                          <a:solidFill>
                            <a:srgbClr val="000000"/>
                          </a:solidFill>
                          <a:effectLst/>
                          <a:latin typeface="Arial" charset="0"/>
                        </a:rPr>
                        <a:t>kj</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1" u="none" strike="noStrike" cap="none" normalizeH="0" baseline="0" noProof="0">
                        <a:ln>
                          <a:noFill/>
                        </a:ln>
                        <a:solidFill>
                          <a:srgbClr val="000000"/>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a:ln>
                          <a:noFill/>
                        </a:ln>
                        <a:solidFill>
                          <a:srgbClr val="000000"/>
                        </a:solidFill>
                        <a:effectLst/>
                        <a:latin typeface="Arial" charset="0"/>
                      </a:endParaRPr>
                    </a:p>
                  </a:txBody>
                  <a:tcPr marL="0" marR="0" marT="0" marB="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25000" noProof="0" dirty="0">
                        <a:ln>
                          <a:noFill/>
                        </a:ln>
                        <a:solidFill>
                          <a:srgbClr val="000000"/>
                        </a:solidFill>
                        <a:effectLst/>
                        <a:latin typeface="Arial"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4737">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Total output</a:t>
                      </a:r>
                    </a:p>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Arial" charset="0"/>
                        </a:rPr>
                        <a:t>Import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cs-C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a:ln>
                          <a:noFill/>
                        </a:ln>
                        <a:solidFill>
                          <a:srgbClr val="000000"/>
                        </a:solidFill>
                        <a:effectLst/>
                        <a:latin typeface="Arial" charset="0"/>
                      </a:endParaRP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a:ln>
                          <a:noFill/>
                        </a:ln>
                        <a:solidFill>
                          <a:srgbClr val="00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dirty="0">
                        <a:ln>
                          <a:noFill/>
                        </a:ln>
                        <a:solidFill>
                          <a:srgbClr val="00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a:ln>
                          <a:noFill/>
                        </a:ln>
                        <a:solidFill>
                          <a:srgbClr val="000000"/>
                        </a:solidFill>
                        <a:effectLst/>
                        <a:latin typeface="Arial" charset="0"/>
                      </a:endParaRPr>
                    </a:p>
                  </a:txBody>
                  <a:tcPr marL="0" marR="0" marT="0" marB="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noProof="0" dirty="0">
                        <a:ln>
                          <a:noFill/>
                        </a:ln>
                        <a:solidFill>
                          <a:srgbClr val="000000"/>
                        </a:solidFill>
                        <a:effectLst/>
                        <a:latin typeface="Arial" charset="0"/>
                      </a:endParaRPr>
                    </a:p>
                  </a:txBody>
                  <a:tcPr marL="0" marR="0" marT="0" marB="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7607">
                <a:tc gridSpan="2">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cap="none" normalizeH="0" baseline="0" noProof="0" dirty="0">
                          <a:ln>
                            <a:noFill/>
                          </a:ln>
                          <a:solidFill>
                            <a:srgbClr val="000000"/>
                          </a:solidFill>
                          <a:effectLst/>
                          <a:latin typeface="Arial" charset="0"/>
                        </a:rPr>
                        <a:t>Total supplies</a:t>
                      </a:r>
                      <a:r>
                        <a:rPr kumimoji="0" lang="en-GB" sz="1800" b="0" i="1" u="none" strike="noStrike" cap="none" normalizeH="0" baseline="0" noProof="0" dirty="0">
                          <a:ln>
                            <a:noFill/>
                          </a:ln>
                          <a:solidFill>
                            <a:srgbClr val="000000"/>
                          </a:solidFill>
                          <a:effectLst/>
                          <a:latin typeface="Arial" charset="0"/>
                        </a:rPr>
                        <a:t>/inputs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cs-CZ"/>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800" b="0" i="0" u="none" strike="noStrike" cap="none" normalizeH="0" baseline="0" noProof="0" dirty="0" err="1">
                          <a:ln>
                            <a:noFill/>
                          </a:ln>
                          <a:solidFill>
                            <a:srgbClr val="000000"/>
                          </a:solidFill>
                          <a:effectLst/>
                          <a:latin typeface="Arial" charset="0"/>
                        </a:rPr>
                        <a:t>X</a:t>
                      </a:r>
                      <a:r>
                        <a:rPr kumimoji="0" lang="en-GB" sz="1800" b="0" i="0" u="none" strike="noStrike" cap="none" normalizeH="0" baseline="-25000" noProof="0" dirty="0" err="1">
                          <a:ln>
                            <a:noFill/>
                          </a:ln>
                          <a:solidFill>
                            <a:srgbClr val="000000"/>
                          </a:solidFill>
                          <a:effectLst/>
                          <a:latin typeface="Arial" charset="0"/>
                        </a:rPr>
                        <a:t>j</a:t>
                      </a:r>
                      <a:endParaRPr kumimoji="0" lang="en-GB" sz="1800" b="0" i="0" u="none" strike="noStrike" cap="none" normalizeH="0" baseline="-25000" noProof="0" dirty="0">
                        <a:ln>
                          <a:noFill/>
                        </a:ln>
                        <a:solidFill>
                          <a:srgbClr val="00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cs-CZ"/>
                    </a:p>
                  </a:txBody>
                  <a:tcPr/>
                </a:tc>
                <a:tc vMerge="1">
                  <a:txBody>
                    <a:bodyPr/>
                    <a:lstStyle/>
                    <a:p>
                      <a:endParaRPr lang="cs-CZ"/>
                    </a:p>
                  </a:txBody>
                  <a:tcPr/>
                </a:tc>
                <a:tc vMerge="1">
                  <a:txBody>
                    <a:bodyPr/>
                    <a:lstStyle/>
                    <a:p>
                      <a:endParaRPr lang="cs-CZ"/>
                    </a:p>
                  </a:txBody>
                  <a:tcPr/>
                </a:tc>
                <a:extLst>
                  <a:ext uri="{0D108BD9-81ED-4DB2-BD59-A6C34878D82A}">
                    <a16:rowId xmlns:a16="http://schemas.microsoft.com/office/drawing/2014/main" val="10005"/>
                  </a:ext>
                </a:extLst>
              </a:tr>
            </a:tbl>
          </a:graphicData>
        </a:graphic>
      </p:graphicFrame>
      <p:sp>
        <p:nvSpPr>
          <p:cNvPr id="5" name="TextovéPole 4"/>
          <p:cNvSpPr txBox="1"/>
          <p:nvPr/>
        </p:nvSpPr>
        <p:spPr>
          <a:xfrm>
            <a:off x="5364088" y="4797152"/>
            <a:ext cx="2160240" cy="584775"/>
          </a:xfrm>
          <a:prstGeom prst="rect">
            <a:avLst/>
          </a:prstGeom>
          <a:noFill/>
        </p:spPr>
        <p:txBody>
          <a:bodyPr wrap="square" rtlCol="0">
            <a:spAutoFit/>
          </a:bodyPr>
          <a:lstStyle/>
          <a:p>
            <a:r>
              <a:rPr lang="cs-CZ" sz="3200" dirty="0" err="1"/>
              <a:t>See</a:t>
            </a:r>
            <a:r>
              <a:rPr lang="cs-CZ" sz="3200" dirty="0"/>
              <a:t>: </a:t>
            </a:r>
            <a:r>
              <a:rPr lang="cs-CZ" sz="3200" b="1" dirty="0">
                <a:hlinkClick r:id="rId3"/>
              </a:rPr>
              <a:t>SIOT</a:t>
            </a:r>
            <a:endParaRPr lang="en-GB" sz="3200" b="1" dirty="0"/>
          </a:p>
        </p:txBody>
      </p:sp>
      <p:sp>
        <p:nvSpPr>
          <p:cNvPr id="13" name="Oblouk 12"/>
          <p:cNvSpPr/>
          <p:nvPr/>
        </p:nvSpPr>
        <p:spPr>
          <a:xfrm rot="6143608">
            <a:off x="1188411" y="-679653"/>
            <a:ext cx="6161935" cy="8407184"/>
          </a:xfrm>
          <a:prstGeom prst="arc">
            <a:avLst>
              <a:gd name="adj1" fmla="val 15907887"/>
              <a:gd name="adj2" fmla="val 20816691"/>
            </a:avLst>
          </a:prstGeom>
          <a:ln w="25400">
            <a:solidFill>
              <a:schemeClr val="accent2">
                <a:lumMod val="75000"/>
              </a:schemeClr>
            </a:solidFill>
            <a:headEnd type="arrow" w="lg" len="lg"/>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827088" y="404813"/>
            <a:ext cx="6394450" cy="741362"/>
          </a:xfrm>
        </p:spPr>
        <p:txBody>
          <a:bodyPr>
            <a:normAutofit/>
          </a:bodyPr>
          <a:lstStyle/>
          <a:p>
            <a:pPr eaLnBrk="1" hangingPunct="1"/>
            <a:r>
              <a:rPr lang="en-GB" dirty="0"/>
              <a:t>Distribution equations</a:t>
            </a:r>
          </a:p>
        </p:txBody>
      </p:sp>
      <p:sp>
        <p:nvSpPr>
          <p:cNvPr id="9" name="Zástupný symbol pro číslo snímku 5"/>
          <p:cNvSpPr>
            <a:spLocks noGrp="1"/>
          </p:cNvSpPr>
          <p:nvPr>
            <p:ph type="sldNum" sz="quarter" idx="12"/>
          </p:nvPr>
        </p:nvSpPr>
        <p:spPr/>
        <p:txBody>
          <a:bodyPr>
            <a:normAutofit fontScale="25000" lnSpcReduction="20000"/>
          </a:bodyPr>
          <a:lstStyle/>
          <a:p>
            <a:pPr>
              <a:defRPr/>
            </a:pPr>
            <a:fld id="{3C44F7F1-C232-4731-A417-8EC8E8F58FAD}" type="slidenum">
              <a:rPr lang="cs-CZ"/>
              <a:pPr>
                <a:defRPr/>
              </a:pPr>
              <a:t>9</a:t>
            </a:fld>
            <a:endParaRPr lang="cs-CZ"/>
          </a:p>
        </p:txBody>
      </p:sp>
      <p:sp>
        <p:nvSpPr>
          <p:cNvPr id="2055" name="Rectangle 5"/>
          <p:cNvSpPr>
            <a:spLocks noChangeArrowheads="1"/>
          </p:cNvSpPr>
          <p:nvPr/>
        </p:nvSpPr>
        <p:spPr bwMode="auto">
          <a:xfrm>
            <a:off x="3676650" y="3200400"/>
            <a:ext cx="9144000" cy="0"/>
          </a:xfrm>
          <a:prstGeom prst="rect">
            <a:avLst/>
          </a:prstGeom>
          <a:noFill/>
          <a:ln w="9525">
            <a:noFill/>
            <a:miter lim="800000"/>
            <a:headEnd/>
            <a:tailEnd/>
          </a:ln>
        </p:spPr>
        <p:txBody>
          <a:bodyPr>
            <a:spAutoFit/>
          </a:bodyPr>
          <a:lstStyle/>
          <a:p>
            <a:endParaRPr lang="cs-CZ"/>
          </a:p>
        </p:txBody>
      </p:sp>
      <p:graphicFrame>
        <p:nvGraphicFramePr>
          <p:cNvPr id="2050" name="Object 2"/>
          <p:cNvGraphicFramePr>
            <a:graphicFrameLocks noChangeAspect="1"/>
          </p:cNvGraphicFramePr>
          <p:nvPr/>
        </p:nvGraphicFramePr>
        <p:xfrm>
          <a:off x="251520" y="2780928"/>
          <a:ext cx="4235089" cy="2520280"/>
        </p:xfrm>
        <a:graphic>
          <a:graphicData uri="http://schemas.openxmlformats.org/presentationml/2006/ole">
            <mc:AlternateContent xmlns:mc="http://schemas.openxmlformats.org/markup-compatibility/2006">
              <mc:Choice xmlns:v="urn:schemas-microsoft-com:vml" Requires="v">
                <p:oleObj name="Equation" r:id="rId2" imgW="1536480" imgH="914400" progId="Equation.DSMT4">
                  <p:embed/>
                </p:oleObj>
              </mc:Choice>
              <mc:Fallback>
                <p:oleObj name="Equation" r:id="rId2" imgW="1536480" imgH="9144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2780928"/>
                        <a:ext cx="4235089" cy="2520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6" name="Rectangle 7"/>
          <p:cNvSpPr>
            <a:spLocks noChangeArrowheads="1"/>
          </p:cNvSpPr>
          <p:nvPr/>
        </p:nvSpPr>
        <p:spPr bwMode="auto">
          <a:xfrm>
            <a:off x="4294188" y="3192463"/>
            <a:ext cx="9144000" cy="0"/>
          </a:xfrm>
          <a:prstGeom prst="rect">
            <a:avLst/>
          </a:prstGeom>
          <a:noFill/>
          <a:ln w="9525">
            <a:noFill/>
            <a:miter lim="800000"/>
            <a:headEnd/>
            <a:tailEnd/>
          </a:ln>
        </p:spPr>
        <p:txBody>
          <a:bodyPr>
            <a:spAutoFit/>
          </a:bodyPr>
          <a:lstStyle/>
          <a:p>
            <a:endParaRPr lang="cs-CZ"/>
          </a:p>
        </p:txBody>
      </p:sp>
      <p:sp>
        <p:nvSpPr>
          <p:cNvPr id="10" name="TextovéPole 9"/>
          <p:cNvSpPr txBox="1"/>
          <p:nvPr/>
        </p:nvSpPr>
        <p:spPr>
          <a:xfrm>
            <a:off x="4716016" y="1700808"/>
            <a:ext cx="4067944" cy="4524315"/>
          </a:xfrm>
          <a:prstGeom prst="rect">
            <a:avLst/>
          </a:prstGeom>
          <a:noFill/>
        </p:spPr>
        <p:txBody>
          <a:bodyPr wrap="square" rtlCol="0">
            <a:spAutoFit/>
          </a:bodyPr>
          <a:lstStyle/>
          <a:p>
            <a:r>
              <a:rPr lang="en-GB" sz="2400" dirty="0"/>
              <a:t>x</a:t>
            </a:r>
            <a:r>
              <a:rPr lang="en-GB" sz="2400" baseline="-25000" dirty="0"/>
              <a:t>i</a:t>
            </a:r>
            <a:r>
              <a:rPr lang="en-GB" sz="2400" dirty="0"/>
              <a:t> is output of the industry</a:t>
            </a:r>
          </a:p>
          <a:p>
            <a:endParaRPr lang="en-GB" sz="2400" dirty="0"/>
          </a:p>
          <a:p>
            <a:r>
              <a:rPr lang="en-GB" sz="2400" dirty="0" err="1"/>
              <a:t>x</a:t>
            </a:r>
            <a:r>
              <a:rPr lang="en-GB" sz="2400" baseline="-25000" dirty="0" err="1"/>
              <a:t>ij</a:t>
            </a:r>
            <a:r>
              <a:rPr lang="en-GB" sz="2400" dirty="0"/>
              <a:t> the part of output of industry </a:t>
            </a:r>
            <a:r>
              <a:rPr lang="en-GB" sz="2400" i="1" dirty="0" err="1"/>
              <a:t>i</a:t>
            </a:r>
            <a:r>
              <a:rPr lang="en-GB" sz="2400" dirty="0"/>
              <a:t> that is the part of input of industry </a:t>
            </a:r>
            <a:r>
              <a:rPr lang="en-GB" sz="2400" i="1" dirty="0"/>
              <a:t>j</a:t>
            </a:r>
          </a:p>
          <a:p>
            <a:endParaRPr lang="en-GB" sz="2400" i="1" dirty="0"/>
          </a:p>
          <a:p>
            <a:r>
              <a:rPr lang="en-GB" sz="2400" i="1" dirty="0" err="1"/>
              <a:t>y</a:t>
            </a:r>
            <a:r>
              <a:rPr lang="en-GB" sz="2400" i="1" baseline="-25000" dirty="0" err="1"/>
              <a:t>i</a:t>
            </a:r>
            <a:r>
              <a:rPr lang="en-GB" sz="2400" i="1" dirty="0"/>
              <a:t> </a:t>
            </a:r>
            <a:r>
              <a:rPr lang="en-GB" sz="2400" dirty="0"/>
              <a:t>the part of output of industry </a:t>
            </a:r>
            <a:r>
              <a:rPr lang="en-GB" sz="2400" i="1" dirty="0" err="1"/>
              <a:t>i</a:t>
            </a:r>
            <a:r>
              <a:rPr lang="en-GB" sz="2400" i="1" dirty="0"/>
              <a:t> </a:t>
            </a:r>
            <a:r>
              <a:rPr lang="en-GB" sz="2400" dirty="0"/>
              <a:t>sold to final demand</a:t>
            </a:r>
          </a:p>
          <a:p>
            <a:endParaRPr lang="en-GB" sz="2400" dirty="0"/>
          </a:p>
          <a:p>
            <a:r>
              <a:rPr lang="en-GB" sz="2400" dirty="0" err="1"/>
              <a:t>z</a:t>
            </a:r>
            <a:r>
              <a:rPr lang="en-GB" sz="2400" baseline="-25000" dirty="0" err="1"/>
              <a:t>k</a:t>
            </a:r>
            <a:r>
              <a:rPr lang="en-GB" sz="2400" dirty="0"/>
              <a:t> </a:t>
            </a:r>
            <a:r>
              <a:rPr lang="en-GB" sz="2400" dirty="0" err="1"/>
              <a:t>k</a:t>
            </a:r>
            <a:r>
              <a:rPr lang="en-GB" sz="2400" baseline="30000" dirty="0" err="1"/>
              <a:t>th</a:t>
            </a:r>
            <a:r>
              <a:rPr lang="en-GB" sz="2400" dirty="0"/>
              <a:t> element of third quadrant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Nadpis 1"/>
          <p:cNvSpPr>
            <a:spLocks noGrp="1"/>
          </p:cNvSpPr>
          <p:nvPr>
            <p:ph type="title"/>
          </p:nvPr>
        </p:nvSpPr>
        <p:spPr/>
        <p:txBody>
          <a:bodyPr/>
          <a:lstStyle/>
          <a:p>
            <a:pPr algn="ctr" eaLnBrk="1" hangingPunct="1"/>
            <a:r>
              <a:rPr lang="en-GB" noProof="0" dirty="0">
                <a:latin typeface="Arial" charset="0"/>
              </a:rPr>
              <a:t>Example (I): Gluttony Ltd.</a:t>
            </a:r>
            <a:endParaRPr lang="en-GB" noProof="0" dirty="0"/>
          </a:p>
        </p:txBody>
      </p:sp>
      <p:sp>
        <p:nvSpPr>
          <p:cNvPr id="13315" name="TextovéPole 4"/>
          <p:cNvSpPr txBox="1">
            <a:spLocks noChangeArrowheads="1"/>
          </p:cNvSpPr>
          <p:nvPr/>
        </p:nvSpPr>
        <p:spPr bwMode="auto">
          <a:xfrm>
            <a:off x="1331640" y="6237312"/>
            <a:ext cx="6000750" cy="461665"/>
          </a:xfrm>
          <a:prstGeom prst="rect">
            <a:avLst/>
          </a:prstGeom>
          <a:noFill/>
          <a:ln w="9525">
            <a:noFill/>
            <a:miter lim="800000"/>
            <a:headEnd/>
            <a:tailEnd/>
          </a:ln>
        </p:spPr>
        <p:txBody>
          <a:bodyPr>
            <a:spAutoFit/>
          </a:bodyPr>
          <a:lstStyle/>
          <a:p>
            <a:pPr algn="ctr"/>
            <a:r>
              <a:rPr lang="en-GB" sz="2400" b="1" dirty="0">
                <a:solidFill>
                  <a:srgbClr val="7030A0"/>
                </a:solidFill>
              </a:rPr>
              <a:t>Complete the table</a:t>
            </a:r>
            <a:r>
              <a:rPr lang="cs-CZ" sz="2400" b="1" dirty="0">
                <a:solidFill>
                  <a:srgbClr val="7030A0"/>
                </a:solidFill>
              </a:rPr>
              <a:t>!</a:t>
            </a:r>
            <a:endParaRPr lang="en-GB" sz="2400" b="1" dirty="0">
              <a:solidFill>
                <a:srgbClr val="7030A0"/>
              </a:solidFill>
            </a:endParaRPr>
          </a:p>
        </p:txBody>
      </p:sp>
      <p:sp>
        <p:nvSpPr>
          <p:cNvPr id="13456" name="TextovéPole 6"/>
          <p:cNvSpPr txBox="1">
            <a:spLocks noChangeArrowheads="1"/>
          </p:cNvSpPr>
          <p:nvPr/>
        </p:nvSpPr>
        <p:spPr bwMode="auto">
          <a:xfrm>
            <a:off x="7020272" y="5733256"/>
            <a:ext cx="1928813" cy="369332"/>
          </a:xfrm>
          <a:prstGeom prst="rect">
            <a:avLst/>
          </a:prstGeom>
          <a:noFill/>
          <a:ln w="9525">
            <a:noFill/>
            <a:miter lim="800000"/>
            <a:headEnd/>
            <a:tailEnd/>
          </a:ln>
        </p:spPr>
        <p:txBody>
          <a:bodyPr>
            <a:spAutoFit/>
          </a:bodyPr>
          <a:lstStyle/>
          <a:p>
            <a:pPr algn="r"/>
            <a:r>
              <a:rPr lang="en-GB" dirty="0"/>
              <a:t>Millions CZK</a:t>
            </a:r>
          </a:p>
        </p:txBody>
      </p:sp>
      <p:graphicFrame>
        <p:nvGraphicFramePr>
          <p:cNvPr id="6" name="Tabulka 5"/>
          <p:cNvGraphicFramePr>
            <a:graphicFrameLocks noGrp="1"/>
          </p:cNvGraphicFramePr>
          <p:nvPr/>
        </p:nvGraphicFramePr>
        <p:xfrm>
          <a:off x="0" y="1540728"/>
          <a:ext cx="9144001" cy="4480560"/>
        </p:xfrm>
        <a:graphic>
          <a:graphicData uri="http://schemas.openxmlformats.org/drawingml/2006/table">
            <a:tbl>
              <a:tblPr/>
              <a:tblGrid>
                <a:gridCol w="1573967">
                  <a:extLst>
                    <a:ext uri="{9D8B030D-6E8A-4147-A177-3AD203B41FA5}">
                      <a16:colId xmlns:a16="http://schemas.microsoft.com/office/drawing/2014/main" val="20000"/>
                    </a:ext>
                  </a:extLst>
                </a:gridCol>
                <a:gridCol w="1049312">
                  <a:extLst>
                    <a:ext uri="{9D8B030D-6E8A-4147-A177-3AD203B41FA5}">
                      <a16:colId xmlns:a16="http://schemas.microsoft.com/office/drawing/2014/main" val="20001"/>
                    </a:ext>
                  </a:extLst>
                </a:gridCol>
                <a:gridCol w="1034322">
                  <a:extLst>
                    <a:ext uri="{9D8B030D-6E8A-4147-A177-3AD203B41FA5}">
                      <a16:colId xmlns:a16="http://schemas.microsoft.com/office/drawing/2014/main" val="20002"/>
                    </a:ext>
                  </a:extLst>
                </a:gridCol>
                <a:gridCol w="1514006">
                  <a:extLst>
                    <a:ext uri="{9D8B030D-6E8A-4147-A177-3AD203B41FA5}">
                      <a16:colId xmlns:a16="http://schemas.microsoft.com/office/drawing/2014/main" val="20003"/>
                    </a:ext>
                  </a:extLst>
                </a:gridCol>
                <a:gridCol w="1274164">
                  <a:extLst>
                    <a:ext uri="{9D8B030D-6E8A-4147-A177-3AD203B41FA5}">
                      <a16:colId xmlns:a16="http://schemas.microsoft.com/office/drawing/2014/main" val="20004"/>
                    </a:ext>
                  </a:extLst>
                </a:gridCol>
                <a:gridCol w="1438597">
                  <a:extLst>
                    <a:ext uri="{9D8B030D-6E8A-4147-A177-3AD203B41FA5}">
                      <a16:colId xmlns:a16="http://schemas.microsoft.com/office/drawing/2014/main" val="20005"/>
                    </a:ext>
                  </a:extLst>
                </a:gridCol>
                <a:gridCol w="1259633">
                  <a:extLst>
                    <a:ext uri="{9D8B030D-6E8A-4147-A177-3AD203B41FA5}">
                      <a16:colId xmlns:a16="http://schemas.microsoft.com/office/drawing/2014/main" val="20006"/>
                    </a:ext>
                  </a:extLst>
                </a:gridCol>
              </a:tblGrid>
              <a:tr h="875466">
                <a:tc>
                  <a:txBody>
                    <a:bodyPr/>
                    <a:lstStyle/>
                    <a:p>
                      <a:pPr algn="l" fontAlgn="b"/>
                      <a:endParaRPr lang="en-GB" sz="2000" b="0" i="0" u="none" strike="noStrike" dirty="0">
                        <a:solidFill>
                          <a:srgbClr val="000000"/>
                        </a:solidFill>
                        <a:latin typeface="Calibri"/>
                      </a:endParaRPr>
                    </a:p>
                  </a:txBody>
                  <a:tcPr marL="45720" marR="45720" anchor="b">
                    <a:lnL>
                      <a:noFill/>
                    </a:lnL>
                    <a:lnR>
                      <a:noFill/>
                    </a:lnR>
                    <a:lnT>
                      <a:noFill/>
                    </a:lnT>
                    <a:lnB>
                      <a:noFill/>
                    </a:lnB>
                  </a:tcPr>
                </a:tc>
                <a:tc>
                  <a:txBody>
                    <a:bodyPr/>
                    <a:lstStyle/>
                    <a:p>
                      <a:pPr algn="l" fontAlgn="b"/>
                      <a:r>
                        <a:rPr lang="en-GB" sz="2000" b="1" i="0" u="none" strike="noStrike" dirty="0">
                          <a:solidFill>
                            <a:srgbClr val="000000"/>
                          </a:solidFill>
                          <a:latin typeface="Calibri"/>
                        </a:rPr>
                        <a:t>Brewery </a:t>
                      </a: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1" i="0" u="none" strike="noStrike" dirty="0">
                          <a:solidFill>
                            <a:srgbClr val="000000"/>
                          </a:solidFill>
                          <a:latin typeface="Calibri"/>
                        </a:rPr>
                        <a:t>Butcher </a:t>
                      </a: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1" i="0" u="none" strike="noStrike" dirty="0">
                          <a:solidFill>
                            <a:srgbClr val="000000"/>
                          </a:solidFill>
                          <a:latin typeface="Calibri"/>
                        </a:rPr>
                        <a:t>Greengrocer </a:t>
                      </a: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1" i="0" u="none" strike="noStrike" dirty="0">
                          <a:solidFill>
                            <a:srgbClr val="000000"/>
                          </a:solidFill>
                          <a:latin typeface="Calibri"/>
                        </a:rPr>
                        <a:t>Restaurant </a:t>
                      </a: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1" i="0" u="none" strike="noStrike" dirty="0">
                          <a:solidFill>
                            <a:srgbClr val="000000"/>
                          </a:solidFill>
                          <a:latin typeface="Calibri"/>
                        </a:rPr>
                        <a:t>Final production/uses </a:t>
                      </a:r>
                    </a:p>
                  </a:txBody>
                  <a:tcPr marL="45720" marR="4572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GB" sz="2000" b="1" i="0" u="none" strike="noStrike" dirty="0">
                          <a:solidFill>
                            <a:srgbClr val="000000"/>
                          </a:solidFill>
                          <a:latin typeface="Calibri"/>
                        </a:rPr>
                        <a:t>Total uses/</a:t>
                      </a:r>
                      <a:br>
                        <a:rPr lang="cs-CZ" sz="2000" b="1" i="0" u="none" strike="noStrike" dirty="0">
                          <a:solidFill>
                            <a:srgbClr val="000000"/>
                          </a:solidFill>
                          <a:latin typeface="Calibri"/>
                        </a:rPr>
                      </a:br>
                      <a:r>
                        <a:rPr lang="en-GB" sz="2000" b="1" i="0" u="none" strike="noStrike" dirty="0">
                          <a:solidFill>
                            <a:srgbClr val="000000"/>
                          </a:solidFill>
                          <a:latin typeface="Calibri"/>
                        </a:rPr>
                        <a:t>outputs </a:t>
                      </a:r>
                    </a:p>
                  </a:txBody>
                  <a:tcPr marL="45720" marR="45720" anchor="b">
                    <a:lnL>
                      <a:noFill/>
                    </a:lnL>
                    <a:lnR>
                      <a:noFill/>
                    </a:lnR>
                    <a:lnT>
                      <a:noFill/>
                    </a:lnT>
                    <a:lnB>
                      <a:noFill/>
                    </a:lnB>
                  </a:tcPr>
                </a:tc>
                <a:extLst>
                  <a:ext uri="{0D108BD9-81ED-4DB2-BD59-A6C34878D82A}">
                    <a16:rowId xmlns:a16="http://schemas.microsoft.com/office/drawing/2014/main" val="10000"/>
                  </a:ext>
                </a:extLst>
              </a:tr>
              <a:tr h="331615">
                <a:tc>
                  <a:txBody>
                    <a:bodyPr/>
                    <a:lstStyle/>
                    <a:p>
                      <a:pPr algn="l" fontAlgn="b"/>
                      <a:r>
                        <a:rPr lang="en-GB" sz="2000" b="1" i="0" u="none" strike="noStrike">
                          <a:solidFill>
                            <a:srgbClr val="000000"/>
                          </a:solidFill>
                          <a:latin typeface="Calibri"/>
                        </a:rPr>
                        <a:t>Brewery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10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0" i="0" u="none" strike="noStrike">
                          <a:solidFill>
                            <a:srgbClr val="000000"/>
                          </a:solidFill>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0" i="0" u="none" strike="noStrike">
                          <a:solidFill>
                            <a:srgbClr val="000000"/>
                          </a:solidFill>
                          <a:latin typeface="Calibri"/>
                        </a:rPr>
                        <a:t>2</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100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1"/>
                  </a:ext>
                </a:extLst>
              </a:tr>
              <a:tr h="331615">
                <a:tc>
                  <a:txBody>
                    <a:bodyPr/>
                    <a:lstStyle/>
                    <a:p>
                      <a:pPr algn="l" fontAlgn="b"/>
                      <a:r>
                        <a:rPr lang="en-GB" sz="2000" b="1" i="0" u="none" strike="noStrike">
                          <a:solidFill>
                            <a:srgbClr val="000000"/>
                          </a:solidFill>
                          <a:latin typeface="Calibri"/>
                        </a:rPr>
                        <a:t>Butcher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GB" sz="2400" b="0" i="0" u="none" strike="noStrike">
                          <a:solidFill>
                            <a:srgbClr val="000000"/>
                          </a:solidFill>
                          <a:latin typeface="Calibri"/>
                        </a:rPr>
                        <a:t>10</a:t>
                      </a:r>
                    </a:p>
                  </a:txBody>
                  <a:tcPr marL="0" marR="0" marT="0" marB="0" anchor="b">
                    <a:lnL>
                      <a:noFill/>
                    </a:lnL>
                    <a:lnR>
                      <a:noFill/>
                    </a:lnR>
                    <a:lnT>
                      <a:noFill/>
                    </a:lnT>
                    <a:lnB>
                      <a:noFill/>
                    </a:lnB>
                  </a:tcPr>
                </a:tc>
                <a:tc>
                  <a:txBody>
                    <a:bodyPr/>
                    <a:lstStyle/>
                    <a:p>
                      <a:pPr algn="ctr" fontAlgn="b"/>
                      <a:r>
                        <a:rPr lang="en-GB" sz="2400" b="0" i="0" u="none" strike="noStrike">
                          <a:solidFill>
                            <a:srgbClr val="000000"/>
                          </a:solidFill>
                          <a:latin typeface="Calibri"/>
                        </a:rPr>
                        <a:t>2</a:t>
                      </a:r>
                    </a:p>
                  </a:txBody>
                  <a:tcPr marL="0" marR="0" marT="0" marB="0" anchor="b">
                    <a:lnL>
                      <a:noFill/>
                    </a:lnL>
                    <a:lnR>
                      <a:noFill/>
                    </a:lnR>
                    <a:lnT>
                      <a:noFill/>
                    </a:lnT>
                    <a:lnB>
                      <a:noFill/>
                    </a:lnB>
                  </a:tcPr>
                </a:tc>
                <a:tc>
                  <a:txBody>
                    <a:bodyPr/>
                    <a:lstStyle/>
                    <a:p>
                      <a:pPr algn="ctr" fontAlgn="b"/>
                      <a:r>
                        <a:rPr lang="en-GB" sz="2400" b="0" i="0" u="none" strike="noStrike">
                          <a:solidFill>
                            <a:srgbClr val="000000"/>
                          </a:solidFill>
                          <a:latin typeface="Calibri"/>
                        </a:rPr>
                        <a:t>45</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18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294578">
                <a:tc>
                  <a:txBody>
                    <a:bodyPr/>
                    <a:lstStyle/>
                    <a:p>
                      <a:pPr algn="l" fontAlgn="b"/>
                      <a:r>
                        <a:rPr lang="en-GB" sz="2000" b="1" i="0" u="none" strike="noStrike">
                          <a:solidFill>
                            <a:srgbClr val="000000"/>
                          </a:solidFill>
                          <a:latin typeface="Calibri"/>
                        </a:rPr>
                        <a:t>Greengrocer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2</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a:noFill/>
                    </a:lnT>
                    <a:lnB>
                      <a:noFill/>
                    </a:lnB>
                  </a:tcPr>
                </a:tc>
                <a:tc>
                  <a:txBody>
                    <a:bodyPr/>
                    <a:lstStyle/>
                    <a:p>
                      <a:pPr algn="ctr" fontAlgn="ctr"/>
                      <a:r>
                        <a:rPr lang="en-GB" sz="2400" b="0" i="0" u="none" strike="noStrike">
                          <a:solidFill>
                            <a:srgbClr val="000000"/>
                          </a:solidFill>
                          <a:latin typeface="Calibri"/>
                        </a:rPr>
                        <a:t>15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1" i="0" u="none" strike="noStrike">
                          <a:solidFill>
                            <a:srgbClr val="000000"/>
                          </a:solidFill>
                          <a:latin typeface="Calibri"/>
                        </a:rPr>
                        <a:t>30</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349818">
                <a:tc>
                  <a:txBody>
                    <a:bodyPr/>
                    <a:lstStyle/>
                    <a:p>
                      <a:pPr algn="l" fontAlgn="b"/>
                      <a:r>
                        <a:rPr lang="en-GB" sz="2000" b="1" i="0" u="none" strike="noStrike">
                          <a:solidFill>
                            <a:srgbClr val="000000"/>
                          </a:solidFill>
                          <a:latin typeface="Calibri"/>
                        </a:rPr>
                        <a:t>Restaourant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5</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1</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5</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184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1" i="0" u="none" strike="noStrike">
                          <a:solidFill>
                            <a:srgbClr val="000000"/>
                          </a:solidFill>
                          <a:latin typeface="Calibri"/>
                        </a:rPr>
                        <a:t>…</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331615">
                <a:tc>
                  <a:txBody>
                    <a:bodyPr/>
                    <a:lstStyle/>
                    <a:p>
                      <a:pPr algn="l" fontAlgn="b"/>
                      <a:r>
                        <a:rPr lang="en-GB" sz="2000" b="1" i="0" u="none" strike="noStrike">
                          <a:solidFill>
                            <a:srgbClr val="000000"/>
                          </a:solidFill>
                          <a:latin typeface="Calibri"/>
                        </a:rPr>
                        <a:t>Wages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5</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0" i="0" u="none" strike="noStrike">
                          <a:solidFill>
                            <a:srgbClr val="000000"/>
                          </a:solidFill>
                          <a:latin typeface="Calibri"/>
                        </a:rPr>
                        <a:t>3</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0" i="0" u="none" strike="noStrike">
                          <a:solidFill>
                            <a:srgbClr val="000000"/>
                          </a:solidFill>
                          <a:latin typeface="Calibri"/>
                        </a:rPr>
                        <a:t>4</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24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2400" b="0" i="0" u="none" strike="noStrike">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5"/>
                  </a:ext>
                </a:extLst>
              </a:tr>
              <a:tr h="583644">
                <a:tc>
                  <a:txBody>
                    <a:bodyPr/>
                    <a:lstStyle/>
                    <a:p>
                      <a:pPr algn="l" fontAlgn="b"/>
                      <a:r>
                        <a:rPr lang="en-GB" sz="2000" b="1" i="0" u="none" strike="noStrike">
                          <a:solidFill>
                            <a:srgbClr val="000000"/>
                          </a:solidFill>
                          <a:latin typeface="Calibri"/>
                        </a:rPr>
                        <a:t>Material inputs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GB" sz="2400" b="0" i="0" u="none" strike="noStrike">
                          <a:solidFill>
                            <a:srgbClr val="000000"/>
                          </a:solidFill>
                          <a:latin typeface="Calibri"/>
                        </a:rPr>
                        <a:t>15</a:t>
                      </a:r>
                    </a:p>
                  </a:txBody>
                  <a:tcPr marL="0" marR="0" marT="0" marB="0" anchor="b">
                    <a:lnL>
                      <a:noFill/>
                    </a:lnL>
                    <a:lnR>
                      <a:noFill/>
                    </a:lnR>
                    <a:lnT>
                      <a:noFill/>
                    </a:lnT>
                    <a:lnB>
                      <a:noFill/>
                    </a:lnB>
                  </a:tcPr>
                </a:tc>
                <a:tc>
                  <a:txBody>
                    <a:bodyPr/>
                    <a:lstStyle/>
                    <a:p>
                      <a:pPr algn="ctr" fontAlgn="b"/>
                      <a:r>
                        <a:rPr lang="en-GB" sz="2400" b="0" i="0" u="none" strike="noStrike">
                          <a:solidFill>
                            <a:srgbClr val="000000"/>
                          </a:solidFill>
                          <a:latin typeface="Calibri"/>
                        </a:rPr>
                        <a:t>3</a:t>
                      </a:r>
                    </a:p>
                  </a:txBody>
                  <a:tcPr marL="0" marR="0" marT="0" marB="0" anchor="b">
                    <a:lnL>
                      <a:noFill/>
                    </a:lnL>
                    <a:lnR>
                      <a:noFill/>
                    </a:lnR>
                    <a:lnT>
                      <a:noFill/>
                    </a:lnT>
                    <a:lnB>
                      <a:noFill/>
                    </a:lnB>
                  </a:tcPr>
                </a:tc>
                <a:tc>
                  <a:txBody>
                    <a:bodyPr/>
                    <a:lstStyle/>
                    <a:p>
                      <a:pPr algn="ctr" fontAlgn="b"/>
                      <a:r>
                        <a:rPr lang="en-GB" sz="2400" b="0" i="0" u="none" strike="noStrike">
                          <a:solidFill>
                            <a:srgbClr val="000000"/>
                          </a:solidFill>
                          <a:latin typeface="Calibri"/>
                        </a:rPr>
                        <a:t>15</a:t>
                      </a:r>
                    </a:p>
                  </a:txBody>
                  <a:tcPr marL="0" marR="0" marT="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endParaRPr lang="en-GB" sz="24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endParaRPr lang="en-GB" sz="2400" b="0" i="0" u="none" strike="noStrike">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6"/>
                  </a:ext>
                </a:extLst>
              </a:tr>
              <a:tr h="331615">
                <a:tc>
                  <a:txBody>
                    <a:bodyPr/>
                    <a:lstStyle/>
                    <a:p>
                      <a:pPr algn="l" fontAlgn="b"/>
                      <a:r>
                        <a:rPr lang="en-GB" sz="2000" b="1" i="0" u="none" strike="noStrike">
                          <a:solidFill>
                            <a:srgbClr val="000000"/>
                          </a:solidFill>
                          <a:latin typeface="Calibri"/>
                        </a:rPr>
                        <a:t>EBIT </a:t>
                      </a:r>
                    </a:p>
                  </a:txBody>
                  <a:tcPr marL="45720" marR="4572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GB" sz="2400" b="0" i="0" u="none" strike="noStrike">
                          <a:solidFill>
                            <a:srgbClr val="000000"/>
                          </a:solidFill>
                          <a:latin typeface="Calibri"/>
                        </a:rPr>
                        <a:t>53</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39</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13</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GB" sz="2400" b="0" i="0" u="none" strike="noStrike">
                          <a:solidFill>
                            <a:srgbClr val="000000"/>
                          </a:solidFill>
                          <a:latin typeface="Calibri"/>
                        </a:rPr>
                        <a:t>56</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b"/>
                      <a:endParaRPr lang="en-GB" sz="2400" b="0" i="0" u="none" strike="noStrike">
                        <a:solidFill>
                          <a:srgbClr val="000000"/>
                        </a:solidFill>
                        <a:latin typeface="Calibr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b"/>
                      <a:endParaRPr lang="en-GB" sz="2400" b="0" i="0" u="none" strike="noStrike">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7"/>
                  </a:ext>
                </a:extLst>
              </a:tr>
              <a:tr h="380176">
                <a:tc>
                  <a:txBody>
                    <a:bodyPr/>
                    <a:lstStyle/>
                    <a:p>
                      <a:pPr algn="l" fontAlgn="b"/>
                      <a:r>
                        <a:rPr lang="en-GB" sz="2000" b="1" i="0" u="none" strike="noStrike">
                          <a:solidFill>
                            <a:srgbClr val="000000"/>
                          </a:solidFill>
                          <a:latin typeface="Calibri"/>
                        </a:rPr>
                        <a:t>Total inputs </a:t>
                      </a:r>
                    </a:p>
                  </a:txBody>
                  <a:tcPr marL="45720" marR="45720" anchor="b">
                    <a:lnL>
                      <a:noFill/>
                    </a:lnL>
                    <a:lnR>
                      <a:noFill/>
                    </a:lnR>
                    <a:lnT>
                      <a:noFill/>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80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n-GB" sz="2400" b="1" i="0" u="none" strike="noStrike">
                          <a:solidFill>
                            <a:srgbClr val="000000"/>
                          </a:solidFill>
                          <a:latin typeface="Calibri"/>
                        </a:rPr>
                        <a:t>200</a:t>
                      </a:r>
                    </a:p>
                  </a:txBody>
                  <a:tcPr marL="0" marR="0" marT="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endParaRPr lang="en-GB" sz="2400" b="0" i="0" u="none" strike="noStrike">
                        <a:solidFill>
                          <a:srgbClr val="000000"/>
                        </a:solidFill>
                        <a:latin typeface="Calibri"/>
                      </a:endParaRPr>
                    </a:p>
                  </a:txBody>
                  <a:tcPr marL="0" marR="0" marT="0" marB="0" anchor="b">
                    <a:lnL>
                      <a:noFill/>
                    </a:lnL>
                    <a:lnR>
                      <a:noFill/>
                    </a:lnR>
                    <a:lnT>
                      <a:noFill/>
                    </a:lnT>
                    <a:lnB>
                      <a:noFill/>
                    </a:lnB>
                  </a:tcPr>
                </a:tc>
                <a:tc>
                  <a:txBody>
                    <a:bodyPr/>
                    <a:lstStyle/>
                    <a:p>
                      <a:pPr algn="ctr" fontAlgn="b"/>
                      <a:endParaRPr lang="en-GB" sz="2400" b="0" i="0" u="none" strike="noStrike" dirty="0">
                        <a:solidFill>
                          <a:srgbClr val="000000"/>
                        </a:solidFill>
                        <a:latin typeface="Calibri"/>
                      </a:endParaRPr>
                    </a:p>
                  </a:txBody>
                  <a:tcPr marL="0" marR="0" marT="0" marB="0" anchor="b">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Distribution equations</a:t>
            </a:r>
          </a:p>
        </p:txBody>
      </p:sp>
      <p:sp>
        <p:nvSpPr>
          <p:cNvPr id="3" name="Zástupný symbol pro obsah 2"/>
          <p:cNvSpPr>
            <a:spLocks noGrp="1"/>
          </p:cNvSpPr>
          <p:nvPr>
            <p:ph sz="quarter" idx="1"/>
          </p:nvPr>
        </p:nvSpPr>
        <p:spPr>
          <a:xfrm>
            <a:off x="612648" y="1600200"/>
            <a:ext cx="8153400" cy="4349080"/>
          </a:xfrm>
        </p:spPr>
        <p:txBody>
          <a:bodyPr>
            <a:normAutofit/>
          </a:bodyPr>
          <a:lstStyle/>
          <a:p>
            <a:pPr lvl="0"/>
            <a:r>
              <a:rPr lang="en-GB" sz="3200" noProof="0" dirty="0"/>
              <a:t>Input-output coefficients</a:t>
            </a:r>
          </a:p>
          <a:p>
            <a:pPr lvl="0"/>
            <a:endParaRPr lang="en-GB" sz="3200" dirty="0"/>
          </a:p>
          <a:p>
            <a:pPr lvl="0"/>
            <a:endParaRPr lang="en-GB" sz="3200" dirty="0"/>
          </a:p>
          <a:p>
            <a:pPr lvl="0"/>
            <a:endParaRPr lang="en-GB" sz="3200" dirty="0"/>
          </a:p>
          <a:p>
            <a:pPr lvl="0"/>
            <a:endParaRPr lang="en-GB" sz="3200" dirty="0"/>
          </a:p>
          <a:p>
            <a:pPr lvl="1"/>
            <a:r>
              <a:rPr lang="en-GB" i="1" dirty="0" err="1"/>
              <a:t>a</a:t>
            </a:r>
            <a:r>
              <a:rPr lang="en-GB" i="1" baseline="-25000" dirty="0" err="1"/>
              <a:t>ij</a:t>
            </a:r>
            <a:r>
              <a:rPr lang="en-GB" dirty="0"/>
              <a:t> … number of units of industry </a:t>
            </a:r>
            <a:r>
              <a:rPr lang="en-GB" i="1" dirty="0" err="1"/>
              <a:t>i</a:t>
            </a:r>
            <a:r>
              <a:rPr lang="en-GB" dirty="0"/>
              <a:t> required to produce one unit of industry </a:t>
            </a:r>
            <a:r>
              <a:rPr lang="en-GB" i="1" dirty="0"/>
              <a:t>j</a:t>
            </a:r>
          </a:p>
        </p:txBody>
      </p:sp>
      <p:graphicFrame>
        <p:nvGraphicFramePr>
          <p:cNvPr id="45058" name="Object 3"/>
          <p:cNvGraphicFramePr>
            <a:graphicFrameLocks noChangeAspect="1"/>
          </p:cNvGraphicFramePr>
          <p:nvPr>
            <p:extLst>
              <p:ext uri="{D42A27DB-BD31-4B8C-83A1-F6EECF244321}">
                <p14:modId xmlns:p14="http://schemas.microsoft.com/office/powerpoint/2010/main" val="141949153"/>
              </p:ext>
            </p:extLst>
          </p:nvPr>
        </p:nvGraphicFramePr>
        <p:xfrm>
          <a:off x="1835696" y="2132856"/>
          <a:ext cx="4608512" cy="2193743"/>
        </p:xfrm>
        <a:graphic>
          <a:graphicData uri="http://schemas.openxmlformats.org/presentationml/2006/ole">
            <mc:AlternateContent xmlns:mc="http://schemas.openxmlformats.org/markup-compatibility/2006">
              <mc:Choice xmlns:v="urn:schemas-microsoft-com:vml" Requires="v">
                <p:oleObj name="Equation" r:id="rId3" imgW="2057400" imgH="965160" progId="Equation.DSMT4">
                  <p:embed/>
                </p:oleObj>
              </mc:Choice>
              <mc:Fallback>
                <p:oleObj name="Equation" r:id="rId3" imgW="2057400" imgH="9651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2132856"/>
                        <a:ext cx="4608512" cy="2193743"/>
                      </a:xfrm>
                      <a:prstGeom prst="rect">
                        <a:avLst/>
                      </a:prstGeom>
                      <a:noFill/>
                    </p:spPr>
                  </p:pic>
                </p:oleObj>
              </mc:Fallback>
            </mc:AlternateContent>
          </a:graphicData>
        </a:graphic>
      </p:graphicFrame>
      <p:sp>
        <p:nvSpPr>
          <p:cNvPr id="7" name="TextovéPole 6"/>
          <p:cNvSpPr txBox="1"/>
          <p:nvPr/>
        </p:nvSpPr>
        <p:spPr>
          <a:xfrm>
            <a:off x="0" y="6093296"/>
            <a:ext cx="9144000" cy="461665"/>
          </a:xfrm>
          <a:prstGeom prst="rect">
            <a:avLst/>
          </a:prstGeom>
          <a:noFill/>
        </p:spPr>
        <p:txBody>
          <a:bodyPr wrap="square" rtlCol="0">
            <a:spAutoFit/>
          </a:bodyPr>
          <a:lstStyle/>
          <a:p>
            <a:pPr algn="ctr"/>
            <a:r>
              <a:rPr lang="en-GB" sz="2400" b="1" dirty="0">
                <a:solidFill>
                  <a:srgbClr val="7030A0"/>
                </a:solidFill>
              </a:rPr>
              <a:t>Construct the coefficient matrix </a:t>
            </a:r>
            <a:r>
              <a:rPr lang="en-GB" sz="2400" b="1" i="1" dirty="0">
                <a:solidFill>
                  <a:srgbClr val="7030A0"/>
                </a:solidFill>
              </a:rPr>
              <a:t>A</a:t>
            </a:r>
            <a:r>
              <a:rPr lang="en-GB" sz="2400" b="1" dirty="0">
                <a:solidFill>
                  <a:srgbClr val="7030A0"/>
                </a:solidFill>
              </a:rPr>
              <a:t> for our example!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Zástupný obsah 2">
                <a:extLst>
                  <a:ext uri="{FF2B5EF4-FFF2-40B4-BE49-F238E27FC236}">
                    <a16:creationId xmlns:a16="http://schemas.microsoft.com/office/drawing/2014/main" id="{6D71FA00-EED6-D06C-D2B1-09F96A4D030F}"/>
                  </a:ext>
                </a:extLst>
              </p:cNvPr>
              <p:cNvSpPr>
                <a:spLocks noGrp="1"/>
              </p:cNvSpPr>
              <p:nvPr>
                <p:ph sz="quarter" idx="1"/>
              </p:nvPr>
            </p:nvSpPr>
            <p:spPr>
              <a:xfrm>
                <a:off x="495300" y="620688"/>
                <a:ext cx="8153400" cy="5976664"/>
              </a:xfrm>
            </p:spPr>
            <p:txBody>
              <a:bodyPr/>
              <a:lstStyle/>
              <a:p>
                <a:r>
                  <a:rPr lang="cs-CZ" b="1" dirty="0" err="1"/>
                  <a:t>The</a:t>
                </a:r>
                <a:r>
                  <a:rPr lang="cs-CZ" b="1" dirty="0"/>
                  <a:t> </a:t>
                </a:r>
                <a:r>
                  <a:rPr lang="cs-CZ" b="1" dirty="0" err="1"/>
                  <a:t>Leontief</a:t>
                </a:r>
                <a:r>
                  <a:rPr lang="cs-CZ" b="1" dirty="0"/>
                  <a:t> model: </a:t>
                </a:r>
                <a:r>
                  <a:rPr lang="cs-CZ" b="1" dirty="0" err="1"/>
                  <a:t>how</a:t>
                </a:r>
                <a:r>
                  <a:rPr lang="cs-CZ" b="1" dirty="0"/>
                  <a:t> </a:t>
                </a:r>
                <a:r>
                  <a:rPr lang="cs-CZ" b="1" dirty="0" err="1"/>
                  <a:t>industries</a:t>
                </a:r>
                <a:r>
                  <a:rPr lang="cs-CZ" b="1" dirty="0"/>
                  <a:t> are </a:t>
                </a:r>
                <a:r>
                  <a:rPr lang="cs-CZ" b="1" dirty="0" err="1"/>
                  <a:t>linked</a:t>
                </a:r>
                <a:endParaRPr lang="cs-CZ" b="1" dirty="0"/>
              </a:p>
              <a:p>
                <a:r>
                  <a:rPr lang="cs-CZ" dirty="0" err="1"/>
                  <a:t>The</a:t>
                </a:r>
                <a:r>
                  <a:rPr lang="cs-CZ" dirty="0"/>
                  <a:t> model </a:t>
                </a:r>
                <a:r>
                  <a:rPr lang="cs-CZ" dirty="0" err="1"/>
                  <a:t>states</a:t>
                </a:r>
                <a:r>
                  <a:rPr lang="cs-CZ" dirty="0"/>
                  <a:t>:</a:t>
                </a:r>
              </a:p>
              <a:p>
                <a14:m>
                  <m:oMath xmlns:m="http://schemas.openxmlformats.org/officeDocument/2006/math">
                    <m:r>
                      <a:rPr lang="cs-CZ" i="1">
                        <a:highlight>
                          <a:srgbClr val="FFFF00"/>
                        </a:highlight>
                      </a:rPr>
                      <m:t>𝑥</m:t>
                    </m:r>
                    <m:r>
                      <a:rPr lang="cs-CZ">
                        <a:highlight>
                          <a:srgbClr val="FFFF00"/>
                        </a:highlight>
                      </a:rPr>
                      <m:t>=</m:t>
                    </m:r>
                    <m:r>
                      <a:rPr lang="cs-CZ" i="1">
                        <a:highlight>
                          <a:srgbClr val="FFFF00"/>
                        </a:highlight>
                      </a:rPr>
                      <m:t>𝐴𝑥</m:t>
                    </m:r>
                    <m:r>
                      <a:rPr lang="cs-CZ">
                        <a:highlight>
                          <a:srgbClr val="FFFF00"/>
                        </a:highlight>
                      </a:rPr>
                      <m:t>+</m:t>
                    </m:r>
                    <m:r>
                      <a:rPr lang="cs-CZ" i="1">
                        <a:highlight>
                          <a:srgbClr val="FFFF00"/>
                        </a:highlight>
                      </a:rPr>
                      <m:t>𝑦</m:t>
                    </m:r>
                  </m:oMath>
                </a14:m>
                <a:endParaRPr lang="cs-CZ" dirty="0">
                  <a:highlight>
                    <a:srgbClr val="FFFF00"/>
                  </a:highlight>
                </a:endParaRPr>
              </a:p>
              <a:p>
                <a14:m>
                  <m:oMath xmlns:m="http://schemas.openxmlformats.org/officeDocument/2006/math">
                    <m:r>
                      <a:rPr lang="cs-CZ" i="1"/>
                      <m:t>𝑥</m:t>
                    </m:r>
                  </m:oMath>
                </a14:m>
                <a:r>
                  <a:rPr lang="cs-CZ" dirty="0"/>
                  <a:t>: </a:t>
                </a:r>
                <a:r>
                  <a:rPr lang="cs-CZ" dirty="0" err="1"/>
                  <a:t>vector</a:t>
                </a:r>
                <a:r>
                  <a:rPr lang="cs-CZ" dirty="0"/>
                  <a:t> </a:t>
                </a:r>
                <a:r>
                  <a:rPr lang="cs-CZ" dirty="0" err="1"/>
                  <a:t>of</a:t>
                </a:r>
                <a:r>
                  <a:rPr lang="cs-CZ" dirty="0"/>
                  <a:t> </a:t>
                </a:r>
                <a:r>
                  <a:rPr lang="cs-CZ" dirty="0" err="1"/>
                  <a:t>total</a:t>
                </a:r>
                <a:r>
                  <a:rPr lang="cs-CZ" dirty="0"/>
                  <a:t> </a:t>
                </a:r>
                <a:r>
                  <a:rPr lang="cs-CZ" dirty="0" err="1"/>
                  <a:t>outputs</a:t>
                </a:r>
                <a:r>
                  <a:rPr lang="cs-CZ" dirty="0"/>
                  <a:t> by </a:t>
                </a:r>
                <a:r>
                  <a:rPr lang="cs-CZ" dirty="0" err="1"/>
                  <a:t>industry</a:t>
                </a:r>
                <a:endParaRPr lang="cs-CZ" dirty="0"/>
              </a:p>
              <a:p>
                <a14:m>
                  <m:oMath xmlns:m="http://schemas.openxmlformats.org/officeDocument/2006/math">
                    <m:r>
                      <a:rPr lang="cs-CZ" i="1"/>
                      <m:t>𝐴𝑥</m:t>
                    </m:r>
                  </m:oMath>
                </a14:m>
                <a:r>
                  <a:rPr lang="cs-CZ" dirty="0"/>
                  <a:t>: </a:t>
                </a:r>
                <a:r>
                  <a:rPr lang="cs-CZ" dirty="0" err="1"/>
                  <a:t>intermediate</a:t>
                </a:r>
                <a:r>
                  <a:rPr lang="cs-CZ" dirty="0"/>
                  <a:t> </a:t>
                </a:r>
                <a:r>
                  <a:rPr lang="cs-CZ" dirty="0" err="1"/>
                  <a:t>demand</a:t>
                </a:r>
                <a:r>
                  <a:rPr lang="cs-CZ" dirty="0"/>
                  <a:t> </a:t>
                </a:r>
                <a:r>
                  <a:rPr lang="cs-CZ" dirty="0" err="1"/>
                  <a:t>generated</a:t>
                </a:r>
                <a:r>
                  <a:rPr lang="cs-CZ" dirty="0"/>
                  <a:t> by </a:t>
                </a:r>
                <a:r>
                  <a:rPr lang="cs-CZ" dirty="0" err="1"/>
                  <a:t>production</a:t>
                </a:r>
                <a:endParaRPr lang="cs-CZ" dirty="0"/>
              </a:p>
              <a:p>
                <a14:m>
                  <m:oMath xmlns:m="http://schemas.openxmlformats.org/officeDocument/2006/math">
                    <m:r>
                      <a:rPr lang="cs-CZ" i="1"/>
                      <m:t>𝑦</m:t>
                    </m:r>
                  </m:oMath>
                </a14:m>
                <a:r>
                  <a:rPr lang="cs-CZ" dirty="0"/>
                  <a:t>: </a:t>
                </a:r>
                <a:r>
                  <a:rPr lang="cs-CZ" dirty="0" err="1"/>
                  <a:t>final</a:t>
                </a:r>
                <a:r>
                  <a:rPr lang="cs-CZ" dirty="0"/>
                  <a:t> </a:t>
                </a:r>
                <a:r>
                  <a:rPr lang="cs-CZ" dirty="0" err="1"/>
                  <a:t>demand</a:t>
                </a:r>
                <a:endParaRPr lang="cs-CZ" dirty="0"/>
              </a:p>
              <a:p>
                <a:pPr marL="0" indent="0">
                  <a:buNone/>
                </a:pPr>
                <a:r>
                  <a:rPr lang="cs-CZ" dirty="0" err="1"/>
                  <a:t>Rearranging</a:t>
                </a:r>
                <a:r>
                  <a:rPr lang="cs-CZ" dirty="0"/>
                  <a:t>:</a:t>
                </a:r>
              </a:p>
              <a:p>
                <a14:m>
                  <m:oMath xmlns:m="http://schemas.openxmlformats.org/officeDocument/2006/math">
                    <m:r>
                      <a:rPr lang="cs-CZ" i="1">
                        <a:highlight>
                          <a:srgbClr val="FFFF00"/>
                        </a:highlight>
                      </a:rPr>
                      <m:t>𝑥</m:t>
                    </m:r>
                    <m:r>
                      <a:rPr lang="cs-CZ">
                        <a:highlight>
                          <a:srgbClr val="FFFF00"/>
                        </a:highlight>
                      </a:rPr>
                      <m:t>=</m:t>
                    </m:r>
                    <m:d>
                      <m:dPr>
                        <m:endChr m:val=""/>
                        <m:ctrlPr>
                          <a:rPr lang="ar-AE" i="1">
                            <a:highlight>
                              <a:srgbClr val="FFFF00"/>
                            </a:highlight>
                          </a:rPr>
                        </m:ctrlPr>
                      </m:dPr>
                      <m:e>
                        <m:r>
                          <a:rPr lang="ar-AE" i="1">
                            <a:highlight>
                              <a:srgbClr val="FFFF00"/>
                            </a:highlight>
                          </a:rPr>
                          <m:t>𝐼</m:t>
                        </m:r>
                        <m:r>
                          <a:rPr lang="ar-AE">
                            <a:highlight>
                              <a:srgbClr val="FFFF00"/>
                            </a:highlight>
                          </a:rPr>
                          <m:t>−</m:t>
                        </m:r>
                        <m:r>
                          <a:rPr lang="ar-AE" i="1">
                            <a:highlight>
                              <a:srgbClr val="FFFF00"/>
                            </a:highlight>
                          </a:rPr>
                          <m:t>𝐴</m:t>
                        </m:r>
                        <m:sSup>
                          <m:sSupPr>
                            <m:ctrlPr>
                              <a:rPr lang="ar-AE" i="1">
                                <a:highlight>
                                  <a:srgbClr val="FFFF00"/>
                                </a:highlight>
                              </a:rPr>
                            </m:ctrlPr>
                          </m:sSupPr>
                          <m:e>
                            <m:d>
                              <m:dPr>
                                <m:begChr m:val=""/>
                                <m:endChr m:val=""/>
                                <m:ctrlPr>
                                  <a:rPr lang="ar-AE" i="1">
                                    <a:highlight>
                                      <a:srgbClr val="FFFF00"/>
                                    </a:highlight>
                                  </a:rPr>
                                </m:ctrlPr>
                              </m:dPr>
                              <m:e>
                                <m:r>
                                  <a:rPr lang="ar-AE">
                                    <a:highlight>
                                      <a:srgbClr val="FFFF00"/>
                                    </a:highlight>
                                  </a:rPr>
                                  <m:t>)</m:t>
                                </m:r>
                              </m:e>
                            </m:d>
                          </m:e>
                          <m:sup>
                            <m:r>
                              <a:rPr lang="ar-AE">
                                <a:highlight>
                                  <a:srgbClr val="FFFF00"/>
                                </a:highlight>
                              </a:rPr>
                              <m:t>−</m:t>
                            </m:r>
                            <m:r>
                              <a:rPr lang="ar-AE">
                                <a:highlight>
                                  <a:srgbClr val="FFFF00"/>
                                </a:highlight>
                              </a:rPr>
                              <m:t>1</m:t>
                            </m:r>
                          </m:sup>
                        </m:sSup>
                        <m:r>
                          <a:rPr lang="ar-AE" i="1">
                            <a:highlight>
                              <a:srgbClr val="FFFF00"/>
                            </a:highlight>
                          </a:rPr>
                          <m:t>𝑦</m:t>
                        </m:r>
                      </m:e>
                    </m:d>
                  </m:oMath>
                </a14:m>
                <a:endParaRPr lang="ar-AE" dirty="0">
                  <a:highlight>
                    <a:srgbClr val="FFFF00"/>
                  </a:highlight>
                </a:endParaRPr>
              </a:p>
              <a:p>
                <a14:m>
                  <m:oMath xmlns:m="http://schemas.openxmlformats.org/officeDocument/2006/math">
                    <m:d>
                      <m:dPr>
                        <m:endChr m:val=""/>
                        <m:ctrlPr>
                          <a:rPr lang="ar-AE"/>
                        </m:ctrlPr>
                      </m:dPr>
                      <m:e>
                        <m:r>
                          <a:rPr lang="ar-AE" i="1"/>
                          <m:t>𝐼</m:t>
                        </m:r>
                        <m:r>
                          <a:rPr lang="ar-AE"/>
                          <m:t>−</m:t>
                        </m:r>
                        <m:r>
                          <a:rPr lang="ar-AE" i="1"/>
                          <m:t>𝐴</m:t>
                        </m:r>
                        <m:sSup>
                          <m:sSupPr>
                            <m:ctrlPr>
                              <a:rPr lang="ar-AE" i="1"/>
                            </m:ctrlPr>
                          </m:sSupPr>
                          <m:e>
                            <m:d>
                              <m:dPr>
                                <m:begChr m:val=""/>
                                <m:endChr m:val=""/>
                                <m:ctrlPr>
                                  <a:rPr lang="ar-AE" i="1"/>
                                </m:ctrlPr>
                              </m:dPr>
                              <m:e>
                                <m:r>
                                  <a:rPr lang="ar-AE"/>
                                  <m:t>)</m:t>
                                </m:r>
                              </m:e>
                            </m:d>
                          </m:e>
                          <m:sup>
                            <m:r>
                              <a:rPr lang="ar-AE"/>
                              <m:t>−</m:t>
                            </m:r>
                            <m:r>
                              <a:rPr lang="ar-AE"/>
                              <m:t>1</m:t>
                            </m:r>
                          </m:sup>
                        </m:sSup>
                      </m:e>
                    </m:d>
                  </m:oMath>
                </a14:m>
                <a:r>
                  <a:rPr lang="cs-CZ" dirty="0" err="1"/>
                  <a:t>is</a:t>
                </a:r>
                <a:r>
                  <a:rPr lang="cs-CZ" dirty="0"/>
                  <a:t> </a:t>
                </a:r>
                <a:r>
                  <a:rPr lang="cs-CZ" dirty="0" err="1"/>
                  <a:t>the</a:t>
                </a:r>
                <a:r>
                  <a:rPr lang="cs-CZ" dirty="0"/>
                  <a:t> </a:t>
                </a:r>
                <a:r>
                  <a:rPr lang="cs-CZ" b="1" dirty="0" err="1"/>
                  <a:t>Leontief</a:t>
                </a:r>
                <a:r>
                  <a:rPr lang="cs-CZ" b="1" dirty="0"/>
                  <a:t> inverse</a:t>
                </a:r>
                <a:r>
                  <a:rPr lang="cs-CZ" dirty="0"/>
                  <a:t> (</a:t>
                </a:r>
                <a:r>
                  <a:rPr lang="cs-CZ" dirty="0" err="1"/>
                  <a:t>the</a:t>
                </a:r>
                <a:r>
                  <a:rPr lang="cs-CZ" dirty="0"/>
                  <a:t> </a:t>
                </a:r>
                <a:r>
                  <a:rPr lang="cs-CZ" dirty="0" err="1"/>
                  <a:t>multiplier</a:t>
                </a:r>
                <a:r>
                  <a:rPr lang="cs-CZ" dirty="0"/>
                  <a:t> matrix).</a:t>
                </a:r>
              </a:p>
              <a:p>
                <a:r>
                  <a:rPr lang="cs-CZ" b="1" dirty="0" err="1"/>
                  <a:t>Intuition</a:t>
                </a:r>
                <a:r>
                  <a:rPr lang="cs-CZ" b="1" dirty="0"/>
                  <a:t> </a:t>
                </a:r>
                <a:r>
                  <a:rPr lang="cs-CZ" b="1" dirty="0" err="1"/>
                  <a:t>of</a:t>
                </a:r>
                <a:r>
                  <a:rPr lang="cs-CZ" b="1" dirty="0"/>
                  <a:t> </a:t>
                </a:r>
                <a:r>
                  <a:rPr lang="cs-CZ" b="1" dirty="0" err="1"/>
                  <a:t>the</a:t>
                </a:r>
                <a:r>
                  <a:rPr lang="cs-CZ" b="1" dirty="0"/>
                  <a:t> </a:t>
                </a:r>
                <a:r>
                  <a:rPr lang="cs-CZ" b="1" dirty="0" err="1"/>
                  <a:t>Leontief</a:t>
                </a:r>
                <a:r>
                  <a:rPr lang="cs-CZ" b="1" dirty="0"/>
                  <a:t> inverse:</a:t>
                </a:r>
                <a:endParaRPr lang="cs-CZ" dirty="0"/>
              </a:p>
              <a:p>
                <a:r>
                  <a:rPr lang="cs-CZ" dirty="0" err="1"/>
                  <a:t>higher</a:t>
                </a:r>
                <a:r>
                  <a:rPr lang="cs-CZ" dirty="0"/>
                  <a:t> </a:t>
                </a:r>
                <a:r>
                  <a:rPr lang="cs-CZ" dirty="0" err="1"/>
                  <a:t>final</a:t>
                </a:r>
                <a:r>
                  <a:rPr lang="cs-CZ" dirty="0"/>
                  <a:t> </a:t>
                </a:r>
                <a:r>
                  <a:rPr lang="cs-CZ" dirty="0" err="1"/>
                  <a:t>demand</a:t>
                </a:r>
                <a:r>
                  <a:rPr lang="cs-CZ" dirty="0"/>
                  <a:t> → </a:t>
                </a:r>
                <a:r>
                  <a:rPr lang="cs-CZ" dirty="0" err="1"/>
                  <a:t>higher</a:t>
                </a:r>
                <a:r>
                  <a:rPr lang="cs-CZ" dirty="0"/>
                  <a:t> </a:t>
                </a:r>
                <a:r>
                  <a:rPr lang="cs-CZ" dirty="0" err="1"/>
                  <a:t>production</a:t>
                </a:r>
                <a:r>
                  <a:rPr lang="cs-CZ" dirty="0"/>
                  <a:t>,</a:t>
                </a:r>
              </a:p>
              <a:p>
                <a:r>
                  <a:rPr lang="cs-CZ" dirty="0" err="1"/>
                  <a:t>higher</a:t>
                </a:r>
                <a:r>
                  <a:rPr lang="cs-CZ" dirty="0"/>
                  <a:t> </a:t>
                </a:r>
                <a:r>
                  <a:rPr lang="cs-CZ" dirty="0" err="1"/>
                  <a:t>production</a:t>
                </a:r>
                <a:r>
                  <a:rPr lang="cs-CZ" dirty="0"/>
                  <a:t> → </a:t>
                </a:r>
                <a:r>
                  <a:rPr lang="cs-CZ" dirty="0" err="1"/>
                  <a:t>higher</a:t>
                </a:r>
                <a:r>
                  <a:rPr lang="cs-CZ" dirty="0"/>
                  <a:t> </a:t>
                </a:r>
                <a:r>
                  <a:rPr lang="cs-CZ" dirty="0" err="1"/>
                  <a:t>demand</a:t>
                </a:r>
                <a:r>
                  <a:rPr lang="cs-CZ" dirty="0"/>
                  <a:t> </a:t>
                </a:r>
                <a:r>
                  <a:rPr lang="cs-CZ" dirty="0" err="1"/>
                  <a:t>for</a:t>
                </a:r>
                <a:r>
                  <a:rPr lang="cs-CZ" dirty="0"/>
                  <a:t> </a:t>
                </a:r>
                <a:r>
                  <a:rPr lang="cs-CZ" dirty="0" err="1"/>
                  <a:t>inputs</a:t>
                </a:r>
                <a:r>
                  <a:rPr lang="cs-CZ" dirty="0"/>
                  <a:t>,</a:t>
                </a:r>
              </a:p>
              <a:p>
                <a:r>
                  <a:rPr lang="cs-CZ" dirty="0" err="1"/>
                  <a:t>suppliers</a:t>
                </a:r>
                <a:r>
                  <a:rPr lang="cs-CZ" dirty="0"/>
                  <a:t> </a:t>
                </a:r>
                <a:r>
                  <a:rPr lang="cs-CZ" dirty="0" err="1"/>
                  <a:t>expand</a:t>
                </a:r>
                <a:r>
                  <a:rPr lang="cs-CZ" dirty="0"/>
                  <a:t> output, and </a:t>
                </a:r>
                <a:r>
                  <a:rPr lang="cs-CZ" dirty="0" err="1"/>
                  <a:t>they</a:t>
                </a:r>
                <a:r>
                  <a:rPr lang="cs-CZ" dirty="0"/>
                  <a:t> in </a:t>
                </a:r>
                <a:r>
                  <a:rPr lang="cs-CZ" dirty="0" err="1"/>
                  <a:t>turn</a:t>
                </a:r>
                <a:r>
                  <a:rPr lang="cs-CZ" dirty="0"/>
                  <a:t> </a:t>
                </a:r>
                <a:r>
                  <a:rPr lang="cs-CZ" dirty="0" err="1"/>
                  <a:t>demand</a:t>
                </a:r>
                <a:r>
                  <a:rPr lang="cs-CZ" dirty="0"/>
                  <a:t> more </a:t>
                </a:r>
                <a:r>
                  <a:rPr lang="cs-CZ" dirty="0" err="1"/>
                  <a:t>inputs</a:t>
                </a:r>
                <a:r>
                  <a:rPr lang="cs-CZ" dirty="0"/>
                  <a:t>…</a:t>
                </a:r>
              </a:p>
              <a:p>
                <a:r>
                  <a:rPr lang="cs-CZ" dirty="0" err="1"/>
                  <a:t>the</a:t>
                </a:r>
                <a:r>
                  <a:rPr lang="cs-CZ" dirty="0"/>
                  <a:t> </a:t>
                </a:r>
                <a:r>
                  <a:rPr lang="cs-CZ" dirty="0" err="1"/>
                  <a:t>Leontief</a:t>
                </a:r>
                <a:r>
                  <a:rPr lang="cs-CZ" dirty="0"/>
                  <a:t> inverse </a:t>
                </a:r>
                <a:r>
                  <a:rPr lang="cs-CZ" dirty="0" err="1"/>
                  <a:t>summarizes</a:t>
                </a:r>
                <a:r>
                  <a:rPr lang="cs-CZ" dirty="0"/>
                  <a:t> </a:t>
                </a:r>
                <a:r>
                  <a:rPr lang="cs-CZ" dirty="0" err="1"/>
                  <a:t>this</a:t>
                </a:r>
                <a:r>
                  <a:rPr lang="cs-CZ" dirty="0"/>
                  <a:t> </a:t>
                </a:r>
                <a:r>
                  <a:rPr lang="cs-CZ" dirty="0" err="1"/>
                  <a:t>entire</a:t>
                </a:r>
                <a:r>
                  <a:rPr lang="cs-CZ" dirty="0"/>
                  <a:t> </a:t>
                </a:r>
                <a:r>
                  <a:rPr lang="cs-CZ" dirty="0" err="1"/>
                  <a:t>chain</a:t>
                </a:r>
                <a:r>
                  <a:rPr lang="cs-CZ" dirty="0"/>
                  <a:t>.</a:t>
                </a:r>
              </a:p>
              <a:p>
                <a:endParaRPr lang="cs-CZ" dirty="0"/>
              </a:p>
            </p:txBody>
          </p:sp>
        </mc:Choice>
        <mc:Fallback>
          <p:sp>
            <p:nvSpPr>
              <p:cNvPr id="3" name="Zástupný obsah 2">
                <a:extLst>
                  <a:ext uri="{FF2B5EF4-FFF2-40B4-BE49-F238E27FC236}">
                    <a16:creationId xmlns:a16="http://schemas.microsoft.com/office/drawing/2014/main" id="{6D71FA00-EED6-D06C-D2B1-09F96A4D030F}"/>
                  </a:ext>
                </a:extLst>
              </p:cNvPr>
              <p:cNvSpPr>
                <a:spLocks noGrp="1" noRot="1" noChangeAspect="1" noMove="1" noResize="1" noEditPoints="1" noAdjustHandles="1" noChangeArrowheads="1" noChangeShapeType="1" noTextEdit="1"/>
              </p:cNvSpPr>
              <p:nvPr>
                <p:ph sz="quarter" idx="1"/>
              </p:nvPr>
            </p:nvSpPr>
            <p:spPr>
              <a:xfrm>
                <a:off x="495300" y="620688"/>
                <a:ext cx="8153400" cy="5976664"/>
              </a:xfrm>
              <a:blipFill>
                <a:blip r:embed="rId2"/>
                <a:stretch>
                  <a:fillRect/>
                </a:stretch>
              </a:blipFill>
            </p:spPr>
            <p:txBody>
              <a:bodyPr/>
              <a:lstStyle/>
              <a:p>
                <a:r>
                  <a:rPr lang="cs-CZ">
                    <a:noFill/>
                  </a:rPr>
                  <a:t> </a:t>
                </a:r>
              </a:p>
            </p:txBody>
          </p:sp>
        </mc:Fallback>
      </mc:AlternateContent>
    </p:spTree>
    <p:extLst>
      <p:ext uri="{BB962C8B-B14F-4D97-AF65-F5344CB8AC3E}">
        <p14:creationId xmlns:p14="http://schemas.microsoft.com/office/powerpoint/2010/main" val="1994485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914400" y="277813"/>
            <a:ext cx="6465888" cy="752475"/>
          </a:xfrm>
        </p:spPr>
        <p:txBody>
          <a:bodyPr>
            <a:normAutofit/>
          </a:bodyPr>
          <a:lstStyle/>
          <a:p>
            <a:r>
              <a:rPr lang="en-GB" dirty="0"/>
              <a:t>Distribution equations</a:t>
            </a:r>
          </a:p>
        </p:txBody>
      </p:sp>
      <p:sp>
        <p:nvSpPr>
          <p:cNvPr id="13" name="Zástupný symbol pro číslo snímku 5"/>
          <p:cNvSpPr>
            <a:spLocks noGrp="1"/>
          </p:cNvSpPr>
          <p:nvPr>
            <p:ph type="sldNum" sz="quarter" idx="12"/>
          </p:nvPr>
        </p:nvSpPr>
        <p:spPr/>
        <p:txBody>
          <a:bodyPr>
            <a:normAutofit fontScale="25000" lnSpcReduction="20000"/>
          </a:bodyPr>
          <a:lstStyle/>
          <a:p>
            <a:pPr>
              <a:defRPr/>
            </a:pPr>
            <a:fld id="{313DECD9-86E7-42F7-8A40-15FD9D30D85F}" type="slidenum">
              <a:rPr lang="cs-CZ"/>
              <a:pPr>
                <a:defRPr/>
              </a:pPr>
              <a:t>13</a:t>
            </a:fld>
            <a:endParaRPr lang="cs-CZ"/>
          </a:p>
        </p:txBody>
      </p:sp>
      <p:sp>
        <p:nvSpPr>
          <p:cNvPr id="22532" name="Rectangle 3"/>
          <p:cNvSpPr>
            <a:spLocks noGrp="1" noChangeArrowheads="1"/>
          </p:cNvSpPr>
          <p:nvPr>
            <p:ph sz="quarter" idx="1"/>
          </p:nvPr>
        </p:nvSpPr>
        <p:spPr>
          <a:xfrm>
            <a:off x="899592" y="1628800"/>
            <a:ext cx="7056784" cy="4662909"/>
          </a:xfrm>
        </p:spPr>
        <p:txBody>
          <a:bodyPr>
            <a:noAutofit/>
          </a:bodyPr>
          <a:lstStyle/>
          <a:p>
            <a:pPr eaLnBrk="1" hangingPunct="1"/>
            <a:r>
              <a:rPr lang="en-GB" sz="3200" b="1" i="1" dirty="0">
                <a:cs typeface="Times New Roman" pitchFamily="18" charset="0"/>
              </a:rPr>
              <a:t>x</a:t>
            </a:r>
            <a:r>
              <a:rPr lang="en-GB" sz="3200" dirty="0">
                <a:cs typeface="Times New Roman" pitchFamily="18" charset="0"/>
              </a:rPr>
              <a:t> = </a:t>
            </a:r>
            <a:r>
              <a:rPr lang="en-GB" sz="3200" b="1" i="1" dirty="0" err="1">
                <a:cs typeface="Times New Roman" pitchFamily="18" charset="0"/>
              </a:rPr>
              <a:t>Ax</a:t>
            </a:r>
            <a:r>
              <a:rPr lang="en-GB" sz="3200" dirty="0">
                <a:cs typeface="Times New Roman" pitchFamily="18" charset="0"/>
              </a:rPr>
              <a:t> + </a:t>
            </a:r>
            <a:r>
              <a:rPr lang="en-GB" sz="3200" b="1" i="1" dirty="0">
                <a:cs typeface="Times New Roman" pitchFamily="18" charset="0"/>
              </a:rPr>
              <a:t>y</a:t>
            </a:r>
            <a:r>
              <a:rPr lang="en-GB" sz="3200" dirty="0"/>
              <a:t> </a:t>
            </a:r>
          </a:p>
          <a:p>
            <a:pPr eaLnBrk="1" hangingPunct="1"/>
            <a:r>
              <a:rPr lang="en-GB" sz="3200" b="1" i="1" dirty="0">
                <a:cs typeface="Times New Roman" pitchFamily="18" charset="0"/>
              </a:rPr>
              <a:t>z</a:t>
            </a:r>
            <a:r>
              <a:rPr lang="en-GB" sz="3200" dirty="0">
                <a:cs typeface="Times New Roman" pitchFamily="18" charset="0"/>
              </a:rPr>
              <a:t> = </a:t>
            </a:r>
            <a:r>
              <a:rPr lang="en-GB" sz="3200" b="1" i="1" dirty="0" err="1">
                <a:cs typeface="Times New Roman" pitchFamily="18" charset="0"/>
              </a:rPr>
              <a:t>Mx</a:t>
            </a:r>
            <a:r>
              <a:rPr lang="en-GB" sz="3200" dirty="0"/>
              <a:t> </a:t>
            </a:r>
          </a:p>
          <a:p>
            <a:pPr eaLnBrk="1" hangingPunct="1"/>
            <a:r>
              <a:rPr lang="cs-CZ" sz="3200" b="1" i="1" dirty="0">
                <a:cs typeface="Times New Roman" pitchFamily="18" charset="0"/>
              </a:rPr>
              <a:t>x</a:t>
            </a:r>
            <a:r>
              <a:rPr lang="en-GB" sz="3200" dirty="0">
                <a:cs typeface="Times New Roman" pitchFamily="18" charset="0"/>
              </a:rPr>
              <a:t> - </a:t>
            </a:r>
            <a:r>
              <a:rPr lang="en-GB" sz="3200" b="1" i="1" dirty="0">
                <a:cs typeface="Times New Roman" pitchFamily="18" charset="0"/>
              </a:rPr>
              <a:t>A</a:t>
            </a:r>
            <a:r>
              <a:rPr lang="cs-CZ" sz="3200" b="1" i="1" dirty="0">
                <a:cs typeface="Times New Roman" pitchFamily="18" charset="0"/>
              </a:rPr>
              <a:t>x</a:t>
            </a:r>
            <a:r>
              <a:rPr lang="en-GB" sz="3200" dirty="0">
                <a:cs typeface="Times New Roman" pitchFamily="18" charset="0"/>
              </a:rPr>
              <a:t> = </a:t>
            </a:r>
            <a:r>
              <a:rPr lang="cs-CZ" sz="3200" b="1" i="1" dirty="0">
                <a:cs typeface="Times New Roman" pitchFamily="18" charset="0"/>
              </a:rPr>
              <a:t>y</a:t>
            </a:r>
            <a:endParaRPr lang="en-GB" sz="3200" b="1" i="1" dirty="0"/>
          </a:p>
          <a:p>
            <a:pPr eaLnBrk="1" hangingPunct="1">
              <a:buFont typeface="Wingdings" pitchFamily="2" charset="2"/>
              <a:buNone/>
            </a:pPr>
            <a:endParaRPr lang="en-GB" sz="3200" dirty="0"/>
          </a:p>
          <a:p>
            <a:pPr eaLnBrk="1" hangingPunct="1">
              <a:buFont typeface="Wingdings" pitchFamily="2" charset="2"/>
              <a:buNone/>
            </a:pPr>
            <a:endParaRPr lang="en-GB" sz="3200" dirty="0"/>
          </a:p>
          <a:p>
            <a:pPr eaLnBrk="1" hangingPunct="1"/>
            <a:r>
              <a:rPr lang="en-GB" sz="3200" b="1" i="1" dirty="0">
                <a:cs typeface="Times New Roman" pitchFamily="18" charset="0"/>
              </a:rPr>
              <a:t>y</a:t>
            </a:r>
            <a:r>
              <a:rPr lang="en-GB" sz="3200" dirty="0">
                <a:cs typeface="Times New Roman" pitchFamily="18" charset="0"/>
              </a:rPr>
              <a:t> = (</a:t>
            </a:r>
            <a:r>
              <a:rPr lang="en-GB" sz="3200" b="1" i="1" dirty="0">
                <a:cs typeface="Times New Roman" pitchFamily="18" charset="0"/>
              </a:rPr>
              <a:t>I</a:t>
            </a:r>
            <a:r>
              <a:rPr lang="en-GB" sz="3200" dirty="0">
                <a:cs typeface="Times New Roman" pitchFamily="18" charset="0"/>
              </a:rPr>
              <a:t> - </a:t>
            </a:r>
            <a:r>
              <a:rPr lang="en-GB" sz="3200" b="1" i="1" dirty="0">
                <a:cs typeface="Times New Roman" pitchFamily="18" charset="0"/>
              </a:rPr>
              <a:t>A</a:t>
            </a:r>
            <a:r>
              <a:rPr lang="en-GB" sz="3200" dirty="0">
                <a:cs typeface="Times New Roman" pitchFamily="18" charset="0"/>
              </a:rPr>
              <a:t>)</a:t>
            </a:r>
            <a:r>
              <a:rPr lang="en-GB" sz="3200" b="1" i="1" dirty="0">
                <a:cs typeface="Times New Roman" pitchFamily="18" charset="0"/>
              </a:rPr>
              <a:t>x</a:t>
            </a:r>
            <a:endParaRPr lang="en-GB" sz="3200" dirty="0"/>
          </a:p>
          <a:p>
            <a:pPr lvl="1" eaLnBrk="1" hangingPunct="1">
              <a:buFont typeface="Wingdings" pitchFamily="2" charset="2"/>
              <a:buNone/>
            </a:pPr>
            <a:endParaRPr lang="en-GB" sz="3200" dirty="0"/>
          </a:p>
          <a:p>
            <a:pPr eaLnBrk="1" hangingPunct="1"/>
            <a:r>
              <a:rPr lang="en-GB" sz="3200" b="1" i="1" dirty="0">
                <a:cs typeface="Times New Roman" pitchFamily="18" charset="0"/>
              </a:rPr>
              <a:t>x</a:t>
            </a:r>
            <a:r>
              <a:rPr lang="en-GB" sz="3200" dirty="0">
                <a:cs typeface="Times New Roman" pitchFamily="18" charset="0"/>
              </a:rPr>
              <a:t> = (</a:t>
            </a:r>
            <a:r>
              <a:rPr lang="en-GB" sz="3200" b="1" i="1" dirty="0">
                <a:cs typeface="Times New Roman" pitchFamily="18" charset="0"/>
              </a:rPr>
              <a:t>I</a:t>
            </a:r>
            <a:r>
              <a:rPr lang="en-GB" sz="3200" dirty="0">
                <a:cs typeface="Times New Roman" pitchFamily="18" charset="0"/>
              </a:rPr>
              <a:t> - </a:t>
            </a:r>
            <a:r>
              <a:rPr lang="en-GB" sz="3200" b="1" i="1" dirty="0">
                <a:cs typeface="Times New Roman" pitchFamily="18" charset="0"/>
              </a:rPr>
              <a:t>A</a:t>
            </a:r>
            <a:r>
              <a:rPr lang="en-GB" sz="3200" dirty="0">
                <a:cs typeface="Times New Roman" pitchFamily="18" charset="0"/>
              </a:rPr>
              <a:t>)</a:t>
            </a:r>
            <a:r>
              <a:rPr lang="en-GB" sz="3200" baseline="30000" dirty="0">
                <a:cs typeface="Times New Roman" pitchFamily="18" charset="0"/>
              </a:rPr>
              <a:t>-1</a:t>
            </a:r>
            <a:r>
              <a:rPr lang="en-GB" sz="3200" b="1" i="1" dirty="0">
                <a:cs typeface="Times New Roman" pitchFamily="18" charset="0"/>
              </a:rPr>
              <a:t>y</a:t>
            </a:r>
            <a:endParaRPr lang="en-GB" sz="3200" dirty="0"/>
          </a:p>
        </p:txBody>
      </p:sp>
      <mc:AlternateContent xmlns:mc="http://schemas.openxmlformats.org/markup-compatibility/2006">
        <mc:Choice xmlns:a14="http://schemas.microsoft.com/office/drawing/2010/main" Requires="a14">
          <p:sp>
            <p:nvSpPr>
              <p:cNvPr id="12" name="TextovéPole 11"/>
              <p:cNvSpPr txBox="1"/>
              <p:nvPr/>
            </p:nvSpPr>
            <p:spPr>
              <a:xfrm>
                <a:off x="3923928" y="2148925"/>
                <a:ext cx="4662772" cy="3622658"/>
              </a:xfrm>
              <a:prstGeom prst="rect">
                <a:avLst/>
              </a:prstGeom>
              <a:noFill/>
              <a:ln w="12700">
                <a:solidFill>
                  <a:schemeClr val="tx1"/>
                </a:solidFill>
              </a:ln>
            </p:spPr>
            <p:txBody>
              <a:bodyPr wrap="square" rtlCol="0">
                <a:spAutoFit/>
              </a:bodyPr>
              <a:lstStyle/>
              <a:p>
                <a:r>
                  <a:rPr lang="cs-CZ" b="1" dirty="0" err="1"/>
                  <a:t>What</a:t>
                </a:r>
                <a:r>
                  <a:rPr lang="cs-CZ" b="1" dirty="0"/>
                  <a:t> </a:t>
                </a:r>
                <a:r>
                  <a:rPr lang="cs-CZ" b="1" dirty="0" err="1"/>
                  <a:t>does</a:t>
                </a:r>
                <a:r>
                  <a:rPr lang="cs-CZ" b="1" dirty="0"/>
                  <a:t> </a:t>
                </a:r>
                <a14:m>
                  <m:oMath xmlns:m="http://schemas.openxmlformats.org/officeDocument/2006/math">
                    <m:d>
                      <m:dPr>
                        <m:endChr m:val=""/>
                        <m:ctrlPr>
                          <a:rPr lang="ar-AE"/>
                        </m:ctrlPr>
                      </m:dPr>
                      <m:e>
                        <m:r>
                          <a:rPr lang="ar-AE" i="1"/>
                          <m:t>𝐼</m:t>
                        </m:r>
                        <m:r>
                          <a:rPr lang="ar-AE"/>
                          <m:t>−</m:t>
                        </m:r>
                        <m:r>
                          <a:rPr lang="ar-AE" i="1"/>
                          <m:t>𝐴</m:t>
                        </m:r>
                        <m:sSup>
                          <m:sSupPr>
                            <m:ctrlPr>
                              <a:rPr lang="ar-AE" i="1"/>
                            </m:ctrlPr>
                          </m:sSupPr>
                          <m:e>
                            <m:d>
                              <m:dPr>
                                <m:begChr m:val=""/>
                                <m:endChr m:val=""/>
                                <m:ctrlPr>
                                  <a:rPr lang="ar-AE" i="1"/>
                                </m:ctrlPr>
                              </m:dPr>
                              <m:e>
                                <m:r>
                                  <a:rPr lang="ar-AE"/>
                                  <m:t>)</m:t>
                                </m:r>
                              </m:e>
                            </m:d>
                          </m:e>
                          <m:sup>
                            <m:r>
                              <a:rPr lang="ar-AE"/>
                              <m:t>−</m:t>
                            </m:r>
                            <m:r>
                              <a:rPr lang="ar-AE"/>
                              <m:t>1</m:t>
                            </m:r>
                          </m:sup>
                        </m:sSup>
                      </m:e>
                    </m:d>
                  </m:oMath>
                </a14:m>
                <a:r>
                  <a:rPr lang="cs-CZ" b="1" dirty="0" err="1"/>
                  <a:t>mean</a:t>
                </a:r>
                <a:r>
                  <a:rPr lang="cs-CZ" b="1" dirty="0"/>
                  <a:t>?</a:t>
                </a:r>
              </a:p>
              <a:p>
                <a:r>
                  <a:rPr lang="cs-CZ" dirty="0" err="1"/>
                  <a:t>It’s</a:t>
                </a:r>
                <a:r>
                  <a:rPr lang="cs-CZ" dirty="0"/>
                  <a:t> </a:t>
                </a:r>
                <a:r>
                  <a:rPr lang="cs-CZ" dirty="0" err="1"/>
                  <a:t>the</a:t>
                </a:r>
                <a:r>
                  <a:rPr lang="cs-CZ" dirty="0"/>
                  <a:t> </a:t>
                </a:r>
                <a:r>
                  <a:rPr lang="cs-CZ" b="1" dirty="0" err="1"/>
                  <a:t>Leontief</a:t>
                </a:r>
                <a:r>
                  <a:rPr lang="cs-CZ" b="1" dirty="0"/>
                  <a:t> inverse</a:t>
                </a:r>
                <a:r>
                  <a:rPr lang="cs-CZ" dirty="0"/>
                  <a:t> (</a:t>
                </a:r>
                <a:r>
                  <a:rPr lang="cs-CZ" dirty="0" err="1"/>
                  <a:t>multiplier</a:t>
                </a:r>
                <a:r>
                  <a:rPr lang="cs-CZ" dirty="0"/>
                  <a:t> matrix):</a:t>
                </a:r>
              </a:p>
              <a:p>
                <a:r>
                  <a:rPr lang="cs-CZ" dirty="0" err="1"/>
                  <a:t>captures</a:t>
                </a:r>
                <a:r>
                  <a:rPr lang="cs-CZ" dirty="0"/>
                  <a:t> </a:t>
                </a:r>
                <a:r>
                  <a:rPr lang="cs-CZ" b="1" dirty="0"/>
                  <a:t>direct and </a:t>
                </a:r>
                <a:r>
                  <a:rPr lang="cs-CZ" b="1" dirty="0" err="1"/>
                  <a:t>indirect</a:t>
                </a:r>
                <a:r>
                  <a:rPr lang="cs-CZ" dirty="0"/>
                  <a:t> </a:t>
                </a:r>
                <a:r>
                  <a:rPr lang="cs-CZ" dirty="0" err="1"/>
                  <a:t>effects</a:t>
                </a:r>
                <a:r>
                  <a:rPr lang="cs-CZ" dirty="0"/>
                  <a:t>,</a:t>
                </a:r>
              </a:p>
              <a:p>
                <a:r>
                  <a:rPr lang="cs-CZ" dirty="0" err="1"/>
                  <a:t>indirect</a:t>
                </a:r>
                <a:r>
                  <a:rPr lang="cs-CZ" dirty="0"/>
                  <a:t> </a:t>
                </a:r>
                <a:r>
                  <a:rPr lang="cs-CZ" dirty="0" err="1"/>
                  <a:t>effects</a:t>
                </a:r>
                <a:r>
                  <a:rPr lang="cs-CZ" dirty="0"/>
                  <a:t> = </a:t>
                </a:r>
                <a:r>
                  <a:rPr lang="cs-CZ" dirty="0" err="1"/>
                  <a:t>suppliers</a:t>
                </a:r>
                <a:r>
                  <a:rPr lang="cs-CZ" dirty="0"/>
                  <a:t> </a:t>
                </a:r>
                <a:r>
                  <a:rPr lang="cs-CZ" dirty="0" err="1"/>
                  <a:t>of</a:t>
                </a:r>
                <a:r>
                  <a:rPr lang="cs-CZ" dirty="0"/>
                  <a:t> </a:t>
                </a:r>
                <a:r>
                  <a:rPr lang="cs-CZ" dirty="0" err="1"/>
                  <a:t>suppliers</a:t>
                </a:r>
                <a:r>
                  <a:rPr lang="cs-CZ" dirty="0"/>
                  <a:t>, </a:t>
                </a:r>
                <a:r>
                  <a:rPr lang="cs-CZ" dirty="0" err="1"/>
                  <a:t>etc</a:t>
                </a:r>
                <a:r>
                  <a:rPr lang="cs-CZ" dirty="0"/>
                  <a:t>.</a:t>
                </a:r>
              </a:p>
              <a:p>
                <a:endParaRPr lang="en-GB" dirty="0">
                  <a:solidFill>
                    <a:srgbClr val="00B050"/>
                  </a:solidFill>
                </a:endParaRPr>
              </a:p>
            </p:txBody>
          </p:sp>
        </mc:Choice>
        <mc:Fallback>
          <p:sp>
            <p:nvSpPr>
              <p:cNvPr id="12" name="TextovéPole 11"/>
              <p:cNvSpPr txBox="1">
                <a:spLocks noRot="1" noChangeAspect="1" noMove="1" noResize="1" noEditPoints="1" noAdjustHandles="1" noChangeArrowheads="1" noChangeShapeType="1" noTextEdit="1"/>
              </p:cNvSpPr>
              <p:nvPr/>
            </p:nvSpPr>
            <p:spPr>
              <a:xfrm>
                <a:off x="3923928" y="2148925"/>
                <a:ext cx="4662772" cy="3622658"/>
              </a:xfrm>
              <a:prstGeom prst="rect">
                <a:avLst/>
              </a:prstGeom>
              <a:blipFill>
                <a:blip r:embed="rId3"/>
                <a:stretch>
                  <a:fillRect l="-2347"/>
                </a:stretch>
              </a:blipFill>
              <a:ln w="12700">
                <a:solidFill>
                  <a:schemeClr val="tx1"/>
                </a:solidFill>
              </a:ln>
            </p:spPr>
            <p:txBody>
              <a:bodyPr/>
              <a:lstStyle/>
              <a:p>
                <a:r>
                  <a:rPr lang="cs-CZ">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ovéPole 4">
            <a:extLst>
              <a:ext uri="{FF2B5EF4-FFF2-40B4-BE49-F238E27FC236}">
                <a16:creationId xmlns:a16="http://schemas.microsoft.com/office/drawing/2014/main" id="{DFD030C0-963A-EE6D-3691-9B376FFE00AC}"/>
              </a:ext>
            </a:extLst>
          </p:cNvPr>
          <p:cNvSpPr txBox="1"/>
          <p:nvPr/>
        </p:nvSpPr>
        <p:spPr>
          <a:xfrm>
            <a:off x="755576" y="404664"/>
            <a:ext cx="7632848" cy="3108543"/>
          </a:xfrm>
          <a:prstGeom prst="rect">
            <a:avLst/>
          </a:prstGeom>
          <a:noFill/>
        </p:spPr>
        <p:txBody>
          <a:bodyPr wrap="square">
            <a:spAutoFit/>
          </a:bodyPr>
          <a:lstStyle/>
          <a:p>
            <a:r>
              <a:rPr lang="en-GB" sz="2800" b="1" dirty="0">
                <a:solidFill>
                  <a:srgbClr val="7030A0"/>
                </a:solidFill>
              </a:rPr>
              <a:t>Example: </a:t>
            </a:r>
          </a:p>
          <a:p>
            <a:pPr marL="457200" indent="-457200">
              <a:buAutoNum type="arabicParenR"/>
            </a:pPr>
            <a:r>
              <a:rPr lang="en-GB" sz="2800" b="1" dirty="0">
                <a:solidFill>
                  <a:srgbClr val="7030A0"/>
                </a:solidFill>
              </a:rPr>
              <a:t>Gluttony Ltd. could extend the production capacity of brewery to 120 (x</a:t>
            </a:r>
            <a:r>
              <a:rPr lang="en-GB" sz="2800" b="1" baseline="-25000" dirty="0">
                <a:solidFill>
                  <a:srgbClr val="7030A0"/>
                </a:solidFill>
              </a:rPr>
              <a:t>1</a:t>
            </a:r>
            <a:r>
              <a:rPr lang="en-GB" sz="2800" b="1" dirty="0">
                <a:solidFill>
                  <a:srgbClr val="7030A0"/>
                </a:solidFill>
              </a:rPr>
              <a:t>‘ = 120) – what final production could be expected</a:t>
            </a:r>
            <a:r>
              <a:rPr lang="cs-CZ" sz="2800" b="1" dirty="0">
                <a:solidFill>
                  <a:srgbClr val="7030A0"/>
                </a:solidFill>
              </a:rPr>
              <a:t>?</a:t>
            </a:r>
            <a:endParaRPr lang="en-GB" sz="2800" b="1" dirty="0">
              <a:solidFill>
                <a:srgbClr val="7030A0"/>
              </a:solidFill>
            </a:endParaRPr>
          </a:p>
          <a:p>
            <a:pPr marL="457200" indent="-457200">
              <a:buAutoNum type="arabicParenR"/>
            </a:pPr>
            <a:r>
              <a:rPr lang="en-GB" sz="2800" b="1" dirty="0">
                <a:solidFill>
                  <a:srgbClr val="7030A0"/>
                </a:solidFill>
              </a:rPr>
              <a:t>Gluttony Ltd. could conclude the sales of butchery (y</a:t>
            </a:r>
            <a:r>
              <a:rPr lang="en-GB" sz="2800" b="1" baseline="-25000" dirty="0">
                <a:solidFill>
                  <a:srgbClr val="7030A0"/>
                </a:solidFill>
              </a:rPr>
              <a:t>2</a:t>
            </a:r>
            <a:r>
              <a:rPr lang="en-GB" sz="2800" b="1" dirty="0">
                <a:solidFill>
                  <a:srgbClr val="7030A0"/>
                </a:solidFill>
              </a:rPr>
              <a:t>‘ = 35) – how could be the total production capacity extended</a:t>
            </a:r>
            <a:r>
              <a:rPr lang="cs-CZ" sz="2800" b="1" dirty="0">
                <a:solidFill>
                  <a:srgbClr val="7030A0"/>
                </a:solidFill>
              </a:rPr>
              <a:t>?</a:t>
            </a:r>
            <a:endParaRPr lang="en-GB" sz="2800" b="1" dirty="0">
              <a:solidFill>
                <a:srgbClr val="7030A0"/>
              </a:solidFill>
            </a:endParaRPr>
          </a:p>
        </p:txBody>
      </p:sp>
    </p:spTree>
    <p:extLst>
      <p:ext uri="{BB962C8B-B14F-4D97-AF65-F5344CB8AC3E}">
        <p14:creationId xmlns:p14="http://schemas.microsoft.com/office/powerpoint/2010/main" val="3563199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Nadpis 1"/>
          <p:cNvSpPr>
            <a:spLocks noGrp="1"/>
          </p:cNvSpPr>
          <p:nvPr>
            <p:ph type="title"/>
          </p:nvPr>
        </p:nvSpPr>
        <p:spPr>
          <a:xfrm>
            <a:off x="611560" y="260648"/>
            <a:ext cx="8229600" cy="904875"/>
          </a:xfrm>
        </p:spPr>
        <p:txBody>
          <a:bodyPr>
            <a:normAutofit/>
          </a:bodyPr>
          <a:lstStyle/>
          <a:p>
            <a:pPr eaLnBrk="1" hangingPunct="1"/>
            <a:r>
              <a:rPr lang="en-GB" sz="4000" dirty="0"/>
              <a:t>Price indices</a:t>
            </a:r>
          </a:p>
        </p:txBody>
      </p:sp>
      <p:sp>
        <p:nvSpPr>
          <p:cNvPr id="4" name="Zástupný symbol pro číslo snímku 3"/>
          <p:cNvSpPr>
            <a:spLocks noGrp="1"/>
          </p:cNvSpPr>
          <p:nvPr>
            <p:ph type="sldNum" sz="quarter" idx="12"/>
          </p:nvPr>
        </p:nvSpPr>
        <p:spPr/>
        <p:txBody>
          <a:bodyPr>
            <a:normAutofit fontScale="25000" lnSpcReduction="20000"/>
          </a:bodyPr>
          <a:lstStyle/>
          <a:p>
            <a:pPr>
              <a:defRPr/>
            </a:pPr>
            <a:fld id="{71D79CC4-2FA0-4680-B8ED-E6F43AE4507D}" type="slidenum">
              <a:rPr lang="en-US" smtClean="0"/>
              <a:pPr>
                <a:defRPr/>
              </a:pPr>
              <a:t>15</a:t>
            </a:fld>
            <a:endParaRPr lang="en-US" dirty="0"/>
          </a:p>
        </p:txBody>
      </p:sp>
      <p:sp>
        <p:nvSpPr>
          <p:cNvPr id="8197" name="Zástupný symbol pro obsah 2"/>
          <p:cNvSpPr>
            <a:spLocks noGrp="1"/>
          </p:cNvSpPr>
          <p:nvPr>
            <p:ph sz="quarter" idx="1"/>
          </p:nvPr>
        </p:nvSpPr>
        <p:spPr>
          <a:xfrm>
            <a:off x="467544" y="3645024"/>
            <a:ext cx="8229600" cy="3212976"/>
          </a:xfrm>
        </p:spPr>
        <p:txBody>
          <a:bodyPr>
            <a:normAutofit/>
          </a:bodyPr>
          <a:lstStyle/>
          <a:p>
            <a:pPr eaLnBrk="1" hangingPunct="1">
              <a:buFont typeface="Wingdings" pitchFamily="2" charset="2"/>
              <a:buNone/>
              <a:tabLst>
                <a:tab pos="622300" algn="l"/>
              </a:tabLst>
            </a:pPr>
            <a:r>
              <a:rPr lang="en-GB" sz="2000" dirty="0"/>
              <a:t> </a:t>
            </a:r>
            <a:r>
              <a:rPr lang="en-GB" sz="2800" dirty="0">
                <a:latin typeface="Times New Roman"/>
                <a:cs typeface="Times New Roman"/>
              </a:rPr>
              <a:t>ˆ</a:t>
            </a:r>
            <a:r>
              <a:rPr lang="en-GB" sz="2000" dirty="0"/>
              <a:t>  	… Diagonal matrix</a:t>
            </a:r>
            <a:endParaRPr lang="en-GB" sz="2000" i="1" dirty="0"/>
          </a:p>
          <a:p>
            <a:pPr eaLnBrk="1" hangingPunct="1">
              <a:buFont typeface="Wingdings" pitchFamily="2" charset="2"/>
              <a:buNone/>
              <a:tabLst>
                <a:tab pos="622300" algn="l"/>
              </a:tabLst>
            </a:pPr>
            <a:r>
              <a:rPr lang="en-GB" sz="2000" dirty="0"/>
              <a:t> </a:t>
            </a:r>
            <a:r>
              <a:rPr lang="en-GB" sz="2000" dirty="0" err="1"/>
              <a:t>I</a:t>
            </a:r>
            <a:r>
              <a:rPr lang="en-GB" sz="2000" baseline="-25000" dirty="0" err="1"/>
              <a:t>p</a:t>
            </a:r>
            <a:r>
              <a:rPr lang="en-GB" sz="2000" dirty="0"/>
              <a:t>  	… Price index for industry production </a:t>
            </a:r>
          </a:p>
          <a:p>
            <a:pPr eaLnBrk="1" hangingPunct="1">
              <a:buFont typeface="Wingdings" pitchFamily="2" charset="2"/>
              <a:buNone/>
              <a:tabLst>
                <a:tab pos="622300" algn="l"/>
              </a:tabLst>
            </a:pPr>
            <a:r>
              <a:rPr lang="en-GB" sz="2000" dirty="0"/>
              <a:t> </a:t>
            </a:r>
            <a:r>
              <a:rPr lang="en-GB" sz="2000" dirty="0" err="1"/>
              <a:t>I</a:t>
            </a:r>
            <a:r>
              <a:rPr lang="en-GB" sz="2000" baseline="-25000" dirty="0" err="1"/>
              <a:t>a</a:t>
            </a:r>
            <a:r>
              <a:rPr lang="en-GB" sz="2000" dirty="0"/>
              <a:t>  	… Price index for wages</a:t>
            </a:r>
          </a:p>
          <a:p>
            <a:pPr>
              <a:buNone/>
              <a:tabLst>
                <a:tab pos="622300" algn="l"/>
              </a:tabLst>
            </a:pPr>
            <a:r>
              <a:rPr lang="en-GB" sz="2000" dirty="0"/>
              <a:t> </a:t>
            </a:r>
            <a:r>
              <a:rPr lang="en-GB" sz="2000" dirty="0" err="1"/>
              <a:t>I</a:t>
            </a:r>
            <a:r>
              <a:rPr lang="en-GB" sz="2000" baseline="-25000" dirty="0" err="1"/>
              <a:t>m</a:t>
            </a:r>
            <a:r>
              <a:rPr lang="en-GB" sz="2000" dirty="0"/>
              <a:t> 	… Price index for material inputs</a:t>
            </a:r>
          </a:p>
          <a:p>
            <a:pPr>
              <a:buNone/>
              <a:tabLst>
                <a:tab pos="622300" algn="l"/>
              </a:tabLst>
            </a:pPr>
            <a:r>
              <a:rPr lang="en-GB" sz="2000" dirty="0"/>
              <a:t> </a:t>
            </a:r>
            <a:r>
              <a:rPr lang="en-GB" sz="2000" dirty="0" err="1"/>
              <a:t>I</a:t>
            </a:r>
            <a:r>
              <a:rPr lang="en-GB" sz="2000" baseline="-25000" dirty="0" err="1"/>
              <a:t>e</a:t>
            </a:r>
            <a:r>
              <a:rPr lang="en-GB" sz="2000" dirty="0"/>
              <a:t>  	… Price index for EBIT</a:t>
            </a:r>
          </a:p>
          <a:p>
            <a:pPr eaLnBrk="1" hangingPunct="1">
              <a:buFont typeface="Wingdings" pitchFamily="2" charset="2"/>
              <a:buNone/>
              <a:tabLst>
                <a:tab pos="622300" algn="l"/>
              </a:tabLst>
            </a:pPr>
            <a:r>
              <a:rPr lang="en-GB" sz="2000" dirty="0"/>
              <a:t> W 	… Vector of wages</a:t>
            </a:r>
          </a:p>
          <a:p>
            <a:pPr eaLnBrk="1" hangingPunct="1">
              <a:buFont typeface="Wingdings" pitchFamily="2" charset="2"/>
              <a:buNone/>
              <a:tabLst>
                <a:tab pos="622300" algn="l"/>
              </a:tabLst>
            </a:pPr>
            <a:r>
              <a:rPr lang="en-GB" sz="2000" dirty="0"/>
              <a:t> M 	… Vector of material inputs</a:t>
            </a:r>
          </a:p>
          <a:p>
            <a:pPr eaLnBrk="1" hangingPunct="1">
              <a:buFont typeface="Wingdings" pitchFamily="2" charset="2"/>
              <a:buNone/>
              <a:tabLst>
                <a:tab pos="622300" algn="l"/>
              </a:tabLst>
            </a:pPr>
            <a:r>
              <a:rPr lang="en-GB" sz="2000" dirty="0"/>
              <a:t> E 		… Vector of EBIT</a:t>
            </a:r>
          </a:p>
        </p:txBody>
      </p:sp>
      <p:sp>
        <p:nvSpPr>
          <p:cNvPr id="8199"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cs-CZ"/>
          </a:p>
        </p:txBody>
      </p:sp>
      <p:sp>
        <p:nvSpPr>
          <p:cNvPr id="7" name="TextovéPole 6"/>
          <p:cNvSpPr txBox="1"/>
          <p:nvPr/>
        </p:nvSpPr>
        <p:spPr>
          <a:xfrm>
            <a:off x="2483768" y="2204864"/>
            <a:ext cx="6429375" cy="400110"/>
          </a:xfrm>
          <a:prstGeom prst="rect">
            <a:avLst/>
          </a:prstGeom>
          <a:noFill/>
        </p:spPr>
        <p:txBody>
          <a:bodyPr>
            <a:spAutoFit/>
          </a:bodyPr>
          <a:lstStyle/>
          <a:p>
            <a:pPr algn="r">
              <a:defRPr/>
            </a:pPr>
            <a:r>
              <a:rPr lang="cs-CZ" sz="2000" b="1" dirty="0">
                <a:solidFill>
                  <a:schemeClr val="bg1">
                    <a:lumMod val="10000"/>
                  </a:schemeClr>
                </a:solidFill>
              </a:rPr>
              <a:t>…</a:t>
            </a:r>
            <a:r>
              <a:rPr lang="en-GB" sz="2000" b="1" dirty="0">
                <a:solidFill>
                  <a:schemeClr val="bg1">
                    <a:lumMod val="10000"/>
                  </a:schemeClr>
                </a:solidFill>
              </a:rPr>
              <a:t>index for each element of third quadrant</a:t>
            </a:r>
            <a:endParaRPr lang="en-GB" sz="2000" b="1" dirty="0">
              <a:solidFill>
                <a:schemeClr val="bg1">
                  <a:lumMod val="10000"/>
                </a:schemeClr>
              </a:solidFill>
              <a:latin typeface="+mn-lt"/>
            </a:endParaRPr>
          </a:p>
        </p:txBody>
      </p:sp>
      <p:sp>
        <p:nvSpPr>
          <p:cNvPr id="9223"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9225"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9227"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9229"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9228" name="Picture 1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568" y="1556792"/>
            <a:ext cx="5076825" cy="542925"/>
          </a:xfrm>
          <a:prstGeom prst="rect">
            <a:avLst/>
          </a:prstGeom>
          <a:noFill/>
        </p:spPr>
      </p:pic>
      <p:sp>
        <p:nvSpPr>
          <p:cNvPr id="9231"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sp>
        <p:nvSpPr>
          <p:cNvPr id="9233"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GB"/>
          </a:p>
        </p:txBody>
      </p:sp>
      <p:pic>
        <p:nvPicPr>
          <p:cNvPr id="9232" name="Picture 16"/>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39552" y="2852936"/>
            <a:ext cx="6120680" cy="504056"/>
          </a:xfrm>
          <a:prstGeom prst="rect">
            <a:avLst/>
          </a:prstGeom>
          <a:noFill/>
        </p:spPr>
      </p:pic>
      <p:sp>
        <p:nvSpPr>
          <p:cNvPr id="26" name="TextovéPole 25"/>
          <p:cNvSpPr txBox="1"/>
          <p:nvPr/>
        </p:nvSpPr>
        <p:spPr>
          <a:xfrm>
            <a:off x="5652120" y="3429000"/>
            <a:ext cx="3491880" cy="2462213"/>
          </a:xfrm>
          <a:prstGeom prst="rect">
            <a:avLst/>
          </a:prstGeom>
          <a:noFill/>
        </p:spPr>
        <p:txBody>
          <a:bodyPr wrap="square" rtlCol="0">
            <a:spAutoFit/>
          </a:bodyPr>
          <a:lstStyle/>
          <a:p>
            <a:r>
              <a:rPr lang="en-GB" sz="2200" b="1" dirty="0">
                <a:solidFill>
                  <a:srgbClr val="7030A0"/>
                </a:solidFill>
              </a:rPr>
              <a:t>Example:</a:t>
            </a:r>
          </a:p>
          <a:p>
            <a:r>
              <a:rPr lang="en-GB" sz="2200" b="1" dirty="0">
                <a:solidFill>
                  <a:srgbClr val="7030A0"/>
                </a:solidFill>
              </a:rPr>
              <a:t>Prices of material inputs increased by 10% for greengrocer an</a:t>
            </a:r>
            <a:r>
              <a:rPr lang="cs-CZ" sz="2200" b="1" dirty="0">
                <a:solidFill>
                  <a:srgbClr val="7030A0"/>
                </a:solidFill>
              </a:rPr>
              <a:t>d</a:t>
            </a:r>
            <a:r>
              <a:rPr lang="en-GB" sz="2200" b="1" dirty="0">
                <a:solidFill>
                  <a:srgbClr val="7030A0"/>
                </a:solidFill>
              </a:rPr>
              <a:t> by 20% for restaurant, what is production price change?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E1C5BB-2841-703C-5A65-5746B8AEBEB0}"/>
              </a:ext>
            </a:extLst>
          </p:cNvPr>
          <p:cNvSpPr>
            <a:spLocks noGrp="1"/>
          </p:cNvSpPr>
          <p:nvPr>
            <p:ph type="title"/>
          </p:nvPr>
        </p:nvSpPr>
        <p:spPr/>
        <p:txBody>
          <a:bodyPr/>
          <a:lstStyle/>
          <a:p>
            <a:r>
              <a:rPr lang="en-US" b="1" dirty="0"/>
              <a:t>Discussion and limitations</a:t>
            </a:r>
            <a:br>
              <a:rPr lang="en-US" b="1" dirty="0"/>
            </a:br>
            <a:endParaRPr lang="cs-CZ" dirty="0"/>
          </a:p>
        </p:txBody>
      </p:sp>
      <p:sp>
        <p:nvSpPr>
          <p:cNvPr id="3" name="Zástupný obsah 2">
            <a:extLst>
              <a:ext uri="{FF2B5EF4-FFF2-40B4-BE49-F238E27FC236}">
                <a16:creationId xmlns:a16="http://schemas.microsoft.com/office/drawing/2014/main" id="{8D339BC9-704C-B142-D1A6-6640CD866413}"/>
              </a:ext>
            </a:extLst>
          </p:cNvPr>
          <p:cNvSpPr>
            <a:spLocks noGrp="1"/>
          </p:cNvSpPr>
          <p:nvPr>
            <p:ph sz="quarter" idx="1"/>
          </p:nvPr>
        </p:nvSpPr>
        <p:spPr/>
        <p:txBody>
          <a:bodyPr/>
          <a:lstStyle/>
          <a:p>
            <a:r>
              <a:rPr lang="en-US" b="1" dirty="0"/>
              <a:t>Strengths:</a:t>
            </a:r>
            <a:endParaRPr lang="en-US" dirty="0"/>
          </a:p>
          <a:p>
            <a:r>
              <a:rPr lang="en-US" dirty="0"/>
              <a:t>clear, quantitative, great for “chain effects.”</a:t>
            </a:r>
          </a:p>
          <a:p>
            <a:r>
              <a:rPr lang="en-US" b="1" dirty="0"/>
              <a:t>Limitations (simple explanation):</a:t>
            </a:r>
            <a:endParaRPr lang="en-US" dirty="0"/>
          </a:p>
          <a:p>
            <a:r>
              <a:rPr lang="en-US" b="1" dirty="0"/>
              <a:t>fixed technology</a:t>
            </a:r>
            <a:r>
              <a:rPr lang="en-US" dirty="0"/>
              <a:t> (A is constant),</a:t>
            </a:r>
          </a:p>
          <a:p>
            <a:r>
              <a:rPr lang="en-US" dirty="0"/>
              <a:t>basic model ignores price adjustments,</a:t>
            </a:r>
          </a:p>
          <a:p>
            <a:r>
              <a:rPr lang="en-US" dirty="0"/>
              <a:t>no explicit capacity constraints,</a:t>
            </a:r>
          </a:p>
          <a:p>
            <a:r>
              <a:rPr lang="en-US" dirty="0"/>
              <a:t>often static (single year/period).</a:t>
            </a:r>
          </a:p>
          <a:p>
            <a:endParaRPr lang="cs-CZ" dirty="0"/>
          </a:p>
        </p:txBody>
      </p:sp>
    </p:spTree>
    <p:extLst>
      <p:ext uri="{BB962C8B-B14F-4D97-AF65-F5344CB8AC3E}">
        <p14:creationId xmlns:p14="http://schemas.microsoft.com/office/powerpoint/2010/main" val="3328716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722376" y="1116698"/>
            <a:ext cx="7699248" cy="2904067"/>
          </a:xfrm>
        </p:spPr>
        <p:txBody>
          <a:bodyPr anchor="ctr">
            <a:normAutofit/>
          </a:bodyPr>
          <a:lstStyle/>
          <a:p>
            <a:pPr>
              <a:spcAft>
                <a:spcPts val="600"/>
              </a:spcAft>
            </a:pPr>
            <a:r>
              <a:rPr lang="cs-CZ" dirty="0" err="1"/>
              <a:t>Thank</a:t>
            </a:r>
            <a:r>
              <a:rPr lang="cs-CZ" dirty="0"/>
              <a:t> </a:t>
            </a:r>
            <a:r>
              <a:rPr lang="cs-CZ" dirty="0" err="1"/>
              <a:t>you</a:t>
            </a:r>
            <a:r>
              <a:rPr lang="cs-CZ" dirty="0"/>
              <a:t> </a:t>
            </a:r>
            <a:r>
              <a:rPr lang="cs-CZ" dirty="0" err="1"/>
              <a:t>for</a:t>
            </a:r>
            <a:r>
              <a:rPr lang="cs-CZ" dirty="0"/>
              <a:t> </a:t>
            </a:r>
            <a:r>
              <a:rPr lang="cs-CZ" dirty="0" err="1"/>
              <a:t>your</a:t>
            </a:r>
            <a:r>
              <a:rPr lang="cs-CZ" dirty="0"/>
              <a:t> </a:t>
            </a:r>
            <a:r>
              <a:rPr lang="cs-CZ" dirty="0" err="1"/>
              <a:t>attention</a:t>
            </a:r>
            <a:r>
              <a:rPr lang="cs-CZ" dirty="0"/>
              <a:t>.</a:t>
            </a:r>
            <a:endParaRPr lang="en-US"/>
          </a:p>
        </p:txBody>
      </p:sp>
      <p:sp>
        <p:nvSpPr>
          <p:cNvPr id="3" name="Zástupný symbol pro obsah 2"/>
          <p:cNvSpPr>
            <a:spLocks noGrp="1"/>
          </p:cNvSpPr>
          <p:nvPr>
            <p:ph type="body" sz="quarter" idx="11"/>
          </p:nvPr>
        </p:nvSpPr>
        <p:spPr>
          <a:xfrm>
            <a:off x="3043719" y="4403630"/>
            <a:ext cx="3056562" cy="652774"/>
          </a:xfrm>
        </p:spPr>
        <p:txBody>
          <a:bodyPr>
            <a:normAutofit/>
          </a:bodyPr>
          <a:lstStyle/>
          <a:p>
            <a:pPr lvl="2" algn="ctr"/>
            <a:endParaRPr lang="en-GB" sz="1600" noProof="0">
              <a:solidFill>
                <a:schemeClr val="bg1"/>
              </a:solidFill>
            </a:endParaRPr>
          </a:p>
          <a:p>
            <a:pPr lvl="1" algn="ctr"/>
            <a:endParaRPr lang="en-GB" sz="1600" noProof="0">
              <a:solidFill>
                <a:schemeClr val="bg1"/>
              </a:solidFill>
            </a:endParaRPr>
          </a:p>
          <a:p>
            <a:endParaRPr lang="en-GB" noProof="0" dirty="0"/>
          </a:p>
        </p:txBody>
      </p:sp>
    </p:spTree>
    <p:extLst>
      <p:ext uri="{BB962C8B-B14F-4D97-AF65-F5344CB8AC3E}">
        <p14:creationId xmlns:p14="http://schemas.microsoft.com/office/powerpoint/2010/main" val="2803932494"/>
      </p:ext>
    </p:extLst>
  </p:cSld>
  <p:clrMapOvr>
    <a:masterClrMapping/>
  </p:clrMapOvr>
</p:sld>
</file>

<file path=ppt/theme/theme1.xml><?xml version="1.0" encoding="utf-8"?>
<a:theme xmlns:a="http://schemas.openxmlformats.org/drawingml/2006/main" name="Motiv1">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tiv1" id="{B0B25E39-7186-46C5-9D39-950CFB3AB267}" vid="{2449E244-AD5F-4BB9-8A5A-7BFBD4B00EA6}"/>
    </a:ext>
  </a:extLst>
</a:theme>
</file>

<file path=ppt/theme/theme2.xml><?xml version="1.0" encoding="utf-8"?>
<a:theme xmlns:a="http://schemas.openxmlformats.org/drawingml/2006/main" name="Motiv sady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1693</Words>
  <Application>Microsoft Office PowerPoint</Application>
  <PresentationFormat>Předvádění na obrazovce (4:3)</PresentationFormat>
  <Paragraphs>269</Paragraphs>
  <Slides>17</Slides>
  <Notes>8</Notes>
  <HiddenSlides>0</HiddenSlides>
  <MMClips>0</MMClips>
  <ScaleCrop>false</ScaleCrop>
  <HeadingPairs>
    <vt:vector size="8" baseType="variant">
      <vt:variant>
        <vt:lpstr>Použitá písma</vt:lpstr>
      </vt:variant>
      <vt:variant>
        <vt:i4>8</vt:i4>
      </vt:variant>
      <vt:variant>
        <vt:lpstr>Motiv</vt:lpstr>
      </vt:variant>
      <vt:variant>
        <vt:i4>1</vt:i4>
      </vt:variant>
      <vt:variant>
        <vt:lpstr>Vložené servery OLE</vt:lpstr>
      </vt:variant>
      <vt:variant>
        <vt:i4>1</vt:i4>
      </vt:variant>
      <vt:variant>
        <vt:lpstr>Nadpisy snímků</vt:lpstr>
      </vt:variant>
      <vt:variant>
        <vt:i4>17</vt:i4>
      </vt:variant>
    </vt:vector>
  </HeadingPairs>
  <TitlesOfParts>
    <vt:vector size="27" baseType="lpstr">
      <vt:lpstr>Arial</vt:lpstr>
      <vt:lpstr>Calibri</vt:lpstr>
      <vt:lpstr>Cambria Math</vt:lpstr>
      <vt:lpstr>Roboto</vt:lpstr>
      <vt:lpstr>Roboto Black</vt:lpstr>
      <vt:lpstr>Roboto Medium</vt:lpstr>
      <vt:lpstr>Times New Roman</vt:lpstr>
      <vt:lpstr>Wingdings</vt:lpstr>
      <vt:lpstr>Motiv1</vt:lpstr>
      <vt:lpstr>Equation</vt:lpstr>
      <vt:lpstr>Prezentace aplikace PowerPoint</vt:lpstr>
      <vt:lpstr>Introduction</vt:lpstr>
      <vt:lpstr>Prezentace aplikace PowerPoint</vt:lpstr>
      <vt:lpstr>Brief History</vt:lpstr>
      <vt:lpstr>Prezentace aplikace PowerPoint</vt:lpstr>
      <vt:lpstr>Key concepts</vt:lpstr>
      <vt:lpstr>Prezentace aplikace PowerPoint</vt:lpstr>
      <vt:lpstr>Input-output model</vt:lpstr>
      <vt:lpstr>Distribution equations</vt:lpstr>
      <vt:lpstr>Example (I): Gluttony Ltd.</vt:lpstr>
      <vt:lpstr>Distribution equations</vt:lpstr>
      <vt:lpstr>Prezentace aplikace PowerPoint</vt:lpstr>
      <vt:lpstr>Distribution equations</vt:lpstr>
      <vt:lpstr>Prezentace aplikace PowerPoint</vt:lpstr>
      <vt:lpstr>Price indices</vt:lpstr>
      <vt:lpstr>Discussion and limitations </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Research and System Analysis</dc:title>
  <dc:creator>krejcii</dc:creator>
  <cp:lastModifiedBy>Horáková Tereza</cp:lastModifiedBy>
  <cp:revision>311</cp:revision>
  <dcterms:created xsi:type="dcterms:W3CDTF">2012-01-18T09:02:27Z</dcterms:created>
  <dcterms:modified xsi:type="dcterms:W3CDTF">2026-02-23T08:30:32Z</dcterms:modified>
</cp:coreProperties>
</file>