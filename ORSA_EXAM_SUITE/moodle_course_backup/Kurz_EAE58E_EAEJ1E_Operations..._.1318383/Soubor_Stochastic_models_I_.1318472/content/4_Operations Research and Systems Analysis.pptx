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41"/>
  </p:notesMasterIdLst>
  <p:sldIdLst>
    <p:sldId id="256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57" r:id="rId11"/>
    <p:sldId id="258" r:id="rId12"/>
    <p:sldId id="259" r:id="rId13"/>
    <p:sldId id="260" r:id="rId14"/>
    <p:sldId id="261" r:id="rId15"/>
    <p:sldId id="262" r:id="rId16"/>
    <p:sldId id="298" r:id="rId17"/>
    <p:sldId id="263" r:id="rId18"/>
    <p:sldId id="264" r:id="rId19"/>
    <p:sldId id="265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266" r:id="rId32"/>
    <p:sldId id="267" r:id="rId33"/>
    <p:sldId id="268" r:id="rId34"/>
    <p:sldId id="269" r:id="rId35"/>
    <p:sldId id="271" r:id="rId36"/>
    <p:sldId id="312" r:id="rId37"/>
    <p:sldId id="270" r:id="rId38"/>
    <p:sldId id="310" r:id="rId39"/>
    <p:sldId id="313" r:id="rId40"/>
  </p:sldIdLst>
  <p:sldSz cx="9144000" cy="6858000" type="screen4x3"/>
  <p:notesSz cx="7104063" cy="10234613"/>
  <p:defaultTextStyle>
    <a:defPPr>
      <a:defRPr lang="cs-CZ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Střední styl 2 – zvýraznění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615" autoAdjust="0"/>
    <p:restoredTop sz="86429" autoAdjust="0"/>
  </p:normalViewPr>
  <p:slideViewPr>
    <p:cSldViewPr>
      <p:cViewPr varScale="1">
        <p:scale>
          <a:sx n="74" d="100"/>
          <a:sy n="74" d="100"/>
        </p:scale>
        <p:origin x="28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3078427" cy="511731"/>
          </a:xfrm>
          <a:prstGeom prst="rect">
            <a:avLst/>
          </a:prstGeom>
        </p:spPr>
        <p:txBody>
          <a:bodyPr vert="horz" lIns="99054" tIns="49529" rIns="99054" bIns="4952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4023995" y="0"/>
            <a:ext cx="3078427" cy="511731"/>
          </a:xfrm>
          <a:prstGeom prst="rect">
            <a:avLst/>
          </a:prstGeom>
        </p:spPr>
        <p:txBody>
          <a:bodyPr vert="horz" lIns="99054" tIns="49529" rIns="99054" bIns="49529" rtlCol="0"/>
          <a:lstStyle>
            <a:lvl1pPr algn="r">
              <a:defRPr sz="1300"/>
            </a:lvl1pPr>
          </a:lstStyle>
          <a:p>
            <a:fld id="{3DFDF4BB-19E4-4249-AD4F-E9648CF8E63C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9938"/>
            <a:ext cx="5113337" cy="3835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4" tIns="49529" rIns="99054" bIns="49529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710407" y="4861444"/>
            <a:ext cx="5683250" cy="4605576"/>
          </a:xfrm>
          <a:prstGeom prst="rect">
            <a:avLst/>
          </a:prstGeom>
        </p:spPr>
        <p:txBody>
          <a:bodyPr vert="horz" lIns="99054" tIns="49529" rIns="99054" bIns="49529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3" y="9721109"/>
            <a:ext cx="3078427" cy="511731"/>
          </a:xfrm>
          <a:prstGeom prst="rect">
            <a:avLst/>
          </a:prstGeom>
        </p:spPr>
        <p:txBody>
          <a:bodyPr vert="horz" lIns="99054" tIns="49529" rIns="99054" bIns="4952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4023995" y="9721109"/>
            <a:ext cx="3078427" cy="511731"/>
          </a:xfrm>
          <a:prstGeom prst="rect">
            <a:avLst/>
          </a:prstGeom>
        </p:spPr>
        <p:txBody>
          <a:bodyPr vert="horz" lIns="99054" tIns="49529" rIns="99054" bIns="49529" rtlCol="0" anchor="b"/>
          <a:lstStyle>
            <a:lvl1pPr algn="r">
              <a:defRPr sz="1300"/>
            </a:lvl1pPr>
          </a:lstStyle>
          <a:p>
            <a:fld id="{2F931F19-2CCB-4CD0-A569-BC4C390A5E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793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Goal</a:t>
            </a:r>
            <a:r>
              <a:rPr lang="cs-CZ" dirty="0"/>
              <a:t>:</a:t>
            </a:r>
          </a:p>
          <a:p>
            <a:r>
              <a:rPr lang="cs-CZ" dirty="0" err="1"/>
              <a:t>Understand</a:t>
            </a:r>
            <a:r>
              <a:rPr lang="cs-CZ" dirty="0"/>
              <a:t> </a:t>
            </a:r>
            <a:r>
              <a:rPr lang="cs-CZ" dirty="0" err="1"/>
              <a:t>what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stochastic</a:t>
            </a:r>
            <a:r>
              <a:rPr lang="cs-CZ" dirty="0"/>
              <a:t> </a:t>
            </a:r>
            <a:r>
              <a:rPr lang="cs-CZ" dirty="0" err="1"/>
              <a:t>process</a:t>
            </a:r>
            <a:endParaRPr lang="cs-CZ" dirty="0"/>
          </a:p>
          <a:p>
            <a:r>
              <a:rPr lang="cs-CZ" dirty="0"/>
              <a:t>To </a:t>
            </a:r>
            <a:r>
              <a:rPr lang="cs-CZ" dirty="0" err="1"/>
              <a:t>solve</a:t>
            </a:r>
            <a:r>
              <a:rPr lang="cs-CZ" dirty="0"/>
              <a:t> basic </a:t>
            </a:r>
            <a:r>
              <a:rPr lang="cs-CZ" dirty="0" err="1"/>
              <a:t>problems</a:t>
            </a:r>
            <a:r>
              <a:rPr lang="cs-CZ" baseline="0" dirty="0"/>
              <a:t> </a:t>
            </a:r>
            <a:r>
              <a:rPr lang="cs-CZ" baseline="0" dirty="0" err="1"/>
              <a:t>of</a:t>
            </a:r>
            <a:r>
              <a:rPr lang="cs-CZ" baseline="0" dirty="0"/>
              <a:t> </a:t>
            </a:r>
            <a:r>
              <a:rPr lang="cs-CZ" baseline="0" dirty="0" err="1"/>
              <a:t>stochastic</a:t>
            </a:r>
            <a:r>
              <a:rPr lang="cs-CZ" baseline="0" dirty="0"/>
              <a:t> modelling i.</a:t>
            </a:r>
            <a:r>
              <a:rPr lang="cs-CZ" baseline="0" dirty="0" err="1"/>
              <a:t>e</a:t>
            </a:r>
            <a:r>
              <a:rPr lang="cs-CZ" baseline="0" dirty="0"/>
              <a:t>.:</a:t>
            </a:r>
          </a:p>
          <a:p>
            <a:r>
              <a:rPr lang="cs-CZ" baseline="0" dirty="0" err="1"/>
              <a:t>Queuing</a:t>
            </a:r>
            <a:r>
              <a:rPr lang="cs-CZ" baseline="0" dirty="0"/>
              <a:t> </a:t>
            </a:r>
            <a:r>
              <a:rPr lang="cs-CZ" baseline="0" dirty="0" err="1"/>
              <a:t>theory</a:t>
            </a:r>
            <a:endParaRPr lang="cs-CZ" baseline="0" dirty="0"/>
          </a:p>
          <a:p>
            <a:r>
              <a:rPr lang="cs-CZ" baseline="0" dirty="0" err="1"/>
              <a:t>Markov</a:t>
            </a:r>
            <a:r>
              <a:rPr lang="cs-CZ" baseline="0" dirty="0"/>
              <a:t> </a:t>
            </a:r>
            <a:r>
              <a:rPr lang="cs-CZ" baseline="0" dirty="0" err="1"/>
              <a:t>chains</a:t>
            </a:r>
            <a:endParaRPr lang="cs-CZ" baseline="0" dirty="0"/>
          </a:p>
          <a:p>
            <a:r>
              <a:rPr lang="cs-CZ" baseline="0" dirty="0"/>
              <a:t>And </a:t>
            </a:r>
            <a:r>
              <a:rPr lang="cs-CZ" baseline="0" dirty="0" err="1"/>
              <a:t>it</a:t>
            </a:r>
            <a:r>
              <a:rPr lang="cs-CZ" baseline="0" dirty="0"/>
              <a:t> </a:t>
            </a:r>
            <a:r>
              <a:rPr lang="cs-CZ" baseline="0" dirty="0" err="1"/>
              <a:t>application</a:t>
            </a:r>
            <a:r>
              <a:rPr lang="cs-CZ" baseline="0" dirty="0"/>
              <a:t> to basic </a:t>
            </a:r>
            <a:r>
              <a:rPr lang="cs-CZ" baseline="0" dirty="0" err="1"/>
              <a:t>maintenance</a:t>
            </a:r>
            <a:r>
              <a:rPr lang="cs-CZ" baseline="0" dirty="0"/>
              <a:t> </a:t>
            </a:r>
            <a:r>
              <a:rPr lang="cs-CZ" baseline="0" dirty="0" err="1"/>
              <a:t>problems</a:t>
            </a:r>
            <a:endParaRPr lang="cs-CZ" baseline="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38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00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Sometimes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must</a:t>
            </a:r>
            <a:r>
              <a:rPr lang="cs-CZ" dirty="0"/>
              <a:t> </a:t>
            </a:r>
            <a:r>
              <a:rPr lang="cs-CZ" dirty="0" err="1"/>
              <a:t>return</a:t>
            </a:r>
            <a:r>
              <a:rPr lang="cs-CZ" dirty="0"/>
              <a:t> to </a:t>
            </a:r>
            <a:r>
              <a:rPr lang="cs-CZ" dirty="0" err="1"/>
              <a:t>previous</a:t>
            </a:r>
            <a:r>
              <a:rPr lang="cs-CZ" dirty="0"/>
              <a:t> </a:t>
            </a:r>
            <a:r>
              <a:rPr lang="cs-CZ" dirty="0" err="1"/>
              <a:t>points</a:t>
            </a:r>
            <a:r>
              <a:rPr lang="cs-CZ" dirty="0"/>
              <a:t>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665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R</a:t>
            </a:r>
            <a:r>
              <a:rPr lang="en-US" dirty="0" err="1"/>
              <a:t>andom</a:t>
            </a:r>
            <a:r>
              <a:rPr lang="en-US" dirty="0"/>
              <a:t> variable can be thought of as a quantity whose value can </a:t>
            </a:r>
            <a:r>
              <a:rPr lang="en-US" i="1" dirty="0"/>
              <a:t>not</a:t>
            </a:r>
            <a:r>
              <a:rPr lang="en-US" dirty="0"/>
              <a:t> exist, as a constant</a:t>
            </a:r>
            <a:r>
              <a:rPr lang="cs-CZ" dirty="0"/>
              <a:t>,</a:t>
            </a:r>
            <a:r>
              <a:rPr lang="cs-CZ" baseline="0" dirty="0"/>
              <a:t> </a:t>
            </a:r>
            <a:r>
              <a:rPr lang="cs-CZ" baseline="0" dirty="0" err="1"/>
              <a:t>it</a:t>
            </a:r>
            <a:r>
              <a:rPr lang="cs-CZ" baseline="0" dirty="0"/>
              <a:t> </a:t>
            </a:r>
            <a:r>
              <a:rPr lang="cs-CZ" baseline="0" dirty="0" err="1"/>
              <a:t>acts</a:t>
            </a:r>
            <a:r>
              <a:rPr lang="cs-CZ" baseline="0" dirty="0"/>
              <a:t> as </a:t>
            </a:r>
            <a:r>
              <a:rPr lang="en-US" dirty="0"/>
              <a:t>a calculable </a:t>
            </a:r>
            <a:r>
              <a:rPr lang="en-US" i="1" dirty="0"/>
              <a:t>range</a:t>
            </a:r>
            <a:r>
              <a:rPr lang="en-US" dirty="0"/>
              <a:t> of different values</a:t>
            </a:r>
            <a:r>
              <a:rPr lang="cs-CZ" dirty="0"/>
              <a:t>. </a:t>
            </a:r>
            <a:r>
              <a:rPr lang="cs-CZ" dirty="0" err="1"/>
              <a:t>The</a:t>
            </a:r>
            <a:r>
              <a:rPr lang="cs-CZ" baseline="0" dirty="0"/>
              <a:t> </a:t>
            </a:r>
            <a:r>
              <a:rPr lang="cs-CZ" baseline="0" dirty="0" err="1"/>
              <a:t>value</a:t>
            </a:r>
            <a:r>
              <a:rPr lang="cs-CZ" baseline="0" dirty="0"/>
              <a:t> </a:t>
            </a:r>
            <a:r>
              <a:rPr lang="cs-CZ" baseline="0" dirty="0" err="1"/>
              <a:t>is</a:t>
            </a:r>
            <a:r>
              <a:rPr lang="cs-CZ" baseline="0" dirty="0"/>
              <a:t> </a:t>
            </a:r>
            <a:r>
              <a:rPr lang="cs-CZ" baseline="0" dirty="0" err="1"/>
              <a:t>determined</a:t>
            </a:r>
            <a:r>
              <a:rPr lang="cs-CZ" baseline="0" dirty="0"/>
              <a:t> by </a:t>
            </a:r>
            <a:r>
              <a:rPr lang="cs-CZ" baseline="0" dirty="0" err="1"/>
              <a:t>result</a:t>
            </a:r>
            <a:r>
              <a:rPr lang="cs-CZ" baseline="0" dirty="0"/>
              <a:t> </a:t>
            </a:r>
            <a:r>
              <a:rPr lang="cs-CZ" baseline="0" dirty="0" err="1"/>
              <a:t>of</a:t>
            </a:r>
            <a:r>
              <a:rPr lang="cs-CZ" baseline="0" dirty="0"/>
              <a:t> </a:t>
            </a:r>
            <a:r>
              <a:rPr lang="cs-CZ" baseline="0" dirty="0" err="1"/>
              <a:t>rendom</a:t>
            </a:r>
            <a:r>
              <a:rPr lang="cs-CZ" baseline="0" dirty="0"/>
              <a:t> experiment.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669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4597">
              <a:defRPr/>
            </a:pPr>
            <a:r>
              <a:rPr lang="cs-CZ" b="1" i="1" dirty="0"/>
              <a:t>X(t=t</a:t>
            </a:r>
            <a:r>
              <a:rPr lang="cs-CZ" b="1" i="1" baseline="-25000" dirty="0"/>
              <a:t>1</a:t>
            </a:r>
            <a:r>
              <a:rPr lang="cs-CZ" b="1" i="1" dirty="0"/>
              <a:t>)</a:t>
            </a:r>
          </a:p>
          <a:p>
            <a:r>
              <a:rPr lang="cs-CZ" dirty="0" err="1"/>
              <a:t>Calculate</a:t>
            </a:r>
            <a:r>
              <a:rPr lang="cs-CZ" baseline="0" dirty="0"/>
              <a:t> basic </a:t>
            </a:r>
            <a:r>
              <a:rPr lang="cs-CZ" baseline="0" dirty="0" err="1"/>
              <a:t>statistics</a:t>
            </a:r>
            <a:r>
              <a:rPr lang="cs-CZ" baseline="0" dirty="0"/>
              <a:t> </a:t>
            </a:r>
            <a:r>
              <a:rPr lang="cs-CZ" baseline="0" dirty="0" err="1"/>
              <a:t>for</a:t>
            </a:r>
            <a:r>
              <a:rPr lang="cs-CZ" baseline="0" dirty="0"/>
              <a:t> </a:t>
            </a:r>
            <a:r>
              <a:rPr lang="cs-CZ" baseline="0" dirty="0" err="1"/>
              <a:t>some</a:t>
            </a:r>
            <a:r>
              <a:rPr lang="cs-CZ" baseline="0" dirty="0"/>
              <a:t> </a:t>
            </a:r>
            <a:r>
              <a:rPr lang="cs-CZ" baseline="0" dirty="0" err="1"/>
              <a:t>conrete</a:t>
            </a:r>
            <a:r>
              <a:rPr lang="cs-CZ" baseline="0" dirty="0"/>
              <a:t> </a:t>
            </a:r>
            <a:r>
              <a:rPr lang="cs-CZ" baseline="0" dirty="0" err="1"/>
              <a:t>time</a:t>
            </a:r>
            <a:r>
              <a:rPr lang="cs-CZ" baseline="0" dirty="0"/>
              <a:t>.</a:t>
            </a:r>
          </a:p>
          <a:p>
            <a:r>
              <a:rPr lang="en-US" dirty="0"/>
              <a:t>For a given value of e, </a:t>
            </a:r>
            <a:r>
              <a:rPr lang="en-US" dirty="0" err="1"/>
              <a:t>Xt</a:t>
            </a:r>
            <a:r>
              <a:rPr lang="en-US" dirty="0"/>
              <a:t>(e) is a function of time</a:t>
            </a:r>
          </a:p>
          <a:p>
            <a:r>
              <a:rPr lang="en-US" dirty="0"/>
              <a:t>For a given value of t, </a:t>
            </a:r>
            <a:r>
              <a:rPr lang="en-US" dirty="0" err="1"/>
              <a:t>Xt</a:t>
            </a:r>
            <a:r>
              <a:rPr lang="en-US" dirty="0"/>
              <a:t>(e) is a random variable</a:t>
            </a:r>
          </a:p>
          <a:p>
            <a:r>
              <a:rPr lang="en-US" dirty="0"/>
              <a:t>For a given value of e and t, </a:t>
            </a:r>
            <a:r>
              <a:rPr lang="en-US" dirty="0" err="1"/>
              <a:t>Xt</a:t>
            </a:r>
            <a:r>
              <a:rPr lang="en-US" dirty="0"/>
              <a:t>(e) is a (</a:t>
            </a:r>
            <a:r>
              <a:rPr lang="en-US" dirty="0" err="1"/>
              <a:t>ﬁxed</a:t>
            </a:r>
            <a:r>
              <a:rPr lang="en-US" dirty="0"/>
              <a:t>) </a:t>
            </a:r>
            <a:r>
              <a:rPr lang="en-US" dirty="0" err="1"/>
              <a:t>numbe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625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3123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i="1" dirty="0"/>
              <a:t>n</a:t>
            </a:r>
            <a:r>
              <a:rPr lang="cs-CZ" dirty="0"/>
              <a:t> </a:t>
            </a:r>
            <a:r>
              <a:rPr lang="cs-CZ" dirty="0" err="1"/>
              <a:t>choose</a:t>
            </a:r>
            <a:r>
              <a:rPr lang="cs-CZ" dirty="0"/>
              <a:t> </a:t>
            </a:r>
            <a:r>
              <a:rPr lang="cs-CZ" i="1" dirty="0"/>
              <a:t>k</a:t>
            </a:r>
          </a:p>
          <a:p>
            <a:r>
              <a:rPr lang="cs-CZ" i="0" dirty="0"/>
              <a:t>A </a:t>
            </a:r>
            <a:r>
              <a:rPr lang="cs-CZ" i="0" dirty="0" err="1"/>
              <a:t>formula</a:t>
            </a:r>
            <a:r>
              <a:rPr lang="cs-CZ" i="0" dirty="0"/>
              <a:t> </a:t>
            </a:r>
            <a:r>
              <a:rPr lang="cs-CZ" i="0" dirty="0" err="1"/>
              <a:t>for</a:t>
            </a:r>
            <a:r>
              <a:rPr lang="cs-CZ" i="0" dirty="0"/>
              <a:t> </a:t>
            </a:r>
            <a:r>
              <a:rPr lang="cs-CZ" i="0" dirty="0" err="1"/>
              <a:t>the</a:t>
            </a:r>
            <a:r>
              <a:rPr lang="cs-CZ" i="0" dirty="0"/>
              <a:t> </a:t>
            </a:r>
            <a:r>
              <a:rPr lang="cs-CZ" i="0" dirty="0" err="1"/>
              <a:t>number</a:t>
            </a:r>
            <a:r>
              <a:rPr lang="cs-CZ" i="0" dirty="0"/>
              <a:t> </a:t>
            </a:r>
            <a:r>
              <a:rPr lang="cs-CZ" i="0" dirty="0" err="1"/>
              <a:t>of</a:t>
            </a:r>
            <a:r>
              <a:rPr lang="cs-CZ" i="0" dirty="0"/>
              <a:t> </a:t>
            </a:r>
            <a:r>
              <a:rPr lang="cs-CZ" i="0" dirty="0" err="1"/>
              <a:t>possible</a:t>
            </a:r>
            <a:r>
              <a:rPr lang="cs-CZ" i="0" dirty="0"/>
              <a:t> </a:t>
            </a:r>
            <a:r>
              <a:rPr lang="cs-CZ" i="0" dirty="0" err="1"/>
              <a:t>combination</a:t>
            </a:r>
            <a:r>
              <a:rPr lang="cs-CZ" i="0" dirty="0"/>
              <a:t> </a:t>
            </a:r>
            <a:r>
              <a:rPr lang="cs-CZ" i="0" dirty="0" err="1"/>
              <a:t>of</a:t>
            </a:r>
            <a:r>
              <a:rPr lang="cs-CZ" i="0" dirty="0"/>
              <a:t> </a:t>
            </a:r>
            <a:r>
              <a:rPr lang="cs-CZ" i="1" dirty="0"/>
              <a:t>k</a:t>
            </a:r>
            <a:r>
              <a:rPr lang="cs-CZ" i="0" dirty="0"/>
              <a:t> </a:t>
            </a:r>
            <a:r>
              <a:rPr lang="cs-CZ" i="0" dirty="0" err="1"/>
              <a:t>objects</a:t>
            </a:r>
            <a:r>
              <a:rPr lang="cs-CZ" i="0" dirty="0"/>
              <a:t> </a:t>
            </a:r>
            <a:r>
              <a:rPr lang="cs-CZ" i="0" dirty="0" err="1"/>
              <a:t>from</a:t>
            </a:r>
            <a:r>
              <a:rPr lang="cs-CZ" i="0" dirty="0"/>
              <a:t> a set </a:t>
            </a:r>
            <a:r>
              <a:rPr lang="cs-CZ" i="0" dirty="0" err="1"/>
              <a:t>of</a:t>
            </a:r>
            <a:r>
              <a:rPr lang="cs-CZ" i="0" dirty="0"/>
              <a:t> </a:t>
            </a:r>
            <a:r>
              <a:rPr lang="cs-CZ" i="1" dirty="0"/>
              <a:t>n</a:t>
            </a:r>
            <a:r>
              <a:rPr lang="cs-CZ" i="0" dirty="0"/>
              <a:t> </a:t>
            </a:r>
            <a:r>
              <a:rPr lang="cs-CZ" i="0" dirty="0" err="1"/>
              <a:t>objects</a:t>
            </a:r>
            <a:endParaRPr lang="cs-CZ" i="0" dirty="0"/>
          </a:p>
          <a:p>
            <a:r>
              <a:rPr lang="cs-CZ" i="0" dirty="0" err="1"/>
              <a:t>First</a:t>
            </a:r>
            <a:r>
              <a:rPr lang="cs-CZ" i="0" dirty="0"/>
              <a:t> </a:t>
            </a:r>
            <a:r>
              <a:rPr lang="cs-CZ" i="0" dirty="0" err="1"/>
              <a:t>the</a:t>
            </a:r>
            <a:r>
              <a:rPr lang="cs-CZ" i="0" dirty="0"/>
              <a:t> </a:t>
            </a:r>
            <a:r>
              <a:rPr lang="cs-CZ" i="0" dirty="0" err="1"/>
              <a:t>example</a:t>
            </a:r>
            <a:r>
              <a:rPr lang="cs-CZ" i="0" baseline="0" dirty="0"/>
              <a:t> </a:t>
            </a:r>
            <a:r>
              <a:rPr lang="cs-CZ" i="0" baseline="0" dirty="0" err="1"/>
              <a:t>and</a:t>
            </a:r>
            <a:r>
              <a:rPr lang="cs-CZ" i="0" baseline="0" dirty="0"/>
              <a:t> </a:t>
            </a:r>
            <a:r>
              <a:rPr lang="cs-CZ" i="0" baseline="0" dirty="0" err="1"/>
              <a:t>then</a:t>
            </a:r>
            <a:r>
              <a:rPr lang="cs-CZ" i="0" baseline="0" dirty="0"/>
              <a:t> </a:t>
            </a:r>
            <a:r>
              <a:rPr lang="cs-CZ" i="0" baseline="0" dirty="0" err="1"/>
              <a:t>the</a:t>
            </a:r>
            <a:r>
              <a:rPr lang="cs-CZ" i="0" baseline="0" dirty="0"/>
              <a:t> </a:t>
            </a:r>
            <a:r>
              <a:rPr lang="cs-CZ" i="0" baseline="0" dirty="0" err="1"/>
              <a:t>explanation</a:t>
            </a:r>
            <a:endParaRPr lang="cs-CZ" i="0" baseline="0" dirty="0"/>
          </a:p>
          <a:p>
            <a:r>
              <a:rPr lang="cs-CZ" i="0" baseline="0" dirty="0" err="1"/>
              <a:t>This</a:t>
            </a:r>
            <a:r>
              <a:rPr lang="cs-CZ" i="0" baseline="0" dirty="0"/>
              <a:t> </a:t>
            </a:r>
            <a:r>
              <a:rPr lang="cs-CZ" i="0" baseline="0" dirty="0" err="1"/>
              <a:t>is</a:t>
            </a:r>
            <a:r>
              <a:rPr lang="cs-CZ" i="0" baseline="0" dirty="0"/>
              <a:t> </a:t>
            </a:r>
            <a:r>
              <a:rPr lang="cs-CZ" i="0" baseline="0" dirty="0" err="1"/>
              <a:t>for</a:t>
            </a:r>
            <a:r>
              <a:rPr lang="cs-CZ" i="0" baseline="0" dirty="0"/>
              <a:t> probability </a:t>
            </a:r>
            <a:r>
              <a:rPr lang="cs-CZ" i="0" baseline="0" dirty="0" err="1"/>
              <a:t>thinking</a:t>
            </a:r>
            <a:r>
              <a:rPr lang="cs-CZ" i="0" baseline="0" dirty="0"/>
              <a:t>.</a:t>
            </a:r>
            <a:endParaRPr lang="cs-CZ" i="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975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Excel, the </a:t>
            </a:r>
            <a:r>
              <a:rPr lang="en-US" b="1" dirty="0"/>
              <a:t>Power</a:t>
            </a:r>
            <a:r>
              <a:rPr lang="en-US" dirty="0"/>
              <a:t> function returns the result of a number raised to a given power.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2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Link to </a:t>
            </a:r>
            <a:r>
              <a:rPr lang="cs-CZ" dirty="0" err="1"/>
              <a:t>english</a:t>
            </a:r>
            <a:r>
              <a:rPr lang="cs-CZ" dirty="0"/>
              <a:t> </a:t>
            </a:r>
            <a:r>
              <a:rPr lang="cs-CZ" dirty="0" err="1"/>
              <a:t>course</a:t>
            </a:r>
            <a:r>
              <a:rPr lang="cs-CZ" dirty="0"/>
              <a:t> –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know</a:t>
            </a:r>
            <a:r>
              <a:rPr lang="cs-CZ" dirty="0"/>
              <a:t> </a:t>
            </a:r>
            <a:r>
              <a:rPr lang="cs-CZ" dirty="0" err="1"/>
              <a:t>from</a:t>
            </a:r>
            <a:r>
              <a:rPr lang="cs-CZ" dirty="0"/>
              <a:t> </a:t>
            </a:r>
            <a:r>
              <a:rPr lang="cs-CZ" dirty="0" err="1"/>
              <a:t>previous</a:t>
            </a:r>
            <a:r>
              <a:rPr lang="cs-CZ" dirty="0"/>
              <a:t> </a:t>
            </a:r>
            <a:r>
              <a:rPr lang="cs-CZ" dirty="0" err="1"/>
              <a:t>semsester</a:t>
            </a:r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919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Link to </a:t>
            </a:r>
            <a:r>
              <a:rPr lang="cs-CZ" dirty="0" err="1"/>
              <a:t>english</a:t>
            </a:r>
            <a:r>
              <a:rPr lang="cs-CZ" dirty="0"/>
              <a:t> </a:t>
            </a:r>
            <a:r>
              <a:rPr lang="cs-CZ" dirty="0" err="1"/>
              <a:t>course</a:t>
            </a:r>
            <a:r>
              <a:rPr lang="cs-CZ" dirty="0"/>
              <a:t> –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know</a:t>
            </a:r>
            <a:r>
              <a:rPr lang="cs-CZ" dirty="0"/>
              <a:t> </a:t>
            </a:r>
            <a:r>
              <a:rPr lang="cs-CZ" dirty="0" err="1"/>
              <a:t>from</a:t>
            </a:r>
            <a:r>
              <a:rPr lang="cs-CZ" dirty="0"/>
              <a:t> </a:t>
            </a:r>
            <a:r>
              <a:rPr lang="cs-CZ" dirty="0" err="1"/>
              <a:t>previous</a:t>
            </a:r>
            <a:r>
              <a:rPr lang="cs-CZ" dirty="0"/>
              <a:t> </a:t>
            </a:r>
            <a:r>
              <a:rPr lang="cs-CZ" dirty="0" err="1"/>
              <a:t>semsester</a:t>
            </a:r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570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063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 i="1" dirty="0"/>
              <a:t>Orderliness</a:t>
            </a:r>
            <a:r>
              <a:rPr lang="cs-CZ" b="1" i="1" dirty="0"/>
              <a:t>:</a:t>
            </a:r>
            <a:r>
              <a:rPr lang="en-US" dirty="0"/>
              <a:t>  one customer, at most, will arrive during any time interval.</a:t>
            </a:r>
          </a:p>
          <a:p>
            <a:pPr>
              <a:lnSpc>
                <a:spcPct val="120000"/>
              </a:lnSpc>
            </a:pPr>
            <a:r>
              <a:rPr lang="en-US" b="1" i="1" dirty="0" err="1"/>
              <a:t>Stationarity</a:t>
            </a:r>
            <a:r>
              <a:rPr lang="en-US" i="1" dirty="0"/>
              <a:t> </a:t>
            </a:r>
            <a:r>
              <a:rPr lang="en-US" dirty="0"/>
              <a:t>: for a given time frame, the probability of arrivals within a certain time interval is the same for all time intervals of equal length.</a:t>
            </a:r>
            <a:r>
              <a:rPr lang="cs-CZ" dirty="0"/>
              <a:t> </a:t>
            </a:r>
            <a:r>
              <a:rPr lang="en-GB" dirty="0"/>
              <a:t>Consequently, parameters such as the</a:t>
            </a:r>
            <a:r>
              <a:rPr lang="cs-CZ" dirty="0"/>
              <a:t> </a:t>
            </a:r>
            <a:r>
              <a:rPr lang="cs-CZ" dirty="0" err="1"/>
              <a:t>mean</a:t>
            </a:r>
            <a:r>
              <a:rPr lang="en-GB" dirty="0"/>
              <a:t> and</a:t>
            </a:r>
            <a:r>
              <a:rPr lang="cs-CZ" dirty="0"/>
              <a:t> variance</a:t>
            </a:r>
            <a:r>
              <a:rPr lang="en-GB" dirty="0"/>
              <a:t>, if they exist, also do not change over time or position.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b="1" i="1" dirty="0"/>
              <a:t>Independence </a:t>
            </a:r>
            <a:r>
              <a:rPr lang="en-US" dirty="0"/>
              <a:t>: the arrival of one customer has no influence on the arrival of another.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4169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SIRO</a:t>
            </a:r>
            <a:r>
              <a:rPr lang="en-US" dirty="0"/>
              <a:t> Service in random order</a:t>
            </a:r>
            <a:endParaRPr lang="cs-CZ" dirty="0"/>
          </a:p>
          <a:p>
            <a:r>
              <a:rPr lang="cs-CZ" dirty="0"/>
              <a:t>Do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know</a:t>
            </a:r>
            <a:r>
              <a:rPr lang="cs-CZ" dirty="0"/>
              <a:t> GIGO?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462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846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Basics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467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ástupný symbol pro text 3">
            <a:extLst>
              <a:ext uri="{FF2B5EF4-FFF2-40B4-BE49-F238E27FC236}">
                <a16:creationId xmlns:a16="http://schemas.microsoft.com/office/drawing/2014/main" id="{3E1E80FF-CDE1-4659-A50D-18C8BA3734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024B457C-E1CC-4DF8-B068-F9E0D15995C0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903BDD9C-B482-4C8C-BAAA-47D61575D20D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7" name="Zástupný symbol obrázku 3">
            <a:extLst>
              <a:ext uri="{FF2B5EF4-FFF2-40B4-BE49-F238E27FC236}">
                <a16:creationId xmlns:a16="http://schemas.microsoft.com/office/drawing/2014/main" id="{81CEE838-8921-437D-853F-408EC4B07E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334000"/>
          </a:xfrm>
          <a:prstGeom prst="rect">
            <a:avLst/>
          </a:prstGeom>
        </p:spPr>
        <p:txBody>
          <a:bodyPr lIns="180000" tIns="180000" rIns="180000" bIns="180000"/>
          <a:lstStyle/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1" name="Zástupný symbol pro text 4">
            <a:extLst>
              <a:ext uri="{FF2B5EF4-FFF2-40B4-BE49-F238E27FC236}">
                <a16:creationId xmlns:a16="http://schemas.microsoft.com/office/drawing/2014/main" id="{E690251E-0C52-4982-8171-60DC0B794B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1" name="Obrázek 10" descr="Obsah obrázku text&#10;&#10;Popis byl vytvořen automaticky">
            <a:extLst>
              <a:ext uri="{FF2B5EF4-FFF2-40B4-BE49-F238E27FC236}">
                <a16:creationId xmlns:a16="http://schemas.microsoft.com/office/drawing/2014/main" id="{7E8A1E33-5B28-2C43-AFFB-11AF0DAF4A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0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" y="0"/>
            <a:ext cx="9142206" cy="5352000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C0724D5-0E83-4994-8DB9-7A30BDB8897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8B80490D-70E9-4F37-B670-B92332575E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Zástupný symbol pro text 4">
            <a:extLst>
              <a:ext uri="{FF2B5EF4-FFF2-40B4-BE49-F238E27FC236}">
                <a16:creationId xmlns:a16="http://schemas.microsoft.com/office/drawing/2014/main" id="{C22D2AE3-7756-458C-8A84-0DE8F08D47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8B6B0297-ABC7-F84B-85A8-4DFECC7F51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977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4CF31F7D-C775-4367-BA11-D7AC53523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5353050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A5FBF3AD-5E16-47E0-9F0F-471206626283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1DDA62E2-FE7A-4AFA-8044-1ED14126E701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4">
            <a:extLst>
              <a:ext uri="{FF2B5EF4-FFF2-40B4-BE49-F238E27FC236}">
                <a16:creationId xmlns:a16="http://schemas.microsoft.com/office/drawing/2014/main" id="{7602487F-3C29-4D79-9418-0A036B9FED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text 3">
            <a:extLst>
              <a:ext uri="{FF2B5EF4-FFF2-40B4-BE49-F238E27FC236}">
                <a16:creationId xmlns:a16="http://schemas.microsoft.com/office/drawing/2014/main" id="{F844F9EC-3F8E-4C04-9939-5FE5833C62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61B65073-2151-4C4E-9C3C-651867FC29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42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9" cy="535304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CD5BF138-FAF5-4C22-A496-6023824A818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576E8AF4-6C04-4AD5-A275-DAF437588F3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75E6743E-3013-43C0-BCEE-F198C0D12E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text 4">
            <a:extLst>
              <a:ext uri="{FF2B5EF4-FFF2-40B4-BE49-F238E27FC236}">
                <a16:creationId xmlns:a16="http://schemas.microsoft.com/office/drawing/2014/main" id="{67A4E56B-2C18-40EB-A1CF-C76A3F36BE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227D3A48-039E-724E-82EF-4F01CA8E06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6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35304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C0724D5-0E83-4994-8DB9-7A30BDB8897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8B80490D-70E9-4F37-B670-B92332575E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Zástupný symbol pro text 4">
            <a:extLst>
              <a:ext uri="{FF2B5EF4-FFF2-40B4-BE49-F238E27FC236}">
                <a16:creationId xmlns:a16="http://schemas.microsoft.com/office/drawing/2014/main" id="{C22D2AE3-7756-458C-8A84-0DE8F08D47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5" name="Obrázek 14" descr="Obsah obrázku text&#10;&#10;Popis byl vytvořen automaticky">
            <a:extLst>
              <a:ext uri="{FF2B5EF4-FFF2-40B4-BE49-F238E27FC236}">
                <a16:creationId xmlns:a16="http://schemas.microsoft.com/office/drawing/2014/main" id="{E19424E9-4DDB-CF40-92C3-F70E307154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33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93899535-AA89-8F4E-97C4-9FA4F0DD5E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6" name="Zástupný symbol pro text 3">
            <a:extLst>
              <a:ext uri="{FF2B5EF4-FFF2-40B4-BE49-F238E27FC236}">
                <a16:creationId xmlns:a16="http://schemas.microsoft.com/office/drawing/2014/main" id="{137FF405-C523-4C6D-A210-824A893F53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4388" y="2899075"/>
            <a:ext cx="7522369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087463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B3F927B1-1D31-1749-A32D-E5B899D0E9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BFBFB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77" y="6123264"/>
            <a:ext cx="1689456" cy="734737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FD279ADA-FDAB-4914-9469-CB105F4C58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5813" y="2899075"/>
            <a:ext cx="7615238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422366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36270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7C4858C6-8C38-2B41-8CFE-1254036B4C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99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28249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rgbClr val="C80C0F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D96739DC-B272-A942-A9ED-76826B0255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62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34" y="719999"/>
            <a:ext cx="8130633" cy="5356951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920000"/>
          </a:xfrm>
          <a:prstGeom prst="rect">
            <a:avLst/>
          </a:prstGeom>
          <a:solidFill>
            <a:schemeClr val="bg1"/>
          </a:solidFill>
          <a:effectLst/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587EC3D4-E53B-5446-B515-D3099FF581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22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text 3">
            <a:extLst>
              <a:ext uri="{FF2B5EF4-FFF2-40B4-BE49-F238E27FC236}">
                <a16:creationId xmlns:a16="http://schemas.microsoft.com/office/drawing/2014/main" id="{A6D9A389-F059-4682-BB5E-006EEEC6D2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0063" y="2899075"/>
            <a:ext cx="8143875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obrázku 3">
            <a:extLst>
              <a:ext uri="{FF2B5EF4-FFF2-40B4-BE49-F238E27FC236}">
                <a16:creationId xmlns:a16="http://schemas.microsoft.com/office/drawing/2014/main" id="{8E8F7AB6-976A-4CB0-A0AE-8B783479B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063" y="724799"/>
            <a:ext cx="8137800" cy="5407200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pic>
        <p:nvPicPr>
          <p:cNvPr id="7" name="Obrázek 6" descr="Obsah obrázku text&#10;&#10;Popis byl vytvořen automaticky">
            <a:extLst>
              <a:ext uri="{FF2B5EF4-FFF2-40B4-BE49-F238E27FC236}">
                <a16:creationId xmlns:a16="http://schemas.microsoft.com/office/drawing/2014/main" id="{8DDC546C-2D13-A947-8672-83BE19C04B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185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DED13C98-A460-4EE5-BFBB-681BBDA81D3B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2C766699-8A1C-452E-BA3A-E469A225BEE7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8BE1237B-FF84-4FBE-AC1D-9DB2202BD7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Zástupný symbol pro text 13">
            <a:extLst>
              <a:ext uri="{FF2B5EF4-FFF2-40B4-BE49-F238E27FC236}">
                <a16:creationId xmlns:a16="http://schemas.microsoft.com/office/drawing/2014/main" id="{4C33C50D-A72F-494F-B092-15858B2C6C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631BC1C8-BCF5-484D-8C94-7FAA0AE50120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529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4198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4198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Zástupný symbol pro text 6">
            <a:extLst>
              <a:ext uri="{FF2B5EF4-FFF2-40B4-BE49-F238E27FC236}">
                <a16:creationId xmlns:a16="http://schemas.microsoft.com/office/drawing/2014/main" id="{66B0A99E-A700-494A-928E-194351AE09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Zástupný symbol pro text 13">
            <a:extLst>
              <a:ext uri="{FF2B5EF4-FFF2-40B4-BE49-F238E27FC236}">
                <a16:creationId xmlns:a16="http://schemas.microsoft.com/office/drawing/2014/main" id="{48E4E7FD-8E67-4CA1-B99F-8BF78FD8CF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1B42C71F-24A2-4414-9417-B39450FE2AC9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08E05BE6-9375-7B47-BE3D-8FD9100C579E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6AC349FB-428C-7B42-B993-E97FBB98DCD8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620532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52256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52256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6" name="Zástupný symbol pro text 6">
            <a:extLst>
              <a:ext uri="{FF2B5EF4-FFF2-40B4-BE49-F238E27FC236}">
                <a16:creationId xmlns:a16="http://schemas.microsoft.com/office/drawing/2014/main" id="{BFADBFEB-36FC-4372-B6CE-58EBC7FFB9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5938106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Zástupný symbol pro text 13">
            <a:extLst>
              <a:ext uri="{FF2B5EF4-FFF2-40B4-BE49-F238E27FC236}">
                <a16:creationId xmlns:a16="http://schemas.microsoft.com/office/drawing/2014/main" id="{978F0355-7004-4CFE-9421-A8A1A62CF8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5938106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ACEE7F35-80D6-4A44-A79F-9A5BF9F28E36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0B5A6409-23B7-A545-A4D8-A933AD41B5C6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C0999E4F-AF74-DB4E-8B4B-638D78E913AE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229781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919038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919038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64907F56-1EFF-441C-9163-66B58475FA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0C077097-4898-476E-8653-0D75052D17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A4993D17-DF83-49B5-BD7F-548B4A5A3AE6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FC0AD8F2-4BA5-D840-9CF9-1A60BE6D3AE9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5A3DFA86-88E0-D746-93B6-322B3E5FB3EB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523486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979994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979994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Zástupný symbol pro text 6">
            <a:extLst>
              <a:ext uri="{FF2B5EF4-FFF2-40B4-BE49-F238E27FC236}">
                <a16:creationId xmlns:a16="http://schemas.microsoft.com/office/drawing/2014/main" id="{271AC1B1-6DD2-4624-B5E1-05CD48AFFD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Zástupný symbol pro text 13">
            <a:extLst>
              <a:ext uri="{FF2B5EF4-FFF2-40B4-BE49-F238E27FC236}">
                <a16:creationId xmlns:a16="http://schemas.microsoft.com/office/drawing/2014/main" id="{9EB39BFC-3412-4994-BB20-6B3B39144D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D5E1CEE8-B267-482F-8FC9-A0CBECB5B5A2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9BD26F8C-C9C9-1844-B61C-5456ED1D14E3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015D1AAD-326F-FE43-A378-B6195D1301DC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91236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67668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67668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C0B2EC7C-7295-4511-BEB9-1F21F76F55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5938106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466DB023-F78F-49C1-9875-70959FECAB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5938106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3C1BF5F3-421C-4882-84E2-ADC07FE86DF2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5C18F710-7ED6-AD41-9784-1327E6984D92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EA1D81C2-80D4-2548-91DB-82047245A7C1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3890397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E53EAF9F-01E9-4701-B3CE-E5EC1515D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9E6C52F0-A869-994B-9A2A-946AD4F096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695142"/>
            <a:ext cx="3773562" cy="1641106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7301F1C3-936F-43D4-96DB-8DB86F629B10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you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for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attention</a:t>
            </a:r>
            <a:endParaRPr lang="cs-CZ" sz="3600" dirty="0">
              <a:solidFill>
                <a:schemeClr val="bg1"/>
              </a:solidFill>
              <a:effectLst>
                <a:glow rad="1397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406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F7380FE-801F-3B4A-8E52-2A53DD2732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541" y="5041976"/>
            <a:ext cx="3991716" cy="1735981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3DE33A4-FB93-4AAA-A88F-B4FEF27E08A8}"/>
              </a:ext>
            </a:extLst>
          </p:cNvPr>
          <p:cNvSpPr txBox="1"/>
          <p:nvPr/>
        </p:nvSpPr>
        <p:spPr>
          <a:xfrm>
            <a:off x="2065677" y="3429001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483F6A2C-C2E5-B44A-9660-8F89AEEB28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741" y="5143576"/>
            <a:ext cx="3991716" cy="173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024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A9218E36-6589-BA4B-B382-FF8EA3F0CB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864475"/>
            <a:ext cx="3773562" cy="1641106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FDA8F002-9BA3-624D-B94C-A21C7E909596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</p:spTree>
    <p:extLst>
      <p:ext uri="{BB962C8B-B14F-4D97-AF65-F5344CB8AC3E}">
        <p14:creationId xmlns:p14="http://schemas.microsoft.com/office/powerpoint/2010/main" val="8569284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4" b="7777"/>
          <a:stretch/>
        </p:blipFill>
        <p:spPr>
          <a:xfrm>
            <a:off x="0" y="0"/>
            <a:ext cx="9144000" cy="6918247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D4F7AAA5-ECDB-B046-A48B-D0C2BB0C4FE7}"/>
              </a:ext>
            </a:extLst>
          </p:cNvPr>
          <p:cNvSpPr txBox="1"/>
          <p:nvPr/>
        </p:nvSpPr>
        <p:spPr>
          <a:xfrm>
            <a:off x="2065677" y="4072465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EC53DF36-AD81-A945-BF7B-A39A3E50D5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8" y="5739969"/>
            <a:ext cx="2709334" cy="11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62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"/>
            <a:ext cx="9144000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3B431FA6-80EF-9449-90BD-C081B545B9C0}"/>
              </a:ext>
            </a:extLst>
          </p:cNvPr>
          <p:cNvSpPr txBox="1"/>
          <p:nvPr/>
        </p:nvSpPr>
        <p:spPr>
          <a:xfrm>
            <a:off x="2065677" y="3429001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811C0A68-FD87-6A46-8195-D340F48614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0534"/>
            <a:ext cx="2709334" cy="11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645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>
            <a:extLst>
              <a:ext uri="{FF2B5EF4-FFF2-40B4-BE49-F238E27FC236}">
                <a16:creationId xmlns:a16="http://schemas.microsoft.com/office/drawing/2014/main" id="{5D978B46-7738-414B-B6A8-3DB65F29768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C80C0F"/>
              </a:gs>
              <a:gs pos="50000">
                <a:srgbClr val="9B0000"/>
              </a:gs>
              <a:gs pos="99000">
                <a:srgbClr val="C80C0F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AE9CB24-0D3C-1C4D-899E-1B118B5F7B14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9" name="Obrázek 8" descr="Obsah obrázku text&#10;&#10;Popis byl vytvořen automaticky">
            <a:extLst>
              <a:ext uri="{FF2B5EF4-FFF2-40B4-BE49-F238E27FC236}">
                <a16:creationId xmlns:a16="http://schemas.microsoft.com/office/drawing/2014/main" id="{7ABA772E-3E2B-B94D-9EC0-C40803791A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864475"/>
            <a:ext cx="3773562" cy="164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783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Úvodní sníme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9" name="Podnadpis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28" name="Zástupný symbol pro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7" name="Zástupný symbol pro zápatí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D678B2-D910-4B9F-8745-B0B8C181CD2F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03470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D3B-B00F-4DF2-A530-C9E5BC8837BB}" type="datetimeFigureOut">
              <a:rPr lang="cs-CZ" smtClean="0"/>
              <a:pPr/>
              <a:t>28.10.2024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2D678B2-D910-4B9F-8745-B0B8C181CD2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obsah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6058326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text 4"/>
          <p:cNvSpPr>
            <a:spLocks noGrp="1"/>
          </p:cNvSpPr>
          <p:nvPr>
            <p:ph type="body" sz="quarter" idx="10"/>
          </p:nvPr>
        </p:nvSpPr>
        <p:spPr>
          <a:xfrm>
            <a:off x="3492601" y="6308552"/>
            <a:ext cx="3815705" cy="287337"/>
          </a:xfrm>
        </p:spPr>
        <p:txBody>
          <a:bodyPr anchor="ctr" anchorCtr="0">
            <a:noAutofit/>
          </a:bodyPr>
          <a:lstStyle>
            <a:lvl1pPr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8" name="Zástupný symbol pro text 6"/>
          <p:cNvSpPr>
            <a:spLocks noGrp="1"/>
          </p:cNvSpPr>
          <p:nvPr>
            <p:ph type="body" sz="quarter" idx="11" hasCustomPrompt="1"/>
          </p:nvPr>
        </p:nvSpPr>
        <p:spPr>
          <a:xfrm>
            <a:off x="3492601" y="6595888"/>
            <a:ext cx="3815705" cy="262112"/>
          </a:xfrm>
        </p:spPr>
        <p:txBody>
          <a:bodyPr anchor="ctr" anchorCtr="0">
            <a:noAutofit/>
          </a:bodyPr>
          <a:lstStyle>
            <a:lvl1pPr>
              <a:buNone/>
              <a:defRPr sz="1200" b="1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Jméno Příjmení</a:t>
            </a:r>
          </a:p>
        </p:txBody>
      </p:sp>
    </p:spTree>
    <p:extLst>
      <p:ext uri="{BB962C8B-B14F-4D97-AF65-F5344CB8AC3E}">
        <p14:creationId xmlns:p14="http://schemas.microsoft.com/office/powerpoint/2010/main" val="26849202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text 4"/>
          <p:cNvSpPr>
            <a:spLocks noGrp="1"/>
          </p:cNvSpPr>
          <p:nvPr>
            <p:ph type="body" sz="quarter" idx="10"/>
          </p:nvPr>
        </p:nvSpPr>
        <p:spPr>
          <a:xfrm>
            <a:off x="3492601" y="6308552"/>
            <a:ext cx="3815705" cy="287337"/>
          </a:xfrm>
        </p:spPr>
        <p:txBody>
          <a:bodyPr anchor="ctr" anchorCtr="0">
            <a:noAutofit/>
          </a:bodyPr>
          <a:lstStyle>
            <a:lvl1pPr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8" name="Zástupný symbol pro text 6"/>
          <p:cNvSpPr>
            <a:spLocks noGrp="1"/>
          </p:cNvSpPr>
          <p:nvPr>
            <p:ph type="body" sz="quarter" idx="11" hasCustomPrompt="1"/>
          </p:nvPr>
        </p:nvSpPr>
        <p:spPr>
          <a:xfrm>
            <a:off x="3492601" y="6595888"/>
            <a:ext cx="3815705" cy="262112"/>
          </a:xfrm>
        </p:spPr>
        <p:txBody>
          <a:bodyPr anchor="ctr" anchorCtr="0">
            <a:noAutofit/>
          </a:bodyPr>
          <a:lstStyle>
            <a:lvl1pPr>
              <a:buNone/>
              <a:defRPr sz="1200" b="1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Jméno Příjmení</a:t>
            </a:r>
          </a:p>
        </p:txBody>
      </p:sp>
    </p:spTree>
    <p:extLst>
      <p:ext uri="{BB962C8B-B14F-4D97-AF65-F5344CB8AC3E}">
        <p14:creationId xmlns:p14="http://schemas.microsoft.com/office/powerpoint/2010/main" val="2145173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66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748" r:id="rId24"/>
    <p:sldLayoutId id="2147483749" r:id="rId25"/>
    <p:sldLayoutId id="2147483750" r:id="rId26"/>
    <p:sldLayoutId id="2147483751" r:id="rId2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orms.pef.czu.cz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Operations Research and Systems Analysis</a:t>
            </a:r>
            <a:endParaRPr lang="en-GB" noProof="0"/>
          </a:p>
        </p:txBody>
      </p:sp>
      <p:sp>
        <p:nvSpPr>
          <p:cNvPr id="3" name="Podnadpis 2"/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</p:spPr>
        <p:txBody>
          <a:bodyPr>
            <a:normAutofit/>
          </a:bodyPr>
          <a:lstStyle/>
          <a:p>
            <a:pPr lvl="0"/>
            <a:r>
              <a:rPr lang="en-GB" noProof="0"/>
              <a:t>Stochastic process, queuing theory, Markov chains </a:t>
            </a:r>
            <a:endParaRPr lang="en-GB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Modelling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9144000" cy="4495800"/>
          </a:xfrm>
        </p:spPr>
        <p:txBody>
          <a:bodyPr/>
          <a:lstStyle/>
          <a:p>
            <a:r>
              <a:rPr lang="en-GB" noProof="0" dirty="0"/>
              <a:t>Process of examining the reality. Using different object to understand the behaviour, complexity, attributes of another object.</a:t>
            </a:r>
          </a:p>
          <a:p>
            <a:endParaRPr lang="en-GB" noProof="0" dirty="0"/>
          </a:p>
          <a:p>
            <a:r>
              <a:rPr lang="en-GB" noProof="0" dirty="0"/>
              <a:t>Why:</a:t>
            </a:r>
          </a:p>
          <a:p>
            <a:pPr lvl="1"/>
            <a:r>
              <a:rPr lang="en-GB" noProof="0" dirty="0"/>
              <a:t>Sometimes it is impossible to </a:t>
            </a:r>
            <a:r>
              <a:rPr lang="cs-CZ" noProof="0" dirty="0"/>
              <a:t>experiment </a:t>
            </a:r>
            <a:r>
              <a:rPr lang="cs-CZ" noProof="0" dirty="0" err="1"/>
              <a:t>wtih</a:t>
            </a:r>
            <a:r>
              <a:rPr lang="cs-CZ" noProof="0" dirty="0"/>
              <a:t> </a:t>
            </a:r>
            <a:r>
              <a:rPr lang="en-GB" noProof="0" dirty="0"/>
              <a:t>the original object (</a:t>
            </a:r>
            <a:r>
              <a:rPr lang="cs-CZ" noProof="0" dirty="0" err="1"/>
              <a:t>e.g</a:t>
            </a:r>
            <a:r>
              <a:rPr lang="cs-CZ" noProof="0" dirty="0"/>
              <a:t>. </a:t>
            </a:r>
            <a:r>
              <a:rPr lang="en-GB" noProof="0" dirty="0"/>
              <a:t>social experiment). </a:t>
            </a:r>
          </a:p>
          <a:p>
            <a:pPr lvl="1"/>
            <a:r>
              <a:rPr lang="en-GB" noProof="0" dirty="0"/>
              <a:t>It is cheaper, faster, reproducible.</a:t>
            </a:r>
          </a:p>
          <a:p>
            <a:pPr lvl="1"/>
            <a:endParaRPr lang="cs-CZ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Model is simplified reflection of reality (deliberately simplified). </a:t>
            </a:r>
          </a:p>
          <a:p>
            <a:r>
              <a:rPr lang="en-GB" noProof="0" dirty="0"/>
              <a:t>Usually it is impossible to build complete and true representation of the examined object.</a:t>
            </a:r>
          </a:p>
          <a:p>
            <a:r>
              <a:rPr lang="en-GB" noProof="0" dirty="0"/>
              <a:t>Result of the definition: </a:t>
            </a:r>
          </a:p>
          <a:p>
            <a:pPr lvl="1"/>
            <a:r>
              <a:rPr lang="en-GB" noProof="0" dirty="0"/>
              <a:t>Model is always </a:t>
            </a:r>
            <a:r>
              <a:rPr lang="cs-CZ" noProof="0" dirty="0" err="1"/>
              <a:t>wrong</a:t>
            </a:r>
            <a:r>
              <a:rPr lang="en-GB" noProof="0" dirty="0"/>
              <a:t>…</a:t>
            </a:r>
          </a:p>
          <a:p>
            <a:pPr lvl="1"/>
            <a:endParaRPr lang="en-GB" noProof="0" dirty="0"/>
          </a:p>
          <a:p>
            <a:pPr lvl="1"/>
            <a:r>
              <a:rPr lang="en-GB" noProof="0" dirty="0"/>
              <a:t>…but some are useful and necessary.</a:t>
            </a:r>
            <a:endParaRPr lang="cs-CZ" noProof="0" dirty="0"/>
          </a:p>
          <a:p>
            <a:pPr lvl="1"/>
            <a:r>
              <a:rPr lang="cs-CZ" dirty="0" err="1"/>
              <a:t>Practical</a:t>
            </a:r>
            <a:r>
              <a:rPr lang="cs-CZ" dirty="0"/>
              <a:t> </a:t>
            </a:r>
            <a:r>
              <a:rPr lang="cs-CZ" dirty="0" err="1"/>
              <a:t>question</a:t>
            </a:r>
            <a:r>
              <a:rPr lang="cs-CZ" dirty="0"/>
              <a:t> </a:t>
            </a:r>
            <a:r>
              <a:rPr lang="en-US" dirty="0"/>
              <a:t>is how wrong do they have to be to not be useful.</a:t>
            </a:r>
            <a:r>
              <a:rPr lang="cs-CZ" dirty="0"/>
              <a:t> (G.E.P. </a:t>
            </a:r>
            <a:r>
              <a:rPr lang="cs-CZ"/>
              <a:t>Box)</a:t>
            </a:r>
            <a:endParaRPr lang="en-GB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noProof="0" dirty="0"/>
              <a:t>Iconic  </a:t>
            </a:r>
          </a:p>
          <a:p>
            <a:pPr lvl="1"/>
            <a:r>
              <a:rPr lang="en-GB" noProof="0" dirty="0"/>
              <a:t>Look-alike representation of object, usually physical models, photo</a:t>
            </a:r>
            <a:r>
              <a:rPr lang="cs-CZ" noProof="0" dirty="0"/>
              <a:t>s</a:t>
            </a:r>
            <a:r>
              <a:rPr lang="en-GB" noProof="0" dirty="0"/>
              <a:t>…</a:t>
            </a:r>
          </a:p>
          <a:p>
            <a:r>
              <a:rPr lang="en-GB" noProof="0" dirty="0"/>
              <a:t>Analogue  </a:t>
            </a:r>
          </a:p>
          <a:p>
            <a:pPr lvl="1"/>
            <a:r>
              <a:rPr lang="en-GB" noProof="0" dirty="0"/>
              <a:t>Representation of the object by analogue object: maps, plans of energy networks…</a:t>
            </a:r>
          </a:p>
          <a:p>
            <a:r>
              <a:rPr lang="en-GB" noProof="0" dirty="0"/>
              <a:t>Symbolic</a:t>
            </a:r>
          </a:p>
          <a:p>
            <a:pPr lvl="1"/>
            <a:r>
              <a:rPr lang="en-GB" noProof="0" dirty="0"/>
              <a:t>Representation through symbols, graphical, verbal, mathematical…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Model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cs-CZ" dirty="0"/>
          </a:p>
          <a:p>
            <a:r>
              <a:rPr lang="en-GB" noProof="0" dirty="0"/>
              <a:t>Normative x Descriptive</a:t>
            </a:r>
          </a:p>
          <a:p>
            <a:endParaRPr lang="en-GB" dirty="0"/>
          </a:p>
          <a:p>
            <a:r>
              <a:rPr lang="en-GB" noProof="0" dirty="0"/>
              <a:t>Static x Dynamic</a:t>
            </a:r>
          </a:p>
          <a:p>
            <a:endParaRPr lang="en-GB" dirty="0"/>
          </a:p>
          <a:p>
            <a:r>
              <a:rPr lang="en-GB" noProof="0" dirty="0"/>
              <a:t>Deterministic x Stochastic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Model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Example:</a:t>
            </a:r>
            <a:endParaRPr lang="cs-CZ" dirty="0"/>
          </a:p>
          <a:p>
            <a:endParaRPr lang="en-GB" dirty="0"/>
          </a:p>
          <a:p>
            <a:r>
              <a:rPr lang="en-GB" dirty="0"/>
              <a:t>Look at previous semester course</a:t>
            </a:r>
            <a:r>
              <a:rPr lang="cs-CZ" dirty="0"/>
              <a:t>:</a:t>
            </a:r>
          </a:p>
          <a:p>
            <a:endParaRPr lang="cs-CZ" dirty="0"/>
          </a:p>
          <a:p>
            <a:pPr lvl="1"/>
            <a:r>
              <a:rPr lang="en-GB" dirty="0"/>
              <a:t>Find example of descriptive model.</a:t>
            </a:r>
          </a:p>
          <a:p>
            <a:pPr lvl="1"/>
            <a:r>
              <a:rPr lang="en-GB" dirty="0"/>
              <a:t>Find example of analogue model.</a:t>
            </a:r>
          </a:p>
          <a:p>
            <a:pPr lvl="1"/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990600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Modelling process (for our purposes)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None/>
            </a:pPr>
            <a:endParaRPr lang="cs-CZ" noProof="0" dirty="0"/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Definition of the system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Verbal/graphical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Mathematical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Testing of the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Experiments with the model</a:t>
            </a:r>
          </a:p>
          <a:p>
            <a:pPr marL="514350" indent="-514350">
              <a:buFont typeface="+mj-lt"/>
              <a:buAutoNum type="arabicPeriod"/>
            </a:pPr>
            <a:endParaRPr lang="en-GB" noProof="0" dirty="0"/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Implementation of the results</a:t>
            </a:r>
          </a:p>
          <a:p>
            <a:endParaRPr lang="en-GB" noProof="0" dirty="0"/>
          </a:p>
        </p:txBody>
      </p:sp>
      <p:cxnSp>
        <p:nvCxnSpPr>
          <p:cNvPr id="5" name="Přímá spojovací šipka 4"/>
          <p:cNvCxnSpPr/>
          <p:nvPr/>
        </p:nvCxnSpPr>
        <p:spPr>
          <a:xfrm>
            <a:off x="6444208" y="2420888"/>
            <a:ext cx="0" cy="223224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Přímá spojovací šipka 5"/>
          <p:cNvCxnSpPr/>
          <p:nvPr/>
        </p:nvCxnSpPr>
        <p:spPr>
          <a:xfrm>
            <a:off x="6444208" y="4869160"/>
            <a:ext cx="0" cy="86409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Zakřivená spojovací čára 8"/>
          <p:cNvCxnSpPr/>
          <p:nvPr/>
        </p:nvCxnSpPr>
        <p:spPr>
          <a:xfrm rot="5400000" flipH="1" flipV="1">
            <a:off x="6228184" y="4293096"/>
            <a:ext cx="1872208" cy="1440160"/>
          </a:xfrm>
          <a:prstGeom prst="curvedConnector3">
            <a:avLst>
              <a:gd name="adj1" fmla="val -21588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Zakřivená spojovací čára 17"/>
          <p:cNvCxnSpPr/>
          <p:nvPr/>
        </p:nvCxnSpPr>
        <p:spPr>
          <a:xfrm rot="16200000" flipV="1">
            <a:off x="6300192" y="2348880"/>
            <a:ext cx="1728192" cy="1440160"/>
          </a:xfrm>
          <a:prstGeom prst="curvedConnector3">
            <a:avLst>
              <a:gd name="adj1" fmla="val 134078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Excersise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 err="1"/>
              <a:t>Monty</a:t>
            </a:r>
            <a:r>
              <a:rPr lang="cs-CZ" dirty="0"/>
              <a:t> </a:t>
            </a:r>
            <a:r>
              <a:rPr lang="cs-CZ" dirty="0" err="1"/>
              <a:t>Hall</a:t>
            </a:r>
            <a:r>
              <a:rPr lang="cs-CZ" dirty="0"/>
              <a:t> </a:t>
            </a:r>
            <a:r>
              <a:rPr lang="cs-CZ" dirty="0" err="1"/>
              <a:t>problem</a:t>
            </a:r>
            <a:endParaRPr lang="cs-CZ" dirty="0"/>
          </a:p>
          <a:p>
            <a:pPr lvl="1"/>
            <a:r>
              <a:rPr lang="en-US" dirty="0"/>
              <a:t>Television show </a:t>
            </a:r>
            <a:r>
              <a:rPr lang="en-US" i="1" dirty="0"/>
              <a:t>Let‘s Make a Deal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Three doors</a:t>
            </a:r>
          </a:p>
          <a:p>
            <a:pPr lvl="2"/>
            <a:r>
              <a:rPr lang="en-US" dirty="0"/>
              <a:t>Behind one door is a car</a:t>
            </a:r>
          </a:p>
          <a:p>
            <a:pPr lvl="2"/>
            <a:r>
              <a:rPr lang="en-US" dirty="0"/>
              <a:t>Behind the other doors are goats</a:t>
            </a:r>
          </a:p>
          <a:p>
            <a:pPr lvl="2"/>
            <a:r>
              <a:rPr lang="en-US" dirty="0"/>
              <a:t>Competitor</a:t>
            </a:r>
            <a:r>
              <a:rPr lang="cs-CZ" dirty="0"/>
              <a:t> </a:t>
            </a:r>
            <a:r>
              <a:rPr lang="cs-CZ" dirty="0" err="1"/>
              <a:t>picks</a:t>
            </a:r>
            <a:r>
              <a:rPr lang="cs-CZ" dirty="0"/>
              <a:t> </a:t>
            </a:r>
            <a:r>
              <a:rPr lang="cs-CZ" dirty="0" err="1"/>
              <a:t>one</a:t>
            </a:r>
            <a:r>
              <a:rPr lang="cs-CZ" dirty="0"/>
              <a:t> </a:t>
            </a:r>
            <a:r>
              <a:rPr lang="cs-CZ" dirty="0" err="1"/>
              <a:t>door</a:t>
            </a:r>
            <a:endParaRPr lang="cs-CZ" dirty="0"/>
          </a:p>
          <a:p>
            <a:pPr lvl="2"/>
            <a:r>
              <a:rPr lang="cs-CZ" dirty="0"/>
              <a:t>Host (</a:t>
            </a:r>
            <a:r>
              <a:rPr lang="cs-CZ" dirty="0" err="1"/>
              <a:t>whick</a:t>
            </a:r>
            <a:r>
              <a:rPr lang="cs-CZ" dirty="0"/>
              <a:t> </a:t>
            </a:r>
            <a:r>
              <a:rPr lang="cs-CZ" dirty="0" err="1"/>
              <a:t>knows</a:t>
            </a:r>
            <a:r>
              <a:rPr lang="cs-CZ" dirty="0"/>
              <a:t> </a:t>
            </a:r>
            <a:r>
              <a:rPr lang="cs-CZ" dirty="0" err="1"/>
              <a:t>where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car)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show </a:t>
            </a:r>
            <a:r>
              <a:rPr lang="cs-CZ" dirty="0" err="1"/>
              <a:t>then</a:t>
            </a:r>
            <a:r>
              <a:rPr lang="cs-CZ" dirty="0"/>
              <a:t> </a:t>
            </a:r>
            <a:r>
              <a:rPr lang="cs-CZ" dirty="0" err="1"/>
              <a:t>shows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goat</a:t>
            </a:r>
            <a:r>
              <a:rPr lang="cs-CZ" dirty="0"/>
              <a:t> </a:t>
            </a:r>
            <a:r>
              <a:rPr lang="cs-CZ" dirty="0" err="1"/>
              <a:t>behind</a:t>
            </a:r>
            <a:r>
              <a:rPr lang="cs-CZ" dirty="0"/>
              <a:t> </a:t>
            </a:r>
            <a:r>
              <a:rPr lang="cs-CZ" dirty="0" err="1"/>
              <a:t>one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remaining</a:t>
            </a:r>
            <a:r>
              <a:rPr lang="cs-CZ" dirty="0"/>
              <a:t> </a:t>
            </a:r>
            <a:r>
              <a:rPr lang="cs-CZ" dirty="0" err="1"/>
              <a:t>doors</a:t>
            </a:r>
            <a:endParaRPr lang="cs-CZ" dirty="0"/>
          </a:p>
          <a:p>
            <a:pPr lvl="2"/>
            <a:r>
              <a:rPr lang="cs-CZ" dirty="0" err="1"/>
              <a:t>Then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competitor</a:t>
            </a:r>
            <a:r>
              <a:rPr lang="cs-CZ" dirty="0"/>
              <a:t> </a:t>
            </a:r>
            <a:r>
              <a:rPr lang="cs-CZ" dirty="0" err="1"/>
              <a:t>may</a:t>
            </a:r>
            <a:r>
              <a:rPr lang="cs-CZ" dirty="0"/>
              <a:t> </a:t>
            </a:r>
            <a:r>
              <a:rPr lang="cs-CZ" dirty="0" err="1"/>
              <a:t>change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door</a:t>
            </a:r>
            <a:r>
              <a:rPr lang="cs-CZ" dirty="0"/>
              <a:t> he/</a:t>
            </a:r>
            <a:r>
              <a:rPr lang="cs-CZ" dirty="0" err="1"/>
              <a:t>she</a:t>
            </a:r>
            <a:r>
              <a:rPr lang="cs-CZ" dirty="0"/>
              <a:t> </a:t>
            </a:r>
            <a:r>
              <a:rPr lang="cs-CZ" dirty="0" err="1"/>
              <a:t>picked</a:t>
            </a:r>
            <a:endParaRPr lang="cs-CZ" dirty="0"/>
          </a:p>
          <a:p>
            <a:pPr lvl="2"/>
            <a:r>
              <a:rPr lang="cs-CZ" i="1" dirty="0" err="1"/>
              <a:t>Would</a:t>
            </a:r>
            <a:r>
              <a:rPr lang="cs-CZ" i="1" dirty="0"/>
              <a:t> </a:t>
            </a:r>
            <a:r>
              <a:rPr lang="cs-CZ" i="1" dirty="0" err="1"/>
              <a:t>you</a:t>
            </a:r>
            <a:r>
              <a:rPr lang="cs-CZ" i="1" dirty="0"/>
              <a:t> </a:t>
            </a:r>
            <a:r>
              <a:rPr lang="cs-CZ" i="1" dirty="0" err="1"/>
              <a:t>change</a:t>
            </a:r>
            <a:r>
              <a:rPr lang="cs-CZ" i="1" dirty="0"/>
              <a:t> </a:t>
            </a:r>
            <a:r>
              <a:rPr lang="cs-CZ" i="1" dirty="0" err="1"/>
              <a:t>the</a:t>
            </a:r>
            <a:r>
              <a:rPr lang="cs-CZ" i="1" dirty="0"/>
              <a:t> </a:t>
            </a:r>
            <a:r>
              <a:rPr lang="cs-CZ" i="1" dirty="0" err="1"/>
              <a:t>decision</a:t>
            </a:r>
            <a:r>
              <a:rPr lang="cs-CZ" i="1" dirty="0"/>
              <a:t>?</a:t>
            </a:r>
            <a:endParaRPr lang="en-US" i="1" dirty="0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4976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Excersise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cs-CZ" i="1" dirty="0"/>
          </a:p>
          <a:p>
            <a:r>
              <a:rPr lang="cs-CZ" i="1" dirty="0" err="1"/>
              <a:t>What</a:t>
            </a:r>
            <a:r>
              <a:rPr lang="cs-CZ" i="1" dirty="0"/>
              <a:t> </a:t>
            </a:r>
            <a:r>
              <a:rPr lang="cs-CZ" i="1" dirty="0" err="1"/>
              <a:t>is</a:t>
            </a:r>
            <a:r>
              <a:rPr lang="cs-CZ" i="1" dirty="0"/>
              <a:t> </a:t>
            </a:r>
            <a:r>
              <a:rPr lang="cs-CZ" i="1" dirty="0" err="1"/>
              <a:t>the</a:t>
            </a:r>
            <a:r>
              <a:rPr lang="cs-CZ" i="1" dirty="0"/>
              <a:t> probability </a:t>
            </a:r>
            <a:r>
              <a:rPr lang="cs-CZ" i="1" dirty="0" err="1"/>
              <a:t>that</a:t>
            </a:r>
            <a:r>
              <a:rPr lang="cs-CZ" i="1" dirty="0"/>
              <a:t> </a:t>
            </a:r>
            <a:r>
              <a:rPr lang="cs-CZ" i="1" dirty="0" err="1"/>
              <a:t>you</a:t>
            </a:r>
            <a:r>
              <a:rPr lang="cs-CZ" i="1" dirty="0"/>
              <a:t> </a:t>
            </a:r>
            <a:r>
              <a:rPr lang="cs-CZ" i="1" dirty="0" err="1"/>
              <a:t>pick</a:t>
            </a:r>
            <a:r>
              <a:rPr lang="cs-CZ" i="1" dirty="0"/>
              <a:t> </a:t>
            </a:r>
            <a:r>
              <a:rPr lang="cs-CZ" i="1" dirty="0" err="1"/>
              <a:t>the</a:t>
            </a:r>
            <a:r>
              <a:rPr lang="cs-CZ" i="1" dirty="0"/>
              <a:t> </a:t>
            </a:r>
            <a:r>
              <a:rPr lang="cs-CZ" i="1" dirty="0" err="1"/>
              <a:t>door</a:t>
            </a:r>
            <a:r>
              <a:rPr lang="cs-CZ" i="1" dirty="0"/>
              <a:t> </a:t>
            </a:r>
            <a:r>
              <a:rPr lang="cs-CZ" i="1" dirty="0" err="1"/>
              <a:t>with</a:t>
            </a:r>
            <a:r>
              <a:rPr lang="cs-CZ" i="1" dirty="0"/>
              <a:t> car?</a:t>
            </a:r>
          </a:p>
          <a:p>
            <a:endParaRPr lang="cs-CZ" i="1" dirty="0"/>
          </a:p>
          <a:p>
            <a:r>
              <a:rPr lang="cs-CZ" i="1" dirty="0" err="1"/>
              <a:t>What</a:t>
            </a:r>
            <a:r>
              <a:rPr lang="cs-CZ" i="1" dirty="0"/>
              <a:t> </a:t>
            </a:r>
            <a:r>
              <a:rPr lang="cs-CZ" i="1" dirty="0" err="1"/>
              <a:t>is</a:t>
            </a:r>
            <a:r>
              <a:rPr lang="cs-CZ" i="1" dirty="0"/>
              <a:t> </a:t>
            </a:r>
            <a:r>
              <a:rPr lang="cs-CZ" i="1" dirty="0" err="1"/>
              <a:t>the</a:t>
            </a:r>
            <a:r>
              <a:rPr lang="cs-CZ" i="1" dirty="0"/>
              <a:t> probability </a:t>
            </a:r>
            <a:r>
              <a:rPr lang="cs-CZ" i="1" dirty="0" err="1"/>
              <a:t>that</a:t>
            </a:r>
            <a:r>
              <a:rPr lang="cs-CZ" i="1" dirty="0"/>
              <a:t> </a:t>
            </a:r>
            <a:r>
              <a:rPr lang="cs-CZ" i="1" dirty="0" err="1"/>
              <a:t>the</a:t>
            </a:r>
            <a:r>
              <a:rPr lang="cs-CZ" i="1" dirty="0"/>
              <a:t> car </a:t>
            </a:r>
            <a:r>
              <a:rPr lang="cs-CZ" i="1" dirty="0" err="1"/>
              <a:t>is</a:t>
            </a:r>
            <a:r>
              <a:rPr lang="cs-CZ" i="1" dirty="0"/>
              <a:t> </a:t>
            </a:r>
            <a:r>
              <a:rPr lang="cs-CZ" i="1" dirty="0" err="1"/>
              <a:t>behind</a:t>
            </a:r>
            <a:r>
              <a:rPr lang="cs-CZ" i="1" dirty="0"/>
              <a:t> </a:t>
            </a:r>
            <a:r>
              <a:rPr lang="cs-CZ" i="1" dirty="0" err="1"/>
              <a:t>the</a:t>
            </a:r>
            <a:r>
              <a:rPr lang="cs-CZ" i="1" dirty="0"/>
              <a:t> </a:t>
            </a:r>
            <a:r>
              <a:rPr lang="cs-CZ" i="1" dirty="0" err="1"/>
              <a:t>remaining</a:t>
            </a:r>
            <a:r>
              <a:rPr lang="cs-CZ" i="1" dirty="0"/>
              <a:t> </a:t>
            </a:r>
            <a:r>
              <a:rPr lang="cs-CZ" i="1" dirty="0" err="1"/>
              <a:t>door</a:t>
            </a:r>
            <a:r>
              <a:rPr lang="cs-CZ" i="1" dirty="0"/>
              <a:t>?</a:t>
            </a:r>
          </a:p>
          <a:p>
            <a:endParaRPr lang="cs-CZ" dirty="0"/>
          </a:p>
          <a:p>
            <a:endParaRPr lang="en-US" dirty="0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1199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Stochastic process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r>
              <a:rPr lang="en-GB" sz="3100" b="1" dirty="0">
                <a:solidFill>
                  <a:srgbClr val="000000"/>
                </a:solidFill>
                <a:latin typeface="Cambria Math"/>
                <a:ea typeface="Cambria Math"/>
              </a:rPr>
              <a:t>{</a:t>
            </a:r>
            <a:r>
              <a:rPr lang="en-GB" sz="3100" b="1" i="1" noProof="0" dirty="0">
                <a:solidFill>
                  <a:srgbClr val="000000"/>
                </a:solidFill>
              </a:rPr>
              <a:t>X(t)</a:t>
            </a:r>
            <a:r>
              <a:rPr lang="en-GB" sz="3100" b="1" noProof="0" dirty="0">
                <a:solidFill>
                  <a:srgbClr val="000000"/>
                </a:solidFill>
                <a:latin typeface="Cambria Math"/>
                <a:ea typeface="Cambria Math"/>
              </a:rPr>
              <a:t>|</a:t>
            </a:r>
            <a:r>
              <a:rPr lang="en-GB" sz="3100" b="1" i="1" noProof="0" dirty="0">
                <a:solidFill>
                  <a:srgbClr val="000000"/>
                </a:solidFill>
              </a:rPr>
              <a:t> </a:t>
            </a:r>
            <a:r>
              <a:rPr lang="en-GB" sz="3100" b="1" i="1" noProof="0" dirty="0" err="1">
                <a:solidFill>
                  <a:srgbClr val="000000"/>
                </a:solidFill>
              </a:rPr>
              <a:t>t</a:t>
            </a:r>
            <a:r>
              <a:rPr lang="en-GB" sz="3100" b="1" noProof="0" dirty="0" err="1">
                <a:solidFill>
                  <a:srgbClr val="000000"/>
                </a:solidFill>
                <a:latin typeface="Cambria Math"/>
                <a:ea typeface="Cambria Math"/>
              </a:rPr>
              <a:t>∊</a:t>
            </a:r>
            <a:r>
              <a:rPr lang="en-GB" sz="3100" b="1" i="1" noProof="0" dirty="0" err="1">
                <a:solidFill>
                  <a:srgbClr val="000000"/>
                </a:solidFill>
                <a:latin typeface="Cambria Math"/>
                <a:ea typeface="Cambria Math"/>
              </a:rPr>
              <a:t>T</a:t>
            </a:r>
            <a:r>
              <a:rPr lang="en-GB" sz="3100" b="1" dirty="0">
                <a:solidFill>
                  <a:srgbClr val="000000"/>
                </a:solidFill>
                <a:latin typeface="Cambria Math"/>
                <a:ea typeface="Cambria Math"/>
              </a:rPr>
              <a:t>} </a:t>
            </a:r>
            <a:endParaRPr lang="en-GB" sz="3100" noProof="0" dirty="0">
              <a:solidFill>
                <a:srgbClr val="000000"/>
              </a:solidFill>
            </a:endParaRPr>
          </a:p>
          <a:p>
            <a:endParaRPr lang="en-GB" noProof="0" dirty="0"/>
          </a:p>
          <a:p>
            <a:r>
              <a:rPr lang="en-GB" noProof="0" dirty="0"/>
              <a:t>Random variables are indexed by </a:t>
            </a:r>
            <a:r>
              <a:rPr lang="en-GB" b="1" i="1" noProof="0" dirty="0"/>
              <a:t>t</a:t>
            </a:r>
            <a:r>
              <a:rPr lang="en-GB" noProof="0" dirty="0"/>
              <a:t> (usually time) from index set </a:t>
            </a:r>
            <a:r>
              <a:rPr lang="en-GB" b="1" i="1" noProof="0" dirty="0"/>
              <a:t>T</a:t>
            </a:r>
          </a:p>
          <a:p>
            <a:endParaRPr lang="en-GB" b="1" i="1" noProof="0" dirty="0"/>
          </a:p>
          <a:p>
            <a:r>
              <a:rPr lang="en-GB" dirty="0"/>
              <a:t>In other words: stochastic process is function of two variables</a:t>
            </a:r>
            <a:endParaRPr lang="en-GB" noProof="0" dirty="0"/>
          </a:p>
          <a:p>
            <a:r>
              <a:rPr lang="en-GB" sz="2700" b="1" i="1" dirty="0">
                <a:solidFill>
                  <a:srgbClr val="000000"/>
                </a:solidFill>
              </a:rPr>
              <a:t>X(t)= f(</a:t>
            </a:r>
            <a:r>
              <a:rPr lang="en-GB" sz="2700" b="1" i="1" dirty="0" err="1">
                <a:solidFill>
                  <a:srgbClr val="000000"/>
                </a:solidFill>
              </a:rPr>
              <a:t>t,e</a:t>
            </a:r>
            <a:r>
              <a:rPr lang="en-GB" sz="2700" i="1" dirty="0">
                <a:solidFill>
                  <a:srgbClr val="000000"/>
                </a:solidFill>
              </a:rPr>
              <a:t>)</a:t>
            </a:r>
            <a:endParaRPr lang="en-GB" sz="2700" dirty="0">
              <a:solidFill>
                <a:srgbClr val="000000"/>
              </a:solidFill>
            </a:endParaRPr>
          </a:p>
          <a:p>
            <a:r>
              <a:rPr lang="en-GB" b="1" i="1" dirty="0"/>
              <a:t>e</a:t>
            </a:r>
            <a:r>
              <a:rPr lang="en-GB" dirty="0"/>
              <a:t>… random variable</a:t>
            </a:r>
          </a:p>
          <a:p>
            <a:pPr lvl="1"/>
            <a:endParaRPr lang="en-GB" b="1" i="1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Sample function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764904"/>
          </a:xfrm>
        </p:spPr>
        <p:txBody>
          <a:bodyPr/>
          <a:lstStyle/>
          <a:p>
            <a:r>
              <a:rPr lang="en-GB" noProof="0" dirty="0"/>
              <a:t>or „realisation“.</a:t>
            </a:r>
          </a:p>
          <a:p>
            <a:r>
              <a:rPr lang="en-GB" sz="3200" noProof="0" dirty="0"/>
              <a:t>Time ordered data:</a:t>
            </a:r>
          </a:p>
          <a:p>
            <a:pPr lvl="1"/>
            <a:r>
              <a:rPr lang="en-GB" b="1" i="1" noProof="0" dirty="0">
                <a:solidFill>
                  <a:srgbClr val="000000"/>
                </a:solidFill>
              </a:rPr>
              <a:t>f(t,</a:t>
            </a:r>
            <a:r>
              <a:rPr lang="en-GB" b="1" i="1" noProof="0" dirty="0"/>
              <a:t> e</a:t>
            </a:r>
            <a:r>
              <a:rPr lang="en-GB" baseline="-25000" noProof="0" dirty="0"/>
              <a:t>0</a:t>
            </a:r>
            <a:r>
              <a:rPr lang="en-GB" i="1" noProof="0" dirty="0">
                <a:solidFill>
                  <a:srgbClr val="000000"/>
                </a:solidFill>
              </a:rPr>
              <a:t>) </a:t>
            </a:r>
            <a:r>
              <a:rPr lang="en-GB" noProof="0" dirty="0">
                <a:solidFill>
                  <a:srgbClr val="000000"/>
                </a:solidFill>
              </a:rPr>
              <a:t>is</a:t>
            </a:r>
            <a:r>
              <a:rPr lang="en-GB" i="1" noProof="0" dirty="0">
                <a:solidFill>
                  <a:srgbClr val="000000"/>
                </a:solidFill>
              </a:rPr>
              <a:t> </a:t>
            </a:r>
            <a:r>
              <a:rPr lang="en-GB" noProof="0" dirty="0"/>
              <a:t>outcome of experiment </a:t>
            </a:r>
            <a:r>
              <a:rPr lang="en-GB" b="1" i="1" noProof="0" dirty="0"/>
              <a:t>e=e</a:t>
            </a:r>
            <a:r>
              <a:rPr lang="en-GB" baseline="-25000" noProof="0" dirty="0"/>
              <a:t>0</a:t>
            </a:r>
          </a:p>
          <a:p>
            <a:r>
              <a:rPr lang="en-GB" noProof="0" dirty="0"/>
              <a:t>Stochastic process is then model that describe possible sample functions.</a:t>
            </a:r>
          </a:p>
        </p:txBody>
      </p:sp>
      <p:cxnSp>
        <p:nvCxnSpPr>
          <p:cNvPr id="5" name="Přímá spojovací čára 4"/>
          <p:cNvCxnSpPr/>
          <p:nvPr/>
        </p:nvCxnSpPr>
        <p:spPr>
          <a:xfrm>
            <a:off x="1763688" y="4509120"/>
            <a:ext cx="0" cy="2016224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ovéPole 7"/>
          <p:cNvSpPr txBox="1"/>
          <p:nvPr/>
        </p:nvSpPr>
        <p:spPr>
          <a:xfrm>
            <a:off x="6948264" y="648866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i="1" dirty="0"/>
              <a:t>t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7308304" y="443711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i="1" dirty="0"/>
              <a:t>f(t,e</a:t>
            </a:r>
            <a:r>
              <a:rPr lang="cs-CZ" baseline="-25000" dirty="0"/>
              <a:t>1</a:t>
            </a:r>
            <a:r>
              <a:rPr lang="cs-CZ" b="1" i="1" dirty="0"/>
              <a:t>)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7308304" y="501317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i="1" dirty="0"/>
              <a:t>f(t,e</a:t>
            </a:r>
            <a:r>
              <a:rPr lang="cs-CZ" baseline="-25000" dirty="0"/>
              <a:t>2</a:t>
            </a:r>
            <a:r>
              <a:rPr lang="cs-CZ" b="1" i="1" dirty="0"/>
              <a:t>)</a:t>
            </a:r>
          </a:p>
        </p:txBody>
      </p:sp>
      <p:sp>
        <p:nvSpPr>
          <p:cNvPr id="11" name="TextovéPole 10"/>
          <p:cNvSpPr txBox="1"/>
          <p:nvPr/>
        </p:nvSpPr>
        <p:spPr>
          <a:xfrm>
            <a:off x="7308304" y="566124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i="1" dirty="0"/>
              <a:t>f(t,e</a:t>
            </a:r>
            <a:r>
              <a:rPr lang="cs-CZ" baseline="-25000" dirty="0"/>
              <a:t>3</a:t>
            </a:r>
            <a:r>
              <a:rPr lang="cs-CZ" b="1" i="1" dirty="0"/>
              <a:t>)</a:t>
            </a:r>
          </a:p>
        </p:txBody>
      </p:sp>
      <p:sp>
        <p:nvSpPr>
          <p:cNvPr id="12" name="TextovéPole 11"/>
          <p:cNvSpPr txBox="1"/>
          <p:nvPr/>
        </p:nvSpPr>
        <p:spPr>
          <a:xfrm>
            <a:off x="1331640" y="43651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i="1" dirty="0"/>
              <a:t>X</a:t>
            </a:r>
          </a:p>
        </p:txBody>
      </p:sp>
      <p:sp>
        <p:nvSpPr>
          <p:cNvPr id="14" name="Volný tvar 13"/>
          <p:cNvSpPr/>
          <p:nvPr/>
        </p:nvSpPr>
        <p:spPr>
          <a:xfrm>
            <a:off x="1574800" y="4279900"/>
            <a:ext cx="5943600" cy="1335617"/>
          </a:xfrm>
          <a:custGeom>
            <a:avLst/>
            <a:gdLst>
              <a:gd name="connsiteX0" fmla="*/ 0 w 5943600"/>
              <a:gd name="connsiteY0" fmla="*/ 584200 h 1335617"/>
              <a:gd name="connsiteX1" fmla="*/ 419100 w 5943600"/>
              <a:gd name="connsiteY1" fmla="*/ 889000 h 1335617"/>
              <a:gd name="connsiteX2" fmla="*/ 1384300 w 5943600"/>
              <a:gd name="connsiteY2" fmla="*/ 419100 h 1335617"/>
              <a:gd name="connsiteX3" fmla="*/ 2082800 w 5943600"/>
              <a:gd name="connsiteY3" fmla="*/ 1295400 h 1335617"/>
              <a:gd name="connsiteX4" fmla="*/ 3416300 w 5943600"/>
              <a:gd name="connsiteY4" fmla="*/ 177800 h 1335617"/>
              <a:gd name="connsiteX5" fmla="*/ 4330700 w 5943600"/>
              <a:gd name="connsiteY5" fmla="*/ 241300 h 1335617"/>
              <a:gd name="connsiteX6" fmla="*/ 4762500 w 5943600"/>
              <a:gd name="connsiteY6" fmla="*/ 25400 h 1335617"/>
              <a:gd name="connsiteX7" fmla="*/ 5118100 w 5943600"/>
              <a:gd name="connsiteY7" fmla="*/ 393700 h 1335617"/>
              <a:gd name="connsiteX8" fmla="*/ 5943600 w 5943600"/>
              <a:gd name="connsiteY8" fmla="*/ 508000 h 1335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43600" h="1335617">
                <a:moveTo>
                  <a:pt x="0" y="584200"/>
                </a:moveTo>
                <a:cubicBezTo>
                  <a:pt x="94191" y="750358"/>
                  <a:pt x="188383" y="916517"/>
                  <a:pt x="419100" y="889000"/>
                </a:cubicBezTo>
                <a:cubicBezTo>
                  <a:pt x="649817" y="861483"/>
                  <a:pt x="1107017" y="351367"/>
                  <a:pt x="1384300" y="419100"/>
                </a:cubicBezTo>
                <a:cubicBezTo>
                  <a:pt x="1661583" y="486833"/>
                  <a:pt x="1744133" y="1335617"/>
                  <a:pt x="2082800" y="1295400"/>
                </a:cubicBezTo>
                <a:cubicBezTo>
                  <a:pt x="2421467" y="1255183"/>
                  <a:pt x="3041650" y="353483"/>
                  <a:pt x="3416300" y="177800"/>
                </a:cubicBezTo>
                <a:cubicBezTo>
                  <a:pt x="3790950" y="2117"/>
                  <a:pt x="4106333" y="266700"/>
                  <a:pt x="4330700" y="241300"/>
                </a:cubicBezTo>
                <a:cubicBezTo>
                  <a:pt x="4555067" y="215900"/>
                  <a:pt x="4631267" y="0"/>
                  <a:pt x="4762500" y="25400"/>
                </a:cubicBezTo>
                <a:cubicBezTo>
                  <a:pt x="4893733" y="50800"/>
                  <a:pt x="4921250" y="313267"/>
                  <a:pt x="5118100" y="393700"/>
                </a:cubicBezTo>
                <a:cubicBezTo>
                  <a:pt x="5314950" y="474133"/>
                  <a:pt x="5810250" y="491067"/>
                  <a:pt x="5943600" y="508000"/>
                </a:cubicBezTo>
              </a:path>
            </a:pathLst>
          </a:cu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Volný tvar 14"/>
          <p:cNvSpPr/>
          <p:nvPr/>
        </p:nvSpPr>
        <p:spPr>
          <a:xfrm>
            <a:off x="1587500" y="5029200"/>
            <a:ext cx="5956300" cy="1022350"/>
          </a:xfrm>
          <a:custGeom>
            <a:avLst/>
            <a:gdLst>
              <a:gd name="connsiteX0" fmla="*/ 0 w 5956300"/>
              <a:gd name="connsiteY0" fmla="*/ 685800 h 1022350"/>
              <a:gd name="connsiteX1" fmla="*/ 444500 w 5956300"/>
              <a:gd name="connsiteY1" fmla="*/ 304800 h 1022350"/>
              <a:gd name="connsiteX2" fmla="*/ 914400 w 5956300"/>
              <a:gd name="connsiteY2" fmla="*/ 495300 h 1022350"/>
              <a:gd name="connsiteX3" fmla="*/ 1371600 w 5956300"/>
              <a:gd name="connsiteY3" fmla="*/ 25400 h 1022350"/>
              <a:gd name="connsiteX4" fmla="*/ 1828800 w 5956300"/>
              <a:gd name="connsiteY4" fmla="*/ 584200 h 1022350"/>
              <a:gd name="connsiteX5" fmla="*/ 2108200 w 5956300"/>
              <a:gd name="connsiteY5" fmla="*/ 673100 h 1022350"/>
              <a:gd name="connsiteX6" fmla="*/ 2413000 w 5956300"/>
              <a:gd name="connsiteY6" fmla="*/ 838200 h 1022350"/>
              <a:gd name="connsiteX7" fmla="*/ 2806700 w 5956300"/>
              <a:gd name="connsiteY7" fmla="*/ 520700 h 1022350"/>
              <a:gd name="connsiteX8" fmla="*/ 3213100 w 5956300"/>
              <a:gd name="connsiteY8" fmla="*/ 1016000 h 1022350"/>
              <a:gd name="connsiteX9" fmla="*/ 3670300 w 5956300"/>
              <a:gd name="connsiteY9" fmla="*/ 482600 h 1022350"/>
              <a:gd name="connsiteX10" fmla="*/ 4013200 w 5956300"/>
              <a:gd name="connsiteY10" fmla="*/ 457200 h 1022350"/>
              <a:gd name="connsiteX11" fmla="*/ 4330700 w 5956300"/>
              <a:gd name="connsiteY11" fmla="*/ 177800 h 1022350"/>
              <a:gd name="connsiteX12" fmla="*/ 4813300 w 5956300"/>
              <a:gd name="connsiteY12" fmla="*/ 355600 h 1022350"/>
              <a:gd name="connsiteX13" fmla="*/ 5207000 w 5956300"/>
              <a:gd name="connsiteY13" fmla="*/ 165100 h 1022350"/>
              <a:gd name="connsiteX14" fmla="*/ 5956300 w 5956300"/>
              <a:gd name="connsiteY14" fmla="*/ 0 h 102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956300" h="1022350">
                <a:moveTo>
                  <a:pt x="0" y="685800"/>
                </a:moveTo>
                <a:cubicBezTo>
                  <a:pt x="146050" y="511175"/>
                  <a:pt x="292100" y="336550"/>
                  <a:pt x="444500" y="304800"/>
                </a:cubicBezTo>
                <a:cubicBezTo>
                  <a:pt x="596900" y="273050"/>
                  <a:pt x="759883" y="541867"/>
                  <a:pt x="914400" y="495300"/>
                </a:cubicBezTo>
                <a:cubicBezTo>
                  <a:pt x="1068917" y="448733"/>
                  <a:pt x="1219200" y="10583"/>
                  <a:pt x="1371600" y="25400"/>
                </a:cubicBezTo>
                <a:cubicBezTo>
                  <a:pt x="1524000" y="40217"/>
                  <a:pt x="1706033" y="476250"/>
                  <a:pt x="1828800" y="584200"/>
                </a:cubicBezTo>
                <a:cubicBezTo>
                  <a:pt x="1951567" y="692150"/>
                  <a:pt x="2010833" y="630767"/>
                  <a:pt x="2108200" y="673100"/>
                </a:cubicBezTo>
                <a:cubicBezTo>
                  <a:pt x="2205567" y="715433"/>
                  <a:pt x="2296583" y="863600"/>
                  <a:pt x="2413000" y="838200"/>
                </a:cubicBezTo>
                <a:cubicBezTo>
                  <a:pt x="2529417" y="812800"/>
                  <a:pt x="2673350" y="491067"/>
                  <a:pt x="2806700" y="520700"/>
                </a:cubicBezTo>
                <a:cubicBezTo>
                  <a:pt x="2940050" y="550333"/>
                  <a:pt x="3069167" y="1022350"/>
                  <a:pt x="3213100" y="1016000"/>
                </a:cubicBezTo>
                <a:cubicBezTo>
                  <a:pt x="3357033" y="1009650"/>
                  <a:pt x="3536950" y="575733"/>
                  <a:pt x="3670300" y="482600"/>
                </a:cubicBezTo>
                <a:cubicBezTo>
                  <a:pt x="3803650" y="389467"/>
                  <a:pt x="3903133" y="508000"/>
                  <a:pt x="4013200" y="457200"/>
                </a:cubicBezTo>
                <a:cubicBezTo>
                  <a:pt x="4123267" y="406400"/>
                  <a:pt x="4197350" y="194733"/>
                  <a:pt x="4330700" y="177800"/>
                </a:cubicBezTo>
                <a:cubicBezTo>
                  <a:pt x="4464050" y="160867"/>
                  <a:pt x="4667250" y="357717"/>
                  <a:pt x="4813300" y="355600"/>
                </a:cubicBezTo>
                <a:cubicBezTo>
                  <a:pt x="4959350" y="353483"/>
                  <a:pt x="5016500" y="224367"/>
                  <a:pt x="5207000" y="165100"/>
                </a:cubicBezTo>
                <a:cubicBezTo>
                  <a:pt x="5397500" y="105833"/>
                  <a:pt x="5676900" y="52916"/>
                  <a:pt x="5956300" y="0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Volný tvar 15"/>
          <p:cNvSpPr/>
          <p:nvPr/>
        </p:nvSpPr>
        <p:spPr>
          <a:xfrm>
            <a:off x="1549400" y="4582583"/>
            <a:ext cx="5974928" cy="1589617"/>
          </a:xfrm>
          <a:custGeom>
            <a:avLst/>
            <a:gdLst>
              <a:gd name="connsiteX0" fmla="*/ 0 w 6045200"/>
              <a:gd name="connsiteY0" fmla="*/ 1589617 h 1589617"/>
              <a:gd name="connsiteX1" fmla="*/ 508000 w 6045200"/>
              <a:gd name="connsiteY1" fmla="*/ 1195917 h 1589617"/>
              <a:gd name="connsiteX2" fmla="*/ 1282700 w 6045200"/>
              <a:gd name="connsiteY2" fmla="*/ 1449917 h 1589617"/>
              <a:gd name="connsiteX3" fmla="*/ 2311400 w 6045200"/>
              <a:gd name="connsiteY3" fmla="*/ 446617 h 1589617"/>
              <a:gd name="connsiteX4" fmla="*/ 3098800 w 6045200"/>
              <a:gd name="connsiteY4" fmla="*/ 611717 h 1589617"/>
              <a:gd name="connsiteX5" fmla="*/ 3619500 w 6045200"/>
              <a:gd name="connsiteY5" fmla="*/ 52917 h 1589617"/>
              <a:gd name="connsiteX6" fmla="*/ 4406900 w 6045200"/>
              <a:gd name="connsiteY6" fmla="*/ 929217 h 1589617"/>
              <a:gd name="connsiteX7" fmla="*/ 4889500 w 6045200"/>
              <a:gd name="connsiteY7" fmla="*/ 726017 h 1589617"/>
              <a:gd name="connsiteX8" fmla="*/ 5092700 w 6045200"/>
              <a:gd name="connsiteY8" fmla="*/ 1005417 h 1589617"/>
              <a:gd name="connsiteX9" fmla="*/ 5181600 w 6045200"/>
              <a:gd name="connsiteY9" fmla="*/ 1005417 h 1589617"/>
              <a:gd name="connsiteX10" fmla="*/ 5245100 w 6045200"/>
              <a:gd name="connsiteY10" fmla="*/ 929217 h 1589617"/>
              <a:gd name="connsiteX11" fmla="*/ 5295900 w 6045200"/>
              <a:gd name="connsiteY11" fmla="*/ 891117 h 1589617"/>
              <a:gd name="connsiteX12" fmla="*/ 5511800 w 6045200"/>
              <a:gd name="connsiteY12" fmla="*/ 1005417 h 1589617"/>
              <a:gd name="connsiteX13" fmla="*/ 6045200 w 6045200"/>
              <a:gd name="connsiteY13" fmla="*/ 1107017 h 1589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045200" h="1589617">
                <a:moveTo>
                  <a:pt x="0" y="1589617"/>
                </a:moveTo>
                <a:cubicBezTo>
                  <a:pt x="147108" y="1404408"/>
                  <a:pt x="294217" y="1219200"/>
                  <a:pt x="508000" y="1195917"/>
                </a:cubicBezTo>
                <a:cubicBezTo>
                  <a:pt x="721783" y="1172634"/>
                  <a:pt x="982133" y="1574800"/>
                  <a:pt x="1282700" y="1449917"/>
                </a:cubicBezTo>
                <a:cubicBezTo>
                  <a:pt x="1583267" y="1325034"/>
                  <a:pt x="2008717" y="586317"/>
                  <a:pt x="2311400" y="446617"/>
                </a:cubicBezTo>
                <a:cubicBezTo>
                  <a:pt x="2614083" y="306917"/>
                  <a:pt x="2880783" y="677334"/>
                  <a:pt x="3098800" y="611717"/>
                </a:cubicBezTo>
                <a:cubicBezTo>
                  <a:pt x="3316817" y="546100"/>
                  <a:pt x="3401483" y="0"/>
                  <a:pt x="3619500" y="52917"/>
                </a:cubicBezTo>
                <a:cubicBezTo>
                  <a:pt x="3837517" y="105834"/>
                  <a:pt x="4195233" y="817034"/>
                  <a:pt x="4406900" y="929217"/>
                </a:cubicBezTo>
                <a:cubicBezTo>
                  <a:pt x="4618567" y="1041400"/>
                  <a:pt x="4775200" y="713317"/>
                  <a:pt x="4889500" y="726017"/>
                </a:cubicBezTo>
                <a:cubicBezTo>
                  <a:pt x="5003800" y="738717"/>
                  <a:pt x="5044017" y="958850"/>
                  <a:pt x="5092700" y="1005417"/>
                </a:cubicBezTo>
                <a:cubicBezTo>
                  <a:pt x="5141383" y="1051984"/>
                  <a:pt x="5156200" y="1018117"/>
                  <a:pt x="5181600" y="1005417"/>
                </a:cubicBezTo>
                <a:cubicBezTo>
                  <a:pt x="5207000" y="992717"/>
                  <a:pt x="5226050" y="948267"/>
                  <a:pt x="5245100" y="929217"/>
                </a:cubicBezTo>
                <a:cubicBezTo>
                  <a:pt x="5264150" y="910167"/>
                  <a:pt x="5251450" y="878417"/>
                  <a:pt x="5295900" y="891117"/>
                </a:cubicBezTo>
                <a:cubicBezTo>
                  <a:pt x="5340350" y="903817"/>
                  <a:pt x="5386917" y="969434"/>
                  <a:pt x="5511800" y="1005417"/>
                </a:cubicBezTo>
                <a:cubicBezTo>
                  <a:pt x="5636683" y="1041400"/>
                  <a:pt x="6045200" y="1107017"/>
                  <a:pt x="6045200" y="1107017"/>
                </a:cubicBezTo>
              </a:path>
            </a:pathLst>
          </a:cu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18" name="Přímá spojovací čára 17"/>
          <p:cNvCxnSpPr/>
          <p:nvPr/>
        </p:nvCxnSpPr>
        <p:spPr>
          <a:xfrm flipV="1">
            <a:off x="4283968" y="4365104"/>
            <a:ext cx="0" cy="2088232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ovéPole 19"/>
          <p:cNvSpPr txBox="1"/>
          <p:nvPr/>
        </p:nvSpPr>
        <p:spPr>
          <a:xfrm>
            <a:off x="3851920" y="6381328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i="1" dirty="0"/>
              <a:t>X(t=t</a:t>
            </a:r>
            <a:r>
              <a:rPr lang="cs-CZ" b="1" i="1" baseline="-25000" dirty="0"/>
              <a:t>1</a:t>
            </a:r>
            <a:r>
              <a:rPr lang="cs-CZ" b="1" i="1" dirty="0"/>
              <a:t>)</a:t>
            </a:r>
          </a:p>
        </p:txBody>
      </p:sp>
      <p:cxnSp>
        <p:nvCxnSpPr>
          <p:cNvPr id="25" name="Přímá spojovací čára 24"/>
          <p:cNvCxnSpPr/>
          <p:nvPr/>
        </p:nvCxnSpPr>
        <p:spPr>
          <a:xfrm flipH="1">
            <a:off x="1619672" y="6381328"/>
            <a:ext cx="6048672" cy="0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graphicFrame>
        <p:nvGraphicFramePr>
          <p:cNvPr id="7" name="Zástupný symbol pro obsah 6"/>
          <p:cNvGraphicFramePr>
            <a:graphicFrameLocks noGrp="1"/>
          </p:cNvGraphicFramePr>
          <p:nvPr>
            <p:ph sz="quarter" idx="1"/>
          </p:nvPr>
        </p:nvGraphicFramePr>
        <p:xfrm>
          <a:off x="179511" y="2492896"/>
          <a:ext cx="8784975" cy="4248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6858">
                <a:tc>
                  <a:txBody>
                    <a:bodyPr/>
                    <a:lstStyle/>
                    <a:p>
                      <a:pPr algn="l"/>
                      <a:endParaRPr lang="en-GB" sz="2400" b="1" noProof="0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2400" b="1" noProof="0"/>
                        <a:t>State space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858">
                <a:tc>
                  <a:txBody>
                    <a:bodyPr/>
                    <a:lstStyle/>
                    <a:p>
                      <a:pPr algn="ctr"/>
                      <a:r>
                        <a:rPr lang="en-GB" sz="2400" b="1" noProof="0"/>
                        <a:t>Time space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noProof="0"/>
                        <a:t>Discrete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noProof="0"/>
                        <a:t>Continuous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0620">
                <a:tc>
                  <a:txBody>
                    <a:bodyPr/>
                    <a:lstStyle/>
                    <a:p>
                      <a:pPr algn="r"/>
                      <a:r>
                        <a:rPr lang="en-GB" sz="2400" b="1" noProof="0"/>
                        <a:t>Discrete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400" b="1" noProof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400" b="1" noProof="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4136">
                <a:tc>
                  <a:txBody>
                    <a:bodyPr/>
                    <a:lstStyle/>
                    <a:p>
                      <a:pPr algn="r"/>
                      <a:r>
                        <a:rPr lang="en-GB" sz="2400" b="1" noProof="0" dirty="0"/>
                        <a:t>Continuous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1" noProof="0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400" b="1" noProof="0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Zástupný symbol pro obsah 2"/>
          <p:cNvSpPr txBox="1">
            <a:spLocks/>
          </p:cNvSpPr>
          <p:nvPr/>
        </p:nvSpPr>
        <p:spPr>
          <a:xfrm>
            <a:off x="612648" y="1600200"/>
            <a:ext cx="8153400" cy="892696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lang="en-GB" sz="3100" dirty="0">
                <a:solidFill>
                  <a:srgbClr val="000000"/>
                </a:solidFill>
                <a:ea typeface="Cambria Math"/>
              </a:rPr>
              <a:t>Find </a:t>
            </a:r>
            <a:r>
              <a:rPr kumimoji="0" lang="en-GB" sz="310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mbria Math"/>
                <a:cs typeface="+mn-cs"/>
              </a:rPr>
              <a:t>examples of different stochastic processes and classify</a:t>
            </a:r>
            <a:r>
              <a:rPr kumimoji="0" lang="en-GB" sz="3100" i="0" u="none" strike="noStrike" kern="1200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mbria Math"/>
                <a:cs typeface="+mn-cs"/>
              </a:rPr>
              <a:t> it according to following table</a:t>
            </a:r>
            <a:r>
              <a:rPr kumimoji="0" lang="en-GB" sz="310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mbria Math"/>
                <a:cs typeface="+mn-cs"/>
              </a:rPr>
              <a:t> </a:t>
            </a:r>
            <a:endParaRPr kumimoji="0" lang="en-GB" sz="3100" i="0" u="none" strike="noStrike" kern="120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20040" marR="0" lvl="0" indent="-320040" algn="ctr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endParaRPr kumimoji="0" lang="en-GB" sz="2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ovéPole 4"/>
          <p:cNvSpPr txBox="1"/>
          <p:nvPr/>
        </p:nvSpPr>
        <p:spPr>
          <a:xfrm>
            <a:off x="3491880" y="2780928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ovéPole 5"/>
          <p:cNvSpPr txBox="1"/>
          <p:nvPr/>
        </p:nvSpPr>
        <p:spPr>
          <a:xfrm>
            <a:off x="3275856" y="4365104"/>
            <a:ext cx="26642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Number of bored students at the end of lesson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6228184" y="4509120"/>
            <a:ext cx="26642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Measurement of temperature each hour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3131840" y="5596116"/>
            <a:ext cx="288032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Number of customers in the shop</a:t>
            </a:r>
            <a:r>
              <a:rPr lang="cs-CZ" sz="2000" b="1" dirty="0"/>
              <a:t> </a:t>
            </a:r>
            <a:r>
              <a:rPr lang="cs-CZ" sz="2000" b="1" dirty="0" err="1"/>
              <a:t>during</a:t>
            </a:r>
            <a:r>
              <a:rPr lang="cs-CZ" sz="2000" b="1" dirty="0"/>
              <a:t> </a:t>
            </a:r>
            <a:r>
              <a:rPr lang="cs-CZ" sz="2000" b="1" dirty="0" err="1"/>
              <a:t>opening</a:t>
            </a:r>
            <a:r>
              <a:rPr lang="cs-CZ" sz="2000" b="1" dirty="0"/>
              <a:t> </a:t>
            </a:r>
            <a:r>
              <a:rPr lang="cs-CZ" sz="2000" b="1" dirty="0" err="1"/>
              <a:t>time</a:t>
            </a:r>
            <a:endParaRPr lang="en-GB" sz="2000" b="1" dirty="0"/>
          </a:p>
          <a:p>
            <a:endParaRPr lang="en-GB" sz="1600" dirty="0"/>
          </a:p>
        </p:txBody>
      </p:sp>
      <p:sp>
        <p:nvSpPr>
          <p:cNvPr id="11" name="TextovéPole 10"/>
          <p:cNvSpPr txBox="1"/>
          <p:nvPr/>
        </p:nvSpPr>
        <p:spPr>
          <a:xfrm>
            <a:off x="6300192" y="5877272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Seismograph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Binomial distribution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637112"/>
          </a:xfrm>
        </p:spPr>
        <p:txBody>
          <a:bodyPr/>
          <a:lstStyle/>
          <a:p>
            <a:r>
              <a:rPr lang="en-GB" dirty="0"/>
              <a:t>Discrete probability distribution</a:t>
            </a:r>
          </a:p>
          <a:p>
            <a:pPr lvl="1"/>
            <a:r>
              <a:rPr lang="en-GB" b="1" i="1" dirty="0"/>
              <a:t>n</a:t>
            </a:r>
            <a:r>
              <a:rPr lang="en-GB" dirty="0"/>
              <a:t> independent yes/no experiments</a:t>
            </a:r>
          </a:p>
          <a:p>
            <a:pPr lvl="1"/>
            <a:r>
              <a:rPr lang="en-GB" b="1" i="1" dirty="0"/>
              <a:t>k</a:t>
            </a:r>
            <a:r>
              <a:rPr lang="en-GB" dirty="0"/>
              <a:t> is number of successes</a:t>
            </a:r>
          </a:p>
          <a:p>
            <a:pPr lvl="1"/>
            <a:r>
              <a:rPr lang="en-GB" b="1" i="1" dirty="0"/>
              <a:t>p</a:t>
            </a:r>
            <a:r>
              <a:rPr lang="en-GB" dirty="0"/>
              <a:t> is success probability</a:t>
            </a:r>
          </a:p>
          <a:p>
            <a:pPr lvl="1"/>
            <a:r>
              <a:rPr lang="en-GB" dirty="0"/>
              <a:t>Then the probability of exactly </a:t>
            </a:r>
            <a:r>
              <a:rPr lang="en-GB" b="1" i="1" dirty="0"/>
              <a:t>k</a:t>
            </a:r>
            <a:r>
              <a:rPr lang="en-GB" dirty="0"/>
              <a:t> successes is as follows:</a:t>
            </a:r>
          </a:p>
          <a:p>
            <a:pPr lvl="1"/>
            <a:endParaRPr lang="en-GB" dirty="0"/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23728" y="4509120"/>
            <a:ext cx="4638675" cy="647700"/>
          </a:xfrm>
          <a:prstGeom prst="rect">
            <a:avLst/>
          </a:prstGeom>
          <a:noFill/>
        </p:spPr>
      </p:pic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47111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49935" y="5491683"/>
            <a:ext cx="2686050" cy="857250"/>
          </a:xfrm>
          <a:prstGeom prst="rect">
            <a:avLst/>
          </a:prstGeom>
          <a:noFill/>
        </p:spPr>
      </p:pic>
      <p:sp>
        <p:nvSpPr>
          <p:cNvPr id="4" name="Oválný bublinový popisek 3"/>
          <p:cNvSpPr/>
          <p:nvPr/>
        </p:nvSpPr>
        <p:spPr>
          <a:xfrm>
            <a:off x="251520" y="5239673"/>
            <a:ext cx="3168352" cy="1537885"/>
          </a:xfrm>
          <a:prstGeom prst="wedgeEllipseCallout">
            <a:avLst>
              <a:gd name="adj1" fmla="val 91025"/>
              <a:gd name="adj2" fmla="val -365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T</a:t>
            </a:r>
            <a:r>
              <a:rPr lang="en-GB" dirty="0"/>
              <a:t>he number of ways of picking</a:t>
            </a:r>
            <a:r>
              <a:rPr lang="cs-CZ" dirty="0"/>
              <a:t> </a:t>
            </a:r>
            <a:r>
              <a:rPr lang="cs-CZ" i="1" dirty="0"/>
              <a:t>k</a:t>
            </a:r>
            <a:r>
              <a:rPr lang="cs-CZ" dirty="0"/>
              <a:t> </a:t>
            </a:r>
            <a:r>
              <a:rPr lang="en-GB" dirty="0"/>
              <a:t>unordered outcomes from</a:t>
            </a:r>
            <a:r>
              <a:rPr lang="cs-CZ" dirty="0"/>
              <a:t> </a:t>
            </a:r>
            <a:r>
              <a:rPr lang="cs-CZ" i="1" dirty="0"/>
              <a:t>n</a:t>
            </a:r>
            <a:r>
              <a:rPr lang="cs-CZ" dirty="0"/>
              <a:t> </a:t>
            </a:r>
            <a:r>
              <a:rPr lang="en-US" dirty="0"/>
              <a:t>possibilities</a:t>
            </a:r>
            <a:r>
              <a:rPr lang="cs-CZ" dirty="0"/>
              <a:t>.</a:t>
            </a:r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Example: dice </a:t>
            </a:r>
            <a:r>
              <a:rPr lang="cs-CZ" noProof="0" dirty="0" err="1"/>
              <a:t>rolling</a:t>
            </a:r>
            <a:endParaRPr lang="en-GB" noProof="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noProof="0" dirty="0"/>
              <a:t>You </a:t>
            </a:r>
            <a:r>
              <a:rPr lang="cs-CZ" noProof="0" dirty="0" err="1"/>
              <a:t>roll</a:t>
            </a:r>
            <a:r>
              <a:rPr lang="cs-CZ" noProof="0" dirty="0"/>
              <a:t> </a:t>
            </a:r>
            <a:r>
              <a:rPr lang="en-GB" noProof="0" dirty="0"/>
              <a:t>a dice </a:t>
            </a:r>
            <a:r>
              <a:rPr lang="en-GB" i="1" noProof="0" dirty="0"/>
              <a:t>three times</a:t>
            </a:r>
            <a:r>
              <a:rPr lang="en-GB" noProof="0" dirty="0"/>
              <a:t>: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GB" noProof="0" dirty="0"/>
              <a:t>Find probability of </a:t>
            </a:r>
            <a:r>
              <a:rPr lang="cs-CZ" noProof="0" dirty="0" err="1"/>
              <a:t>rolling</a:t>
            </a:r>
            <a:r>
              <a:rPr lang="cs-CZ" noProof="0" dirty="0"/>
              <a:t> </a:t>
            </a:r>
            <a:r>
              <a:rPr lang="en-GB" noProof="0" dirty="0"/>
              <a:t>the </a:t>
            </a:r>
            <a:r>
              <a:rPr lang="en-GB" i="1" noProof="0" dirty="0"/>
              <a:t>6</a:t>
            </a:r>
            <a:r>
              <a:rPr lang="en-GB" noProof="0" dirty="0"/>
              <a:t> once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GB" noProof="0" dirty="0"/>
              <a:t>Find probability that you </a:t>
            </a:r>
            <a:r>
              <a:rPr lang="cs-CZ" noProof="0" dirty="0" err="1"/>
              <a:t>rolling</a:t>
            </a:r>
            <a:r>
              <a:rPr lang="cs-CZ" noProof="0" dirty="0"/>
              <a:t> </a:t>
            </a:r>
            <a:r>
              <a:rPr lang="en-GB" noProof="0" dirty="0"/>
              <a:t>the </a:t>
            </a:r>
            <a:r>
              <a:rPr lang="en-GB" i="1" noProof="0" dirty="0"/>
              <a:t>6</a:t>
            </a:r>
            <a:r>
              <a:rPr lang="en-GB" noProof="0" dirty="0"/>
              <a:t> once at most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Queuing theory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257800"/>
          </a:xfrm>
        </p:spPr>
        <p:txBody>
          <a:bodyPr>
            <a:normAutofit/>
          </a:bodyPr>
          <a:lstStyle/>
          <a:p>
            <a:r>
              <a:rPr lang="en-GB" noProof="0" dirty="0"/>
              <a:t>Study of waiting lines, or queues.</a:t>
            </a:r>
          </a:p>
          <a:p>
            <a:r>
              <a:rPr lang="en-GB" noProof="0" dirty="0"/>
              <a:t>Any system where tasks (jobs, customers, users) arrive looking for service and depart once service is provided.</a:t>
            </a:r>
            <a:endParaRPr lang="cs-CZ" noProof="0" dirty="0"/>
          </a:p>
          <a:p>
            <a:r>
              <a:rPr lang="en-US" dirty="0"/>
              <a:t>The objective of queuing analysis is to design systems that enable organizations to perform optimally according to some criterion.</a:t>
            </a:r>
          </a:p>
          <a:p>
            <a:r>
              <a:rPr lang="en-US" dirty="0"/>
              <a:t>  Possible Criteria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Maximum Profits.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Desired Service Level.</a:t>
            </a:r>
          </a:p>
          <a:p>
            <a:endParaRPr lang="en-GB" dirty="0"/>
          </a:p>
          <a:p>
            <a:r>
              <a:rPr lang="en-GB" dirty="0">
                <a:hlinkClick r:id="rId3"/>
              </a:rPr>
              <a:t>http://orms.pef.czu.cz/</a:t>
            </a:r>
            <a:r>
              <a:rPr lang="en-GB" noProof="0" dirty="0"/>
              <a:t>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Queuing theory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257800"/>
          </a:xfrm>
        </p:spPr>
        <p:txBody>
          <a:bodyPr>
            <a:normAutofit/>
          </a:bodyPr>
          <a:lstStyle/>
          <a:p>
            <a:r>
              <a:rPr lang="en-US" dirty="0"/>
              <a:t>Possible service measurements</a:t>
            </a:r>
          </a:p>
          <a:p>
            <a:pPr lvl="1"/>
            <a:r>
              <a:rPr lang="en-US" dirty="0"/>
              <a:t>Average time a customer spends in line.</a:t>
            </a:r>
          </a:p>
          <a:p>
            <a:pPr lvl="1"/>
            <a:r>
              <a:rPr lang="en-US" dirty="0"/>
              <a:t>Average length of the waiting line.</a:t>
            </a:r>
          </a:p>
          <a:p>
            <a:pPr lvl="1"/>
            <a:r>
              <a:rPr lang="en-US" dirty="0"/>
              <a:t>The probability that an arriving customer must wait for service.</a:t>
            </a:r>
          </a:p>
        </p:txBody>
      </p:sp>
    </p:spTree>
    <p:extLst>
      <p:ext uri="{BB962C8B-B14F-4D97-AF65-F5344CB8AC3E}">
        <p14:creationId xmlns:p14="http://schemas.microsoft.com/office/powerpoint/2010/main" val="22182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Queuing process - components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>
            <a:normAutofit/>
          </a:bodyPr>
          <a:lstStyle/>
          <a:p>
            <a:endParaRPr lang="en-GB" noProof="0" dirty="0"/>
          </a:p>
          <a:p>
            <a:r>
              <a:rPr lang="en-GB" noProof="0" dirty="0"/>
              <a:t>Arrivals</a:t>
            </a:r>
            <a:r>
              <a:rPr lang="cs-CZ" noProof="0" dirty="0"/>
              <a:t> </a:t>
            </a:r>
          </a:p>
          <a:p>
            <a:pPr lvl="1"/>
            <a:r>
              <a:rPr lang="en-US" dirty="0"/>
              <a:t>Customers arrive according to some arrival pattern.</a:t>
            </a:r>
          </a:p>
          <a:p>
            <a:endParaRPr lang="en-GB" noProof="0" dirty="0"/>
          </a:p>
          <a:p>
            <a:r>
              <a:rPr lang="en-GB" noProof="0" dirty="0"/>
              <a:t>Waiting in a </a:t>
            </a:r>
            <a:r>
              <a:rPr lang="en-GB" noProof="0" dirty="0" err="1"/>
              <a:t>queu</a:t>
            </a:r>
            <a:r>
              <a:rPr lang="cs-CZ" noProof="0" dirty="0"/>
              <a:t>e</a:t>
            </a:r>
          </a:p>
          <a:p>
            <a:pPr lvl="1"/>
            <a:r>
              <a:rPr lang="en-US" dirty="0"/>
              <a:t>Arriving customers may have to wait in one or more queues for service.</a:t>
            </a:r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Service</a:t>
            </a:r>
            <a:endParaRPr lang="cs-CZ" noProof="0" dirty="0"/>
          </a:p>
          <a:p>
            <a:pPr lvl="1"/>
            <a:r>
              <a:rPr lang="en-US" dirty="0"/>
              <a:t>Customers receive service and leave the system.</a:t>
            </a:r>
            <a:endParaRPr lang="en-GB" noProof="0" dirty="0"/>
          </a:p>
          <a:p>
            <a:endParaRPr lang="en-GB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Arivals as Poisson process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67544" y="1600200"/>
            <a:ext cx="8298504" cy="514116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GB" sz="2700" b="1" i="1" noProof="0" dirty="0"/>
              <a:t>Orderliness</a:t>
            </a:r>
            <a:endParaRPr lang="cs-CZ" sz="2700" b="1" i="1" noProof="0" dirty="0"/>
          </a:p>
          <a:p>
            <a:pPr lvl="1">
              <a:lnSpc>
                <a:spcPct val="120000"/>
              </a:lnSpc>
            </a:pPr>
            <a:r>
              <a:rPr lang="en-US" sz="2400" dirty="0"/>
              <a:t>one customer, at most, will arrive during any time interval.</a:t>
            </a:r>
          </a:p>
          <a:p>
            <a:pPr>
              <a:lnSpc>
                <a:spcPct val="120000"/>
              </a:lnSpc>
            </a:pPr>
            <a:endParaRPr lang="en-GB" sz="2700" noProof="0" dirty="0"/>
          </a:p>
          <a:p>
            <a:pPr>
              <a:lnSpc>
                <a:spcPct val="120000"/>
              </a:lnSpc>
            </a:pPr>
            <a:r>
              <a:rPr lang="en-GB" sz="2700" b="1" i="1" noProof="0" dirty="0"/>
              <a:t>Stationarity</a:t>
            </a:r>
            <a:r>
              <a:rPr lang="en-GB" sz="2700" i="1" noProof="0" dirty="0"/>
              <a:t> </a:t>
            </a:r>
            <a:endParaRPr lang="cs-CZ" sz="2700" i="1" noProof="0" dirty="0"/>
          </a:p>
          <a:p>
            <a:pPr lvl="1">
              <a:lnSpc>
                <a:spcPct val="120000"/>
              </a:lnSpc>
            </a:pPr>
            <a:r>
              <a:rPr lang="en-US" sz="2400" dirty="0"/>
              <a:t>for a given time frame, the probability of arrivals within a certain time interval is the same for all time intervals of equal length.</a:t>
            </a:r>
            <a:r>
              <a:rPr lang="cs-CZ" sz="2400" dirty="0"/>
              <a:t> </a:t>
            </a:r>
            <a:r>
              <a:rPr lang="en-GB" sz="2400" dirty="0"/>
              <a:t>Consequently, parameters such as the</a:t>
            </a:r>
            <a:r>
              <a:rPr lang="cs-CZ" sz="2400" dirty="0"/>
              <a:t> </a:t>
            </a:r>
            <a:r>
              <a:rPr lang="cs-CZ" sz="2400" dirty="0" err="1"/>
              <a:t>mean</a:t>
            </a:r>
            <a:r>
              <a:rPr lang="en-GB" sz="2400" dirty="0"/>
              <a:t> and</a:t>
            </a:r>
            <a:r>
              <a:rPr lang="cs-CZ" sz="2400" dirty="0"/>
              <a:t> variance</a:t>
            </a:r>
            <a:r>
              <a:rPr lang="en-GB" sz="2400" dirty="0"/>
              <a:t>, if they exist, also do not change over time or position.</a:t>
            </a:r>
            <a:endParaRPr lang="en-GB" sz="2400" noProof="0" dirty="0"/>
          </a:p>
          <a:p>
            <a:pPr>
              <a:lnSpc>
                <a:spcPct val="120000"/>
              </a:lnSpc>
            </a:pPr>
            <a:endParaRPr lang="en-GB" sz="2700" noProof="0" dirty="0"/>
          </a:p>
          <a:p>
            <a:pPr>
              <a:lnSpc>
                <a:spcPct val="120000"/>
              </a:lnSpc>
            </a:pPr>
            <a:r>
              <a:rPr lang="en-GB" sz="2700" b="1" i="1" noProof="0" dirty="0"/>
              <a:t>Independence</a:t>
            </a:r>
            <a:endParaRPr lang="cs-CZ" sz="2700" b="1" i="1" noProof="0" dirty="0"/>
          </a:p>
          <a:p>
            <a:pPr lvl="1">
              <a:lnSpc>
                <a:spcPct val="120000"/>
              </a:lnSpc>
            </a:pPr>
            <a:r>
              <a:rPr lang="en-US" dirty="0"/>
              <a:t>the arrival of one customer has no influence on the arrival of another.</a:t>
            </a:r>
          </a:p>
          <a:p>
            <a:endParaRPr lang="cs-CZ" sz="2400" dirty="0"/>
          </a:p>
          <a:p>
            <a:pPr>
              <a:lnSpc>
                <a:spcPct val="120000"/>
              </a:lnSpc>
            </a:pPr>
            <a:endParaRPr lang="en-GB" sz="27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Poisson process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GB" noProof="0" dirty="0"/>
              <a:t>The probability of exactly </a:t>
            </a:r>
            <a:r>
              <a:rPr lang="en-GB" b="1" i="1" noProof="0" dirty="0"/>
              <a:t>k</a:t>
            </a:r>
            <a:r>
              <a:rPr lang="en-GB" noProof="0" dirty="0"/>
              <a:t> arrivals during time interval </a:t>
            </a:r>
            <a:r>
              <a:rPr lang="en-GB" b="1" i="1" noProof="0" dirty="0"/>
              <a:t>t</a:t>
            </a:r>
            <a:r>
              <a:rPr lang="en-GB" noProof="0" dirty="0"/>
              <a:t>:</a:t>
            </a:r>
          </a:p>
          <a:p>
            <a:r>
              <a:rPr lang="en-GB" i="1" noProof="0" dirty="0">
                <a:latin typeface="Symbol" pitchFamily="18" charset="2"/>
              </a:rPr>
              <a:t>l</a:t>
            </a:r>
            <a:r>
              <a:rPr lang="en-GB" noProof="0" dirty="0"/>
              <a:t>  = mean arrival rate per time unit</a:t>
            </a:r>
          </a:p>
          <a:p>
            <a:r>
              <a:rPr lang="en-GB" sz="2600" dirty="0"/>
              <a:t>The time between consecutive events has an exponential distribution.</a:t>
            </a:r>
            <a:r>
              <a:rPr lang="en-GB" dirty="0"/>
              <a:t> </a:t>
            </a:r>
            <a:endParaRPr lang="en-GB" noProof="0" dirty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691680" y="4293096"/>
          <a:ext cx="5435638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700" imgH="457200" progId="Equation.DSMT4">
                  <p:embed/>
                </p:oleObj>
              </mc:Choice>
              <mc:Fallback>
                <p:oleObj name="Equation" r:id="rId2" imgW="191770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293096"/>
                        <a:ext cx="5435638" cy="12961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HANK’s  HARDWARE – </a:t>
            </a:r>
            <a:r>
              <a:rPr lang="en-US" sz="3200" b="0" dirty="0"/>
              <a:t>Arrival Process</a:t>
            </a:r>
            <a:endParaRPr lang="cs-CZ" dirty="0"/>
          </a:p>
        </p:txBody>
      </p:sp>
      <p:sp>
        <p:nvSpPr>
          <p:cNvPr id="11" name="Zástupný symbol pro obsah 2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2836912"/>
          </a:xfrm>
        </p:spPr>
        <p:txBody>
          <a:bodyPr>
            <a:normAutofit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GB" dirty="0"/>
              <a:t>Customers arrive at Hank’s Hardware according to a Poisson distribution.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GB" dirty="0"/>
              <a:t>Between 8:00 and 9:00 A.M.  an average of 6 customers arrive at the store.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GB" dirty="0"/>
              <a:t>What is the probability that </a:t>
            </a:r>
            <a:r>
              <a:rPr lang="en-GB" i="1" dirty="0"/>
              <a:t>k</a:t>
            </a:r>
            <a:r>
              <a:rPr lang="en-GB" dirty="0"/>
              <a:t> customers will arrive between 8:00 and 8:30 in the morning (k = 0, 1, 2,…)?</a:t>
            </a: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214488"/>
              </p:ext>
            </p:extLst>
          </p:nvPr>
        </p:nvGraphicFramePr>
        <p:xfrm>
          <a:off x="1691680" y="4581128"/>
          <a:ext cx="5435638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700" imgH="457200" progId="Equation.DSMT4">
                  <p:embed/>
                </p:oleObj>
              </mc:Choice>
              <mc:Fallback>
                <p:oleObj name="Equation" r:id="rId2" imgW="19177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581128"/>
                        <a:ext cx="5435638" cy="12961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5192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n-US" dirty="0"/>
              <a:t>HANK’s  HARDWARE –</a:t>
            </a:r>
            <a:r>
              <a:rPr lang="cs-CZ" dirty="0"/>
              <a:t> </a:t>
            </a:r>
            <a:r>
              <a:rPr lang="en-US" dirty="0"/>
              <a:t>An illustration of the Poisson </a:t>
            </a:r>
            <a:r>
              <a:rPr lang="en-US" b="0" dirty="0"/>
              <a:t>distribution.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0756"/>
            <a:ext cx="8229600" cy="3962502"/>
          </a:xfrm>
        </p:spPr>
        <p:txBody>
          <a:bodyPr/>
          <a:lstStyle/>
          <a:p>
            <a:pPr>
              <a:tabLst>
                <a:tab pos="808038" algn="l"/>
              </a:tabLst>
            </a:pPr>
            <a:r>
              <a:rPr lang="en-US" dirty="0"/>
              <a:t>Input to the Poisson </a:t>
            </a:r>
            <a:br>
              <a:rPr lang="en-US" dirty="0"/>
            </a:br>
            <a:r>
              <a:rPr lang="en-US" dirty="0"/>
              <a:t>distribution </a:t>
            </a:r>
          </a:p>
          <a:p>
            <a:pPr>
              <a:buFontTx/>
              <a:buNone/>
              <a:tabLst>
                <a:tab pos="808038" algn="l"/>
              </a:tabLst>
            </a:pPr>
            <a:r>
              <a:rPr lang="en-US" dirty="0">
                <a:latin typeface="Symbol" panose="05050102010706020507" pitchFamily="18" charset="2"/>
              </a:rPr>
              <a:t>	</a:t>
            </a:r>
            <a:r>
              <a:rPr lang="en-US" i="1" dirty="0">
                <a:latin typeface="Symbol" panose="05050102010706020507" pitchFamily="18" charset="2"/>
              </a:rPr>
              <a:t>l</a:t>
            </a:r>
            <a:r>
              <a:rPr lang="en-US" dirty="0">
                <a:latin typeface="Symbol" panose="05050102010706020507" pitchFamily="18" charset="2"/>
              </a:rPr>
              <a:t> 	</a:t>
            </a:r>
            <a:r>
              <a:rPr lang="en-US" dirty="0"/>
              <a:t>= 6 customers per hour.</a:t>
            </a:r>
            <a:br>
              <a:rPr lang="en-US" dirty="0"/>
            </a:br>
            <a:r>
              <a:rPr lang="en-US" i="1" dirty="0"/>
              <a:t>t</a:t>
            </a:r>
            <a:r>
              <a:rPr lang="en-US" dirty="0"/>
              <a:t>  	= 0.5 hour.</a:t>
            </a:r>
            <a:br>
              <a:rPr lang="en-US" dirty="0"/>
            </a:br>
            <a:r>
              <a:rPr lang="cs-CZ" i="1" dirty="0"/>
              <a:t>k</a:t>
            </a:r>
            <a:r>
              <a:rPr lang="en-US" dirty="0"/>
              <a:t> 	= 3</a:t>
            </a:r>
            <a:r>
              <a:rPr lang="cs-CZ" dirty="0"/>
              <a:t> </a:t>
            </a:r>
            <a:r>
              <a:rPr lang="cs-CZ" dirty="0" err="1"/>
              <a:t>customers</a:t>
            </a:r>
            <a:r>
              <a:rPr lang="en-US" dirty="0"/>
              <a:t>.</a:t>
            </a:r>
          </a:p>
          <a:p>
            <a:endParaRPr lang="cs-CZ" dirty="0"/>
          </a:p>
        </p:txBody>
      </p:sp>
      <p:sp>
        <p:nvSpPr>
          <p:cNvPr id="11" name="Rectangle 18"/>
          <p:cNvSpPr>
            <a:spLocks noChangeArrowheads="1"/>
          </p:cNvSpPr>
          <p:nvPr/>
        </p:nvSpPr>
        <p:spPr bwMode="auto">
          <a:xfrm>
            <a:off x="5418173" y="1648617"/>
            <a:ext cx="3670300" cy="31115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69804"/>
                  <a:invGamma/>
                </a:scheme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cs-CZ"/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5411823" y="1642267"/>
            <a:ext cx="0" cy="3124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cs-CZ"/>
          </a:p>
        </p:txBody>
      </p:sp>
      <p:sp>
        <p:nvSpPr>
          <p:cNvPr id="13" name="Line 20"/>
          <p:cNvSpPr>
            <a:spLocks noChangeShapeType="1"/>
          </p:cNvSpPr>
          <p:nvPr/>
        </p:nvSpPr>
        <p:spPr bwMode="auto">
          <a:xfrm>
            <a:off x="5411823" y="4766467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cs-CZ"/>
          </a:p>
        </p:txBody>
      </p:sp>
      <p:grpSp>
        <p:nvGrpSpPr>
          <p:cNvPr id="14" name="Group 24"/>
          <p:cNvGrpSpPr>
            <a:grpSpLocks/>
          </p:cNvGrpSpPr>
          <p:nvPr/>
        </p:nvGrpSpPr>
        <p:grpSpPr bwMode="auto">
          <a:xfrm>
            <a:off x="5411823" y="4072730"/>
            <a:ext cx="400050" cy="1150937"/>
            <a:chOff x="3360" y="2635"/>
            <a:chExt cx="252" cy="725"/>
          </a:xfrm>
        </p:grpSpPr>
        <p:sp>
          <p:nvSpPr>
            <p:cNvPr id="15" name="Freeform 22"/>
            <p:cNvSpPr>
              <a:spLocks/>
            </p:cNvSpPr>
            <p:nvPr/>
          </p:nvSpPr>
          <p:spPr bwMode="auto">
            <a:xfrm>
              <a:off x="3360" y="2635"/>
              <a:ext cx="227" cy="438"/>
            </a:xfrm>
            <a:custGeom>
              <a:avLst/>
              <a:gdLst>
                <a:gd name="T0" fmla="*/ 0 w 227"/>
                <a:gd name="T1" fmla="*/ 0 h 438"/>
                <a:gd name="T2" fmla="*/ 226 w 227"/>
                <a:gd name="T3" fmla="*/ 0 h 438"/>
                <a:gd name="T4" fmla="*/ 226 w 227"/>
                <a:gd name="T5" fmla="*/ 437 h 438"/>
                <a:gd name="T6" fmla="*/ 0 w 227"/>
                <a:gd name="T7" fmla="*/ 437 h 438"/>
                <a:gd name="T8" fmla="*/ 0 w 227"/>
                <a:gd name="T9" fmla="*/ 0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438">
                  <a:moveTo>
                    <a:pt x="0" y="0"/>
                  </a:moveTo>
                  <a:lnTo>
                    <a:pt x="226" y="0"/>
                  </a:lnTo>
                  <a:lnTo>
                    <a:pt x="226" y="437"/>
                  </a:lnTo>
                  <a:lnTo>
                    <a:pt x="0" y="437"/>
                  </a:lnTo>
                  <a:lnTo>
                    <a:pt x="0" y="0"/>
                  </a:lnTo>
                </a:path>
              </a:pathLst>
            </a:custGeom>
            <a:solidFill>
              <a:srgbClr val="FF99FF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6" name="Rectangle 23"/>
            <p:cNvSpPr>
              <a:spLocks noChangeArrowheads="1"/>
            </p:cNvSpPr>
            <p:nvPr/>
          </p:nvSpPr>
          <p:spPr bwMode="auto">
            <a:xfrm>
              <a:off x="3408" y="3072"/>
              <a:ext cx="2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/>
              <a:r>
                <a:rPr lang="en-US"/>
                <a:t>0</a:t>
              </a:r>
            </a:p>
          </p:txBody>
        </p:sp>
      </p:grpSp>
      <p:sp>
        <p:nvSpPr>
          <p:cNvPr id="17" name="Freeform 29"/>
          <p:cNvSpPr>
            <a:spLocks/>
          </p:cNvSpPr>
          <p:nvPr/>
        </p:nvSpPr>
        <p:spPr bwMode="auto">
          <a:xfrm>
            <a:off x="5770598" y="2740817"/>
            <a:ext cx="361950" cy="2027238"/>
          </a:xfrm>
          <a:custGeom>
            <a:avLst/>
            <a:gdLst>
              <a:gd name="T0" fmla="*/ 0 w 228"/>
              <a:gd name="T1" fmla="*/ 1276 h 1277"/>
              <a:gd name="T2" fmla="*/ 0 w 228"/>
              <a:gd name="T3" fmla="*/ 0 h 1277"/>
              <a:gd name="T4" fmla="*/ 227 w 228"/>
              <a:gd name="T5" fmla="*/ 0 h 1277"/>
              <a:gd name="T6" fmla="*/ 227 w 228"/>
              <a:gd name="T7" fmla="*/ 1276 h 1277"/>
              <a:gd name="T8" fmla="*/ 0 w 228"/>
              <a:gd name="T9" fmla="*/ 1276 h 1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1277">
                <a:moveTo>
                  <a:pt x="0" y="1276"/>
                </a:moveTo>
                <a:lnTo>
                  <a:pt x="0" y="0"/>
                </a:lnTo>
                <a:lnTo>
                  <a:pt x="227" y="0"/>
                </a:lnTo>
                <a:lnTo>
                  <a:pt x="227" y="1276"/>
                </a:lnTo>
                <a:lnTo>
                  <a:pt x="0" y="1276"/>
                </a:lnTo>
              </a:path>
            </a:pathLst>
          </a:custGeom>
          <a:solidFill>
            <a:schemeClr val="accent2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8" name="Freeform 34"/>
          <p:cNvSpPr>
            <a:spLocks/>
          </p:cNvSpPr>
          <p:nvPr/>
        </p:nvSpPr>
        <p:spPr bwMode="auto">
          <a:xfrm>
            <a:off x="6130961" y="1815305"/>
            <a:ext cx="360362" cy="2952750"/>
          </a:xfrm>
          <a:custGeom>
            <a:avLst/>
            <a:gdLst>
              <a:gd name="T0" fmla="*/ 0 w 227"/>
              <a:gd name="T1" fmla="*/ 1859 h 1860"/>
              <a:gd name="T2" fmla="*/ 0 w 227"/>
              <a:gd name="T3" fmla="*/ 0 h 1860"/>
              <a:gd name="T4" fmla="*/ 226 w 227"/>
              <a:gd name="T5" fmla="*/ 0 h 1860"/>
              <a:gd name="T6" fmla="*/ 226 w 227"/>
              <a:gd name="T7" fmla="*/ 1859 h 1860"/>
              <a:gd name="T8" fmla="*/ 0 w 227"/>
              <a:gd name="T9" fmla="*/ 1859 h 1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1860">
                <a:moveTo>
                  <a:pt x="0" y="1859"/>
                </a:moveTo>
                <a:lnTo>
                  <a:pt x="0" y="0"/>
                </a:lnTo>
                <a:lnTo>
                  <a:pt x="226" y="0"/>
                </a:lnTo>
                <a:lnTo>
                  <a:pt x="226" y="1859"/>
                </a:lnTo>
                <a:lnTo>
                  <a:pt x="0" y="1859"/>
                </a:lnTo>
              </a:path>
            </a:pathLst>
          </a:custGeom>
          <a:solidFill>
            <a:srgbClr val="FF3300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9" name="Freeform 39"/>
          <p:cNvSpPr>
            <a:spLocks/>
          </p:cNvSpPr>
          <p:nvPr/>
        </p:nvSpPr>
        <p:spPr bwMode="auto">
          <a:xfrm>
            <a:off x="6489736" y="1815305"/>
            <a:ext cx="361950" cy="2952750"/>
          </a:xfrm>
          <a:custGeom>
            <a:avLst/>
            <a:gdLst>
              <a:gd name="T0" fmla="*/ 0 w 228"/>
              <a:gd name="T1" fmla="*/ 1859 h 1860"/>
              <a:gd name="T2" fmla="*/ 0 w 228"/>
              <a:gd name="T3" fmla="*/ 0 h 1860"/>
              <a:gd name="T4" fmla="*/ 227 w 228"/>
              <a:gd name="T5" fmla="*/ 0 h 1860"/>
              <a:gd name="T6" fmla="*/ 227 w 228"/>
              <a:gd name="T7" fmla="*/ 1859 h 1860"/>
              <a:gd name="T8" fmla="*/ 0 w 228"/>
              <a:gd name="T9" fmla="*/ 1859 h 1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1860">
                <a:moveTo>
                  <a:pt x="0" y="1859"/>
                </a:moveTo>
                <a:lnTo>
                  <a:pt x="0" y="0"/>
                </a:lnTo>
                <a:lnTo>
                  <a:pt x="227" y="0"/>
                </a:lnTo>
                <a:lnTo>
                  <a:pt x="227" y="1859"/>
                </a:lnTo>
                <a:lnTo>
                  <a:pt x="0" y="1859"/>
                </a:lnTo>
              </a:path>
            </a:pathLst>
          </a:custGeom>
          <a:solidFill>
            <a:srgbClr val="FFFF00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" name="Freeform 40"/>
          <p:cNvSpPr>
            <a:spLocks/>
          </p:cNvSpPr>
          <p:nvPr/>
        </p:nvSpPr>
        <p:spPr bwMode="auto">
          <a:xfrm>
            <a:off x="6850098" y="2220117"/>
            <a:ext cx="360363" cy="2547938"/>
          </a:xfrm>
          <a:custGeom>
            <a:avLst/>
            <a:gdLst>
              <a:gd name="T0" fmla="*/ 0 w 227"/>
              <a:gd name="T1" fmla="*/ 1604 h 1605"/>
              <a:gd name="T2" fmla="*/ 0 w 227"/>
              <a:gd name="T3" fmla="*/ 0 h 1605"/>
              <a:gd name="T4" fmla="*/ 226 w 227"/>
              <a:gd name="T5" fmla="*/ 0 h 1605"/>
              <a:gd name="T6" fmla="*/ 226 w 227"/>
              <a:gd name="T7" fmla="*/ 1604 h 1605"/>
              <a:gd name="T8" fmla="*/ 0 w 227"/>
              <a:gd name="T9" fmla="*/ 1604 h 1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1605">
                <a:moveTo>
                  <a:pt x="0" y="1604"/>
                </a:moveTo>
                <a:lnTo>
                  <a:pt x="0" y="0"/>
                </a:lnTo>
                <a:lnTo>
                  <a:pt x="226" y="0"/>
                </a:lnTo>
                <a:lnTo>
                  <a:pt x="226" y="1604"/>
                </a:lnTo>
                <a:lnTo>
                  <a:pt x="0" y="1604"/>
                </a:lnTo>
              </a:path>
            </a:pathLst>
          </a:custGeom>
          <a:solidFill>
            <a:srgbClr val="996633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1" name="Freeform 41"/>
          <p:cNvSpPr>
            <a:spLocks/>
          </p:cNvSpPr>
          <p:nvPr/>
        </p:nvSpPr>
        <p:spPr bwMode="auto">
          <a:xfrm>
            <a:off x="7208873" y="3436142"/>
            <a:ext cx="363538" cy="1331913"/>
          </a:xfrm>
          <a:custGeom>
            <a:avLst/>
            <a:gdLst>
              <a:gd name="T0" fmla="*/ 0 w 229"/>
              <a:gd name="T1" fmla="*/ 838 h 839"/>
              <a:gd name="T2" fmla="*/ 0 w 229"/>
              <a:gd name="T3" fmla="*/ 0 h 839"/>
              <a:gd name="T4" fmla="*/ 228 w 229"/>
              <a:gd name="T5" fmla="*/ 0 h 839"/>
              <a:gd name="T6" fmla="*/ 228 w 229"/>
              <a:gd name="T7" fmla="*/ 838 h 839"/>
              <a:gd name="T8" fmla="*/ 0 w 229"/>
              <a:gd name="T9" fmla="*/ 838 h 8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9" h="839">
                <a:moveTo>
                  <a:pt x="0" y="838"/>
                </a:moveTo>
                <a:lnTo>
                  <a:pt x="0" y="0"/>
                </a:lnTo>
                <a:lnTo>
                  <a:pt x="228" y="0"/>
                </a:lnTo>
                <a:lnTo>
                  <a:pt x="228" y="838"/>
                </a:lnTo>
                <a:lnTo>
                  <a:pt x="0" y="838"/>
                </a:lnTo>
              </a:path>
            </a:pathLst>
          </a:custGeom>
          <a:solidFill>
            <a:srgbClr val="006633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2" name="Freeform 43"/>
          <p:cNvSpPr>
            <a:spLocks/>
          </p:cNvSpPr>
          <p:nvPr/>
        </p:nvSpPr>
        <p:spPr bwMode="auto">
          <a:xfrm>
            <a:off x="7570823" y="4072730"/>
            <a:ext cx="358775" cy="695325"/>
          </a:xfrm>
          <a:custGeom>
            <a:avLst/>
            <a:gdLst>
              <a:gd name="T0" fmla="*/ 0 w 226"/>
              <a:gd name="T1" fmla="*/ 437 h 438"/>
              <a:gd name="T2" fmla="*/ 0 w 226"/>
              <a:gd name="T3" fmla="*/ 0 h 438"/>
              <a:gd name="T4" fmla="*/ 225 w 226"/>
              <a:gd name="T5" fmla="*/ 0 h 438"/>
              <a:gd name="T6" fmla="*/ 225 w 226"/>
              <a:gd name="T7" fmla="*/ 437 h 438"/>
              <a:gd name="T8" fmla="*/ 0 w 226"/>
              <a:gd name="T9" fmla="*/ 437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6" h="438">
                <a:moveTo>
                  <a:pt x="0" y="437"/>
                </a:moveTo>
                <a:lnTo>
                  <a:pt x="0" y="0"/>
                </a:lnTo>
                <a:lnTo>
                  <a:pt x="225" y="0"/>
                </a:lnTo>
                <a:lnTo>
                  <a:pt x="225" y="437"/>
                </a:lnTo>
                <a:lnTo>
                  <a:pt x="0" y="437"/>
                </a:lnTo>
              </a:path>
            </a:pathLst>
          </a:custGeom>
          <a:solidFill>
            <a:schemeClr val="bg2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3" name="Freeform 44"/>
          <p:cNvSpPr>
            <a:spLocks/>
          </p:cNvSpPr>
          <p:nvPr/>
        </p:nvSpPr>
        <p:spPr bwMode="auto">
          <a:xfrm>
            <a:off x="7928011" y="4477542"/>
            <a:ext cx="363537" cy="290513"/>
          </a:xfrm>
          <a:custGeom>
            <a:avLst/>
            <a:gdLst>
              <a:gd name="T0" fmla="*/ 0 w 229"/>
              <a:gd name="T1" fmla="*/ 182 h 183"/>
              <a:gd name="T2" fmla="*/ 0 w 229"/>
              <a:gd name="T3" fmla="*/ 0 h 183"/>
              <a:gd name="T4" fmla="*/ 228 w 229"/>
              <a:gd name="T5" fmla="*/ 0 h 183"/>
              <a:gd name="T6" fmla="*/ 228 w 229"/>
              <a:gd name="T7" fmla="*/ 182 h 183"/>
              <a:gd name="T8" fmla="*/ 0 w 229"/>
              <a:gd name="T9" fmla="*/ 182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9" h="183">
                <a:moveTo>
                  <a:pt x="0" y="182"/>
                </a:moveTo>
                <a:lnTo>
                  <a:pt x="0" y="0"/>
                </a:lnTo>
                <a:lnTo>
                  <a:pt x="228" y="0"/>
                </a:lnTo>
                <a:lnTo>
                  <a:pt x="228" y="182"/>
                </a:lnTo>
                <a:lnTo>
                  <a:pt x="0" y="182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4" name="Freeform 45"/>
          <p:cNvSpPr>
            <a:spLocks/>
          </p:cNvSpPr>
          <p:nvPr/>
        </p:nvSpPr>
        <p:spPr bwMode="auto">
          <a:xfrm>
            <a:off x="8289961" y="4593430"/>
            <a:ext cx="360362" cy="174625"/>
          </a:xfrm>
          <a:custGeom>
            <a:avLst/>
            <a:gdLst>
              <a:gd name="T0" fmla="*/ 0 w 227"/>
              <a:gd name="T1" fmla="*/ 109 h 110"/>
              <a:gd name="T2" fmla="*/ 0 w 227"/>
              <a:gd name="T3" fmla="*/ 0 h 110"/>
              <a:gd name="T4" fmla="*/ 226 w 227"/>
              <a:gd name="T5" fmla="*/ 0 h 110"/>
              <a:gd name="T6" fmla="*/ 226 w 227"/>
              <a:gd name="T7" fmla="*/ 109 h 110"/>
              <a:gd name="T8" fmla="*/ 0 w 227"/>
              <a:gd name="T9" fmla="*/ 109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110">
                <a:moveTo>
                  <a:pt x="0" y="109"/>
                </a:moveTo>
                <a:lnTo>
                  <a:pt x="0" y="0"/>
                </a:lnTo>
                <a:lnTo>
                  <a:pt x="226" y="0"/>
                </a:lnTo>
                <a:lnTo>
                  <a:pt x="226" y="109"/>
                </a:lnTo>
                <a:lnTo>
                  <a:pt x="0" y="109"/>
                </a:lnTo>
              </a:path>
            </a:pathLst>
          </a:custGeom>
          <a:solidFill>
            <a:srgbClr val="3366FF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5" name="Rectangle 46"/>
          <p:cNvSpPr>
            <a:spLocks noChangeArrowheads="1"/>
          </p:cNvSpPr>
          <p:nvPr/>
        </p:nvSpPr>
        <p:spPr bwMode="auto">
          <a:xfrm>
            <a:off x="5843623" y="4766467"/>
            <a:ext cx="323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/>
              <a:t>1</a:t>
            </a:r>
          </a:p>
        </p:txBody>
      </p:sp>
      <p:sp>
        <p:nvSpPr>
          <p:cNvPr id="26" name="Rectangle 47"/>
          <p:cNvSpPr>
            <a:spLocks noChangeArrowheads="1"/>
          </p:cNvSpPr>
          <p:nvPr/>
        </p:nvSpPr>
        <p:spPr bwMode="auto">
          <a:xfrm>
            <a:off x="6199223" y="4766467"/>
            <a:ext cx="323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/>
              <a:t>2</a:t>
            </a:r>
          </a:p>
        </p:txBody>
      </p:sp>
      <p:sp>
        <p:nvSpPr>
          <p:cNvPr id="27" name="Rectangle 48"/>
          <p:cNvSpPr>
            <a:spLocks noChangeArrowheads="1"/>
          </p:cNvSpPr>
          <p:nvPr/>
        </p:nvSpPr>
        <p:spPr bwMode="auto">
          <a:xfrm>
            <a:off x="6554823" y="4766467"/>
            <a:ext cx="323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/>
              <a:t>3</a:t>
            </a:r>
          </a:p>
        </p:txBody>
      </p:sp>
      <p:sp>
        <p:nvSpPr>
          <p:cNvPr id="28" name="Rectangle 49"/>
          <p:cNvSpPr>
            <a:spLocks noChangeArrowheads="1"/>
          </p:cNvSpPr>
          <p:nvPr/>
        </p:nvSpPr>
        <p:spPr bwMode="auto">
          <a:xfrm>
            <a:off x="6908836" y="4766467"/>
            <a:ext cx="323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/>
              <a:t>4</a:t>
            </a:r>
          </a:p>
        </p:txBody>
      </p:sp>
      <p:sp>
        <p:nvSpPr>
          <p:cNvPr id="29" name="Rectangle 50"/>
          <p:cNvSpPr>
            <a:spLocks noChangeArrowheads="1"/>
          </p:cNvSpPr>
          <p:nvPr/>
        </p:nvSpPr>
        <p:spPr bwMode="auto">
          <a:xfrm>
            <a:off x="7266023" y="4766467"/>
            <a:ext cx="323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/>
              <a:t>5</a:t>
            </a:r>
          </a:p>
        </p:txBody>
      </p:sp>
      <p:sp>
        <p:nvSpPr>
          <p:cNvPr id="30" name="Rectangle 51"/>
          <p:cNvSpPr>
            <a:spLocks noChangeArrowheads="1"/>
          </p:cNvSpPr>
          <p:nvPr/>
        </p:nvSpPr>
        <p:spPr bwMode="auto">
          <a:xfrm>
            <a:off x="7621623" y="4766467"/>
            <a:ext cx="323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/>
              <a:t>6</a:t>
            </a:r>
          </a:p>
        </p:txBody>
      </p:sp>
      <p:sp>
        <p:nvSpPr>
          <p:cNvPr id="31" name="Rectangle 52"/>
          <p:cNvSpPr>
            <a:spLocks noChangeArrowheads="1"/>
          </p:cNvSpPr>
          <p:nvPr/>
        </p:nvSpPr>
        <p:spPr bwMode="auto">
          <a:xfrm>
            <a:off x="7977223" y="4766467"/>
            <a:ext cx="323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/>
              <a:t>7</a:t>
            </a:r>
          </a:p>
        </p:txBody>
      </p:sp>
      <p:sp>
        <p:nvSpPr>
          <p:cNvPr id="32" name="Rectangle 53"/>
          <p:cNvSpPr>
            <a:spLocks noChangeArrowheads="1"/>
          </p:cNvSpPr>
          <p:nvPr/>
        </p:nvSpPr>
        <p:spPr bwMode="auto">
          <a:xfrm>
            <a:off x="8332823" y="4766467"/>
            <a:ext cx="323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/>
              <a:t>8</a:t>
            </a:r>
          </a:p>
        </p:txBody>
      </p:sp>
      <p:sp>
        <p:nvSpPr>
          <p:cNvPr id="33" name="AutoShape 3"/>
          <p:cNvSpPr>
            <a:spLocks noChangeArrowheads="1"/>
          </p:cNvSpPr>
          <p:nvPr/>
        </p:nvSpPr>
        <p:spPr bwMode="auto">
          <a:xfrm>
            <a:off x="1211298" y="5141118"/>
            <a:ext cx="4025900" cy="1392238"/>
          </a:xfrm>
          <a:prstGeom prst="roundRect">
            <a:avLst>
              <a:gd name="adj" fmla="val 12495"/>
            </a:avLst>
          </a:prstGeom>
          <a:solidFill>
            <a:srgbClr val="FF99FF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accent2"/>
            </a:outerShdw>
          </a:effectLst>
        </p:spPr>
        <p:txBody>
          <a:bodyPr wrap="none" anchor="ctr"/>
          <a:lstStyle/>
          <a:p>
            <a:endParaRPr lang="cs-CZ"/>
          </a:p>
        </p:txBody>
      </p:sp>
      <p:sp>
        <p:nvSpPr>
          <p:cNvPr id="34" name="Text Box 56"/>
          <p:cNvSpPr txBox="1">
            <a:spLocks noChangeArrowheads="1"/>
          </p:cNvSpPr>
          <p:nvPr/>
        </p:nvSpPr>
        <p:spPr bwMode="auto">
          <a:xfrm>
            <a:off x="3789398" y="5217318"/>
            <a:ext cx="399468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100" i="1" dirty="0">
                <a:solidFill>
                  <a:srgbClr val="000000"/>
                </a:solidFill>
                <a:latin typeface="Symbol" panose="05050102010706020507" pitchFamily="18" charset="2"/>
              </a:rPr>
              <a:t> </a:t>
            </a:r>
            <a:r>
              <a:rPr lang="en-US" sz="3100" i="1" baseline="30000" dirty="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35" name="Text Box 55"/>
          <p:cNvSpPr txBox="1">
            <a:spLocks noChangeArrowheads="1"/>
          </p:cNvSpPr>
          <p:nvPr/>
        </p:nvSpPr>
        <p:spPr bwMode="auto">
          <a:xfrm>
            <a:off x="3224248" y="5428456"/>
            <a:ext cx="1728358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3100" u="sng" dirty="0">
                <a:solidFill>
                  <a:srgbClr val="000000"/>
                </a:solidFill>
                <a:latin typeface="Symbol" panose="05050102010706020507" pitchFamily="18" charset="2"/>
              </a:rPr>
              <a:t>(</a:t>
            </a:r>
            <a:r>
              <a:rPr lang="en-US" sz="3100" i="1" u="sng" dirty="0" err="1">
                <a:solidFill>
                  <a:srgbClr val="000000"/>
                </a:solidFill>
                <a:latin typeface="Symbol" panose="05050102010706020507" pitchFamily="18" charset="2"/>
              </a:rPr>
              <a:t>l</a:t>
            </a:r>
            <a:r>
              <a:rPr lang="en-US" sz="3100" i="1" u="sng" dirty="0" err="1">
                <a:solidFill>
                  <a:srgbClr val="000000"/>
                </a:solidFill>
              </a:rPr>
              <a:t>t</a:t>
            </a:r>
            <a:r>
              <a:rPr lang="en-US" sz="3100" u="sng" dirty="0">
                <a:solidFill>
                  <a:srgbClr val="000000"/>
                </a:solidFill>
                <a:latin typeface="Symbol" panose="05050102010706020507" pitchFamily="18" charset="2"/>
              </a:rPr>
              <a:t>) </a:t>
            </a:r>
            <a:r>
              <a:rPr lang="en-US" sz="3100" i="1" u="sng" dirty="0">
                <a:solidFill>
                  <a:srgbClr val="000000"/>
                </a:solidFill>
                <a:latin typeface="Symbol" panose="05050102010706020507" pitchFamily="18" charset="2"/>
              </a:rPr>
              <a:t>   </a:t>
            </a:r>
            <a:r>
              <a:rPr lang="en-US" sz="3100" u="sng" baseline="30000" dirty="0">
                <a:solidFill>
                  <a:srgbClr val="000000"/>
                </a:solidFill>
              </a:rPr>
              <a:t> </a:t>
            </a:r>
            <a:r>
              <a:rPr lang="en-US" sz="3100" i="1" u="sng" dirty="0">
                <a:solidFill>
                  <a:srgbClr val="000000"/>
                </a:solidFill>
              </a:rPr>
              <a:t>e</a:t>
            </a:r>
            <a:r>
              <a:rPr lang="en-US" sz="3100" i="1" u="sng" baseline="30000" dirty="0">
                <a:solidFill>
                  <a:srgbClr val="000000"/>
                </a:solidFill>
              </a:rPr>
              <a:t>-</a:t>
            </a:r>
            <a:r>
              <a:rPr lang="en-US" sz="3100" i="1" baseline="30000" dirty="0" err="1">
                <a:solidFill>
                  <a:srgbClr val="000000"/>
                </a:solidFill>
                <a:latin typeface="Symbol" panose="05050102010706020507" pitchFamily="18" charset="2"/>
              </a:rPr>
              <a:t>l</a:t>
            </a:r>
            <a:r>
              <a:rPr lang="en-US" sz="3100" i="1" baseline="30000" dirty="0" err="1">
                <a:solidFill>
                  <a:srgbClr val="000000"/>
                </a:solidFill>
              </a:rPr>
              <a:t>t</a:t>
            </a:r>
            <a:endParaRPr lang="en-US" sz="3100" i="1" baseline="30000" dirty="0">
              <a:solidFill>
                <a:srgbClr val="000000"/>
              </a:solidFill>
            </a:endParaRPr>
          </a:p>
          <a:p>
            <a:pPr algn="l"/>
            <a:r>
              <a:rPr lang="en-US" sz="3100" dirty="0">
                <a:solidFill>
                  <a:srgbClr val="000000"/>
                </a:solidFill>
              </a:rPr>
              <a:t>   </a:t>
            </a:r>
            <a:r>
              <a:rPr lang="en-US" sz="3100" i="1" dirty="0">
                <a:solidFill>
                  <a:srgbClr val="000000"/>
                </a:solidFill>
              </a:rPr>
              <a:t>   k </a:t>
            </a:r>
            <a:r>
              <a:rPr lang="en-US" sz="3100" dirty="0">
                <a:solidFill>
                  <a:srgbClr val="000000"/>
                </a:solidFill>
              </a:rPr>
              <a:t>!</a:t>
            </a:r>
          </a:p>
        </p:txBody>
      </p:sp>
      <p:sp>
        <p:nvSpPr>
          <p:cNvPr id="36" name="Rectangle 15"/>
          <p:cNvSpPr>
            <a:spLocks noChangeArrowheads="1"/>
          </p:cNvSpPr>
          <p:nvPr/>
        </p:nvSpPr>
        <p:spPr bwMode="auto">
          <a:xfrm>
            <a:off x="5418173" y="5568156"/>
            <a:ext cx="4079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 sz="3200" dirty="0">
                <a:latin typeface="Symbol" panose="05050102010706020507" pitchFamily="18" charset="2"/>
              </a:rPr>
              <a:t>=</a:t>
            </a:r>
          </a:p>
        </p:txBody>
      </p:sp>
      <p:sp>
        <p:nvSpPr>
          <p:cNvPr id="37" name="Rectangle 16"/>
          <p:cNvSpPr>
            <a:spLocks noChangeArrowheads="1"/>
          </p:cNvSpPr>
          <p:nvPr/>
        </p:nvSpPr>
        <p:spPr bwMode="auto">
          <a:xfrm>
            <a:off x="3856073" y="5239543"/>
            <a:ext cx="288925" cy="366713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1800" b="1"/>
              <a:t>0</a:t>
            </a:r>
          </a:p>
        </p:txBody>
      </p:sp>
      <p:sp>
        <p:nvSpPr>
          <p:cNvPr id="38" name="Rectangle 17"/>
          <p:cNvSpPr>
            <a:spLocks noChangeArrowheads="1"/>
          </p:cNvSpPr>
          <p:nvPr/>
        </p:nvSpPr>
        <p:spPr bwMode="auto">
          <a:xfrm>
            <a:off x="3757648" y="5947568"/>
            <a:ext cx="481013" cy="519113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 sz="2800">
                <a:latin typeface="Symbol" panose="05050102010706020507" pitchFamily="18" charset="2"/>
              </a:rPr>
              <a:t>0!</a:t>
            </a:r>
          </a:p>
        </p:txBody>
      </p:sp>
      <p:sp>
        <p:nvSpPr>
          <p:cNvPr id="39" name="Rectangle 26"/>
          <p:cNvSpPr>
            <a:spLocks noChangeArrowheads="1"/>
          </p:cNvSpPr>
          <p:nvPr/>
        </p:nvSpPr>
        <p:spPr bwMode="auto">
          <a:xfrm>
            <a:off x="3757648" y="5947568"/>
            <a:ext cx="442913" cy="5191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 sz="2800" b="1">
                <a:solidFill>
                  <a:schemeClr val="bg1"/>
                </a:solidFill>
              </a:rPr>
              <a:t>1!</a:t>
            </a:r>
          </a:p>
        </p:txBody>
      </p:sp>
      <p:sp>
        <p:nvSpPr>
          <p:cNvPr id="40" name="Rectangle 27"/>
          <p:cNvSpPr>
            <a:spLocks noChangeArrowheads="1"/>
          </p:cNvSpPr>
          <p:nvPr/>
        </p:nvSpPr>
        <p:spPr bwMode="auto">
          <a:xfrm>
            <a:off x="3833848" y="5217318"/>
            <a:ext cx="341313" cy="3667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1 </a:t>
            </a:r>
          </a:p>
        </p:txBody>
      </p:sp>
      <p:sp>
        <p:nvSpPr>
          <p:cNvPr id="41" name="Rectangle 31"/>
          <p:cNvSpPr>
            <a:spLocks noChangeArrowheads="1"/>
          </p:cNvSpPr>
          <p:nvPr/>
        </p:nvSpPr>
        <p:spPr bwMode="auto">
          <a:xfrm>
            <a:off x="3875123" y="5258593"/>
            <a:ext cx="327025" cy="366713"/>
          </a:xfrm>
          <a:prstGeom prst="rect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sz="1800" b="1" dirty="0"/>
              <a:t>2</a:t>
            </a:r>
          </a:p>
        </p:txBody>
      </p:sp>
      <p:sp>
        <p:nvSpPr>
          <p:cNvPr id="42" name="Rectangle 32"/>
          <p:cNvSpPr>
            <a:spLocks noChangeArrowheads="1"/>
          </p:cNvSpPr>
          <p:nvPr/>
        </p:nvSpPr>
        <p:spPr bwMode="auto">
          <a:xfrm>
            <a:off x="3798923" y="5988843"/>
            <a:ext cx="481013" cy="519113"/>
          </a:xfrm>
          <a:prstGeom prst="rect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/>
            <a:r>
              <a:rPr lang="en-US" sz="2800" b="1"/>
              <a:t>2!</a:t>
            </a:r>
          </a:p>
        </p:txBody>
      </p:sp>
      <p:sp>
        <p:nvSpPr>
          <p:cNvPr id="43" name="Rectangle 36"/>
          <p:cNvSpPr>
            <a:spLocks noChangeArrowheads="1"/>
          </p:cNvSpPr>
          <p:nvPr/>
        </p:nvSpPr>
        <p:spPr bwMode="auto">
          <a:xfrm>
            <a:off x="3929955" y="5299868"/>
            <a:ext cx="354013" cy="36671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sz="1800" b="1"/>
              <a:t>3</a:t>
            </a:r>
          </a:p>
        </p:txBody>
      </p:sp>
      <p:sp>
        <p:nvSpPr>
          <p:cNvPr id="44" name="Rectangle 37"/>
          <p:cNvSpPr>
            <a:spLocks noChangeArrowheads="1"/>
          </p:cNvSpPr>
          <p:nvPr/>
        </p:nvSpPr>
        <p:spPr bwMode="auto">
          <a:xfrm>
            <a:off x="3854486" y="6030118"/>
            <a:ext cx="442912" cy="51911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 sz="2800" b="1"/>
              <a:t>3!</a:t>
            </a:r>
          </a:p>
        </p:txBody>
      </p:sp>
      <p:sp>
        <p:nvSpPr>
          <p:cNvPr id="45" name="Rectangle 54"/>
          <p:cNvSpPr>
            <a:spLocks noChangeArrowheads="1"/>
          </p:cNvSpPr>
          <p:nvPr/>
        </p:nvSpPr>
        <p:spPr bwMode="auto">
          <a:xfrm>
            <a:off x="1471648" y="5576093"/>
            <a:ext cx="1958870" cy="57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 sz="3100" dirty="0">
                <a:solidFill>
                  <a:srgbClr val="000000"/>
                </a:solidFill>
              </a:rPr>
              <a:t>P(X =</a:t>
            </a:r>
            <a:r>
              <a:rPr lang="en-US" sz="3100" i="1" dirty="0">
                <a:solidFill>
                  <a:srgbClr val="000000"/>
                </a:solidFill>
              </a:rPr>
              <a:t> k</a:t>
            </a:r>
            <a:r>
              <a:rPr lang="en-US" sz="3100" dirty="0">
                <a:solidFill>
                  <a:srgbClr val="000000"/>
                </a:solidFill>
              </a:rPr>
              <a:t>  )=</a:t>
            </a:r>
          </a:p>
        </p:txBody>
      </p:sp>
      <p:sp>
        <p:nvSpPr>
          <p:cNvPr id="46" name="Rectangle 12"/>
          <p:cNvSpPr>
            <a:spLocks noChangeArrowheads="1"/>
          </p:cNvSpPr>
          <p:nvPr/>
        </p:nvSpPr>
        <p:spPr bwMode="auto">
          <a:xfrm>
            <a:off x="2313023" y="5561806"/>
            <a:ext cx="387350" cy="579437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 sz="3200">
                <a:latin typeface="Symbol" panose="05050102010706020507" pitchFamily="18" charset="2"/>
              </a:rPr>
              <a:t>0</a:t>
            </a:r>
          </a:p>
        </p:txBody>
      </p:sp>
      <p:sp>
        <p:nvSpPr>
          <p:cNvPr id="47" name="Rectangle 25"/>
          <p:cNvSpPr>
            <a:spLocks noChangeArrowheads="1"/>
          </p:cNvSpPr>
          <p:nvPr/>
        </p:nvSpPr>
        <p:spPr bwMode="auto">
          <a:xfrm>
            <a:off x="2354298" y="5522118"/>
            <a:ext cx="369888" cy="57943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 sz="3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8" name="Rectangle 30"/>
          <p:cNvSpPr>
            <a:spLocks noChangeArrowheads="1"/>
          </p:cNvSpPr>
          <p:nvPr/>
        </p:nvSpPr>
        <p:spPr bwMode="auto">
          <a:xfrm>
            <a:off x="2387636" y="5579268"/>
            <a:ext cx="369887" cy="579438"/>
          </a:xfrm>
          <a:prstGeom prst="rect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 sz="3200" b="1"/>
              <a:t>2</a:t>
            </a:r>
          </a:p>
        </p:txBody>
      </p:sp>
      <p:sp>
        <p:nvSpPr>
          <p:cNvPr id="49" name="Rectangle 35"/>
          <p:cNvSpPr>
            <a:spLocks noChangeArrowheads="1"/>
          </p:cNvSpPr>
          <p:nvPr/>
        </p:nvSpPr>
        <p:spPr bwMode="auto">
          <a:xfrm>
            <a:off x="2452723" y="5623718"/>
            <a:ext cx="369888" cy="5794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 sz="3200" b="1"/>
              <a:t>3</a:t>
            </a:r>
          </a:p>
        </p:txBody>
      </p:sp>
      <p:sp>
        <p:nvSpPr>
          <p:cNvPr id="50" name="Rectangle 38"/>
          <p:cNvSpPr>
            <a:spLocks noChangeArrowheads="1"/>
          </p:cNvSpPr>
          <p:nvPr/>
        </p:nvSpPr>
        <p:spPr bwMode="auto">
          <a:xfrm>
            <a:off x="5798492" y="5636008"/>
            <a:ext cx="2020888" cy="58541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/>
            <a:r>
              <a:rPr lang="en-US" sz="3200" b="1" dirty="0">
                <a:solidFill>
                  <a:schemeClr val="tx2"/>
                </a:solidFill>
              </a:rPr>
              <a:t> </a:t>
            </a:r>
            <a:r>
              <a:rPr lang="en-US" sz="3200" b="1" dirty="0"/>
              <a:t>0.224042</a:t>
            </a:r>
          </a:p>
        </p:txBody>
      </p:sp>
    </p:spTree>
    <p:extLst>
      <p:ext uri="{BB962C8B-B14F-4D97-AF65-F5344CB8AC3E}">
        <p14:creationId xmlns:p14="http://schemas.microsoft.com/office/powerpoint/2010/main" val="663705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6" grpId="0" autoUpdateAnimBg="0"/>
      <p:bldP spid="37" grpId="0" animBg="1" autoUpdateAnimBg="0"/>
      <p:bldP spid="38" grpId="0" animBg="1" autoUpdateAnimBg="0"/>
      <p:bldP spid="39" grpId="0" animBg="1" autoUpdateAnimBg="0"/>
      <p:bldP spid="40" grpId="0" animBg="1" autoUpdateAnimBg="0"/>
      <p:bldP spid="41" grpId="0" animBg="1" autoUpdateAnimBg="0"/>
      <p:bldP spid="42" grpId="0" animBg="1" autoUpdateAnimBg="0"/>
      <p:bldP spid="43" grpId="0" animBg="1" autoUpdateAnimBg="0"/>
      <p:bldP spid="44" grpId="0" animBg="1" autoUpdateAnimBg="0"/>
      <p:bldP spid="46" grpId="0" animBg="1" autoUpdateAnimBg="0"/>
      <p:bldP spid="47" grpId="0" animBg="1" autoUpdateAnimBg="0"/>
      <p:bldP spid="48" grpId="0" animBg="1" autoUpdateAnimBg="0"/>
      <p:bldP spid="49" grpId="0" animBg="1" autoUpdateAnimBg="0"/>
      <p:bldP spid="50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Waiting Line Characteristics.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Line configuration</a:t>
            </a:r>
          </a:p>
          <a:p>
            <a:r>
              <a:rPr lang="en-GB" dirty="0"/>
              <a:t>Jockeying</a:t>
            </a:r>
          </a:p>
          <a:p>
            <a:r>
              <a:rPr lang="en-GB" dirty="0"/>
              <a:t>Balking</a:t>
            </a:r>
          </a:p>
          <a:p>
            <a:r>
              <a:rPr lang="en-GB" dirty="0"/>
              <a:t> Priority</a:t>
            </a:r>
          </a:p>
          <a:p>
            <a:r>
              <a:rPr lang="en-GB" dirty="0"/>
              <a:t> Tandem Queues</a:t>
            </a:r>
          </a:p>
          <a:p>
            <a:r>
              <a:rPr lang="en-GB" dirty="0"/>
              <a:t> Homogeneity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1068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Configuration</a:t>
            </a:r>
            <a:r>
              <a:rPr lang="en-GB" dirty="0"/>
              <a:t>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cs-CZ" dirty="0"/>
          </a:p>
          <a:p>
            <a:r>
              <a:rPr lang="en-GB" dirty="0"/>
              <a:t>A single service queue.</a:t>
            </a:r>
          </a:p>
          <a:p>
            <a:r>
              <a:rPr lang="en-GB" dirty="0"/>
              <a:t>Multiple service queue with single waiting line.</a:t>
            </a:r>
          </a:p>
          <a:p>
            <a:r>
              <a:rPr lang="en-GB" dirty="0"/>
              <a:t>Multiple service queue with multiple waiting lines.</a:t>
            </a:r>
          </a:p>
          <a:p>
            <a:r>
              <a:rPr lang="en-GB" dirty="0"/>
              <a:t>Tandem queue (multistage service system).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585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Jockeying and Balking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cs-CZ" dirty="0"/>
          </a:p>
          <a:p>
            <a:r>
              <a:rPr lang="en-GB" dirty="0"/>
              <a:t>Jockeying occurs when customers switch lines once they perceived that another line is moving faster.</a:t>
            </a:r>
          </a:p>
          <a:p>
            <a:r>
              <a:rPr lang="en-GB" dirty="0"/>
              <a:t>Balking occurs if customers avoid joining the line when they perceive the line to be too long.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0474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Priority Rules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/>
          <a:lstStyle/>
          <a:p>
            <a:r>
              <a:rPr lang="en-GB" dirty="0"/>
              <a:t>These rules select the next customer for service.</a:t>
            </a:r>
            <a:endParaRPr lang="cs-CZ" dirty="0"/>
          </a:p>
          <a:p>
            <a:endParaRPr lang="en-GB" dirty="0"/>
          </a:p>
          <a:p>
            <a:r>
              <a:rPr lang="en-GB" dirty="0"/>
              <a:t>There are several commonly used rules:</a:t>
            </a:r>
          </a:p>
          <a:p>
            <a:pPr lvl="1"/>
            <a:r>
              <a:rPr lang="en-GB" dirty="0"/>
              <a:t>First come first served (FCFS)</a:t>
            </a:r>
            <a:r>
              <a:rPr lang="cs-CZ" dirty="0"/>
              <a:t> </a:t>
            </a:r>
            <a:r>
              <a:rPr lang="en-GB" dirty="0"/>
              <a:t>=</a:t>
            </a:r>
            <a:r>
              <a:rPr lang="cs-CZ" dirty="0"/>
              <a:t> </a:t>
            </a:r>
            <a:r>
              <a:rPr lang="en-GB" dirty="0"/>
              <a:t>First In First Out (FIFO)</a:t>
            </a:r>
          </a:p>
          <a:p>
            <a:pPr lvl="1"/>
            <a:r>
              <a:rPr lang="en-GB" dirty="0"/>
              <a:t>Last come first served (LCFS)</a:t>
            </a:r>
            <a:r>
              <a:rPr lang="cs-CZ" dirty="0"/>
              <a:t> </a:t>
            </a:r>
            <a:r>
              <a:rPr lang="en-GB" dirty="0"/>
              <a:t>= Last In </a:t>
            </a:r>
            <a:r>
              <a:rPr lang="cs-CZ" dirty="0" err="1"/>
              <a:t>First</a:t>
            </a:r>
            <a:r>
              <a:rPr lang="cs-CZ"/>
              <a:t> </a:t>
            </a:r>
            <a:r>
              <a:rPr lang="en-GB"/>
              <a:t>Out </a:t>
            </a:r>
            <a:r>
              <a:rPr lang="en-GB" dirty="0"/>
              <a:t>(LIFO).</a:t>
            </a:r>
          </a:p>
          <a:p>
            <a:pPr lvl="1"/>
            <a:r>
              <a:rPr lang="en-GB" dirty="0"/>
              <a:t>Special Priority (PRI)</a:t>
            </a:r>
          </a:p>
          <a:p>
            <a:pPr lvl="1"/>
            <a:r>
              <a:rPr lang="en-GB" dirty="0"/>
              <a:t>Random selection of customers for service. (RND)</a:t>
            </a:r>
          </a:p>
          <a:p>
            <a:endParaRPr lang="cs-CZ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69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Tandem Queues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/>
          <a:lstStyle/>
          <a:p>
            <a:endParaRPr lang="cs-CZ" dirty="0"/>
          </a:p>
          <a:p>
            <a:r>
              <a:rPr lang="en-US" dirty="0"/>
              <a:t>These are multi-server systems</a:t>
            </a:r>
            <a:r>
              <a:rPr lang="cs-CZ" dirty="0"/>
              <a:t> (</a:t>
            </a:r>
            <a:r>
              <a:rPr lang="cs-CZ" dirty="0" err="1"/>
              <a:t>sequentional</a:t>
            </a:r>
            <a:r>
              <a:rPr lang="cs-CZ" dirty="0"/>
              <a:t>)</a:t>
            </a:r>
            <a:r>
              <a:rPr lang="en-US" dirty="0"/>
              <a:t> </a:t>
            </a:r>
          </a:p>
          <a:p>
            <a:r>
              <a:rPr lang="en-US" dirty="0"/>
              <a:t>A customer needs to visit several service stations (usually in a distinct order) to complete the service process.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Patients in an emergency room.</a:t>
            </a:r>
          </a:p>
          <a:p>
            <a:pPr lvl="1"/>
            <a:r>
              <a:rPr lang="en-US" dirty="0"/>
              <a:t>Passengers prepare for the next flight.</a:t>
            </a:r>
            <a:endParaRPr lang="cs-CZ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6881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Homogeneity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/>
          <a:lstStyle/>
          <a:p>
            <a:r>
              <a:rPr lang="en-GB" dirty="0"/>
              <a:t>A homogeneous customer population is one in which customers require essentially the same type of service.</a:t>
            </a:r>
          </a:p>
          <a:p>
            <a:r>
              <a:rPr lang="en-GB" dirty="0"/>
              <a:t>A non-homogeneous customer population is one in which customers can be categorized according to: </a:t>
            </a:r>
          </a:p>
          <a:p>
            <a:pPr lvl="1"/>
            <a:r>
              <a:rPr lang="en-GB" dirty="0"/>
              <a:t>Different arrival patterns</a:t>
            </a:r>
          </a:p>
          <a:p>
            <a:pPr lvl="1"/>
            <a:r>
              <a:rPr lang="en-GB" dirty="0"/>
              <a:t>Different service treatments.</a:t>
            </a:r>
          </a:p>
        </p:txBody>
      </p:sp>
    </p:spTree>
    <p:extLst>
      <p:ext uri="{BB962C8B-B14F-4D97-AF65-F5344CB8AC3E}">
        <p14:creationId xmlns:p14="http://schemas.microsoft.com/office/powerpoint/2010/main" val="4261907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Service Process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/>
          <a:lstStyle/>
          <a:p>
            <a:endParaRPr lang="cs-CZ" dirty="0"/>
          </a:p>
          <a:p>
            <a:r>
              <a:rPr lang="en-GB" dirty="0"/>
              <a:t>In most business situations, service time varies widely among customers.</a:t>
            </a:r>
          </a:p>
          <a:p>
            <a:r>
              <a:rPr lang="en-GB" dirty="0"/>
              <a:t>When service time varies, it is treated as a random variable.</a:t>
            </a:r>
          </a:p>
          <a:p>
            <a:r>
              <a:rPr lang="en-GB" dirty="0"/>
              <a:t>The exponential probability distribution is used sometimes to model customer service time.</a:t>
            </a:r>
          </a:p>
        </p:txBody>
      </p:sp>
    </p:spTree>
    <p:extLst>
      <p:ext uri="{BB962C8B-B14F-4D97-AF65-F5344CB8AC3E}">
        <p14:creationId xmlns:p14="http://schemas.microsoft.com/office/powerpoint/2010/main" val="822110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7504" y="228600"/>
            <a:ext cx="8928992" cy="990600"/>
          </a:xfrm>
        </p:spPr>
        <p:txBody>
          <a:bodyPr>
            <a:normAutofit/>
          </a:bodyPr>
          <a:lstStyle/>
          <a:p>
            <a:r>
              <a:rPr lang="en-US" dirty="0"/>
              <a:t>The Exponential Service Time Distribution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/>
          <a:lstStyle/>
          <a:p>
            <a:endParaRPr lang="cs-CZ" dirty="0"/>
          </a:p>
          <a:p>
            <a:r>
              <a:rPr lang="en-US" i="1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>
                <a:solidFill>
                  <a:schemeClr val="accent6">
                    <a:lumMod val="25000"/>
                  </a:schemeClr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m</a:t>
            </a:r>
            <a:r>
              <a:rPr lang="en-US" i="1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i="1" baseline="30000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i="1" baseline="30000" dirty="0" err="1">
                <a:solidFill>
                  <a:schemeClr val="accent6">
                    <a:lumMod val="25000"/>
                  </a:schemeClr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m</a:t>
            </a:r>
            <a:r>
              <a:rPr lang="en-US" i="1" baseline="30000" dirty="0" err="1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baseline="30000" dirty="0">
              <a:solidFill>
                <a:schemeClr val="accent6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solidFill>
                  <a:schemeClr val="accent6">
                    <a:lumMod val="25000"/>
                  </a:schemeClr>
                </a:solidFill>
                <a:latin typeface="Symbol" panose="05050102010706020507" pitchFamily="18" charset="2"/>
              </a:rPr>
              <a:t>m</a:t>
            </a:r>
            <a:r>
              <a:rPr lang="en-US" dirty="0">
                <a:solidFill>
                  <a:schemeClr val="accent6">
                    <a:lumMod val="25000"/>
                  </a:schemeClr>
                </a:solidFill>
              </a:rPr>
              <a:t>  = the average number of customers who can be served per time period.</a:t>
            </a:r>
          </a:p>
          <a:p>
            <a:r>
              <a:rPr lang="en-US" dirty="0">
                <a:solidFill>
                  <a:schemeClr val="accent6">
                    <a:lumMod val="25000"/>
                  </a:schemeClr>
                </a:solidFill>
              </a:rPr>
              <a:t>Therefore, </a:t>
            </a:r>
            <a:r>
              <a:rPr lang="en-US" b="1" dirty="0">
                <a:solidFill>
                  <a:schemeClr val="accent6">
                    <a:lumMod val="25000"/>
                  </a:schemeClr>
                </a:solidFill>
              </a:rPr>
              <a:t>1/</a:t>
            </a:r>
            <a:r>
              <a:rPr lang="en-US" b="1" i="1" dirty="0">
                <a:solidFill>
                  <a:schemeClr val="accent6">
                    <a:lumMod val="25000"/>
                  </a:schemeClr>
                </a:solidFill>
                <a:latin typeface="Symbol" panose="05050102010706020507" pitchFamily="18" charset="2"/>
              </a:rPr>
              <a:t>m</a:t>
            </a:r>
            <a:r>
              <a:rPr lang="en-US" b="1" dirty="0">
                <a:solidFill>
                  <a:schemeClr val="accent6">
                    <a:lumMod val="25000"/>
                  </a:schemeClr>
                </a:solidFill>
              </a:rPr>
              <a:t> = the mean service time</a:t>
            </a:r>
            <a:endParaRPr lang="cs-CZ" b="1" dirty="0">
              <a:solidFill>
                <a:schemeClr val="accent6">
                  <a:lumMod val="25000"/>
                </a:schemeClr>
              </a:solidFill>
            </a:endParaRPr>
          </a:p>
          <a:p>
            <a:endParaRPr lang="cs-CZ" b="1" dirty="0">
              <a:solidFill>
                <a:schemeClr val="accent6">
                  <a:lumMod val="25000"/>
                </a:schemeClr>
              </a:solidFill>
            </a:endParaRPr>
          </a:p>
          <a:p>
            <a:r>
              <a:rPr lang="cs-CZ" sz="3200" dirty="0">
                <a:solidFill>
                  <a:schemeClr val="accent6">
                    <a:lumMod val="25000"/>
                  </a:schemeClr>
                </a:solidFill>
              </a:rPr>
              <a:t>T</a:t>
            </a:r>
            <a:r>
              <a:rPr lang="en-US" sz="3200" dirty="0">
                <a:solidFill>
                  <a:schemeClr val="accent6">
                    <a:lumMod val="25000"/>
                  </a:schemeClr>
                </a:solidFill>
              </a:rPr>
              <a:t>he probability that the service time </a:t>
            </a:r>
            <a:r>
              <a:rPr lang="en-US" sz="3200" i="1" dirty="0">
                <a:solidFill>
                  <a:schemeClr val="accent6">
                    <a:lumMod val="25000"/>
                  </a:schemeClr>
                </a:solidFill>
              </a:rPr>
              <a:t>X</a:t>
            </a:r>
            <a:r>
              <a:rPr lang="en-US" sz="3200" dirty="0">
                <a:solidFill>
                  <a:schemeClr val="accent6">
                    <a:lumMod val="25000"/>
                  </a:schemeClr>
                </a:solidFill>
              </a:rPr>
              <a:t> is less than some “</a:t>
            </a:r>
            <a:r>
              <a:rPr lang="en-US" sz="3200" i="1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solidFill>
                  <a:schemeClr val="accent6">
                    <a:lumMod val="25000"/>
                  </a:schemeClr>
                </a:solidFill>
              </a:rPr>
              <a:t>.”</a:t>
            </a:r>
            <a:endParaRPr lang="cs-CZ" sz="3200" dirty="0">
              <a:solidFill>
                <a:schemeClr val="accent6">
                  <a:lumMod val="25000"/>
                </a:schemeClr>
              </a:solidFill>
            </a:endParaRPr>
          </a:p>
          <a:p>
            <a:r>
              <a:rPr lang="en-US" sz="3200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3200" i="1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accent6">
                    <a:lumMod val="25000"/>
                  </a:schemeClr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£</a:t>
            </a:r>
            <a:r>
              <a:rPr lang="en-US" sz="3200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1 -</a:t>
            </a:r>
            <a:r>
              <a:rPr lang="en-US" sz="3200" i="1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3200" i="1" baseline="30000" dirty="0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i="1" baseline="30000" dirty="0" err="1">
                <a:solidFill>
                  <a:schemeClr val="accent6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</a:t>
            </a:r>
            <a:endParaRPr lang="en-US" sz="3200" i="1" baseline="30000" dirty="0">
              <a:solidFill>
                <a:schemeClr val="accent6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solidFill>
                <a:schemeClr val="accent6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901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990600"/>
          </a:xfrm>
        </p:spPr>
        <p:txBody>
          <a:bodyPr>
            <a:normAutofit/>
          </a:bodyPr>
          <a:lstStyle/>
          <a:p>
            <a:r>
              <a:rPr lang="en-US" dirty="0"/>
              <a:t>The Exponential Distribution - Characteristics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6">
                    <a:lumMod val="25000"/>
                  </a:schemeClr>
                </a:solidFill>
              </a:rPr>
              <a:t>The memoryless property.</a:t>
            </a:r>
          </a:p>
          <a:p>
            <a:pPr lvl="1"/>
            <a:r>
              <a:rPr lang="en-GB" dirty="0">
                <a:solidFill>
                  <a:schemeClr val="accent6">
                    <a:lumMod val="25000"/>
                  </a:schemeClr>
                </a:solidFill>
              </a:rPr>
              <a:t>No additional information about the time left for the completion of a service, is gained by recording the time elapsed since the service started.</a:t>
            </a:r>
          </a:p>
          <a:p>
            <a:endParaRPr lang="en-GB" dirty="0">
              <a:solidFill>
                <a:schemeClr val="accent6">
                  <a:lumMod val="25000"/>
                </a:schemeClr>
              </a:solidFill>
            </a:endParaRPr>
          </a:p>
          <a:p>
            <a:r>
              <a:rPr lang="en-GB" dirty="0">
                <a:solidFill>
                  <a:schemeClr val="accent6">
                    <a:lumMod val="25000"/>
                  </a:schemeClr>
                </a:solidFill>
              </a:rPr>
              <a:t>The Exponential and the Poisson distributions are related to one another.</a:t>
            </a:r>
          </a:p>
          <a:p>
            <a:pPr lvl="1"/>
            <a:r>
              <a:rPr lang="en-GB" dirty="0">
                <a:solidFill>
                  <a:schemeClr val="accent6">
                    <a:lumMod val="25000"/>
                  </a:schemeClr>
                </a:solidFill>
              </a:rPr>
              <a:t>If customer arrivals follow a Poisson distribution with mean rate l, their </a:t>
            </a:r>
            <a:r>
              <a:rPr lang="en-GB" dirty="0" err="1">
                <a:solidFill>
                  <a:schemeClr val="accent6">
                    <a:lumMod val="25000"/>
                  </a:schemeClr>
                </a:solidFill>
              </a:rPr>
              <a:t>interarrival</a:t>
            </a:r>
            <a:r>
              <a:rPr lang="en-GB" dirty="0">
                <a:solidFill>
                  <a:schemeClr val="accent6">
                    <a:lumMod val="25000"/>
                  </a:schemeClr>
                </a:solidFill>
              </a:rPr>
              <a:t> times are exponentially distributed with mean time 1/l.</a:t>
            </a:r>
          </a:p>
          <a:p>
            <a:endParaRPr lang="cs-CZ" dirty="0">
              <a:solidFill>
                <a:schemeClr val="accent6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166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Kendall´s Notation (I)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9144000" cy="4495800"/>
          </a:xfrm>
        </p:spPr>
        <p:txBody>
          <a:bodyPr>
            <a:normAutofit/>
          </a:bodyPr>
          <a:lstStyle/>
          <a:p>
            <a:r>
              <a:rPr lang="en-GB" sz="3200" b="1" dirty="0"/>
              <a:t>A/B/X/Y/Z</a:t>
            </a:r>
          </a:p>
          <a:p>
            <a:r>
              <a:rPr lang="en-GB" b="1" dirty="0"/>
              <a:t>A</a:t>
            </a:r>
            <a:r>
              <a:rPr lang="en-GB" dirty="0"/>
              <a:t> – nature of arrival process</a:t>
            </a:r>
          </a:p>
          <a:p>
            <a:pPr lvl="1"/>
            <a:r>
              <a:rPr lang="en-GB" dirty="0"/>
              <a:t>M   Exponentially distributed inter-arrival times (Poisson Process, Markov Process) </a:t>
            </a:r>
          </a:p>
          <a:p>
            <a:pPr lvl="1"/>
            <a:r>
              <a:rPr lang="en-GB" dirty="0"/>
              <a:t>D   Deterministic (fixed) inter-arrival times </a:t>
            </a:r>
          </a:p>
          <a:p>
            <a:pPr lvl="1"/>
            <a:r>
              <a:rPr lang="en-GB" dirty="0"/>
              <a:t>N   Normal distribution</a:t>
            </a:r>
          </a:p>
          <a:p>
            <a:pPr lvl="1"/>
            <a:r>
              <a:rPr lang="en-GB" dirty="0"/>
              <a:t>G   General distribution for the inter-arrival times</a:t>
            </a:r>
          </a:p>
          <a:p>
            <a:pPr lvl="1"/>
            <a:r>
              <a:rPr lang="en-GB" dirty="0"/>
              <a:t>etc.</a:t>
            </a:r>
          </a:p>
          <a:p>
            <a:r>
              <a:rPr lang="en-GB" b="1" dirty="0"/>
              <a:t>B</a:t>
            </a:r>
            <a:r>
              <a:rPr lang="en-GB" dirty="0"/>
              <a:t> – nature of service time distribution – same letters as for </a:t>
            </a:r>
            <a:r>
              <a:rPr lang="en-GB" b="1" dirty="0"/>
              <a:t>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Kendall´s Notation (II)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b="1" dirty="0"/>
              <a:t>X</a:t>
            </a:r>
            <a:r>
              <a:rPr lang="en-GB" dirty="0"/>
              <a:t> - Number of servers in the queue</a:t>
            </a:r>
          </a:p>
          <a:p>
            <a:endParaRPr lang="en-GB" dirty="0"/>
          </a:p>
          <a:p>
            <a:r>
              <a:rPr lang="en-GB" b="1" dirty="0"/>
              <a:t>Y</a:t>
            </a:r>
            <a:r>
              <a:rPr lang="en-GB" dirty="0"/>
              <a:t> – Capacity. Maximum number of customers that can be in the queue.</a:t>
            </a:r>
          </a:p>
          <a:p>
            <a:endParaRPr lang="en-GB" dirty="0"/>
          </a:p>
          <a:p>
            <a:r>
              <a:rPr lang="en-GB" b="1" dirty="0"/>
              <a:t>Z</a:t>
            </a:r>
            <a:r>
              <a:rPr lang="en-GB" dirty="0"/>
              <a:t> - Queuing discipline:</a:t>
            </a:r>
          </a:p>
          <a:p>
            <a:pPr lvl="1"/>
            <a:r>
              <a:rPr lang="en-GB" dirty="0"/>
              <a:t>LIFO, FIFO, SIRO etc.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M/M/1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Poisson Arrivals, Exponential Service Time Distribution, Single Server, Infinite Number of Waiting Positions</a:t>
            </a:r>
            <a:r>
              <a:rPr lang="cs-CZ" dirty="0"/>
              <a:t>, </a:t>
            </a:r>
            <a:r>
              <a:rPr lang="cs-CZ" dirty="0" err="1"/>
              <a:t>Infinite</a:t>
            </a:r>
            <a:r>
              <a:rPr lang="cs-CZ" dirty="0"/>
              <a:t> </a:t>
            </a:r>
            <a:r>
              <a:rPr lang="cs-CZ" dirty="0" err="1"/>
              <a:t>population</a:t>
            </a:r>
            <a:endParaRPr lang="en-GB" dirty="0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899592" y="3068960"/>
          <a:ext cx="7416800" cy="3645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astrový obrázek" r:id="rId2" imgW="5009524" imgH="2742857" progId="PBrush">
                  <p:embed/>
                </p:oleObj>
              </mc:Choice>
              <mc:Fallback>
                <p:oleObj name="Rastrový obrázek" r:id="rId2" imgW="5009524" imgH="2742857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068960"/>
                        <a:ext cx="7416800" cy="36450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Basic variables</a:t>
            </a:r>
            <a:endParaRPr lang="en-GB" dirty="0"/>
          </a:p>
        </p:txBody>
      </p:sp>
      <p:graphicFrame>
        <p:nvGraphicFramePr>
          <p:cNvPr id="5" name="Zástupný symbol pro obsah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347188216"/>
              </p:ext>
            </p:extLst>
          </p:nvPr>
        </p:nvGraphicFramePr>
        <p:xfrm>
          <a:off x="611560" y="1772816"/>
          <a:ext cx="8153400" cy="4937760"/>
        </p:xfrm>
        <a:graphic>
          <a:graphicData uri="http://schemas.openxmlformats.org/drawingml/2006/table">
            <a:tbl>
              <a:tblPr firstCol="1" bandRow="1">
                <a:tableStyleId>{00A15C55-8517-42AA-B614-E9B94910E393}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848">
                <a:tc>
                  <a:txBody>
                    <a:bodyPr/>
                    <a:lstStyle/>
                    <a:p>
                      <a:r>
                        <a:rPr kumimoji="0" lang="en-US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Average number of customers arriving in one unit of time</a:t>
                      </a:r>
                      <a:endParaRPr lang="cs-CZ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λ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cs-CZ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kumimoji="0" lang="en-US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 average number of customers who can be served per time period</a:t>
                      </a:r>
                      <a:endParaRPr kumimoji="0" lang="cs-CZ" b="1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μ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GB" b="1" noProof="0" dirty="0">
                          <a:solidFill>
                            <a:schemeClr val="tx1"/>
                          </a:solidFill>
                        </a:rPr>
                        <a:t>Server utilisation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ρ=λ/μ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Average number of customers in the system.</a:t>
                      </a:r>
                      <a:endParaRPr lang="cs-CZ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L=ρ/(1-ρ)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Average number of customers in the queue.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L</a:t>
                      </a:r>
                      <a:r>
                        <a:rPr kumimoji="0" lang="cs-CZ" sz="24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Q</a:t>
                      </a: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=ρ</a:t>
                      </a:r>
                      <a:r>
                        <a:rPr kumimoji="0" lang="cs-CZ" sz="2400" b="0" i="0" u="none" strike="noStrike" kern="1200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</a:t>
                      </a: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/(1-ρ)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Average  time a customer spends in the system.</a:t>
                      </a:r>
                      <a:endParaRPr lang="cs-CZ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W=1/(μ-λ)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Average time a customer spends in the queue.</a:t>
                      </a:r>
                      <a:endParaRPr lang="cs-CZ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W</a:t>
                      </a:r>
                      <a:r>
                        <a:rPr kumimoji="0" lang="cs-CZ" sz="24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Q</a:t>
                      </a: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=λ/(μ(μ-λ))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Probability that there are no customers in the system</a:t>
                      </a:r>
                      <a:endParaRPr lang="cs-CZ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p</a:t>
                      </a:r>
                      <a:r>
                        <a:rPr kumimoji="0" lang="cs-CZ" sz="24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</a:t>
                      </a: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=1-ρ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Example</a:t>
            </a:r>
            <a:r>
              <a:rPr lang="cs-CZ" dirty="0"/>
              <a:t> - </a:t>
            </a:r>
            <a:r>
              <a:rPr lang="en-US" dirty="0"/>
              <a:t>MARY’s SHOES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Customers arrive at Mary’s Shoes every 12 minutes on the average, according to a Poisson process.</a:t>
            </a:r>
          </a:p>
          <a:p>
            <a:endParaRPr lang="en-GB" dirty="0"/>
          </a:p>
          <a:p>
            <a:r>
              <a:rPr lang="en-GB" dirty="0"/>
              <a:t>Service time is exponentially distributed with an average of 8 minutes per customer.</a:t>
            </a:r>
          </a:p>
          <a:p>
            <a:endParaRPr lang="en-GB" dirty="0"/>
          </a:p>
          <a:p>
            <a:r>
              <a:rPr lang="en-GB" dirty="0"/>
              <a:t>Management is interested in determining the performance measures for this service system. </a:t>
            </a:r>
          </a:p>
          <a:p>
            <a:endParaRPr lang="en-GB" noProof="0" dirty="0"/>
          </a:p>
          <a:p>
            <a:pPr lvl="1"/>
            <a:endParaRPr lang="en-GB" noProof="0" dirty="0"/>
          </a:p>
          <a:p>
            <a:endParaRPr lang="en-GB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Example</a:t>
            </a:r>
            <a:r>
              <a:rPr lang="cs-CZ" dirty="0"/>
              <a:t> - </a:t>
            </a:r>
            <a:r>
              <a:rPr lang="en-US" dirty="0"/>
              <a:t>MARY’s SHOES</a:t>
            </a:r>
            <a:r>
              <a:rPr lang="cs-CZ" dirty="0"/>
              <a:t> - </a:t>
            </a:r>
            <a:r>
              <a:rPr lang="cs-CZ" dirty="0" err="1"/>
              <a:t>solution</a:t>
            </a:r>
            <a:endParaRPr lang="en-GB" dirty="0"/>
          </a:p>
        </p:txBody>
      </p:sp>
      <p:graphicFrame>
        <p:nvGraphicFramePr>
          <p:cNvPr id="5" name="Zástupný symbol pro obsah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028427533"/>
              </p:ext>
            </p:extLst>
          </p:nvPr>
        </p:nvGraphicFramePr>
        <p:xfrm>
          <a:off x="612648" y="1844824"/>
          <a:ext cx="8153400" cy="4937760"/>
        </p:xfrm>
        <a:graphic>
          <a:graphicData uri="http://schemas.openxmlformats.org/drawingml/2006/table">
            <a:tbl>
              <a:tblPr firstCol="1" bandRow="1">
                <a:tableStyleId>{00A15C55-8517-42AA-B614-E9B94910E393}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848">
                <a:tc>
                  <a:txBody>
                    <a:bodyPr/>
                    <a:lstStyle/>
                    <a:p>
                      <a:r>
                        <a:rPr kumimoji="0" lang="en-US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Average number of customers arriving in one unit of time</a:t>
                      </a:r>
                      <a:endParaRPr lang="cs-CZ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λ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cs-CZ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cs-CZ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kumimoji="0" lang="en-US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 average number of customers who can be served per time period</a:t>
                      </a:r>
                      <a:endParaRPr kumimoji="0" lang="cs-CZ" b="1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μ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cs-CZ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GB" b="1" noProof="0" dirty="0">
                          <a:solidFill>
                            <a:schemeClr val="tx1"/>
                          </a:solidFill>
                        </a:rPr>
                        <a:t>Server utilisation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ρ=λ/μ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cs-CZ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Average number of customers in the system.</a:t>
                      </a:r>
                      <a:endParaRPr lang="cs-CZ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L=ρ/(1-ρ)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cs-CZ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Average number of customers in the queue.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L</a:t>
                      </a:r>
                      <a:r>
                        <a:rPr kumimoji="0" lang="cs-CZ" sz="24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Q</a:t>
                      </a: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=ρ</a:t>
                      </a:r>
                      <a:r>
                        <a:rPr kumimoji="0" lang="cs-CZ" sz="2400" b="0" i="0" u="none" strike="noStrike" kern="1200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</a:t>
                      </a: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/(1-ρ)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cs-CZ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Average  time a customer spends in the system.</a:t>
                      </a:r>
                      <a:endParaRPr lang="cs-CZ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W=1/(μ-λ)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cs-CZ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Average time a customer spends in the queue.</a:t>
                      </a:r>
                      <a:endParaRPr lang="cs-CZ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W</a:t>
                      </a:r>
                      <a:r>
                        <a:rPr kumimoji="0" lang="cs-CZ" sz="24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Q</a:t>
                      </a: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=λ/(μ(μ-λ))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cs-CZ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Probability that there are no customers in the system</a:t>
                      </a:r>
                      <a:endParaRPr lang="cs-CZ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p</a:t>
                      </a:r>
                      <a:r>
                        <a:rPr kumimoji="0" lang="cs-CZ" sz="24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</a:t>
                      </a:r>
                      <a:r>
                        <a:rPr kumimoji="0" lang="cs-CZ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=1-ρ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cs-CZ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ovéPole 2"/>
          <p:cNvSpPr txBox="1"/>
          <p:nvPr/>
        </p:nvSpPr>
        <p:spPr>
          <a:xfrm>
            <a:off x="7452320" y="1959223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ovéPole 5"/>
          <p:cNvSpPr txBox="1"/>
          <p:nvPr/>
        </p:nvSpPr>
        <p:spPr>
          <a:xfrm>
            <a:off x="7452320" y="2564904"/>
            <a:ext cx="927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7.5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ovéPole 6"/>
          <p:cNvSpPr txBox="1"/>
          <p:nvPr/>
        </p:nvSpPr>
        <p:spPr>
          <a:xfrm>
            <a:off x="7452320" y="3111351"/>
            <a:ext cx="927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2/3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ovéPole 7"/>
          <p:cNvSpPr txBox="1"/>
          <p:nvPr/>
        </p:nvSpPr>
        <p:spPr>
          <a:xfrm>
            <a:off x="7452320" y="3687415"/>
            <a:ext cx="927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ovéPole 8"/>
          <p:cNvSpPr txBox="1"/>
          <p:nvPr/>
        </p:nvSpPr>
        <p:spPr>
          <a:xfrm>
            <a:off x="7452320" y="4335487"/>
            <a:ext cx="927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4/3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ovéPole 9"/>
          <p:cNvSpPr txBox="1"/>
          <p:nvPr/>
        </p:nvSpPr>
        <p:spPr>
          <a:xfrm>
            <a:off x="7452320" y="4941168"/>
            <a:ext cx="927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2/5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ovéPole 10"/>
          <p:cNvSpPr txBox="1"/>
          <p:nvPr/>
        </p:nvSpPr>
        <p:spPr>
          <a:xfrm>
            <a:off x="7452320" y="5589240"/>
            <a:ext cx="1071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4/15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ovéPole 11"/>
          <p:cNvSpPr txBox="1"/>
          <p:nvPr/>
        </p:nvSpPr>
        <p:spPr>
          <a:xfrm>
            <a:off x="7452320" y="6237312"/>
            <a:ext cx="927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1/3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95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Costs</a:t>
            </a:r>
            <a:endParaRPr lang="en-GB" dirty="0"/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sz="quarter" idx="1"/>
          </p:nvPr>
        </p:nvGraphicFramePr>
        <p:xfrm>
          <a:off x="539552" y="1772816"/>
          <a:ext cx="8153400" cy="3184767"/>
        </p:xfrm>
        <a:graphic>
          <a:graphicData uri="http://schemas.openxmlformats.org/drawingml/2006/table">
            <a:tbl>
              <a:tblPr firstCol="1" bandRow="1">
                <a:tableStyleId>{00A15C55-8517-42AA-B614-E9B94910E393}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1976">
                <a:tc>
                  <a:txBody>
                    <a:bodyPr/>
                    <a:lstStyle/>
                    <a:p>
                      <a:r>
                        <a:rPr lang="cs-CZ" dirty="0" err="1">
                          <a:solidFill>
                            <a:schemeClr val="tx1"/>
                          </a:solidFill>
                        </a:rPr>
                        <a:t>Costs</a:t>
                      </a:r>
                      <a:r>
                        <a:rPr lang="cs-CZ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cs-CZ" dirty="0" err="1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cs-CZ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cs-CZ" dirty="0" err="1">
                          <a:solidFill>
                            <a:schemeClr val="tx1"/>
                          </a:solidFill>
                        </a:rPr>
                        <a:t>one</a:t>
                      </a:r>
                      <a:r>
                        <a:rPr lang="cs-CZ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cs-CZ" baseline="0" dirty="0" err="1">
                          <a:solidFill>
                            <a:schemeClr val="tx1"/>
                          </a:solidFill>
                        </a:rPr>
                        <a:t>customer</a:t>
                      </a:r>
                      <a:r>
                        <a:rPr lang="cs-CZ" baseline="0" dirty="0">
                          <a:solidFill>
                            <a:schemeClr val="tx1"/>
                          </a:solidFill>
                        </a:rPr>
                        <a:t> in </a:t>
                      </a:r>
                      <a:r>
                        <a:rPr lang="cs-CZ" baseline="0" dirty="0" err="1">
                          <a:solidFill>
                            <a:schemeClr val="tx1"/>
                          </a:solidFill>
                        </a:rPr>
                        <a:t>system</a:t>
                      </a:r>
                      <a:r>
                        <a:rPr lang="cs-CZ" baseline="0" dirty="0">
                          <a:solidFill>
                            <a:schemeClr val="tx1"/>
                          </a:solidFill>
                        </a:rPr>
                        <a:t> per </a:t>
                      </a:r>
                      <a:r>
                        <a:rPr lang="cs-CZ" baseline="0" dirty="0" err="1">
                          <a:solidFill>
                            <a:schemeClr val="tx1"/>
                          </a:solidFill>
                        </a:rPr>
                        <a:t>time</a:t>
                      </a:r>
                      <a:r>
                        <a:rPr lang="cs-CZ" baseline="0" dirty="0">
                          <a:solidFill>
                            <a:schemeClr val="tx1"/>
                          </a:solidFill>
                        </a:rPr>
                        <a:t> unit</a:t>
                      </a:r>
                      <a:endParaRPr lang="cs-CZ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CC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605">
                <a:tc>
                  <a:txBody>
                    <a:bodyPr/>
                    <a:lstStyle/>
                    <a:p>
                      <a:r>
                        <a:rPr lang="cs-CZ" dirty="0" err="1">
                          <a:solidFill>
                            <a:schemeClr val="tx1"/>
                          </a:solidFill>
                        </a:rPr>
                        <a:t>Costs</a:t>
                      </a:r>
                      <a:r>
                        <a:rPr lang="cs-CZ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cs-CZ" dirty="0" err="1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cs-CZ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cs-CZ" dirty="0" err="1">
                          <a:solidFill>
                            <a:schemeClr val="tx1"/>
                          </a:solidFill>
                        </a:rPr>
                        <a:t>one</a:t>
                      </a:r>
                      <a:r>
                        <a:rPr lang="cs-CZ" dirty="0">
                          <a:solidFill>
                            <a:schemeClr val="tx1"/>
                          </a:solidFill>
                        </a:rPr>
                        <a:t> server per </a:t>
                      </a:r>
                      <a:r>
                        <a:rPr lang="cs-CZ" dirty="0" err="1">
                          <a:solidFill>
                            <a:schemeClr val="tx1"/>
                          </a:solidFill>
                        </a:rPr>
                        <a:t>time</a:t>
                      </a:r>
                      <a:r>
                        <a:rPr lang="cs-CZ" dirty="0">
                          <a:solidFill>
                            <a:schemeClr val="tx1"/>
                          </a:solidFill>
                        </a:rPr>
                        <a:t> 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97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Average number of customers in the system.</a:t>
                      </a:r>
                      <a:endParaRPr lang="cs-CZ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605">
                <a:tc>
                  <a:txBody>
                    <a:bodyPr/>
                    <a:lstStyle/>
                    <a:p>
                      <a:r>
                        <a:rPr lang="cs-CZ" dirty="0" err="1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cs-CZ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cs-CZ" dirty="0" err="1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cs-CZ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cs-CZ" dirty="0" err="1">
                          <a:solidFill>
                            <a:schemeClr val="tx1"/>
                          </a:solidFill>
                        </a:rPr>
                        <a:t>servers</a:t>
                      </a:r>
                      <a:endParaRPr lang="cs-CZ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605">
                <a:tc>
                  <a:txBody>
                    <a:bodyPr/>
                    <a:lstStyle/>
                    <a:p>
                      <a:r>
                        <a:rPr lang="cs-CZ" dirty="0" err="1">
                          <a:solidFill>
                            <a:schemeClr val="tx1"/>
                          </a:solidFill>
                        </a:rPr>
                        <a:t>Total</a:t>
                      </a:r>
                      <a:r>
                        <a:rPr lang="cs-CZ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cs-CZ" dirty="0" err="1">
                          <a:solidFill>
                            <a:schemeClr val="tx1"/>
                          </a:solidFill>
                        </a:rPr>
                        <a:t>average</a:t>
                      </a:r>
                      <a:r>
                        <a:rPr lang="cs-CZ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cs-CZ" dirty="0" err="1">
                          <a:solidFill>
                            <a:schemeClr val="tx1"/>
                          </a:solidFill>
                        </a:rPr>
                        <a:t>costs</a:t>
                      </a:r>
                      <a:endParaRPr lang="cs-CZ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TC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ovéPole 4"/>
          <p:cNvSpPr txBox="1"/>
          <p:nvPr/>
        </p:nvSpPr>
        <p:spPr>
          <a:xfrm>
            <a:off x="1403648" y="5517232"/>
            <a:ext cx="5832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dirty="0"/>
              <a:t>TC = CC*L + CS*m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</a:t>
            </a:r>
            <a:r>
              <a:rPr lang="cs-CZ" dirty="0"/>
              <a:t> – </a:t>
            </a:r>
            <a:r>
              <a:rPr lang="en-US" dirty="0"/>
              <a:t>highway weighting machine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i="1" dirty="0"/>
              <a:t>Kendall notation</a:t>
            </a:r>
            <a:r>
              <a:rPr lang="en-GB" dirty="0"/>
              <a:t>: M/M/1</a:t>
            </a:r>
          </a:p>
          <a:p>
            <a:r>
              <a:rPr lang="en-GB" i="1" dirty="0"/>
              <a:t>Arrivals</a:t>
            </a:r>
            <a:r>
              <a:rPr lang="en-GB" dirty="0"/>
              <a:t>: </a:t>
            </a:r>
            <a:r>
              <a:rPr lang="cs-CZ" dirty="0" err="1"/>
              <a:t>one</a:t>
            </a:r>
            <a:r>
              <a:rPr lang="cs-CZ" dirty="0"/>
              <a:t> </a:t>
            </a:r>
            <a:r>
              <a:rPr lang="cs-CZ" dirty="0" err="1"/>
              <a:t>customer</a:t>
            </a:r>
            <a:r>
              <a:rPr lang="cs-CZ" dirty="0"/>
              <a:t> per 4 </a:t>
            </a:r>
            <a:r>
              <a:rPr lang="cs-CZ" dirty="0" err="1"/>
              <a:t>minutes</a:t>
            </a:r>
            <a:endParaRPr lang="en-GB" dirty="0"/>
          </a:p>
          <a:p>
            <a:r>
              <a:rPr lang="en-GB" i="1" noProof="0" dirty="0"/>
              <a:t>Service time</a:t>
            </a:r>
            <a:r>
              <a:rPr lang="en-GB" noProof="0" dirty="0"/>
              <a:t>: 18 customers can be served per 1 hour</a:t>
            </a:r>
          </a:p>
          <a:p>
            <a:pPr lvl="1"/>
            <a:r>
              <a:rPr lang="en-GB" noProof="0" dirty="0"/>
              <a:t>Calculate the probability that the customer will not wait.</a:t>
            </a:r>
          </a:p>
          <a:p>
            <a:pPr lvl="1"/>
            <a:r>
              <a:rPr lang="en-GB" noProof="0" dirty="0"/>
              <a:t>What is average length of queue?</a:t>
            </a:r>
          </a:p>
          <a:p>
            <a:pPr lvl="1"/>
            <a:r>
              <a:rPr lang="en-GB" noProof="0" dirty="0"/>
              <a:t>What is the average time spent in system?</a:t>
            </a:r>
            <a:endParaRPr lang="cs-CZ" noProof="0" dirty="0"/>
          </a:p>
          <a:p>
            <a:pPr lvl="1"/>
            <a:r>
              <a:rPr lang="en-US" dirty="0"/>
              <a:t>Costs: </a:t>
            </a:r>
          </a:p>
          <a:p>
            <a:pPr lvl="2"/>
            <a:r>
              <a:rPr lang="cs-CZ" dirty="0" err="1"/>
              <a:t>Costs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one</a:t>
            </a:r>
            <a:r>
              <a:rPr lang="cs-CZ" dirty="0"/>
              <a:t> </a:t>
            </a:r>
            <a:r>
              <a:rPr lang="cs-CZ" dirty="0" err="1"/>
              <a:t>customer</a:t>
            </a:r>
            <a:r>
              <a:rPr lang="cs-CZ" dirty="0"/>
              <a:t> in </a:t>
            </a:r>
            <a:r>
              <a:rPr lang="cs-CZ" dirty="0" err="1"/>
              <a:t>system</a:t>
            </a:r>
            <a:r>
              <a:rPr lang="en-US" dirty="0"/>
              <a:t>: 20 $</a:t>
            </a:r>
          </a:p>
          <a:p>
            <a:pPr lvl="2"/>
            <a:r>
              <a:rPr lang="en-US" dirty="0"/>
              <a:t>One server per hour: 250 $</a:t>
            </a:r>
          </a:p>
          <a:p>
            <a:pPr lvl="2"/>
            <a:endParaRPr lang="en-GB" noProof="0" dirty="0"/>
          </a:p>
          <a:p>
            <a:pPr lvl="1"/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373389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 err="1"/>
              <a:t>Thank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your</a:t>
            </a:r>
            <a:r>
              <a:rPr lang="cs-CZ" dirty="0"/>
              <a:t> </a:t>
            </a:r>
            <a:r>
              <a:rPr lang="cs-CZ" dirty="0" err="1"/>
              <a:t>attention</a:t>
            </a:r>
            <a:r>
              <a:rPr lang="cs-CZ" dirty="0"/>
              <a:t>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</p:spPr>
        <p:txBody>
          <a:bodyPr>
            <a:normAutofit/>
          </a:bodyPr>
          <a:lstStyle/>
          <a:p>
            <a:pPr lvl="2" algn="ctr"/>
            <a:endParaRPr lang="en-GB" sz="1600" noProof="0">
              <a:solidFill>
                <a:schemeClr val="bg1"/>
              </a:solidFill>
            </a:endParaRPr>
          </a:p>
          <a:p>
            <a:pPr lvl="1" algn="ctr"/>
            <a:endParaRPr lang="en-GB" sz="1600" noProof="0">
              <a:solidFill>
                <a:schemeClr val="bg1"/>
              </a:solidFill>
            </a:endParaRP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0393249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1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tiv1" id="{B0B25E39-7186-46C5-9D39-950CFB3AB267}" vid="{2449E244-AD5F-4BB9-8A5A-7BFBD4B00EA6}"/>
    </a:ext>
  </a:extLst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Motiv1</Template>
  <TotalTime>0</TotalTime>
  <Words>2217</Words>
  <Application>Microsoft Office PowerPoint</Application>
  <PresentationFormat>Předvádění na obrazovce (4:3)</PresentationFormat>
  <Paragraphs>365</Paragraphs>
  <Slides>39</Slides>
  <Notes>15</Notes>
  <HiddenSlides>0</HiddenSlides>
  <MMClips>0</MMClips>
  <ScaleCrop>false</ScaleCrop>
  <HeadingPairs>
    <vt:vector size="8" baseType="variant">
      <vt:variant>
        <vt:lpstr>Použitá písma</vt:lpstr>
      </vt:variant>
      <vt:variant>
        <vt:i4>9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2</vt:i4>
      </vt:variant>
      <vt:variant>
        <vt:lpstr>Nadpisy snímků</vt:lpstr>
      </vt:variant>
      <vt:variant>
        <vt:i4>39</vt:i4>
      </vt:variant>
    </vt:vector>
  </HeadingPairs>
  <TitlesOfParts>
    <vt:vector size="51" baseType="lpstr">
      <vt:lpstr>Arial</vt:lpstr>
      <vt:lpstr>Calibri</vt:lpstr>
      <vt:lpstr>Cambria Math</vt:lpstr>
      <vt:lpstr>Roboto</vt:lpstr>
      <vt:lpstr>Roboto Black</vt:lpstr>
      <vt:lpstr>Roboto Medium</vt:lpstr>
      <vt:lpstr>Symbol</vt:lpstr>
      <vt:lpstr>Times New Roman</vt:lpstr>
      <vt:lpstr>Wingdings</vt:lpstr>
      <vt:lpstr>Motiv1</vt:lpstr>
      <vt:lpstr>Equation</vt:lpstr>
      <vt:lpstr>Rastrový obrázek</vt:lpstr>
      <vt:lpstr>Prezentace aplikace PowerPoint</vt:lpstr>
      <vt:lpstr>Modelling</vt:lpstr>
      <vt:lpstr>Model</vt:lpstr>
      <vt:lpstr>Model</vt:lpstr>
      <vt:lpstr>Model</vt:lpstr>
      <vt:lpstr>Model</vt:lpstr>
      <vt:lpstr>Modelling process (for our purposes)</vt:lpstr>
      <vt:lpstr>Excersise</vt:lpstr>
      <vt:lpstr>Excersise</vt:lpstr>
      <vt:lpstr>Stochastic process</vt:lpstr>
      <vt:lpstr>Sample function</vt:lpstr>
      <vt:lpstr>Example</vt:lpstr>
      <vt:lpstr>Binomial distribution</vt:lpstr>
      <vt:lpstr>Example: dice rolling</vt:lpstr>
      <vt:lpstr>Queuing theory</vt:lpstr>
      <vt:lpstr>Queuing theory</vt:lpstr>
      <vt:lpstr>Queuing process - components</vt:lpstr>
      <vt:lpstr>Arivals as Poisson process</vt:lpstr>
      <vt:lpstr>Poisson process</vt:lpstr>
      <vt:lpstr>HANK’s  HARDWARE – Arrival Process</vt:lpstr>
      <vt:lpstr>HANK’s  HARDWARE – An illustration of the Poisson distribution. </vt:lpstr>
      <vt:lpstr>The Waiting Line Characteristics.</vt:lpstr>
      <vt:lpstr>Line Configuration.</vt:lpstr>
      <vt:lpstr>Jockeying and Balking</vt:lpstr>
      <vt:lpstr>Priority Rules</vt:lpstr>
      <vt:lpstr>Tandem Queues</vt:lpstr>
      <vt:lpstr>Homogeneity</vt:lpstr>
      <vt:lpstr>The Service Process</vt:lpstr>
      <vt:lpstr>The Exponential Service Time Distribution</vt:lpstr>
      <vt:lpstr>The Exponential Distribution - Characteristics</vt:lpstr>
      <vt:lpstr>Kendall´s Notation (I)</vt:lpstr>
      <vt:lpstr>Kendall´s Notation (II)</vt:lpstr>
      <vt:lpstr>M/M/1</vt:lpstr>
      <vt:lpstr>Basic variables</vt:lpstr>
      <vt:lpstr>Example - MARY’s SHOES</vt:lpstr>
      <vt:lpstr>Example - MARY’s SHOES - solution</vt:lpstr>
      <vt:lpstr>Costs</vt:lpstr>
      <vt:lpstr>Example – highway weighting machine 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Research and System Analysis</dc:title>
  <dc:creator>krejcii</dc:creator>
  <cp:lastModifiedBy>Horáková Tereza</cp:lastModifiedBy>
  <cp:revision>431</cp:revision>
  <cp:lastPrinted>2015-03-16T11:08:35Z</cp:lastPrinted>
  <dcterms:created xsi:type="dcterms:W3CDTF">2012-01-18T09:02:27Z</dcterms:created>
  <dcterms:modified xsi:type="dcterms:W3CDTF">2024-10-28T21:34:11Z</dcterms:modified>
</cp:coreProperties>
</file>