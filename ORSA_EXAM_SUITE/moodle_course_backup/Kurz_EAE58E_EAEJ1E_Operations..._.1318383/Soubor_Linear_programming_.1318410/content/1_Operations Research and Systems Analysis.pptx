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1"/>
  </p:notesMasterIdLst>
  <p:sldIdLst>
    <p:sldId id="289" r:id="rId2"/>
    <p:sldId id="269" r:id="rId3"/>
    <p:sldId id="257" r:id="rId4"/>
    <p:sldId id="258" r:id="rId5"/>
    <p:sldId id="259" r:id="rId6"/>
    <p:sldId id="260" r:id="rId7"/>
    <p:sldId id="261" r:id="rId8"/>
    <p:sldId id="283" r:id="rId9"/>
    <p:sldId id="282" r:id="rId10"/>
    <p:sldId id="284" r:id="rId11"/>
    <p:sldId id="285" r:id="rId12"/>
    <p:sldId id="262" r:id="rId13"/>
    <p:sldId id="274" r:id="rId14"/>
    <p:sldId id="275" r:id="rId15"/>
    <p:sldId id="273" r:id="rId16"/>
    <p:sldId id="265" r:id="rId17"/>
    <p:sldId id="276" r:id="rId18"/>
    <p:sldId id="286" r:id="rId19"/>
    <p:sldId id="313" r:id="rId20"/>
  </p:sldIdLst>
  <p:sldSz cx="9144000" cy="6858000" type="screen4x3"/>
  <p:notesSz cx="7104063" cy="10234613"/>
  <p:defaultTextStyle>
    <a:defPPr>
      <a:defRPr lang="cs-CZ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15" autoAdjust="0"/>
    <p:restoredTop sz="86410" autoAdjust="0"/>
  </p:normalViewPr>
  <p:slideViewPr>
    <p:cSldViewPr>
      <p:cViewPr varScale="1">
        <p:scale>
          <a:sx n="74" d="100"/>
          <a:sy n="74" d="100"/>
        </p:scale>
        <p:origin x="113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76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8427" cy="511731"/>
          </a:xfrm>
          <a:prstGeom prst="rect">
            <a:avLst/>
          </a:prstGeom>
        </p:spPr>
        <p:txBody>
          <a:bodyPr vert="horz" lIns="99033" tIns="49518" rIns="99033" bIns="49518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4023994" y="1"/>
            <a:ext cx="3078427" cy="511731"/>
          </a:xfrm>
          <a:prstGeom prst="rect">
            <a:avLst/>
          </a:prstGeom>
        </p:spPr>
        <p:txBody>
          <a:bodyPr vert="horz" lIns="99033" tIns="49518" rIns="99033" bIns="49518" rtlCol="0"/>
          <a:lstStyle>
            <a:lvl1pPr algn="r">
              <a:defRPr sz="1300"/>
            </a:lvl1pPr>
          </a:lstStyle>
          <a:p>
            <a:fld id="{3DFDF4BB-19E4-4249-AD4F-E9648CF8E63C}" type="datetimeFigureOut">
              <a:rPr lang="en-GB" smtClean="0"/>
              <a:pPr/>
              <a:t>28/10/2024</a:t>
            </a:fld>
            <a:endParaRPr lang="en-GB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9938"/>
            <a:ext cx="5113337" cy="3835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3" tIns="49518" rIns="99033" bIns="49518" rtlCol="0" anchor="ctr"/>
          <a:lstStyle/>
          <a:p>
            <a:endParaRPr lang="en-GB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710408" y="4861443"/>
            <a:ext cx="5683250" cy="4605576"/>
          </a:xfrm>
          <a:prstGeom prst="rect">
            <a:avLst/>
          </a:prstGeom>
        </p:spPr>
        <p:txBody>
          <a:bodyPr vert="horz" lIns="99033" tIns="49518" rIns="99033" bIns="49518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2" y="9721109"/>
            <a:ext cx="3078427" cy="511731"/>
          </a:xfrm>
          <a:prstGeom prst="rect">
            <a:avLst/>
          </a:prstGeom>
        </p:spPr>
        <p:txBody>
          <a:bodyPr vert="horz" lIns="99033" tIns="49518" rIns="99033" bIns="49518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4023994" y="9721109"/>
            <a:ext cx="3078427" cy="511731"/>
          </a:xfrm>
          <a:prstGeom prst="rect">
            <a:avLst/>
          </a:prstGeom>
        </p:spPr>
        <p:txBody>
          <a:bodyPr vert="horz" lIns="99033" tIns="49518" rIns="99033" bIns="49518" rtlCol="0" anchor="b"/>
          <a:lstStyle>
            <a:lvl1pPr algn="r">
              <a:defRPr sz="1300"/>
            </a:lvl1pPr>
          </a:lstStyle>
          <a:p>
            <a:fld id="{2F931F19-2CCB-4CD0-A569-BC4C390A5E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69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b="0" dirty="0" err="1"/>
              <a:t>Meadows</a:t>
            </a:r>
            <a:r>
              <a:rPr lang="cs-CZ" b="0" dirty="0"/>
              <a:t> – show slinky</a:t>
            </a:r>
            <a:endParaRPr lang="cs-CZ" b="0" baseline="0" dirty="0"/>
          </a:p>
          <a:p>
            <a:endParaRPr lang="cs-CZ" b="0" baseline="0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515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9161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979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705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222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5973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819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Slack</a:t>
            </a:r>
            <a:r>
              <a:rPr lang="cs-CZ" dirty="0"/>
              <a:t> </a:t>
            </a:r>
            <a:r>
              <a:rPr lang="cs-CZ" dirty="0" err="1"/>
              <a:t>variables</a:t>
            </a:r>
            <a:r>
              <a:rPr lang="cs-CZ" dirty="0"/>
              <a:t> </a:t>
            </a:r>
          </a:p>
          <a:p>
            <a:r>
              <a:rPr lang="cs-CZ" dirty="0" err="1"/>
              <a:t>Artificial</a:t>
            </a:r>
            <a:r>
              <a:rPr lang="cs-CZ" dirty="0"/>
              <a:t> </a:t>
            </a:r>
            <a:r>
              <a:rPr lang="cs-CZ" dirty="0" err="1"/>
              <a:t>variables</a:t>
            </a:r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449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Zkusit měnit</a:t>
            </a:r>
            <a:r>
              <a:rPr lang="cs-CZ" baseline="0" dirty="0"/>
              <a:t> pravé strany a ceny</a:t>
            </a:r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1764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075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Zástupný symbol pro text 3">
            <a:extLst>
              <a:ext uri="{FF2B5EF4-FFF2-40B4-BE49-F238E27FC236}">
                <a16:creationId xmlns:a16="http://schemas.microsoft.com/office/drawing/2014/main" id="{3E1E80FF-CDE1-4659-A50D-18C8BA3734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024B457C-E1CC-4DF8-B068-F9E0D15995C0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903BDD9C-B482-4C8C-BAAA-47D61575D20D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7" name="Zástupný symbol obrázku 3">
            <a:extLst>
              <a:ext uri="{FF2B5EF4-FFF2-40B4-BE49-F238E27FC236}">
                <a16:creationId xmlns:a16="http://schemas.microsoft.com/office/drawing/2014/main" id="{81CEE838-8921-437D-853F-408EC4B07E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334000"/>
          </a:xfrm>
          <a:prstGeom prst="rect">
            <a:avLst/>
          </a:prstGeom>
        </p:spPr>
        <p:txBody>
          <a:bodyPr lIns="180000" tIns="180000" rIns="180000" bIns="180000"/>
          <a:lstStyle/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21" name="Zástupný symbol pro text 4">
            <a:extLst>
              <a:ext uri="{FF2B5EF4-FFF2-40B4-BE49-F238E27FC236}">
                <a16:creationId xmlns:a16="http://schemas.microsoft.com/office/drawing/2014/main" id="{E690251E-0C52-4982-8171-60DC0B794B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1" name="Obrázek 10" descr="Obsah obrázku text&#10;&#10;Popis byl vytvořen automaticky">
            <a:extLst>
              <a:ext uri="{FF2B5EF4-FFF2-40B4-BE49-F238E27FC236}">
                <a16:creationId xmlns:a16="http://schemas.microsoft.com/office/drawing/2014/main" id="{7E8A1E33-5B28-2C43-AFFB-11AF0DAF4A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796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5A95B17-73AF-43C9-B939-77EAE9071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" y="0"/>
            <a:ext cx="9142206" cy="5352000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701651B9-8DB1-4417-B27C-E73923C98BA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C0724D5-0E83-4994-8DB9-7A30BDB88977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3">
            <a:extLst>
              <a:ext uri="{FF2B5EF4-FFF2-40B4-BE49-F238E27FC236}">
                <a16:creationId xmlns:a16="http://schemas.microsoft.com/office/drawing/2014/main" id="{8B80490D-70E9-4F37-B670-B92332575E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Zástupný symbol pro text 4">
            <a:extLst>
              <a:ext uri="{FF2B5EF4-FFF2-40B4-BE49-F238E27FC236}">
                <a16:creationId xmlns:a16="http://schemas.microsoft.com/office/drawing/2014/main" id="{C22D2AE3-7756-458C-8A84-0DE8F08D47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2" name="Obrázek 11" descr="Obsah obrázku text&#10;&#10;Popis byl vytvořen automaticky">
            <a:extLst>
              <a:ext uri="{FF2B5EF4-FFF2-40B4-BE49-F238E27FC236}">
                <a16:creationId xmlns:a16="http://schemas.microsoft.com/office/drawing/2014/main" id="{8B6B0297-ABC7-F84B-85A8-4DFECC7F51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165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4CF31F7D-C775-4367-BA11-D7AC53523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0" cy="5353050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A5FBF3AD-5E16-47E0-9F0F-471206626283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1DDA62E2-FE7A-4AFA-8044-1ED14126E701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4">
            <a:extLst>
              <a:ext uri="{FF2B5EF4-FFF2-40B4-BE49-F238E27FC236}">
                <a16:creationId xmlns:a16="http://schemas.microsoft.com/office/drawing/2014/main" id="{7602487F-3C29-4D79-9418-0A036B9FED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Zástupný symbol pro text 3">
            <a:extLst>
              <a:ext uri="{FF2B5EF4-FFF2-40B4-BE49-F238E27FC236}">
                <a16:creationId xmlns:a16="http://schemas.microsoft.com/office/drawing/2014/main" id="{F844F9EC-3F8E-4C04-9939-5FE5833C62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2" name="Obrázek 11" descr="Obsah obrázku text&#10;&#10;Popis byl vytvořen automaticky">
            <a:extLst>
              <a:ext uri="{FF2B5EF4-FFF2-40B4-BE49-F238E27FC236}">
                <a16:creationId xmlns:a16="http://schemas.microsoft.com/office/drawing/2014/main" id="{61B65073-2151-4C4E-9C3C-651867FC29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59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79C5E546-3806-41A1-87D3-7E4A64F7A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9" cy="5353049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CD5BF138-FAF5-4C22-A496-6023824A818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576E8AF4-6C04-4AD5-A275-DAF437588F37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3">
            <a:extLst>
              <a:ext uri="{FF2B5EF4-FFF2-40B4-BE49-F238E27FC236}">
                <a16:creationId xmlns:a16="http://schemas.microsoft.com/office/drawing/2014/main" id="{75E6743E-3013-43C0-BCEE-F198C0D12E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Zástupný symbol pro text 4">
            <a:extLst>
              <a:ext uri="{FF2B5EF4-FFF2-40B4-BE49-F238E27FC236}">
                <a16:creationId xmlns:a16="http://schemas.microsoft.com/office/drawing/2014/main" id="{67A4E56B-2C18-40EB-A1CF-C76A3F36BE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2" name="Obrázek 11" descr="Obsah obrázku text&#10;&#10;Popis byl vytvořen automaticky">
            <a:extLst>
              <a:ext uri="{FF2B5EF4-FFF2-40B4-BE49-F238E27FC236}">
                <a16:creationId xmlns:a16="http://schemas.microsoft.com/office/drawing/2014/main" id="{227D3A48-039E-724E-82EF-4F01CA8E06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910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5A95B17-73AF-43C9-B939-77EAE9071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5353049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701651B9-8DB1-4417-B27C-E73923C98BA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C0724D5-0E83-4994-8DB9-7A30BDB88977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3">
            <a:extLst>
              <a:ext uri="{FF2B5EF4-FFF2-40B4-BE49-F238E27FC236}">
                <a16:creationId xmlns:a16="http://schemas.microsoft.com/office/drawing/2014/main" id="{8B80490D-70E9-4F37-B670-B92332575E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Zástupný symbol pro text 4">
            <a:extLst>
              <a:ext uri="{FF2B5EF4-FFF2-40B4-BE49-F238E27FC236}">
                <a16:creationId xmlns:a16="http://schemas.microsoft.com/office/drawing/2014/main" id="{C22D2AE3-7756-458C-8A84-0DE8F08D47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5" name="Obrázek 14" descr="Obsah obrázku text&#10;&#10;Popis byl vytvořen automaticky">
            <a:extLst>
              <a:ext uri="{FF2B5EF4-FFF2-40B4-BE49-F238E27FC236}">
                <a16:creationId xmlns:a16="http://schemas.microsoft.com/office/drawing/2014/main" id="{E19424E9-4DDB-CF40-92C3-F70E307154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47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93899535-AA89-8F4E-97C4-9FA4F0DD5E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8DD13F2A-11D3-42C8-83F3-81FF4931281C}"/>
              </a:ext>
            </a:extLst>
          </p:cNvPr>
          <p:cNvSpPr/>
          <p:nvPr/>
        </p:nvSpPr>
        <p:spPr>
          <a:xfrm>
            <a:off x="500063" y="724896"/>
            <a:ext cx="8143875" cy="5408208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6" name="Zástupný symbol pro text 3">
            <a:extLst>
              <a:ext uri="{FF2B5EF4-FFF2-40B4-BE49-F238E27FC236}">
                <a16:creationId xmlns:a16="http://schemas.microsoft.com/office/drawing/2014/main" id="{137FF405-C523-4C6D-A210-824A893F53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4388" y="2899075"/>
            <a:ext cx="7522369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29928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B3F927B1-1D31-1749-A32D-E5B899D0E9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rgbClr val="BFBFB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77" y="6123264"/>
            <a:ext cx="1689456" cy="734737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8DD13F2A-11D3-42C8-83F3-81FF4931281C}"/>
              </a:ext>
            </a:extLst>
          </p:cNvPr>
          <p:cNvSpPr/>
          <p:nvPr/>
        </p:nvSpPr>
        <p:spPr>
          <a:xfrm>
            <a:off x="500063" y="724896"/>
            <a:ext cx="8143875" cy="54082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FD279ADA-FDAB-4914-9469-CB105F4C58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5813" y="2899075"/>
            <a:ext cx="7615238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409280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79C5E546-3806-41A1-87D3-7E4A64F7A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736270"/>
            <a:ext cx="8134503" cy="5359500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05985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8" name="Obrázek 7" descr="Obsah obrázku text&#10;&#10;Popis byl vytvořen automaticky">
            <a:extLst>
              <a:ext uri="{FF2B5EF4-FFF2-40B4-BE49-F238E27FC236}">
                <a16:creationId xmlns:a16="http://schemas.microsoft.com/office/drawing/2014/main" id="{7C4858C6-8C38-2B41-8CFE-1254036B4C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718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728249"/>
            <a:ext cx="8134503" cy="5359500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05985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rgbClr val="C80C0F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D96739DC-B272-A942-A9ED-76826B0255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152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34" y="719999"/>
            <a:ext cx="8130633" cy="5356951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920000"/>
          </a:xfrm>
          <a:prstGeom prst="rect">
            <a:avLst/>
          </a:prstGeom>
          <a:solidFill>
            <a:schemeClr val="bg1"/>
          </a:solidFill>
          <a:effectLst/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587EC3D4-E53B-5446-B515-D3099FF581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40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ástupný symbol pro text 3">
            <a:extLst>
              <a:ext uri="{FF2B5EF4-FFF2-40B4-BE49-F238E27FC236}">
                <a16:creationId xmlns:a16="http://schemas.microsoft.com/office/drawing/2014/main" id="{A6D9A389-F059-4682-BB5E-006EEEC6D2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0063" y="2899075"/>
            <a:ext cx="8143875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obrázku 3">
            <a:extLst>
              <a:ext uri="{FF2B5EF4-FFF2-40B4-BE49-F238E27FC236}">
                <a16:creationId xmlns:a16="http://schemas.microsoft.com/office/drawing/2014/main" id="{8E8F7AB6-976A-4CB0-A0AE-8B783479B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063" y="724799"/>
            <a:ext cx="8137800" cy="5407200"/>
          </a:xfrm>
          <a:prstGeom prst="rect">
            <a:avLst/>
          </a:prstGeo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pic>
        <p:nvPicPr>
          <p:cNvPr id="7" name="Obrázek 6" descr="Obsah obrázku text&#10;&#10;Popis byl vytvořen automaticky">
            <a:extLst>
              <a:ext uri="{FF2B5EF4-FFF2-40B4-BE49-F238E27FC236}">
                <a16:creationId xmlns:a16="http://schemas.microsoft.com/office/drawing/2014/main" id="{8DDC546C-2D13-A947-8672-83BE19C04B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89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4A793D0-309B-40EC-A585-1DA5E95018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765" y="2385457"/>
            <a:ext cx="2394285" cy="3835461"/>
          </a:xfrm>
          <a:prstGeom prst="rect">
            <a:avLst/>
          </a:prstGeom>
        </p:spPr>
      </p:pic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66732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66732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DED13C98-A460-4EE5-BFBB-681BBDA81D3B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2C766699-8A1C-452E-BA3A-E469A225BEE7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  <p:sp>
        <p:nvSpPr>
          <p:cNvPr id="13" name="Zástupný symbol pro text 6">
            <a:extLst>
              <a:ext uri="{FF2B5EF4-FFF2-40B4-BE49-F238E27FC236}">
                <a16:creationId xmlns:a16="http://schemas.microsoft.com/office/drawing/2014/main" id="{8BE1237B-FF84-4FBE-AC1D-9DB2202BD7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Zástupný symbol pro text 13">
            <a:extLst>
              <a:ext uri="{FF2B5EF4-FFF2-40B4-BE49-F238E27FC236}">
                <a16:creationId xmlns:a16="http://schemas.microsoft.com/office/drawing/2014/main" id="{4C33C50D-A72F-494F-B092-15858B2C6C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631BC1C8-BCF5-484D-8C94-7FAA0AE50120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243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84198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84198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2" name="Zástupný symbol pro text 6">
            <a:extLst>
              <a:ext uri="{FF2B5EF4-FFF2-40B4-BE49-F238E27FC236}">
                <a16:creationId xmlns:a16="http://schemas.microsoft.com/office/drawing/2014/main" id="{66B0A99E-A700-494A-928E-194351AE09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Zástupný symbol pro text 13">
            <a:extLst>
              <a:ext uri="{FF2B5EF4-FFF2-40B4-BE49-F238E27FC236}">
                <a16:creationId xmlns:a16="http://schemas.microsoft.com/office/drawing/2014/main" id="{48E4E7FD-8E67-4CA1-B99F-8BF78FD8CF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1B42C71F-24A2-4414-9417-B39450FE2AC9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08E05BE6-9375-7B47-BE3D-8FD9100C579E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6AC349FB-428C-7B42-B993-E97FBB98DCD8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424292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852256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852256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0" name="Zástupný symbol obrázku 24">
            <a:extLst>
              <a:ext uri="{FF2B5EF4-FFF2-40B4-BE49-F238E27FC236}">
                <a16:creationId xmlns:a16="http://schemas.microsoft.com/office/drawing/2014/main" id="{B6AD1CE9-FEC3-45D9-B4F6-AEB4A1A23D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93694" y="1957389"/>
            <a:ext cx="2450307" cy="4205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6" name="Zástupný symbol pro text 6">
            <a:extLst>
              <a:ext uri="{FF2B5EF4-FFF2-40B4-BE49-F238E27FC236}">
                <a16:creationId xmlns:a16="http://schemas.microsoft.com/office/drawing/2014/main" id="{BFADBFEB-36FC-4372-B6CE-58EBC7FFB9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5938106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Zástupný symbol pro text 13">
            <a:extLst>
              <a:ext uri="{FF2B5EF4-FFF2-40B4-BE49-F238E27FC236}">
                <a16:creationId xmlns:a16="http://schemas.microsoft.com/office/drawing/2014/main" id="{978F0355-7004-4CFE-9421-A8A1A62CF8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5938106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ACEE7F35-80D6-4A44-A79F-9A5BF9F28E36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0B5A6409-23B7-A545-A4D8-A933AD41B5C6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C0999E4F-AF74-DB4E-8B4B-638D78E913AE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4198084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4A793D0-309B-40EC-A585-1DA5E95018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765" y="2385457"/>
            <a:ext cx="2394285" cy="3835461"/>
          </a:xfrm>
          <a:prstGeom prst="rect">
            <a:avLst/>
          </a:prstGeom>
        </p:spPr>
      </p:pic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919038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919038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3" name="Zástupný symbol pro text 6">
            <a:extLst>
              <a:ext uri="{FF2B5EF4-FFF2-40B4-BE49-F238E27FC236}">
                <a16:creationId xmlns:a16="http://schemas.microsoft.com/office/drawing/2014/main" id="{64907F56-1EFF-441C-9163-66B58475FA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6" name="Zástupný symbol pro text 13">
            <a:extLst>
              <a:ext uri="{FF2B5EF4-FFF2-40B4-BE49-F238E27FC236}">
                <a16:creationId xmlns:a16="http://schemas.microsoft.com/office/drawing/2014/main" id="{0C077097-4898-476E-8653-0D75052D17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A4993D17-DF83-49B5-BD7F-548B4A5A3AE6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FC0AD8F2-4BA5-D840-9CF9-1A60BE6D3AE9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5A3DFA86-88E0-D746-93B6-322B3E5FB3EB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36228429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979994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979994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2" name="Zástupný symbol pro text 6">
            <a:extLst>
              <a:ext uri="{FF2B5EF4-FFF2-40B4-BE49-F238E27FC236}">
                <a16:creationId xmlns:a16="http://schemas.microsoft.com/office/drawing/2014/main" id="{271AC1B1-6DD2-4624-B5E1-05CD48AFFD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Zástupný symbol pro text 13">
            <a:extLst>
              <a:ext uri="{FF2B5EF4-FFF2-40B4-BE49-F238E27FC236}">
                <a16:creationId xmlns:a16="http://schemas.microsoft.com/office/drawing/2014/main" id="{9EB39BFC-3412-4994-BB20-6B3B39144D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D5E1CEE8-B267-482F-8FC9-A0CBECB5B5A2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9BD26F8C-C9C9-1844-B61C-5456ED1D14E3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015D1AAD-326F-FE43-A378-B6195D1301DC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1606537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867668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867668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0" name="Zástupný symbol obrázku 24">
            <a:extLst>
              <a:ext uri="{FF2B5EF4-FFF2-40B4-BE49-F238E27FC236}">
                <a16:creationId xmlns:a16="http://schemas.microsoft.com/office/drawing/2014/main" id="{B6AD1CE9-FEC3-45D9-B4F6-AEB4A1A23D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93694" y="1957389"/>
            <a:ext cx="2450307" cy="4205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3" name="Zástupný symbol pro text 6">
            <a:extLst>
              <a:ext uri="{FF2B5EF4-FFF2-40B4-BE49-F238E27FC236}">
                <a16:creationId xmlns:a16="http://schemas.microsoft.com/office/drawing/2014/main" id="{C0B2EC7C-7295-4511-BEB9-1F21F76F55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5938106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6" name="Zástupný symbol pro text 13">
            <a:extLst>
              <a:ext uri="{FF2B5EF4-FFF2-40B4-BE49-F238E27FC236}">
                <a16:creationId xmlns:a16="http://schemas.microsoft.com/office/drawing/2014/main" id="{466DB023-F78F-49C1-9875-70959FECAB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5938106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3C1BF5F3-421C-4882-84E2-ADC07FE86DF2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5C18F710-7ED6-AD41-9784-1327E6984D92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EA1D81C2-80D4-2548-91DB-82047245A7C1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546823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E53EAF9F-01E9-4701-B3CE-E5EC1515D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Obrázek 3" descr="Obsah obrázku text&#10;&#10;Popis byl vytvořen automaticky">
            <a:extLst>
              <a:ext uri="{FF2B5EF4-FFF2-40B4-BE49-F238E27FC236}">
                <a16:creationId xmlns:a16="http://schemas.microsoft.com/office/drawing/2014/main" id="{9E6C52F0-A869-994B-9A2A-946AD4F096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19" y="4695142"/>
            <a:ext cx="3773562" cy="1641106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7301F1C3-936F-43D4-96DB-8DB86F629B10}"/>
              </a:ext>
            </a:extLst>
          </p:cNvPr>
          <p:cNvSpPr txBox="1"/>
          <p:nvPr/>
        </p:nvSpPr>
        <p:spPr>
          <a:xfrm>
            <a:off x="2082610" y="3028891"/>
            <a:ext cx="4978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Thank</a:t>
            </a:r>
            <a:r>
              <a:rPr lang="cs-CZ" sz="360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you</a:t>
            </a:r>
            <a:r>
              <a:rPr lang="cs-CZ" sz="360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for</a:t>
            </a:r>
            <a:r>
              <a:rPr lang="cs-CZ" sz="360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attention</a:t>
            </a:r>
            <a:endParaRPr lang="cs-CZ" sz="3600" dirty="0">
              <a:solidFill>
                <a:schemeClr val="bg1"/>
              </a:solidFill>
              <a:effectLst>
                <a:glow rad="1397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8961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0F7380FE-801F-3B4A-8E52-2A53DD2732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541" y="5041976"/>
            <a:ext cx="3991716" cy="1735981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83DE33A4-FB93-4AAA-A88F-B4FEF27E08A8}"/>
              </a:ext>
            </a:extLst>
          </p:cNvPr>
          <p:cNvSpPr txBox="1"/>
          <p:nvPr/>
        </p:nvSpPr>
        <p:spPr>
          <a:xfrm>
            <a:off x="2065677" y="3429001"/>
            <a:ext cx="501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0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483F6A2C-C2E5-B44A-9660-8F89AEEB28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741" y="5143576"/>
            <a:ext cx="3991716" cy="173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587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Obrázek 7" descr="Obsah obrázku text&#10;&#10;Popis byl vytvořen automaticky">
            <a:extLst>
              <a:ext uri="{FF2B5EF4-FFF2-40B4-BE49-F238E27FC236}">
                <a16:creationId xmlns:a16="http://schemas.microsoft.com/office/drawing/2014/main" id="{A9218E36-6589-BA4B-B382-FF8EA3F0CB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19" y="4864475"/>
            <a:ext cx="3773562" cy="1641106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FDA8F002-9BA3-624D-B94C-A21C7E909596}"/>
              </a:ext>
            </a:extLst>
          </p:cNvPr>
          <p:cNvSpPr txBox="1"/>
          <p:nvPr/>
        </p:nvSpPr>
        <p:spPr>
          <a:xfrm>
            <a:off x="2082610" y="3028891"/>
            <a:ext cx="4978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noProof="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</p:spTree>
    <p:extLst>
      <p:ext uri="{BB962C8B-B14F-4D97-AF65-F5344CB8AC3E}">
        <p14:creationId xmlns:p14="http://schemas.microsoft.com/office/powerpoint/2010/main" val="33393930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4" b="7777"/>
          <a:stretch/>
        </p:blipFill>
        <p:spPr>
          <a:xfrm>
            <a:off x="0" y="0"/>
            <a:ext cx="9144000" cy="6918247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D4F7AAA5-ECDB-B046-A48B-D0C2BB0C4FE7}"/>
              </a:ext>
            </a:extLst>
          </p:cNvPr>
          <p:cNvSpPr txBox="1"/>
          <p:nvPr/>
        </p:nvSpPr>
        <p:spPr>
          <a:xfrm>
            <a:off x="2065677" y="4072465"/>
            <a:ext cx="501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0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EC53DF36-AD81-A945-BF7B-A39A3E50D5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68" y="5739969"/>
            <a:ext cx="2709334" cy="117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756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"/>
            <a:ext cx="9144000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3B431FA6-80EF-9449-90BD-C081B545B9C0}"/>
              </a:ext>
            </a:extLst>
          </p:cNvPr>
          <p:cNvSpPr txBox="1"/>
          <p:nvPr/>
        </p:nvSpPr>
        <p:spPr>
          <a:xfrm>
            <a:off x="2065677" y="3429001"/>
            <a:ext cx="501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0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811C0A68-FD87-6A46-8195-D340F48614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00534"/>
            <a:ext cx="2709334" cy="117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120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>
            <a:extLst>
              <a:ext uri="{FF2B5EF4-FFF2-40B4-BE49-F238E27FC236}">
                <a16:creationId xmlns:a16="http://schemas.microsoft.com/office/drawing/2014/main" id="{5D978B46-7738-414B-B6A8-3DB65F297682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rgbClr val="C80C0F"/>
              </a:gs>
              <a:gs pos="50000">
                <a:srgbClr val="9B0000"/>
              </a:gs>
              <a:gs pos="99000">
                <a:srgbClr val="C80C0F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EAE9CB24-0D3C-1C4D-899E-1B118B5F7B14}"/>
              </a:ext>
            </a:extLst>
          </p:cNvPr>
          <p:cNvSpPr txBox="1"/>
          <p:nvPr/>
        </p:nvSpPr>
        <p:spPr>
          <a:xfrm>
            <a:off x="2082610" y="3028891"/>
            <a:ext cx="4978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noProof="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9" name="Obrázek 8" descr="Obsah obrázku text&#10;&#10;Popis byl vytvořen automaticky">
            <a:extLst>
              <a:ext uri="{FF2B5EF4-FFF2-40B4-BE49-F238E27FC236}">
                <a16:creationId xmlns:a16="http://schemas.microsoft.com/office/drawing/2014/main" id="{7ABA772E-3E2B-B94D-9EC0-C40803791A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19" y="4864475"/>
            <a:ext cx="3773562" cy="164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2173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Úvodní sníme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9" name="Podnadpis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cs-CZ"/>
              <a:t>Klepnutím lze upravit styl předlohy podnadpisů.</a:t>
            </a:r>
            <a:endParaRPr kumimoji="0" lang="en-US"/>
          </a:p>
        </p:txBody>
      </p:sp>
      <p:sp>
        <p:nvSpPr>
          <p:cNvPr id="28" name="Zástupný symbol pro datum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7" name="Zástupný symbol pro zápatí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9" name="Zástupný symbol pro číslo snímku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D678B2-D910-4B9F-8745-B0B8C181CD2F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178282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C9D3B-B00F-4DF2-A530-C9E5BC8837BB}" type="datetimeFigureOut">
              <a:rPr lang="cs-CZ" smtClean="0"/>
              <a:pPr/>
              <a:t>28.10.2024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2D678B2-D910-4B9F-8745-B0B8C181CD2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Zástupný symbol pro obsah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21284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872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1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3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5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5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8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Operations Research and Systems Analysis</a:t>
            </a:r>
            <a:endParaRPr lang="en-GB" noProof="0"/>
          </a:p>
        </p:txBody>
      </p:sp>
      <p:sp>
        <p:nvSpPr>
          <p:cNvPr id="3" name="Podnadpis 2"/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</p:spPr>
        <p:txBody>
          <a:bodyPr>
            <a:normAutofit/>
          </a:bodyPr>
          <a:lstStyle/>
          <a:p>
            <a:pPr lvl="0"/>
            <a:r>
              <a:rPr lang="cs-CZ" noProof="0" dirty="0" err="1"/>
              <a:t>Linear</a:t>
            </a:r>
            <a:r>
              <a:rPr lang="cs-CZ" noProof="0" dirty="0"/>
              <a:t> </a:t>
            </a:r>
            <a:r>
              <a:rPr lang="cs-CZ" noProof="0" dirty="0" err="1"/>
              <a:t>Programming</a:t>
            </a:r>
            <a:endParaRPr lang="en-GB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Linear programming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noProof="0" dirty="0"/>
              <a:t>Seeks to maximize or minimize a linear objective function</a:t>
            </a:r>
          </a:p>
          <a:p>
            <a:r>
              <a:rPr lang="en-GB" noProof="0" dirty="0"/>
              <a:t>Subject to a set of linear constraints.</a:t>
            </a:r>
          </a:p>
          <a:p>
            <a:r>
              <a:rPr lang="en-GB" noProof="0" dirty="0"/>
              <a:t>Lin</a:t>
            </a:r>
            <a:r>
              <a:rPr lang="cs-CZ" noProof="0" dirty="0"/>
              <a:t>e</a:t>
            </a:r>
            <a:r>
              <a:rPr lang="en-GB" noProof="0" dirty="0" err="1"/>
              <a:t>ar</a:t>
            </a:r>
            <a:r>
              <a:rPr lang="en-GB" noProof="0" dirty="0"/>
              <a:t> programming model consists of:</a:t>
            </a:r>
          </a:p>
          <a:p>
            <a:pPr lvl="1" eaLnBrk="0" hangingPunct="0">
              <a:lnSpc>
                <a:spcPct val="80000"/>
              </a:lnSpc>
            </a:pPr>
            <a:r>
              <a:rPr lang="en-GB" noProof="0" dirty="0"/>
              <a:t> A set of decision variables.</a:t>
            </a:r>
          </a:p>
          <a:p>
            <a:pPr lvl="1" eaLnBrk="0" hangingPunct="0">
              <a:lnSpc>
                <a:spcPct val="80000"/>
              </a:lnSpc>
            </a:pPr>
            <a:r>
              <a:rPr lang="en-GB" noProof="0" dirty="0"/>
              <a:t> An objective function.</a:t>
            </a:r>
          </a:p>
          <a:p>
            <a:pPr lvl="1" eaLnBrk="0" hangingPunct="0"/>
            <a:r>
              <a:rPr lang="en-US" dirty="0"/>
              <a:t> A set of constraints.</a:t>
            </a:r>
          </a:p>
          <a:p>
            <a:pPr lvl="1"/>
            <a:endParaRPr lang="cs-CZ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optimization model</a:t>
            </a:r>
            <a:endParaRPr lang="cs-CZ" dirty="0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/>
          </a:bodyPr>
          <a:lstStyle/>
          <a:p>
            <a:pPr algn="ctr">
              <a:buFont typeface="Wingdings" pitchFamily="2" charset="2"/>
              <a:buNone/>
            </a:pPr>
            <a:r>
              <a:rPr lang="cs-CZ" b="1" i="1" dirty="0"/>
              <a:t>min   </a:t>
            </a:r>
            <a:r>
              <a:rPr lang="cs-CZ" i="1" dirty="0"/>
              <a:t>z = c</a:t>
            </a:r>
            <a:r>
              <a:rPr lang="en-US" i="1" baseline="-25000" dirty="0"/>
              <a:t>1</a:t>
            </a:r>
            <a:r>
              <a:rPr lang="en-US" i="1" dirty="0"/>
              <a:t>x</a:t>
            </a:r>
            <a:r>
              <a:rPr lang="en-US" i="1" baseline="-25000" dirty="0"/>
              <a:t>1</a:t>
            </a:r>
            <a:r>
              <a:rPr lang="en-US" i="1" dirty="0"/>
              <a:t> + </a:t>
            </a:r>
            <a:r>
              <a:rPr lang="cs-CZ" i="1" dirty="0"/>
              <a:t>c</a:t>
            </a:r>
            <a:r>
              <a:rPr lang="en-US" i="1" baseline="-25000" dirty="0"/>
              <a:t>2</a:t>
            </a:r>
            <a:r>
              <a:rPr lang="en-US" i="1" dirty="0"/>
              <a:t>x</a:t>
            </a:r>
            <a:r>
              <a:rPr lang="en-US" i="1" baseline="-25000" dirty="0"/>
              <a:t>2</a:t>
            </a:r>
            <a:r>
              <a:rPr lang="en-US" i="1" dirty="0"/>
              <a:t> + … + </a:t>
            </a:r>
            <a:r>
              <a:rPr lang="cs-CZ" i="1" dirty="0"/>
              <a:t>c</a:t>
            </a:r>
            <a:r>
              <a:rPr lang="en-US" i="1" baseline="-25000" dirty="0" err="1"/>
              <a:t>n</a:t>
            </a:r>
            <a:r>
              <a:rPr lang="en-US" i="1" dirty="0" err="1"/>
              <a:t>x</a:t>
            </a:r>
            <a:r>
              <a:rPr lang="en-US" i="1" baseline="-25000" dirty="0" err="1"/>
              <a:t>n</a:t>
            </a:r>
            <a:r>
              <a:rPr lang="en-US" i="1" dirty="0"/>
              <a:t> </a:t>
            </a:r>
            <a:endParaRPr lang="cs-CZ" i="1" dirty="0"/>
          </a:p>
          <a:p>
            <a:pPr algn="ctr">
              <a:buFont typeface="Wingdings" pitchFamily="2" charset="2"/>
              <a:buNone/>
            </a:pPr>
            <a:endParaRPr lang="en-GB" i="1" noProof="0" dirty="0"/>
          </a:p>
          <a:p>
            <a:pPr>
              <a:buFont typeface="Wingdings" pitchFamily="2" charset="2"/>
              <a:buNone/>
            </a:pPr>
            <a:r>
              <a:rPr lang="en-GB" b="1" i="1" noProof="0" dirty="0"/>
              <a:t>Subject to</a:t>
            </a:r>
          </a:p>
          <a:p>
            <a:pPr>
              <a:buFont typeface="Wingdings" pitchFamily="2" charset="2"/>
              <a:buNone/>
            </a:pPr>
            <a:endParaRPr lang="en-GB" b="1" i="1" noProof="0" dirty="0"/>
          </a:p>
          <a:p>
            <a:pPr algn="ctr">
              <a:buFont typeface="Wingdings" pitchFamily="2" charset="2"/>
              <a:buNone/>
            </a:pPr>
            <a:r>
              <a:rPr lang="en-GB" i="1" noProof="0" dirty="0"/>
              <a:t>a</a:t>
            </a:r>
            <a:r>
              <a:rPr lang="en-GB" i="1" baseline="-25000" noProof="0" dirty="0"/>
              <a:t>11</a:t>
            </a:r>
            <a:r>
              <a:rPr lang="en-GB" i="1" noProof="0" dirty="0"/>
              <a:t>x</a:t>
            </a:r>
            <a:r>
              <a:rPr lang="en-GB" i="1" baseline="-25000" noProof="0" dirty="0"/>
              <a:t>1</a:t>
            </a:r>
            <a:r>
              <a:rPr lang="en-GB" i="1" noProof="0" dirty="0"/>
              <a:t> + a</a:t>
            </a:r>
            <a:r>
              <a:rPr lang="en-GB" i="1" baseline="-25000" noProof="0" dirty="0"/>
              <a:t>12</a:t>
            </a:r>
            <a:r>
              <a:rPr lang="en-GB" i="1" noProof="0" dirty="0"/>
              <a:t>x</a:t>
            </a:r>
            <a:r>
              <a:rPr lang="en-GB" i="1" baseline="-25000" noProof="0" dirty="0"/>
              <a:t>2</a:t>
            </a:r>
            <a:r>
              <a:rPr lang="en-GB" i="1" noProof="0" dirty="0"/>
              <a:t> + … + a</a:t>
            </a:r>
            <a:r>
              <a:rPr lang="en-GB" i="1" baseline="-25000" noProof="0" dirty="0"/>
              <a:t>1n</a:t>
            </a:r>
            <a:r>
              <a:rPr lang="en-GB" i="1" noProof="0" dirty="0"/>
              <a:t>x</a:t>
            </a:r>
            <a:r>
              <a:rPr lang="en-GB" i="1" baseline="-25000" noProof="0" dirty="0"/>
              <a:t>n</a:t>
            </a:r>
            <a:r>
              <a:rPr lang="en-GB" i="1" noProof="0" dirty="0"/>
              <a:t> ≥ b</a:t>
            </a:r>
            <a:r>
              <a:rPr lang="en-GB" i="1" baseline="-25000" noProof="0" dirty="0"/>
              <a:t>1</a:t>
            </a:r>
            <a:r>
              <a:rPr lang="en-GB" i="1" noProof="0" dirty="0"/>
              <a:t> </a:t>
            </a:r>
          </a:p>
          <a:p>
            <a:pPr algn="ctr">
              <a:buFont typeface="Wingdings" pitchFamily="2" charset="2"/>
              <a:buNone/>
            </a:pPr>
            <a:r>
              <a:rPr lang="en-GB" i="1" noProof="0" dirty="0"/>
              <a:t> a</a:t>
            </a:r>
            <a:r>
              <a:rPr lang="en-GB" i="1" baseline="-25000" noProof="0" dirty="0"/>
              <a:t>21</a:t>
            </a:r>
            <a:r>
              <a:rPr lang="en-GB" i="1" noProof="0" dirty="0"/>
              <a:t>x</a:t>
            </a:r>
            <a:r>
              <a:rPr lang="en-GB" i="1" baseline="-25000" noProof="0" dirty="0"/>
              <a:t>1</a:t>
            </a:r>
            <a:r>
              <a:rPr lang="en-GB" i="1" noProof="0" dirty="0"/>
              <a:t> + a</a:t>
            </a:r>
            <a:r>
              <a:rPr lang="en-GB" i="1" baseline="-25000" noProof="0" dirty="0"/>
              <a:t>22</a:t>
            </a:r>
            <a:r>
              <a:rPr lang="en-GB" i="1" noProof="0" dirty="0"/>
              <a:t>x</a:t>
            </a:r>
            <a:r>
              <a:rPr lang="en-GB" i="1" baseline="-25000" noProof="0" dirty="0"/>
              <a:t>2</a:t>
            </a:r>
            <a:r>
              <a:rPr lang="en-GB" i="1" noProof="0" dirty="0"/>
              <a:t> + … + a</a:t>
            </a:r>
            <a:r>
              <a:rPr lang="en-GB" i="1" baseline="-25000" noProof="0" dirty="0"/>
              <a:t>2n</a:t>
            </a:r>
            <a:r>
              <a:rPr lang="en-GB" i="1" noProof="0" dirty="0"/>
              <a:t>x</a:t>
            </a:r>
            <a:r>
              <a:rPr lang="en-GB" i="1" baseline="-25000" noProof="0" dirty="0"/>
              <a:t>n</a:t>
            </a:r>
            <a:r>
              <a:rPr lang="en-GB" i="1" noProof="0" dirty="0"/>
              <a:t> = b</a:t>
            </a:r>
            <a:r>
              <a:rPr lang="en-GB" i="1" baseline="-25000" noProof="0" dirty="0"/>
              <a:t>2</a:t>
            </a:r>
            <a:r>
              <a:rPr lang="en-GB" i="1" noProof="0" dirty="0"/>
              <a:t> </a:t>
            </a:r>
          </a:p>
          <a:p>
            <a:pPr algn="ctr">
              <a:buFont typeface="Wingdings" pitchFamily="2" charset="2"/>
              <a:buNone/>
            </a:pPr>
            <a:r>
              <a:rPr lang="en-GB" i="1" noProof="0" dirty="0"/>
              <a:t>   </a:t>
            </a:r>
            <a:r>
              <a:rPr lang="en-GB" noProof="0" dirty="0"/>
              <a:t> : </a:t>
            </a:r>
          </a:p>
          <a:p>
            <a:pPr algn="ctr">
              <a:buFont typeface="Wingdings" pitchFamily="2" charset="2"/>
              <a:buNone/>
            </a:pPr>
            <a:r>
              <a:rPr lang="en-GB" i="1" noProof="0" dirty="0"/>
              <a:t>a</a:t>
            </a:r>
            <a:r>
              <a:rPr lang="en-GB" i="1" baseline="-25000" noProof="0" dirty="0"/>
              <a:t>m1</a:t>
            </a:r>
            <a:r>
              <a:rPr lang="en-GB" i="1" noProof="0" dirty="0"/>
              <a:t>x</a:t>
            </a:r>
            <a:r>
              <a:rPr lang="en-GB" i="1" baseline="-25000" noProof="0" dirty="0"/>
              <a:t>1</a:t>
            </a:r>
            <a:r>
              <a:rPr lang="en-GB" i="1" noProof="0" dirty="0"/>
              <a:t> + a</a:t>
            </a:r>
            <a:r>
              <a:rPr lang="en-GB" i="1" baseline="-25000" noProof="0" dirty="0"/>
              <a:t>m2</a:t>
            </a:r>
            <a:r>
              <a:rPr lang="en-GB" i="1" noProof="0" dirty="0"/>
              <a:t>x</a:t>
            </a:r>
            <a:r>
              <a:rPr lang="en-GB" i="1" baseline="-25000" noProof="0" dirty="0"/>
              <a:t>2</a:t>
            </a:r>
            <a:r>
              <a:rPr lang="en-GB" i="1" noProof="0" dirty="0"/>
              <a:t> + … + </a:t>
            </a:r>
            <a:r>
              <a:rPr lang="en-GB" i="1" noProof="0" dirty="0" err="1"/>
              <a:t>a</a:t>
            </a:r>
            <a:r>
              <a:rPr lang="en-GB" i="1" baseline="-25000" noProof="0" dirty="0" err="1"/>
              <a:t>mn</a:t>
            </a:r>
            <a:r>
              <a:rPr lang="en-GB" i="1" noProof="0" dirty="0" err="1"/>
              <a:t>x</a:t>
            </a:r>
            <a:r>
              <a:rPr lang="en-GB" i="1" baseline="-25000" noProof="0" dirty="0" err="1"/>
              <a:t>n</a:t>
            </a:r>
            <a:r>
              <a:rPr lang="en-GB" i="1" noProof="0" dirty="0"/>
              <a:t> ≤ </a:t>
            </a:r>
            <a:r>
              <a:rPr lang="en-GB" i="1" noProof="0" dirty="0" err="1"/>
              <a:t>b</a:t>
            </a:r>
            <a:r>
              <a:rPr lang="en-GB" i="1" baseline="-25000" noProof="0" dirty="0" err="1"/>
              <a:t>m</a:t>
            </a:r>
            <a:r>
              <a:rPr lang="en-GB" i="1" noProof="0" dirty="0"/>
              <a:t>,</a:t>
            </a:r>
            <a:r>
              <a:rPr lang="en-GB" noProof="0" dirty="0"/>
              <a:t> </a:t>
            </a:r>
          </a:p>
          <a:p>
            <a:pPr algn="ctr">
              <a:buFont typeface="Wingdings" pitchFamily="2" charset="2"/>
              <a:buNone/>
            </a:pPr>
            <a:endParaRPr lang="en-GB" sz="1200" noProof="0" dirty="0"/>
          </a:p>
          <a:p>
            <a:pPr>
              <a:spcAft>
                <a:spcPts val="300"/>
              </a:spcAft>
              <a:buFont typeface="Wingdings" pitchFamily="2" charset="2"/>
              <a:buNone/>
            </a:pPr>
            <a:r>
              <a:rPr lang="en-GB" b="1" i="1" noProof="0" dirty="0"/>
              <a:t>			  	 </a:t>
            </a:r>
            <a:r>
              <a:rPr lang="en-GB" b="1" i="1" noProof="0" dirty="0" err="1"/>
              <a:t>x</a:t>
            </a:r>
            <a:r>
              <a:rPr lang="en-GB" i="1" baseline="30000" noProof="0" dirty="0" err="1"/>
              <a:t>T</a:t>
            </a:r>
            <a:r>
              <a:rPr lang="en-GB" i="1" noProof="0" dirty="0"/>
              <a:t>=(x</a:t>
            </a:r>
            <a:r>
              <a:rPr lang="en-GB" i="1" baseline="-25000" noProof="0" dirty="0"/>
              <a:t>1</a:t>
            </a:r>
            <a:r>
              <a:rPr lang="en-GB" i="1" noProof="0" dirty="0"/>
              <a:t>, x</a:t>
            </a:r>
            <a:r>
              <a:rPr lang="en-GB" i="1" baseline="-25000" noProof="0" dirty="0"/>
              <a:t>2</a:t>
            </a:r>
            <a:r>
              <a:rPr lang="en-GB" i="1" noProof="0" dirty="0"/>
              <a:t>, ..., </a:t>
            </a:r>
            <a:r>
              <a:rPr lang="en-GB" i="1" noProof="0" dirty="0" err="1"/>
              <a:t>x</a:t>
            </a:r>
            <a:r>
              <a:rPr lang="en-GB" i="1" baseline="-25000" noProof="0" dirty="0" err="1"/>
              <a:t>n</a:t>
            </a:r>
            <a:r>
              <a:rPr lang="en-GB" i="1" noProof="0" dirty="0"/>
              <a:t>)</a:t>
            </a:r>
            <a:r>
              <a:rPr lang="en-GB" i="1" baseline="30000" noProof="0" dirty="0"/>
              <a:t>T </a:t>
            </a:r>
            <a:r>
              <a:rPr lang="en-GB" i="1" noProof="0" dirty="0"/>
              <a:t>≥ 0 </a:t>
            </a:r>
            <a:r>
              <a:rPr lang="en-GB" i="1" noProof="0" dirty="0">
                <a:sym typeface="Symbol" pitchFamily="18" charset="2"/>
              </a:rPr>
              <a:t></a:t>
            </a:r>
            <a:r>
              <a:rPr lang="en-GB" i="1" noProof="0" dirty="0"/>
              <a:t> </a:t>
            </a:r>
            <a:r>
              <a:rPr lang="en-GB" i="1" noProof="0" dirty="0" err="1"/>
              <a:t>R</a:t>
            </a:r>
            <a:r>
              <a:rPr lang="en-GB" i="1" baseline="30000" noProof="0" dirty="0" err="1"/>
              <a:t>n</a:t>
            </a:r>
            <a:endParaRPr lang="en-GB" b="1" i="1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Linear optimization model</a:t>
            </a:r>
          </a:p>
        </p:txBody>
      </p:sp>
      <p:graphicFrame>
        <p:nvGraphicFramePr>
          <p:cNvPr id="1026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555875" y="1916113"/>
          <a:ext cx="3571875" cy="345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0800" imgH="1143000" progId="">
                  <p:embed/>
                </p:oleObj>
              </mc:Choice>
              <mc:Fallback>
                <p:oleObj name="Equation" r:id="rId3" imgW="1180800" imgH="11430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1916113"/>
                        <a:ext cx="3571875" cy="345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Simplex Method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sz="2800" dirty="0"/>
              <a:t>Simplex method </a:t>
            </a:r>
          </a:p>
          <a:p>
            <a:pPr lvl="1" algn="just"/>
            <a:r>
              <a:rPr lang="en-US" sz="2400" dirty="0"/>
              <a:t>Starts with a feasible solution </a:t>
            </a:r>
          </a:p>
          <a:p>
            <a:pPr lvl="1" algn="just"/>
            <a:r>
              <a:rPr lang="en-US" sz="2400" dirty="0"/>
              <a:t>Tests whether or not it is optimum. </a:t>
            </a:r>
          </a:p>
          <a:p>
            <a:pPr lvl="1" algn="just"/>
            <a:r>
              <a:rPr lang="en-US" sz="2400" dirty="0"/>
              <a:t>If not, the method proceeds a better solution</a:t>
            </a:r>
            <a:endParaRPr lang="cs-CZ" sz="2400" dirty="0"/>
          </a:p>
          <a:p>
            <a:pPr lvl="1" algn="just"/>
            <a:endParaRPr lang="en-US" sz="2400" dirty="0"/>
          </a:p>
          <a:p>
            <a:pPr algn="just"/>
            <a:r>
              <a:rPr lang="en-US" sz="2800" dirty="0"/>
              <a:t>It is based on Jordanian elimination procedure.</a:t>
            </a:r>
            <a:endParaRPr lang="cs-CZ" sz="2800" dirty="0"/>
          </a:p>
          <a:p>
            <a:pPr algn="just"/>
            <a:endParaRPr lang="en-US" sz="2800" dirty="0"/>
          </a:p>
          <a:p>
            <a:pPr lvl="1" algn="just"/>
            <a:r>
              <a:rPr lang="en-US" sz="2400" dirty="0"/>
              <a:t>It deals with equations and not with </a:t>
            </a:r>
            <a:r>
              <a:rPr lang="en-US" sz="2400" dirty="0" err="1"/>
              <a:t>inequations</a:t>
            </a:r>
            <a:endParaRPr lang="en-US" sz="2400" dirty="0"/>
          </a:p>
          <a:p>
            <a:endParaRPr lang="cs-CZ" u="sn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Simplex Method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33400" indent="-533400" algn="just">
              <a:lnSpc>
                <a:spcPct val="90000"/>
              </a:lnSpc>
            </a:pPr>
            <a:r>
              <a:rPr lang="en-GB" sz="2800" noProof="0" dirty="0"/>
              <a:t>Converting LP into equations</a:t>
            </a:r>
            <a:endParaRPr lang="en-GB" sz="2800" u="sng" noProof="0" dirty="0"/>
          </a:p>
          <a:p>
            <a:pPr marL="853440" lvl="1" indent="-533400" algn="just">
              <a:lnSpc>
                <a:spcPct val="90000"/>
              </a:lnSpc>
            </a:pPr>
            <a:r>
              <a:rPr lang="en-GB" sz="2500" noProof="0" dirty="0"/>
              <a:t>Add </a:t>
            </a:r>
            <a:r>
              <a:rPr lang="en-GB" sz="2500" b="1" noProof="0" dirty="0"/>
              <a:t>slack</a:t>
            </a:r>
            <a:r>
              <a:rPr lang="en-GB" sz="2500" noProof="0" dirty="0"/>
              <a:t> variables</a:t>
            </a:r>
          </a:p>
          <a:p>
            <a:pPr marL="853440" lvl="1" indent="-533400" algn="just">
              <a:lnSpc>
                <a:spcPct val="90000"/>
              </a:lnSpc>
            </a:pPr>
            <a:r>
              <a:rPr lang="en-GB" sz="2500" b="1" noProof="0" dirty="0"/>
              <a:t>Reserve:</a:t>
            </a:r>
            <a:endParaRPr lang="en-GB" sz="2400" b="1" noProof="0" dirty="0"/>
          </a:p>
          <a:p>
            <a:pPr marL="1295400" lvl="2" indent="-381000" algn="just">
              <a:lnSpc>
                <a:spcPct val="90000"/>
              </a:lnSpc>
            </a:pPr>
            <a:endParaRPr lang="en-GB" sz="2000" b="1" noProof="0" dirty="0"/>
          </a:p>
          <a:p>
            <a:pPr marL="1295400" lvl="2" indent="-381000" algn="just">
              <a:lnSpc>
                <a:spcPct val="90000"/>
              </a:lnSpc>
            </a:pPr>
            <a:endParaRPr lang="en-GB" sz="2000" b="1" noProof="0" dirty="0"/>
          </a:p>
          <a:p>
            <a:pPr marL="1295400" lvl="2" indent="-381000" algn="just">
              <a:lnSpc>
                <a:spcPct val="90000"/>
              </a:lnSpc>
            </a:pPr>
            <a:endParaRPr lang="en-GB" sz="2000" noProof="0" dirty="0"/>
          </a:p>
          <a:p>
            <a:pPr marL="853440" lvl="1" indent="-533400" algn="just">
              <a:lnSpc>
                <a:spcPct val="90000"/>
              </a:lnSpc>
            </a:pPr>
            <a:endParaRPr lang="en-GB" sz="2500" b="1" noProof="0" dirty="0"/>
          </a:p>
          <a:p>
            <a:pPr marL="853440" lvl="1" indent="-533400" algn="just">
              <a:lnSpc>
                <a:spcPct val="90000"/>
              </a:lnSpc>
            </a:pPr>
            <a:r>
              <a:rPr lang="en-GB" sz="2500" b="1" noProof="0" dirty="0"/>
              <a:t>Surplus:</a:t>
            </a:r>
          </a:p>
        </p:txBody>
      </p:sp>
      <p:graphicFrame>
        <p:nvGraphicFramePr>
          <p:cNvPr id="4098" name="Object 5"/>
          <p:cNvGraphicFramePr>
            <a:graphicFrameLocks noChangeAspect="1"/>
          </p:cNvGraphicFramePr>
          <p:nvPr/>
        </p:nvGraphicFramePr>
        <p:xfrm>
          <a:off x="2915816" y="2852936"/>
          <a:ext cx="294640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98320" imgH="431640" progId="">
                  <p:embed/>
                </p:oleObj>
              </mc:Choice>
              <mc:Fallback>
                <p:oleObj name="Equation" r:id="rId3" imgW="1498320" imgH="43164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2852936"/>
                        <a:ext cx="2946400" cy="849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4"/>
          <p:cNvGraphicFramePr>
            <a:graphicFrameLocks noChangeAspect="1"/>
          </p:cNvGraphicFramePr>
          <p:nvPr/>
        </p:nvGraphicFramePr>
        <p:xfrm>
          <a:off x="2876550" y="4797425"/>
          <a:ext cx="3103563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98320" imgH="431640" progId="">
                  <p:embed/>
                </p:oleObj>
              </mc:Choice>
              <mc:Fallback>
                <p:oleObj name="Equation" r:id="rId5" imgW="1498320" imgH="43164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550" y="4797425"/>
                        <a:ext cx="3103563" cy="893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Simplex method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GB" sz="2800" noProof="0" dirty="0"/>
              <a:t>Converting LP into a canonical form</a:t>
            </a:r>
          </a:p>
          <a:p>
            <a:pPr lvl="1">
              <a:lnSpc>
                <a:spcPct val="90000"/>
              </a:lnSpc>
            </a:pPr>
            <a:r>
              <a:rPr lang="en-GB" sz="2700" noProof="0" dirty="0"/>
              <a:t>Add </a:t>
            </a:r>
            <a:r>
              <a:rPr lang="en-GB" sz="2700" b="1" noProof="0" dirty="0"/>
              <a:t>artificial</a:t>
            </a:r>
            <a:r>
              <a:rPr lang="en-GB" sz="2700" noProof="0" dirty="0"/>
              <a:t> variables</a:t>
            </a:r>
            <a:endParaRPr lang="en-GB" sz="2700" i="1" noProof="0" dirty="0"/>
          </a:p>
          <a:p>
            <a:pPr lvl="1">
              <a:lnSpc>
                <a:spcPct val="90000"/>
              </a:lnSpc>
            </a:pPr>
            <a:endParaRPr lang="en-GB" sz="2000" i="1" noProof="0" dirty="0"/>
          </a:p>
          <a:p>
            <a:pPr lvl="1">
              <a:lnSpc>
                <a:spcPct val="90000"/>
              </a:lnSpc>
            </a:pPr>
            <a:endParaRPr lang="en-GB" sz="2000" i="1" noProof="0" dirty="0"/>
          </a:p>
          <a:p>
            <a:pPr lvl="1">
              <a:lnSpc>
                <a:spcPct val="90000"/>
              </a:lnSpc>
            </a:pPr>
            <a:endParaRPr lang="en-GB" sz="2000" i="1" noProof="0" dirty="0"/>
          </a:p>
          <a:p>
            <a:pPr lvl="1">
              <a:lnSpc>
                <a:spcPct val="90000"/>
              </a:lnSpc>
            </a:pPr>
            <a:endParaRPr lang="en-GB" sz="2000" i="1" noProof="0" dirty="0"/>
          </a:p>
          <a:p>
            <a:pPr>
              <a:lnSpc>
                <a:spcPct val="90000"/>
              </a:lnSpc>
            </a:pPr>
            <a:endParaRPr lang="en-GB" sz="2400" i="1" noProof="0" dirty="0"/>
          </a:p>
          <a:p>
            <a:pPr>
              <a:lnSpc>
                <a:spcPct val="90000"/>
              </a:lnSpc>
            </a:pPr>
            <a:endParaRPr lang="en-GB" sz="2400" i="1" noProof="0" dirty="0"/>
          </a:p>
          <a:p>
            <a:pPr lvl="1">
              <a:lnSpc>
                <a:spcPct val="90000"/>
              </a:lnSpc>
            </a:pPr>
            <a:r>
              <a:rPr lang="cs-CZ" sz="2400" noProof="0" dirty="0" err="1"/>
              <a:t>High</a:t>
            </a:r>
            <a:r>
              <a:rPr lang="cs-CZ" sz="2400" noProof="0" dirty="0"/>
              <a:t> unit </a:t>
            </a:r>
            <a:r>
              <a:rPr lang="cs-CZ" sz="2400" noProof="0" dirty="0" err="1"/>
              <a:t>costs</a:t>
            </a:r>
            <a:r>
              <a:rPr lang="cs-CZ" sz="2400" noProof="0" dirty="0"/>
              <a:t>:</a:t>
            </a:r>
            <a:r>
              <a:rPr lang="en-GB" sz="2400" noProof="0" dirty="0"/>
              <a:t> M</a:t>
            </a:r>
          </a:p>
          <a:p>
            <a:pPr>
              <a:lnSpc>
                <a:spcPct val="90000"/>
              </a:lnSpc>
              <a:buNone/>
            </a:pPr>
            <a:endParaRPr lang="en-GB" sz="3600" i="1" noProof="0" dirty="0"/>
          </a:p>
          <a:p>
            <a:pPr lvl="1" algn="ctr">
              <a:lnSpc>
                <a:spcPct val="90000"/>
              </a:lnSpc>
              <a:buNone/>
            </a:pPr>
            <a:endParaRPr lang="en-GB" sz="2000" noProof="0" dirty="0"/>
          </a:p>
          <a:p>
            <a:pPr lvl="1" algn="ctr">
              <a:lnSpc>
                <a:spcPct val="90000"/>
              </a:lnSpc>
              <a:buNone/>
            </a:pPr>
            <a:endParaRPr lang="en-GB" sz="2000" noProof="0" dirty="0"/>
          </a:p>
          <a:p>
            <a:pPr lvl="1" algn="ctr">
              <a:lnSpc>
                <a:spcPct val="90000"/>
              </a:lnSpc>
              <a:buNone/>
            </a:pPr>
            <a:r>
              <a:rPr lang="en-GB" sz="2400" noProof="0" dirty="0"/>
              <a:t>Where</a:t>
            </a:r>
            <a:r>
              <a:rPr lang="en-GB" sz="2400" b="1" noProof="0" dirty="0"/>
              <a:t> </a:t>
            </a:r>
            <a:r>
              <a:rPr lang="en-GB" sz="2400" b="1" noProof="0" dirty="0" err="1"/>
              <a:t>o</a:t>
            </a:r>
            <a:r>
              <a:rPr lang="en-GB" sz="2400" b="1" baseline="30000" noProof="0" dirty="0" err="1"/>
              <a:t>T</a:t>
            </a:r>
            <a:r>
              <a:rPr lang="en-GB" sz="2400" b="1" baseline="30000" noProof="0" dirty="0"/>
              <a:t> </a:t>
            </a:r>
            <a:r>
              <a:rPr lang="en-GB" sz="2400" noProof="0" dirty="0"/>
              <a:t>= (0;0;0…..0) and</a:t>
            </a:r>
            <a:r>
              <a:rPr lang="en-GB" sz="2400" b="1" noProof="0" dirty="0"/>
              <a:t> </a:t>
            </a:r>
            <a:r>
              <a:rPr lang="en-GB" sz="2400" b="1" noProof="0" dirty="0" err="1"/>
              <a:t>m</a:t>
            </a:r>
            <a:r>
              <a:rPr lang="en-GB" sz="2400" b="1" baseline="30000" noProof="0" dirty="0" err="1"/>
              <a:t>T</a:t>
            </a:r>
            <a:r>
              <a:rPr lang="en-GB" sz="2400" b="1" baseline="30000" noProof="0" dirty="0"/>
              <a:t> </a:t>
            </a:r>
            <a:r>
              <a:rPr lang="en-GB" sz="2400" noProof="0" dirty="0"/>
              <a:t>= (M;M;M…..M)</a:t>
            </a:r>
            <a:r>
              <a:rPr lang="en-GB" sz="2400" i="1" noProof="0" dirty="0"/>
              <a:t> </a:t>
            </a:r>
          </a:p>
          <a:p>
            <a:pPr lvl="1" algn="ctr">
              <a:lnSpc>
                <a:spcPct val="90000"/>
              </a:lnSpc>
              <a:buNone/>
            </a:pPr>
            <a:endParaRPr lang="en-GB" sz="2000" i="1" noProof="0" dirty="0"/>
          </a:p>
          <a:p>
            <a:pPr lvl="1">
              <a:lnSpc>
                <a:spcPct val="90000"/>
              </a:lnSpc>
            </a:pPr>
            <a:r>
              <a:rPr lang="en-GB" sz="2400" dirty="0"/>
              <a:t>M could be stated as 100*bigger number than other prices, negative for maximization, positive for minimisation.</a:t>
            </a:r>
          </a:p>
        </p:txBody>
      </p:sp>
      <p:graphicFrame>
        <p:nvGraphicFramePr>
          <p:cNvPr id="2051" name="Object 4"/>
          <p:cNvGraphicFramePr>
            <a:graphicFrameLocks noChangeAspect="1"/>
          </p:cNvGraphicFramePr>
          <p:nvPr/>
        </p:nvGraphicFramePr>
        <p:xfrm>
          <a:off x="1907704" y="2564904"/>
          <a:ext cx="6119812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33640" imgH="482400" progId="">
                  <p:embed/>
                </p:oleObj>
              </mc:Choice>
              <mc:Fallback>
                <p:oleObj name="Equation" r:id="rId3" imgW="2933640" imgH="4824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2564904"/>
                        <a:ext cx="6119812" cy="1004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5"/>
          <p:cNvGraphicFramePr>
            <a:graphicFrameLocks noChangeAspect="1"/>
          </p:cNvGraphicFramePr>
          <p:nvPr/>
        </p:nvGraphicFramePr>
        <p:xfrm>
          <a:off x="3203848" y="4365104"/>
          <a:ext cx="263366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31560" imgH="228600" progId="">
                  <p:embed/>
                </p:oleObj>
              </mc:Choice>
              <mc:Fallback>
                <p:oleObj name="Equation" r:id="rId5" imgW="1231560" imgH="2286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4365104"/>
                        <a:ext cx="2633663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Simplex table</a:t>
            </a:r>
          </a:p>
        </p:txBody>
      </p:sp>
      <p:graphicFrame>
        <p:nvGraphicFramePr>
          <p:cNvPr id="4" name="Tabulka 3"/>
          <p:cNvGraphicFramePr>
            <a:graphicFrameLocks noGrp="1"/>
          </p:cNvGraphicFramePr>
          <p:nvPr/>
        </p:nvGraphicFramePr>
        <p:xfrm>
          <a:off x="179512" y="2348880"/>
          <a:ext cx="8748465" cy="36224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3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0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1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056">
                <a:tc rowSpan="2"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Basis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baseline="0" noProof="0" dirty="0" err="1"/>
                        <a:t>C</a:t>
                      </a:r>
                      <a:r>
                        <a:rPr lang="en-GB" baseline="-25000" noProof="0" dirty="0" err="1"/>
                        <a:t>j</a:t>
                      </a:r>
                      <a:endParaRPr lang="en-GB" baseline="-25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/>
                        <a:t>Names of variables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noProof="0"/>
                        <a:t>b</a:t>
                      </a:r>
                      <a:r>
                        <a:rPr lang="en-GB" baseline="-25000" noProof="0"/>
                        <a:t>i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baseline="0" noProof="0" dirty="0">
                          <a:latin typeface="Times New Roman"/>
                          <a:cs typeface="Times New Roman"/>
                        </a:rPr>
                        <a:t>Ω</a:t>
                      </a:r>
                      <a:endParaRPr lang="en-GB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Objective</a:t>
                      </a:r>
                      <a:r>
                        <a:rPr lang="en-GB" baseline="0" noProof="0" dirty="0"/>
                        <a:t> function coefficients</a:t>
                      </a:r>
                      <a:endParaRPr lang="en-GB" noProof="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8559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Names</a:t>
                      </a:r>
                      <a:r>
                        <a:rPr lang="en-GB" baseline="0" noProof="0" dirty="0"/>
                        <a:t> of basic variables</a:t>
                      </a:r>
                      <a:endParaRPr lang="en-GB" noProof="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Basic</a:t>
                      </a:r>
                      <a:r>
                        <a:rPr lang="en-GB" baseline="0" noProof="0" dirty="0"/>
                        <a:t> variable</a:t>
                      </a:r>
                      <a:r>
                        <a:rPr lang="cs-CZ" baseline="0" noProof="0" dirty="0"/>
                        <a:t>s</a:t>
                      </a:r>
                      <a:r>
                        <a:rPr lang="en-GB" baseline="0" noProof="0" dirty="0"/>
                        <a:t> objective function coefficients</a:t>
                      </a:r>
                      <a:endParaRPr lang="en-GB" noProof="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Left sides of 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/>
                        <a:t>RHS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noProof="0" dirty="0"/>
                        <a:t>Test for</a:t>
                      </a:r>
                      <a:r>
                        <a:rPr lang="en-GB" baseline="0" noProof="0" dirty="0"/>
                        <a:t> feasibility</a:t>
                      </a:r>
                    </a:p>
                    <a:p>
                      <a:endParaRPr lang="en-GB" noProof="0" dirty="0"/>
                    </a:p>
                  </a:txBody>
                  <a:tcPr vert="vert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743">
                <a:tc gridSpan="2">
                  <a:txBody>
                    <a:bodyPr/>
                    <a:lstStyle/>
                    <a:p>
                      <a:pPr algn="ctr"/>
                      <a:r>
                        <a:rPr lang="en-GB" noProof="0" dirty="0" err="1"/>
                        <a:t>Z</a:t>
                      </a:r>
                      <a:r>
                        <a:rPr lang="en-GB" baseline="-25000" noProof="0" dirty="0" err="1"/>
                        <a:t>j</a:t>
                      </a:r>
                      <a:r>
                        <a:rPr lang="en-GB" baseline="-25000" noProof="0" dirty="0"/>
                        <a:t> </a:t>
                      </a:r>
                      <a:r>
                        <a:rPr lang="en-GB" noProof="0" dirty="0"/>
                        <a:t>– </a:t>
                      </a:r>
                      <a:r>
                        <a:rPr lang="cs-CZ" noProof="0" dirty="0"/>
                        <a:t>c</a:t>
                      </a:r>
                      <a:r>
                        <a:rPr lang="en-GB" baseline="-25000" noProof="0" dirty="0"/>
                        <a:t>j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Test for optimality, shadow prices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Actual value of objective function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Sensitivity </a:t>
            </a:r>
            <a:r>
              <a:rPr lang="cs-CZ" dirty="0" err="1"/>
              <a:t>analysis</a:t>
            </a:r>
            <a:r>
              <a:rPr lang="cs-CZ" dirty="0"/>
              <a:t> (I)</a:t>
            </a:r>
          </a:p>
        </p:txBody>
      </p:sp>
      <p:graphicFrame>
        <p:nvGraphicFramePr>
          <p:cNvPr id="20" name="Tabulka 19"/>
          <p:cNvGraphicFramePr>
            <a:graphicFrameLocks noGrp="1"/>
          </p:cNvGraphicFramePr>
          <p:nvPr/>
        </p:nvGraphicFramePr>
        <p:xfrm>
          <a:off x="2123728" y="2420888"/>
          <a:ext cx="6096000" cy="6680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cs-CZ" b="1" i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b="1" i="1" dirty="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b="1" i="1" dirty="0"/>
                        <a:t>I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cs-CZ" b="1" i="1" dirty="0"/>
                        <a:t>=</a:t>
                      </a:r>
                    </a:p>
                  </a:txBody>
                  <a:tcPr anchor="ctr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b="1" i="1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b="1" i="1" dirty="0" err="1"/>
                        <a:t>c</a:t>
                      </a:r>
                      <a:r>
                        <a:rPr lang="cs-CZ" b="1" i="1" baseline="30000" dirty="0" err="1"/>
                        <a:t>B</a:t>
                      </a:r>
                      <a:endParaRPr lang="cs-CZ" b="1" i="1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b="1" i="1" dirty="0" err="1"/>
                        <a:t>c</a:t>
                      </a:r>
                      <a:r>
                        <a:rPr lang="cs-CZ" b="1" i="1" strike="noStrike" baseline="30000" dirty="0" err="1"/>
                        <a:t>N</a:t>
                      </a:r>
                      <a:endParaRPr lang="cs-CZ" b="1" i="1" strike="noStrike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Objekt 20"/>
          <p:cNvGraphicFramePr>
            <a:graphicFrameLocks noChangeAspect="1"/>
          </p:cNvGraphicFramePr>
          <p:nvPr/>
        </p:nvGraphicFramePr>
        <p:xfrm>
          <a:off x="4593208" y="3261742"/>
          <a:ext cx="101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101520" imgH="190440" progId="Equation.3">
                  <p:embed/>
                </p:oleObj>
              </mc:Choice>
              <mc:Fallback>
                <p:oleObj name="Rovnice" r:id="rId3" imgW="101520" imgH="1904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3208" y="3261742"/>
                        <a:ext cx="10160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Tabulka 22"/>
          <p:cNvGraphicFramePr>
            <a:graphicFrameLocks noGrp="1"/>
          </p:cNvGraphicFramePr>
          <p:nvPr/>
        </p:nvGraphicFramePr>
        <p:xfrm>
          <a:off x="2123728" y="4869160"/>
          <a:ext cx="6096000" cy="6680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cs-CZ" b="1" i="1" dirty="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b="1" i="1" dirty="0"/>
                        <a:t>N</a:t>
                      </a:r>
                      <a:r>
                        <a:rPr lang="cs-CZ" b="1" i="1" dirty="0">
                          <a:latin typeface="Calibri" pitchFamily="34" charset="0"/>
                          <a:cs typeface="Arial" pitchFamily="34" charset="0"/>
                        </a:rPr>
                        <a:t>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b="1" i="1" dirty="0"/>
                        <a:t>B</a:t>
                      </a:r>
                      <a:r>
                        <a:rPr lang="cs-CZ" b="0" i="0" baseline="30000" dirty="0"/>
                        <a:t>-1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cs-CZ" b="1" i="1" dirty="0"/>
                        <a:t>=</a:t>
                      </a:r>
                    </a:p>
                  </a:txBody>
                  <a:tcPr anchor="ctr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b="1" i="1" dirty="0">
                          <a:latin typeface="Arial" pitchFamily="34" charset="0"/>
                          <a:cs typeface="Arial" pitchFamily="34" charset="0"/>
                        </a:rPr>
                        <a:t>β</a:t>
                      </a:r>
                      <a:endParaRPr lang="cs-CZ" b="1" i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b="1" i="1" dirty="0"/>
                        <a:t>0</a:t>
                      </a:r>
                      <a:endParaRPr lang="cs-CZ" b="1" i="1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b="1" i="1" dirty="0" err="1"/>
                        <a:t>c</a:t>
                      </a:r>
                      <a:r>
                        <a:rPr lang="cs-CZ" b="1" i="1" strike="noStrike" baseline="30000" dirty="0" err="1"/>
                        <a:t>N</a:t>
                      </a:r>
                      <a:r>
                        <a:rPr lang="cs-CZ" b="1" i="1" strike="noStrike" baseline="30000" dirty="0">
                          <a:latin typeface="Calibri" pitchFamily="34" charset="0"/>
                        </a:rPr>
                        <a:t>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b="1" i="1" dirty="0" err="1"/>
                        <a:t>c</a:t>
                      </a:r>
                      <a:r>
                        <a:rPr lang="cs-CZ" b="1" i="1" baseline="30000" dirty="0" err="1"/>
                        <a:t>B</a:t>
                      </a:r>
                      <a:r>
                        <a:rPr lang="cs-CZ" sz="1200" b="0" i="0" baseline="70000" dirty="0"/>
                        <a:t>-1</a:t>
                      </a:r>
                      <a:endParaRPr lang="cs-CZ" b="0" i="0" baseline="70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 err="1"/>
                        <a:t>Z</a:t>
                      </a:r>
                      <a:r>
                        <a:rPr lang="cs-CZ" baseline="-25000" dirty="0" err="1"/>
                        <a:t>opt</a:t>
                      </a:r>
                      <a:endParaRPr lang="cs-CZ" baseline="-25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Levá složená závorka 23"/>
          <p:cNvSpPr/>
          <p:nvPr/>
        </p:nvSpPr>
        <p:spPr>
          <a:xfrm rot="5400000">
            <a:off x="3239852" y="1050764"/>
            <a:ext cx="216024" cy="2448272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5" name="Levá složená závorka 24"/>
          <p:cNvSpPr/>
          <p:nvPr/>
        </p:nvSpPr>
        <p:spPr>
          <a:xfrm rot="5400000">
            <a:off x="5076056" y="1662832"/>
            <a:ext cx="216024" cy="122413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6" name="Levá složená závorka 25"/>
          <p:cNvSpPr/>
          <p:nvPr/>
        </p:nvSpPr>
        <p:spPr>
          <a:xfrm rot="5400000">
            <a:off x="2627784" y="4077072"/>
            <a:ext cx="216024" cy="122413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7" name="Levá složená závorka 26"/>
          <p:cNvSpPr/>
          <p:nvPr/>
        </p:nvSpPr>
        <p:spPr>
          <a:xfrm rot="5400000">
            <a:off x="4463988" y="3465004"/>
            <a:ext cx="216024" cy="2448272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8" name="TextovéPole 27"/>
          <p:cNvSpPr txBox="1"/>
          <p:nvPr/>
        </p:nvSpPr>
        <p:spPr>
          <a:xfrm>
            <a:off x="0" y="1844824"/>
            <a:ext cx="1943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Initial simplex table in canonical form</a:t>
            </a:r>
          </a:p>
        </p:txBody>
      </p:sp>
      <p:sp>
        <p:nvSpPr>
          <p:cNvPr id="29" name="TextovéPole 28"/>
          <p:cNvSpPr txBox="1"/>
          <p:nvPr/>
        </p:nvSpPr>
        <p:spPr>
          <a:xfrm>
            <a:off x="0" y="4293096"/>
            <a:ext cx="1943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Final simplex table in canonical form</a:t>
            </a:r>
          </a:p>
        </p:txBody>
      </p:sp>
      <p:sp>
        <p:nvSpPr>
          <p:cNvPr id="30" name="TextovéPole 29"/>
          <p:cNvSpPr txBox="1"/>
          <p:nvPr/>
        </p:nvSpPr>
        <p:spPr>
          <a:xfrm>
            <a:off x="4499992" y="1299082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Initial basic variables</a:t>
            </a:r>
          </a:p>
        </p:txBody>
      </p:sp>
      <p:sp>
        <p:nvSpPr>
          <p:cNvPr id="31" name="TextovéPole 30"/>
          <p:cNvSpPr txBox="1"/>
          <p:nvPr/>
        </p:nvSpPr>
        <p:spPr>
          <a:xfrm>
            <a:off x="2105472" y="3816184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Final basic variables</a:t>
            </a:r>
          </a:p>
        </p:txBody>
      </p:sp>
      <p:sp>
        <p:nvSpPr>
          <p:cNvPr id="32" name="TextovéPole 31"/>
          <p:cNvSpPr txBox="1"/>
          <p:nvPr/>
        </p:nvSpPr>
        <p:spPr>
          <a:xfrm>
            <a:off x="2146500" y="1348111"/>
            <a:ext cx="2088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Initial non-basic variables</a:t>
            </a:r>
          </a:p>
        </p:txBody>
      </p:sp>
      <p:sp>
        <p:nvSpPr>
          <p:cNvPr id="33" name="TextovéPole 32"/>
          <p:cNvSpPr txBox="1"/>
          <p:nvPr/>
        </p:nvSpPr>
        <p:spPr>
          <a:xfrm>
            <a:off x="3797217" y="3911831"/>
            <a:ext cx="2088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Final non-basic variables</a:t>
            </a:r>
          </a:p>
        </p:txBody>
      </p:sp>
      <p:cxnSp>
        <p:nvCxnSpPr>
          <p:cNvPr id="36" name="Přímá spojovací šipka 35"/>
          <p:cNvCxnSpPr>
            <a:cxnSpLocks/>
            <a:stCxn id="37" idx="1"/>
          </p:cNvCxnSpPr>
          <p:nvPr/>
        </p:nvCxnSpPr>
        <p:spPr>
          <a:xfrm flipH="1" flipV="1">
            <a:off x="2915816" y="2636912"/>
            <a:ext cx="904822" cy="5995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" name="Elipsa 36"/>
          <p:cNvSpPr/>
          <p:nvPr/>
        </p:nvSpPr>
        <p:spPr>
          <a:xfrm>
            <a:off x="3563888" y="3126831"/>
            <a:ext cx="1753202" cy="74830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Basis matrix</a:t>
            </a:r>
          </a:p>
        </p:txBody>
      </p:sp>
      <p:sp>
        <p:nvSpPr>
          <p:cNvPr id="43" name="Elipsa 42"/>
          <p:cNvSpPr/>
          <p:nvPr/>
        </p:nvSpPr>
        <p:spPr>
          <a:xfrm>
            <a:off x="5292080" y="5467144"/>
            <a:ext cx="3744416" cy="1390856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400" dirty="0"/>
              <a:t>Basis matrix inverse / </a:t>
            </a:r>
            <a:r>
              <a:rPr lang="cs-CZ" sz="2400" dirty="0" err="1"/>
              <a:t>Transformation</a:t>
            </a:r>
            <a:r>
              <a:rPr lang="cs-CZ" sz="2400" dirty="0"/>
              <a:t> matrix</a:t>
            </a:r>
          </a:p>
        </p:txBody>
      </p:sp>
      <p:cxnSp>
        <p:nvCxnSpPr>
          <p:cNvPr id="44" name="Přímá spojovací šipka 43"/>
          <p:cNvCxnSpPr>
            <a:cxnSpLocks/>
            <a:stCxn id="43" idx="1"/>
          </p:cNvCxnSpPr>
          <p:nvPr/>
        </p:nvCxnSpPr>
        <p:spPr>
          <a:xfrm flipH="1" flipV="1">
            <a:off x="5220072" y="5085184"/>
            <a:ext cx="620365" cy="5856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8" name="Elipsa 47"/>
          <p:cNvSpPr/>
          <p:nvPr/>
        </p:nvSpPr>
        <p:spPr>
          <a:xfrm>
            <a:off x="6810559" y="3160916"/>
            <a:ext cx="1976318" cy="88015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b="1" i="1" dirty="0">
                <a:latin typeface="Arial" pitchFamily="34" charset="0"/>
                <a:cs typeface="Arial" pitchFamily="34" charset="0"/>
              </a:rPr>
              <a:t>β</a:t>
            </a:r>
            <a:r>
              <a:rPr lang="cs-CZ" dirty="0">
                <a:latin typeface="Arial" pitchFamily="34" charset="0"/>
                <a:cs typeface="Arial" pitchFamily="34" charset="0"/>
              </a:rPr>
              <a:t> </a:t>
            </a:r>
            <a:r>
              <a:rPr lang="cs-CZ" dirty="0"/>
              <a:t>= </a:t>
            </a:r>
            <a:r>
              <a:rPr lang="cs-CZ" b="1" i="1" dirty="0"/>
              <a:t>B</a:t>
            </a:r>
            <a:r>
              <a:rPr lang="cs-CZ" baseline="30000" dirty="0"/>
              <a:t>-1</a:t>
            </a:r>
            <a:r>
              <a:rPr lang="cs-CZ" b="1" i="1" dirty="0"/>
              <a:t>b</a:t>
            </a:r>
          </a:p>
        </p:txBody>
      </p:sp>
      <p:cxnSp>
        <p:nvCxnSpPr>
          <p:cNvPr id="49" name="Přímá spojovací šipka 48"/>
          <p:cNvCxnSpPr>
            <a:cxnSpLocks/>
            <a:stCxn id="48" idx="4"/>
          </p:cNvCxnSpPr>
          <p:nvPr/>
        </p:nvCxnSpPr>
        <p:spPr>
          <a:xfrm flipH="1">
            <a:off x="7706757" y="4041068"/>
            <a:ext cx="91961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4" name="TextovéPole 53"/>
          <p:cNvSpPr txBox="1"/>
          <p:nvPr/>
        </p:nvSpPr>
        <p:spPr>
          <a:xfrm>
            <a:off x="251520" y="5805264"/>
            <a:ext cx="5040560" cy="1105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0040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GB" sz="2000" dirty="0"/>
              <a:t>Sensitivity of objective </a:t>
            </a:r>
            <a:r>
              <a:rPr lang="en-GB" sz="2000"/>
              <a:t>function coefficients</a:t>
            </a:r>
            <a:endParaRPr lang="en-GB" sz="2000" dirty="0"/>
          </a:p>
          <a:p>
            <a:pPr marL="320040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GB" sz="2000" dirty="0"/>
              <a:t>Sensitivity of RHS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Sensitivity </a:t>
            </a:r>
            <a:r>
              <a:rPr lang="cs-CZ" dirty="0" err="1"/>
              <a:t>analysis</a:t>
            </a:r>
            <a:r>
              <a:rPr lang="cs-CZ" dirty="0"/>
              <a:t> (II)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cs-CZ" dirty="0"/>
          </a:p>
          <a:p>
            <a:r>
              <a:rPr lang="en-GB" dirty="0"/>
              <a:t>Sensitivity of objective function coefficients</a:t>
            </a:r>
          </a:p>
          <a:p>
            <a:pPr lvl="1"/>
            <a:r>
              <a:rPr lang="en-GB" dirty="0"/>
              <a:t>Basic variables</a:t>
            </a:r>
          </a:p>
          <a:p>
            <a:pPr lvl="1"/>
            <a:r>
              <a:rPr lang="en-GB" dirty="0"/>
              <a:t>Non-basic variables</a:t>
            </a:r>
          </a:p>
          <a:p>
            <a:endParaRPr lang="en-GB" dirty="0"/>
          </a:p>
          <a:p>
            <a:r>
              <a:rPr lang="en-GB" dirty="0"/>
              <a:t>Sensitivity of RHS</a:t>
            </a:r>
            <a:endParaRPr lang="cs-CZ" dirty="0"/>
          </a:p>
          <a:p>
            <a:pPr lvl="1"/>
            <a:r>
              <a:rPr lang="el-GR" b="1" i="1" dirty="0">
                <a:latin typeface="Arial" pitchFamily="34" charset="0"/>
                <a:cs typeface="Arial" pitchFamily="34" charset="0"/>
              </a:rPr>
              <a:t>β</a:t>
            </a:r>
            <a:r>
              <a:rPr lang="cs-CZ" dirty="0">
                <a:latin typeface="Arial" pitchFamily="34" charset="0"/>
                <a:cs typeface="Arial" pitchFamily="34" charset="0"/>
              </a:rPr>
              <a:t> </a:t>
            </a:r>
            <a:r>
              <a:rPr lang="cs-CZ" dirty="0"/>
              <a:t>= </a:t>
            </a:r>
            <a:r>
              <a:rPr lang="cs-CZ" b="1" i="1" dirty="0"/>
              <a:t>B</a:t>
            </a:r>
            <a:r>
              <a:rPr lang="cs-CZ" baseline="30000" dirty="0"/>
              <a:t>-1</a:t>
            </a:r>
            <a:r>
              <a:rPr lang="cs-CZ" b="1" i="1" dirty="0"/>
              <a:t>b </a:t>
            </a:r>
            <a:r>
              <a:rPr lang="cs-CZ" dirty="0">
                <a:latin typeface="Arial"/>
                <a:cs typeface="Arial"/>
              </a:rPr>
              <a:t>≥</a:t>
            </a:r>
            <a:r>
              <a:rPr lang="cs-CZ" b="1" i="1" dirty="0">
                <a:latin typeface="Arial"/>
                <a:cs typeface="Arial"/>
              </a:rPr>
              <a:t> </a:t>
            </a:r>
            <a:r>
              <a:rPr lang="cs-CZ" dirty="0">
                <a:latin typeface="Arial"/>
                <a:cs typeface="Arial"/>
              </a:rPr>
              <a:t>0</a:t>
            </a:r>
            <a:endParaRPr lang="cs-CZ" dirty="0"/>
          </a:p>
          <a:p>
            <a:pPr lvl="1"/>
            <a:endParaRPr lang="en-GB" noProof="0" dirty="0"/>
          </a:p>
          <a:p>
            <a:endParaRPr lang="en-GB" noProof="0" dirty="0"/>
          </a:p>
          <a:p>
            <a:r>
              <a:rPr lang="en-GB" noProof="0" dirty="0"/>
              <a:t>Intervals of stability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Sensitivity analysis (III)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631825" indent="-631825"/>
            <a:r>
              <a:rPr lang="en-GB" noProof="0" dirty="0">
                <a:cs typeface="Arial" charset="0"/>
              </a:rPr>
              <a:t>λ</a:t>
            </a:r>
            <a:r>
              <a:rPr lang="cs-CZ" baseline="-25000" noProof="0" dirty="0">
                <a:cs typeface="Arial" charset="0"/>
              </a:rPr>
              <a:t>k</a:t>
            </a:r>
            <a:r>
              <a:rPr lang="en-GB" noProof="0" dirty="0">
                <a:cs typeface="Arial" charset="0"/>
              </a:rPr>
              <a:t> is change of b</a:t>
            </a:r>
            <a:r>
              <a:rPr lang="cs-CZ" baseline="-25000" noProof="0" dirty="0">
                <a:cs typeface="Arial" charset="0"/>
              </a:rPr>
              <a:t>k</a:t>
            </a:r>
            <a:endParaRPr lang="en-GB" baseline="-25000" noProof="0" dirty="0">
              <a:cs typeface="Arial" charset="0"/>
            </a:endParaRPr>
          </a:p>
          <a:p>
            <a:pPr marL="631825" indent="-631825"/>
            <a:r>
              <a:rPr lang="en-GB" noProof="0" dirty="0">
                <a:cs typeface="Arial" charset="0"/>
              </a:rPr>
              <a:t>b</a:t>
            </a:r>
            <a:r>
              <a:rPr lang="cs-CZ" baseline="-25000" noProof="0" dirty="0">
                <a:cs typeface="Arial" charset="0"/>
              </a:rPr>
              <a:t>k</a:t>
            </a:r>
            <a:r>
              <a:rPr lang="en-GB" baseline="-25000" noProof="0" dirty="0">
                <a:cs typeface="Arial" charset="0"/>
              </a:rPr>
              <a:t>λ</a:t>
            </a:r>
            <a:r>
              <a:rPr lang="en-GB" noProof="0" dirty="0">
                <a:cs typeface="Arial" charset="0"/>
              </a:rPr>
              <a:t> = b</a:t>
            </a:r>
            <a:r>
              <a:rPr lang="cs-CZ" baseline="-25000" noProof="0" dirty="0">
                <a:cs typeface="Arial" charset="0"/>
              </a:rPr>
              <a:t>k</a:t>
            </a:r>
            <a:r>
              <a:rPr lang="en-GB" noProof="0" dirty="0">
                <a:cs typeface="Arial" charset="0"/>
              </a:rPr>
              <a:t> + λ</a:t>
            </a:r>
            <a:r>
              <a:rPr lang="cs-CZ" baseline="-25000" noProof="0" dirty="0">
                <a:cs typeface="Arial" charset="0"/>
              </a:rPr>
              <a:t>k</a:t>
            </a:r>
            <a:endParaRPr lang="en-GB" baseline="-25000" noProof="0" dirty="0">
              <a:cs typeface="Arial" charset="0"/>
            </a:endParaRPr>
          </a:p>
          <a:p>
            <a:pPr marL="631825" indent="-631825"/>
            <a:r>
              <a:rPr lang="en-GB" noProof="0" dirty="0" err="1">
                <a:cs typeface="Arial" charset="0"/>
              </a:rPr>
              <a:t>α</a:t>
            </a:r>
            <a:r>
              <a:rPr lang="en-GB" baseline="-25000" noProof="0" dirty="0" err="1">
                <a:cs typeface="Arial" charset="0"/>
              </a:rPr>
              <a:t>ik</a:t>
            </a:r>
            <a:r>
              <a:rPr lang="en-GB" noProof="0" dirty="0">
                <a:cs typeface="Arial" charset="0"/>
              </a:rPr>
              <a:t> are elements of B</a:t>
            </a:r>
            <a:r>
              <a:rPr lang="en-GB" baseline="30000" noProof="0" dirty="0">
                <a:cs typeface="Arial" charset="0"/>
              </a:rPr>
              <a:t>-1</a:t>
            </a:r>
          </a:p>
          <a:p>
            <a:pPr marL="631825" indent="-631825">
              <a:buNone/>
            </a:pPr>
            <a:endParaRPr lang="en-GB" baseline="30000" noProof="0" dirty="0">
              <a:cs typeface="Arial" charset="0"/>
            </a:endParaRPr>
          </a:p>
          <a:p>
            <a:pPr marL="631825" indent="-631825"/>
            <a:r>
              <a:rPr lang="en-GB" noProof="0" dirty="0">
                <a:cs typeface="Arial" charset="0"/>
              </a:rPr>
              <a:t>For </a:t>
            </a:r>
            <a:r>
              <a:rPr lang="en-GB" noProof="0" dirty="0" err="1">
                <a:cs typeface="Arial" charset="0"/>
              </a:rPr>
              <a:t>α</a:t>
            </a:r>
            <a:r>
              <a:rPr lang="en-GB" baseline="-25000" noProof="0" dirty="0" err="1">
                <a:cs typeface="Arial" charset="0"/>
              </a:rPr>
              <a:t>ik</a:t>
            </a:r>
            <a:r>
              <a:rPr lang="en-GB" noProof="0" dirty="0">
                <a:cs typeface="Arial" charset="0"/>
              </a:rPr>
              <a:t> &gt; 0</a:t>
            </a:r>
          </a:p>
          <a:p>
            <a:pPr marL="631825" indent="-631825"/>
            <a:endParaRPr lang="en-GB" noProof="0" dirty="0">
              <a:cs typeface="Arial" charset="0"/>
            </a:endParaRPr>
          </a:p>
          <a:p>
            <a:pPr marL="631825" indent="-631825"/>
            <a:r>
              <a:rPr lang="en-GB" noProof="0" dirty="0">
                <a:cs typeface="Arial" charset="0"/>
              </a:rPr>
              <a:t>For α</a:t>
            </a:r>
            <a:r>
              <a:rPr lang="en-GB" baseline="-25000" noProof="0" dirty="0" err="1">
                <a:cs typeface="Arial" charset="0"/>
              </a:rPr>
              <a:t>ik</a:t>
            </a:r>
            <a:r>
              <a:rPr lang="en-GB" noProof="0" dirty="0">
                <a:cs typeface="Arial" charset="0"/>
              </a:rPr>
              <a:t> </a:t>
            </a:r>
            <a:r>
              <a:rPr lang="cs-CZ" noProof="0" dirty="0">
                <a:cs typeface="Arial" charset="0"/>
              </a:rPr>
              <a:t>&lt;</a:t>
            </a:r>
            <a:r>
              <a:rPr lang="en-GB" noProof="0" dirty="0">
                <a:cs typeface="Arial" charset="0"/>
              </a:rPr>
              <a:t> 0</a:t>
            </a:r>
          </a:p>
          <a:p>
            <a:pPr marL="631825" indent="-631825"/>
            <a:endParaRPr lang="el-GR" dirty="0">
              <a:cs typeface="Arial" charset="0"/>
            </a:endParaRPr>
          </a:p>
          <a:p>
            <a:endParaRPr lang="en-GB" dirty="0"/>
          </a:p>
        </p:txBody>
      </p:sp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3707904" y="3429000"/>
          <a:ext cx="2736850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2" imgW="1459866" imgH="482391" progId="Equation.3">
                  <p:embed/>
                </p:oleObj>
              </mc:Choice>
              <mc:Fallback>
                <p:oleObj name="Rovnice" r:id="rId2" imgW="1459866" imgH="482391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3429000"/>
                        <a:ext cx="2736850" cy="912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3707904" y="4509120"/>
          <a:ext cx="273685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1435100" imgH="482600" progId="Equation.3">
                  <p:embed/>
                </p:oleObj>
              </mc:Choice>
              <mc:Fallback>
                <p:oleObj name="Rovnice" r:id="rId4" imgW="1435100" imgH="482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4509120"/>
                        <a:ext cx="2736850" cy="92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3203848" y="5805264"/>
          <a:ext cx="201612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939392" imgH="266584" progId="Equation.3">
                  <p:embed/>
                </p:oleObj>
              </mc:Choice>
              <mc:Fallback>
                <p:oleObj name="Rovnice" r:id="rId6" imgW="939392" imgH="266584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5805264"/>
                        <a:ext cx="2016125" cy="569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Example</a:t>
            </a:r>
            <a:r>
              <a:rPr lang="cs-CZ" noProof="0" dirty="0"/>
              <a:t> (I)</a:t>
            </a:r>
            <a:endParaRPr lang="en-GB" noProof="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noProof="0" dirty="0"/>
              <a:t>You are manager of automobile company. Now you must plan the capacity of new factory for finalization of new cars. </a:t>
            </a:r>
            <a:endParaRPr lang="cs-CZ" noProof="0" dirty="0"/>
          </a:p>
          <a:p>
            <a:endParaRPr lang="en-GB" noProof="0" dirty="0"/>
          </a:p>
          <a:p>
            <a:r>
              <a:rPr lang="en-GB" noProof="0" dirty="0"/>
              <a:t>The factory could produce 4 types of cars: </a:t>
            </a:r>
          </a:p>
          <a:p>
            <a:pPr lvl="1"/>
            <a:r>
              <a:rPr lang="en-GB" noProof="0" dirty="0"/>
              <a:t>Sport utility vehicles SUV, </a:t>
            </a:r>
          </a:p>
          <a:p>
            <a:pPr lvl="1"/>
            <a:r>
              <a:rPr lang="en-GB" noProof="0" dirty="0"/>
              <a:t>Multi-purpose vehicle MPV, </a:t>
            </a:r>
          </a:p>
          <a:p>
            <a:pPr lvl="1"/>
            <a:r>
              <a:rPr lang="en-GB" noProof="0" dirty="0"/>
              <a:t>Small town car,</a:t>
            </a:r>
          </a:p>
          <a:p>
            <a:pPr lvl="1"/>
            <a:r>
              <a:rPr lang="en-GB" noProof="0" dirty="0"/>
              <a:t>Van.</a:t>
            </a:r>
            <a:endParaRPr lang="cs-CZ" noProof="0" dirty="0"/>
          </a:p>
          <a:p>
            <a:pPr lvl="1"/>
            <a:endParaRPr lang="en-GB" noProof="0" dirty="0"/>
          </a:p>
          <a:p>
            <a:endParaRPr lang="cs-CZ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r>
              <a:rPr lang="cs-CZ" dirty="0"/>
              <a:t> (II)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179512" y="1600200"/>
            <a:ext cx="8712968" cy="2116832"/>
          </a:xfrm>
        </p:spPr>
        <p:txBody>
          <a:bodyPr/>
          <a:lstStyle/>
          <a:p>
            <a:pPr algn="just"/>
            <a:r>
              <a:rPr lang="en-GB" noProof="0" dirty="0"/>
              <a:t>The production depends on marketing requirements (demanded mix of cars), production capacity (max 1000 of car equivalent units (CEU)). The company maximises its profit.</a:t>
            </a:r>
          </a:p>
        </p:txBody>
      </p:sp>
      <p:graphicFrame>
        <p:nvGraphicFramePr>
          <p:cNvPr id="4" name="Tabulka 3"/>
          <p:cNvGraphicFramePr>
            <a:graphicFrameLocks noGrp="1"/>
          </p:cNvGraphicFramePr>
          <p:nvPr/>
        </p:nvGraphicFramePr>
        <p:xfrm>
          <a:off x="179512" y="3861048"/>
          <a:ext cx="878497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>
                          <a:solidFill>
                            <a:schemeClr val="tx1"/>
                          </a:solidFill>
                        </a:rPr>
                        <a:t>SUV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>
                          <a:solidFill>
                            <a:schemeClr val="tx1"/>
                          </a:solidFill>
                        </a:rPr>
                        <a:t>MPV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>
                          <a:solidFill>
                            <a:schemeClr val="tx1"/>
                          </a:solidFill>
                        </a:rP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>
                          <a:solidFill>
                            <a:schemeClr val="tx1"/>
                          </a:solidFill>
                        </a:rPr>
                        <a:t>Van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noProof="0"/>
                        <a:t>Marketing requirements (cars/day)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noProof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noProof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noProof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noProof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noProof="0"/>
                        <a:t>CEU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noProof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noProof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noProof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noProof="0"/>
                        <a:t>Profit (thousands CZK)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noProof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noProof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noProof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noProof="0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Example (III)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noProof="0"/>
              <a:t>Create the linear optimization model.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noProof="0"/>
              <a:t>Use simplex method to find optimal solution of the example.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noProof="0"/>
              <a:t>Use SW Linea to find optimal solution of example.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noProof="0"/>
              <a:t>Use SW Linkosa to find optimal solution of the example.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noProof="0"/>
              <a:t>Use Solver to find optimal solution of the example.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noProof="0"/>
              <a:t>Interpret/explain the solution.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Solve the example by hand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219200"/>
            <a:ext cx="8153400" cy="1872208"/>
          </a:xfrm>
        </p:spPr>
        <p:txBody>
          <a:bodyPr>
            <a:normAutofit/>
          </a:bodyPr>
          <a:lstStyle/>
          <a:p>
            <a:r>
              <a:rPr lang="cs-CZ" sz="2800" dirty="0"/>
              <a:t>Simplex </a:t>
            </a:r>
            <a:r>
              <a:rPr lang="en-GB" sz="2800" dirty="0"/>
              <a:t>method</a:t>
            </a:r>
          </a:p>
          <a:p>
            <a:r>
              <a:rPr lang="cs-CZ" sz="2800" dirty="0"/>
              <a:t>Sensitivity </a:t>
            </a:r>
            <a:r>
              <a:rPr lang="cs-CZ" sz="2800" dirty="0" err="1"/>
              <a:t>analysis</a:t>
            </a:r>
            <a:endParaRPr lang="cs-CZ" sz="2800" dirty="0"/>
          </a:p>
          <a:p>
            <a:endParaRPr lang="cs-CZ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GB" noProof="0" dirty="0"/>
              <a:t>Use SW Linea to find optimal solution of the example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179240"/>
            <a:ext cx="6912768" cy="5316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Use SW </a:t>
            </a:r>
            <a:r>
              <a:rPr lang="cs-CZ" dirty="0" err="1"/>
              <a:t>Linkosa</a:t>
            </a:r>
            <a:r>
              <a:rPr lang="cs-CZ" dirty="0"/>
              <a:t> </a:t>
            </a:r>
            <a:r>
              <a:rPr lang="en-GB" dirty="0"/>
              <a:t>to find optimal solution of the example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MS Excel add</a:t>
            </a:r>
            <a:r>
              <a:rPr lang="cs-CZ" dirty="0"/>
              <a:t> </a:t>
            </a:r>
            <a:r>
              <a:rPr lang="en-GB" dirty="0"/>
              <a:t>in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5736" y="2708920"/>
            <a:ext cx="471487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Use Solver</a:t>
            </a:r>
            <a:r>
              <a:rPr lang="cs-CZ" dirty="0"/>
              <a:t> </a:t>
            </a:r>
            <a:r>
              <a:rPr lang="en-GB" dirty="0"/>
              <a:t>to find optimal solution of the example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676672"/>
          </a:xfrm>
        </p:spPr>
        <p:txBody>
          <a:bodyPr/>
          <a:lstStyle/>
          <a:p>
            <a:r>
              <a:rPr lang="cs-CZ" dirty="0"/>
              <a:t>MS Excel: Data → </a:t>
            </a:r>
            <a:r>
              <a:rPr lang="cs-CZ" dirty="0" err="1"/>
              <a:t>Solver</a:t>
            </a:r>
            <a:r>
              <a:rPr lang="cs-CZ" dirty="0"/>
              <a:t> 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2132856"/>
            <a:ext cx="4176464" cy="430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27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 dirty="0" err="1"/>
              <a:t>Thank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your</a:t>
            </a:r>
            <a:r>
              <a:rPr lang="cs-CZ" dirty="0"/>
              <a:t> </a:t>
            </a:r>
            <a:r>
              <a:rPr lang="cs-CZ" dirty="0" err="1"/>
              <a:t>attention</a:t>
            </a:r>
            <a:r>
              <a:rPr lang="cs-CZ" dirty="0"/>
              <a:t>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</p:spPr>
        <p:txBody>
          <a:bodyPr>
            <a:normAutofit/>
          </a:bodyPr>
          <a:lstStyle/>
          <a:p>
            <a:pPr lvl="2" algn="ctr"/>
            <a:endParaRPr lang="en-GB" sz="1600" noProof="0">
              <a:solidFill>
                <a:schemeClr val="bg1"/>
              </a:solidFill>
            </a:endParaRPr>
          </a:p>
          <a:p>
            <a:pPr lvl="1" algn="ctr"/>
            <a:endParaRPr lang="en-GB" sz="1600" noProof="0">
              <a:solidFill>
                <a:schemeClr val="bg1"/>
              </a:solidFill>
            </a:endParaRP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0393249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1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tiv1" id="{B0B25E39-7186-46C5-9D39-950CFB3AB267}" vid="{2449E244-AD5F-4BB9-8A5A-7BFBD4B00EA6}"/>
    </a:ext>
  </a:extLst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Motiv1</Template>
  <TotalTime>0</TotalTime>
  <Words>657</Words>
  <Application>Microsoft Office PowerPoint</Application>
  <PresentationFormat>Předvádění na obrazovce (4:3)</PresentationFormat>
  <Paragraphs>179</Paragraphs>
  <Slides>19</Slides>
  <Notes>10</Notes>
  <HiddenSlides>0</HiddenSlides>
  <MMClips>0</MMClips>
  <ScaleCrop>false</ScaleCrop>
  <HeadingPairs>
    <vt:vector size="8" baseType="variant">
      <vt:variant>
        <vt:lpstr>Použitá písma</vt:lpstr>
      </vt:variant>
      <vt:variant>
        <vt:i4>8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2</vt:i4>
      </vt:variant>
      <vt:variant>
        <vt:lpstr>Nadpisy snímků</vt:lpstr>
      </vt:variant>
      <vt:variant>
        <vt:i4>19</vt:i4>
      </vt:variant>
    </vt:vector>
  </HeadingPairs>
  <TitlesOfParts>
    <vt:vector size="30" baseType="lpstr">
      <vt:lpstr>Arial</vt:lpstr>
      <vt:lpstr>Calibri</vt:lpstr>
      <vt:lpstr>Roboto</vt:lpstr>
      <vt:lpstr>Roboto Black</vt:lpstr>
      <vt:lpstr>Roboto Medium</vt:lpstr>
      <vt:lpstr>Symbol</vt:lpstr>
      <vt:lpstr>Times New Roman</vt:lpstr>
      <vt:lpstr>Wingdings</vt:lpstr>
      <vt:lpstr>Motiv1</vt:lpstr>
      <vt:lpstr>Equation</vt:lpstr>
      <vt:lpstr>Rovnice</vt:lpstr>
      <vt:lpstr>Prezentace aplikace PowerPoint</vt:lpstr>
      <vt:lpstr>Linear programming</vt:lpstr>
      <vt:lpstr>Linear optimization model</vt:lpstr>
      <vt:lpstr>Linear optimization model</vt:lpstr>
      <vt:lpstr>Simplex Method</vt:lpstr>
      <vt:lpstr>Simplex Method</vt:lpstr>
      <vt:lpstr>Simplex method</vt:lpstr>
      <vt:lpstr>Simplex table</vt:lpstr>
      <vt:lpstr>Sensitivity analysis (I)</vt:lpstr>
      <vt:lpstr>Sensitivity analysis (II)</vt:lpstr>
      <vt:lpstr>Sensitivity analysis (III)</vt:lpstr>
      <vt:lpstr>Example (I)</vt:lpstr>
      <vt:lpstr>Example (II)</vt:lpstr>
      <vt:lpstr>Example (III)</vt:lpstr>
      <vt:lpstr>Solve the example by hand</vt:lpstr>
      <vt:lpstr>Use SW Linea to find optimal solution of the example</vt:lpstr>
      <vt:lpstr>Use SW Linkosa to find optimal solution of the example</vt:lpstr>
      <vt:lpstr>Use Solver to find optimal solution of the example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Research and System Analysis</dc:title>
  <dc:creator>krejcii</dc:creator>
  <cp:lastModifiedBy>Horáková Tereza</cp:lastModifiedBy>
  <cp:revision>241</cp:revision>
  <cp:lastPrinted>2015-02-19T14:02:47Z</cp:lastPrinted>
  <dcterms:created xsi:type="dcterms:W3CDTF">2012-01-18T09:02:27Z</dcterms:created>
  <dcterms:modified xsi:type="dcterms:W3CDTF">2024-10-28T22:47:28Z</dcterms:modified>
</cp:coreProperties>
</file>