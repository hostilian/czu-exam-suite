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357" r:id="rId2"/>
    <p:sldId id="344" r:id="rId3"/>
    <p:sldId id="346" r:id="rId4"/>
    <p:sldId id="348" r:id="rId5"/>
    <p:sldId id="349" r:id="rId6"/>
    <p:sldId id="350" r:id="rId7"/>
    <p:sldId id="347" r:id="rId8"/>
    <p:sldId id="351" r:id="rId9"/>
    <p:sldId id="352" r:id="rId10"/>
    <p:sldId id="353" r:id="rId11"/>
    <p:sldId id="354" r:id="rId12"/>
    <p:sldId id="355" r:id="rId13"/>
    <p:sldId id="294" r:id="rId14"/>
  </p:sldIdLst>
  <p:sldSz cx="12192000" cy="6858000"/>
  <p:notesSz cx="6858000" cy="9144000"/>
  <p:defaultTextStyle>
    <a:defPPr>
      <a:defRPr lang="cs-CZ"/>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F8E73-E3C8-48DA-B67F-810AA827D087}" type="datetimeFigureOut">
              <a:rPr lang="cs-CZ" smtClean="0"/>
              <a:t>28.10.2024</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30766D-A102-4EA5-8587-4DDAD2DF1D9D}" type="slidenum">
              <a:rPr lang="cs-CZ" smtClean="0"/>
              <a:t>‹#›</a:t>
            </a:fld>
            <a:endParaRPr lang="cs-CZ"/>
          </a:p>
        </p:txBody>
      </p:sp>
    </p:spTree>
    <p:extLst>
      <p:ext uri="{BB962C8B-B14F-4D97-AF65-F5344CB8AC3E}">
        <p14:creationId xmlns:p14="http://schemas.microsoft.com/office/powerpoint/2010/main" val="2309864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b="0" dirty="0" err="1"/>
              <a:t>Meadows</a:t>
            </a:r>
            <a:r>
              <a:rPr lang="cs-CZ" b="0" dirty="0"/>
              <a:t> – show slinky</a:t>
            </a:r>
            <a:endParaRPr lang="cs-CZ" b="0" baseline="0" dirty="0"/>
          </a:p>
          <a:p>
            <a:endParaRPr lang="cs-CZ" b="0" baseline="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a:t>
            </a:fld>
            <a:endParaRPr lang="en-GB"/>
          </a:p>
        </p:txBody>
      </p:sp>
    </p:spTree>
    <p:extLst>
      <p:ext uri="{BB962C8B-B14F-4D97-AF65-F5344CB8AC3E}">
        <p14:creationId xmlns:p14="http://schemas.microsoft.com/office/powerpoint/2010/main" val="2996515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3</a:t>
            </a:fld>
            <a:endParaRPr lang="en-GB"/>
          </a:p>
        </p:txBody>
      </p:sp>
    </p:spTree>
    <p:extLst>
      <p:ext uri="{BB962C8B-B14F-4D97-AF65-F5344CB8AC3E}">
        <p14:creationId xmlns:p14="http://schemas.microsoft.com/office/powerpoint/2010/main" val="363730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Humanitární pomoc, </a:t>
            </a:r>
          </a:p>
          <a:p>
            <a:r>
              <a:rPr lang="cs-CZ" dirty="0" err="1"/>
              <a:t>Drug</a:t>
            </a:r>
            <a:r>
              <a:rPr lang="cs-CZ" dirty="0"/>
              <a:t> </a:t>
            </a:r>
            <a:r>
              <a:rPr lang="cs-CZ" dirty="0" err="1"/>
              <a:t>addicts</a:t>
            </a:r>
            <a:r>
              <a:rPr lang="cs-CZ" dirty="0"/>
              <a:t>,</a:t>
            </a:r>
          </a:p>
          <a:p>
            <a:r>
              <a:rPr lang="cs-CZ" dirty="0"/>
              <a:t>Outsourcing</a:t>
            </a:r>
          </a:p>
          <a:p>
            <a:endParaRPr lang="cs-CZ" dirty="0"/>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a:t>
            </a:fld>
            <a:endParaRPr lang="en-GB"/>
          </a:p>
        </p:txBody>
      </p:sp>
    </p:spTree>
    <p:extLst>
      <p:ext uri="{BB962C8B-B14F-4D97-AF65-F5344CB8AC3E}">
        <p14:creationId xmlns:p14="http://schemas.microsoft.com/office/powerpoint/2010/main" val="2315584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Souboj o dominanci smyček</a:t>
            </a:r>
          </a:p>
          <a:p>
            <a:r>
              <a:rPr lang="cs-CZ" dirty="0"/>
              <a:t>S tímto</a:t>
            </a:r>
            <a:r>
              <a:rPr lang="cs-CZ" baseline="0" dirty="0"/>
              <a:t> souvisí i srovnávání svých výsledků s konkurencí (nebo se spolužáky).</a:t>
            </a:r>
            <a:endParaRPr lang="cs-CZ" dirty="0"/>
          </a:p>
          <a:p>
            <a:endParaRPr lang="cs-CZ" dirty="0"/>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5</a:t>
            </a:fld>
            <a:endParaRPr lang="en-GB"/>
          </a:p>
        </p:txBody>
      </p:sp>
    </p:spTree>
    <p:extLst>
      <p:ext uri="{BB962C8B-B14F-4D97-AF65-F5344CB8AC3E}">
        <p14:creationId xmlns:p14="http://schemas.microsoft.com/office/powerpoint/2010/main" val="1534724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err="1"/>
              <a:t>Social</a:t>
            </a:r>
            <a:r>
              <a:rPr lang="cs-CZ" dirty="0"/>
              <a:t> </a:t>
            </a:r>
            <a:r>
              <a:rPr lang="cs-CZ" dirty="0" err="1"/>
              <a:t>scissors</a:t>
            </a:r>
            <a:r>
              <a:rPr lang="cs-CZ" dirty="0"/>
              <a:t>, </a:t>
            </a:r>
            <a:r>
              <a:rPr lang="cs-CZ" dirty="0" err="1"/>
              <a:t>poo</a:t>
            </a:r>
            <a:r>
              <a:rPr lang="cs-CZ" dirty="0"/>
              <a:t> </a:t>
            </a:r>
            <a:r>
              <a:rPr lang="cs-CZ" dirty="0" err="1"/>
              <a:t>kids</a:t>
            </a:r>
            <a:r>
              <a:rPr lang="cs-CZ" dirty="0"/>
              <a:t>, </a:t>
            </a:r>
            <a:r>
              <a:rPr lang="cs-CZ" dirty="0" err="1"/>
              <a:t>poor</a:t>
            </a:r>
            <a:r>
              <a:rPr lang="cs-CZ" dirty="0"/>
              <a:t> </a:t>
            </a:r>
            <a:r>
              <a:rPr lang="cs-CZ" dirty="0" err="1"/>
              <a:t>countries</a:t>
            </a:r>
            <a:r>
              <a:rPr lang="cs-CZ" dirty="0"/>
              <a:t> </a:t>
            </a:r>
          </a:p>
          <a:p>
            <a:r>
              <a:rPr lang="cs-CZ" dirty="0" err="1"/>
              <a:t>Rich</a:t>
            </a:r>
            <a:r>
              <a:rPr lang="cs-CZ" dirty="0"/>
              <a:t> </a:t>
            </a:r>
            <a:r>
              <a:rPr lang="cs-CZ" dirty="0" err="1"/>
              <a:t>gets</a:t>
            </a:r>
            <a:r>
              <a:rPr lang="cs-CZ" dirty="0"/>
              <a:t> </a:t>
            </a:r>
            <a:r>
              <a:rPr lang="cs-CZ" dirty="0" err="1"/>
              <a:t>richer</a:t>
            </a:r>
            <a:r>
              <a:rPr lang="cs-CZ" dirty="0"/>
              <a:t>,</a:t>
            </a:r>
            <a:r>
              <a:rPr lang="cs-CZ" baseline="0" dirty="0"/>
              <a:t> </a:t>
            </a:r>
            <a:r>
              <a:rPr lang="cs-CZ" baseline="0" dirty="0" err="1"/>
              <a:t>poor</a:t>
            </a:r>
            <a:r>
              <a:rPr lang="cs-CZ" baseline="0" dirty="0"/>
              <a:t> </a:t>
            </a:r>
            <a:r>
              <a:rPr lang="cs-CZ" baseline="0" dirty="0" err="1"/>
              <a:t>gets</a:t>
            </a:r>
            <a:r>
              <a:rPr lang="cs-CZ" baseline="0" dirty="0"/>
              <a:t> </a:t>
            </a:r>
            <a:r>
              <a:rPr lang="cs-CZ" baseline="0" dirty="0" err="1"/>
              <a:t>childern</a:t>
            </a:r>
            <a:endParaRPr lang="cs-CZ" dirty="0"/>
          </a:p>
          <a:p>
            <a:endParaRPr lang="cs-CZ" dirty="0"/>
          </a:p>
          <a:p>
            <a:r>
              <a:rPr lang="cs-CZ" dirty="0" err="1"/>
              <a:t>Antitrust</a:t>
            </a:r>
            <a:r>
              <a:rPr lang="cs-CZ" dirty="0"/>
              <a:t> </a:t>
            </a:r>
            <a:r>
              <a:rPr lang="cs-CZ" dirty="0" err="1"/>
              <a:t>laws</a:t>
            </a:r>
            <a:endParaRPr lang="cs-CZ" dirty="0"/>
          </a:p>
          <a:p>
            <a:endParaRPr lang="cs-CZ" dirty="0"/>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6</a:t>
            </a:fld>
            <a:endParaRPr lang="en-GB"/>
          </a:p>
        </p:txBody>
      </p:sp>
    </p:spTree>
    <p:extLst>
      <p:ext uri="{BB962C8B-B14F-4D97-AF65-F5344CB8AC3E}">
        <p14:creationId xmlns:p14="http://schemas.microsoft.com/office/powerpoint/2010/main" val="2243336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2 </a:t>
            </a:r>
            <a:r>
              <a:rPr lang="cs-CZ" dirty="0" err="1"/>
              <a:t>balancing</a:t>
            </a:r>
            <a:r>
              <a:rPr lang="cs-CZ" dirty="0"/>
              <a:t> </a:t>
            </a:r>
            <a:r>
              <a:rPr lang="cs-CZ" dirty="0" err="1"/>
              <a:t>loop</a:t>
            </a:r>
            <a:endParaRPr lang="cs-CZ" dirty="0"/>
          </a:p>
          <a:p>
            <a:r>
              <a:rPr lang="cs-CZ" dirty="0"/>
              <a:t>Děti se perou – ty jsi šťouchl do mě já šťouchnu do tebe ale víc</a:t>
            </a:r>
          </a:p>
          <a:p>
            <a:r>
              <a:rPr lang="cs-CZ" dirty="0"/>
              <a:t>Závody ve zbrojení</a:t>
            </a:r>
          </a:p>
          <a:p>
            <a:r>
              <a:rPr lang="cs-CZ" dirty="0"/>
              <a:t>Pamatujete si předchozí firmu snižující cenu?</a:t>
            </a:r>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7</a:t>
            </a:fld>
            <a:endParaRPr lang="en-GB"/>
          </a:p>
        </p:txBody>
      </p:sp>
    </p:spTree>
    <p:extLst>
      <p:ext uri="{BB962C8B-B14F-4D97-AF65-F5344CB8AC3E}">
        <p14:creationId xmlns:p14="http://schemas.microsoft.com/office/powerpoint/2010/main" val="750389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8</a:t>
            </a:fld>
            <a:endParaRPr lang="en-GB"/>
          </a:p>
        </p:txBody>
      </p:sp>
    </p:spTree>
    <p:extLst>
      <p:ext uri="{BB962C8B-B14F-4D97-AF65-F5344CB8AC3E}">
        <p14:creationId xmlns:p14="http://schemas.microsoft.com/office/powerpoint/2010/main" val="3060541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kern="1200" dirty="0">
                <a:solidFill>
                  <a:schemeClr val="tx1"/>
                </a:solidFill>
                <a:latin typeface="+mn-lt"/>
                <a:ea typeface="+mn-ea"/>
                <a:cs typeface="+mn-cs"/>
              </a:rPr>
              <a:t>pořadí je od nejméně vlivného k nejvlivnějšímu místu pro pákový efekt. Je patrný postupný přesun od fyzické struktury k informačním a řídícím částem systému, autorka již neupozorňuje na přesun od objektu k subjektu zkoumání v nejvyšších příčkách tohoto žebříčku:</a:t>
            </a:r>
            <a:endParaRPr lang="cs-CZ" baseline="0" dirty="0"/>
          </a:p>
          <a:p>
            <a:r>
              <a:rPr lang="cs-CZ" baseline="0" dirty="0"/>
              <a:t>Př.</a:t>
            </a:r>
          </a:p>
          <a:p>
            <a:r>
              <a:rPr lang="cs-CZ" baseline="0" dirty="0"/>
              <a:t>12. </a:t>
            </a:r>
            <a:r>
              <a:rPr lang="cs-CZ" baseline="0" dirty="0" err="1"/>
              <a:t>Hodoty</a:t>
            </a:r>
            <a:r>
              <a:rPr lang="cs-CZ" baseline="0" dirty="0"/>
              <a:t> – státní rozpočet, zvýší se příjmy, zvýší se výdaje, deficit je stejný</a:t>
            </a:r>
          </a:p>
          <a:p>
            <a:r>
              <a:rPr lang="cs-CZ" baseline="0" dirty="0"/>
              <a:t>11. Malá vs. velká zásobárna vody a přítok a odtok  - jezero vs. řeka – co způsobí záplavu</a:t>
            </a:r>
          </a:p>
          <a:p>
            <a:pPr marL="247719" indent="-247719">
              <a:buAutoNum type="arabicPeriod" startAt="10"/>
            </a:pPr>
            <a:r>
              <a:rPr lang="cs-CZ" baseline="0" dirty="0"/>
              <a:t>Silniční síť směřována do hlavního města produkuje centralizované znečištění, často </a:t>
            </a:r>
            <a:r>
              <a:rPr lang="cs-CZ" baseline="0" dirty="0" err="1"/>
              <a:t>nedelší</a:t>
            </a:r>
            <a:r>
              <a:rPr lang="cs-CZ" baseline="0" dirty="0"/>
              <a:t> a nejnáročnější změna, proto je až na 10. místě</a:t>
            </a:r>
          </a:p>
          <a:p>
            <a:pPr marL="247719" indent="-247719"/>
            <a:endParaRPr lang="cs-CZ" dirty="0"/>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10</a:t>
            </a:fld>
            <a:endParaRPr lang="en-GB"/>
          </a:p>
        </p:txBody>
      </p:sp>
    </p:spTree>
    <p:extLst>
      <p:ext uri="{BB962C8B-B14F-4D97-AF65-F5344CB8AC3E}">
        <p14:creationId xmlns:p14="http://schemas.microsoft.com/office/powerpoint/2010/main" val="3156068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b="1" dirty="0"/>
              <a:t>----------- krok z fyzické do</a:t>
            </a:r>
            <a:r>
              <a:rPr lang="cs-CZ" b="1" baseline="0" dirty="0"/>
              <a:t> informační části systému</a:t>
            </a:r>
          </a:p>
          <a:p>
            <a:r>
              <a:rPr lang="cs-CZ" baseline="0" dirty="0"/>
              <a:t>8. </a:t>
            </a:r>
            <a:r>
              <a:rPr lang="cs-CZ" dirty="0"/>
              <a:t>Vyvažující zpětnovazebné smyčky – problém</a:t>
            </a:r>
            <a:r>
              <a:rPr lang="cs-CZ" baseline="0" dirty="0"/>
              <a:t> je v odstraňování těchto nápravných vazeb, které někdy zůstávají nevyužité po dlouhý čas, ale mají v systému „sebe-opravující“ funkci. Př. zesílení zpětný vazeb: Zpoplatnění znečištění, právo na informace…</a:t>
            </a:r>
          </a:p>
          <a:p>
            <a:r>
              <a:rPr lang="cs-CZ" baseline="0" dirty="0"/>
              <a:t>7. </a:t>
            </a:r>
            <a:r>
              <a:rPr lang="cs-CZ" dirty="0"/>
              <a:t>Zesilující zpětnovazebné smyčky – zdroje růstu, ale i vyčerpání a kolapsu, nekontrolované zesilující vazby vedou</a:t>
            </a:r>
            <a:r>
              <a:rPr lang="cs-CZ" baseline="0" dirty="0"/>
              <a:t> ke zničení systému (úspěch úspěšným je archetypem, kde je toto patrné) – cílená redukce růstu (která je efektivnější než vyvažující smyčka) však bývá velice těžko prosaditelná (progresivní zdaněn).</a:t>
            </a:r>
          </a:p>
          <a:p>
            <a:r>
              <a:rPr lang="cs-CZ" baseline="0" dirty="0"/>
              <a:t>6.  Rybáři nemají informaci o stavu ryb a tak je vyloví, poblíž Amsterodamu byla výstavba domů, v některých byl měřič spotřeby elektřiny ve sklepě, v jiných byly měřiče v předsíni, domácnosti, které bydlely v těch druhých měly o 30% nižší spotřebu elektrické energie</a:t>
            </a:r>
          </a:p>
          <a:p>
            <a:r>
              <a:rPr lang="cs-CZ" dirty="0"/>
              <a:t>5. Přestavba ve svazu, </a:t>
            </a:r>
          </a:p>
          <a:p>
            <a:pPr marL="247719" indent="-247719"/>
            <a:endParaRPr lang="cs-CZ" dirty="0"/>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11</a:t>
            </a:fld>
            <a:endParaRPr lang="en-GB"/>
          </a:p>
        </p:txBody>
      </p:sp>
    </p:spTree>
    <p:extLst>
      <p:ext uri="{BB962C8B-B14F-4D97-AF65-F5344CB8AC3E}">
        <p14:creationId xmlns:p14="http://schemas.microsoft.com/office/powerpoint/2010/main" val="1761766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baseline="0" dirty="0"/>
              <a:t>4. Schopnost mnoha systémů (netýká se fyziky a jejích zákonů atp. ale spíše sociálních systémů, trhu, atp.) tato schopnost v důsledku vede ke změně pravidel  - opět má vliv na nižší místa pro pákový efekt, změňte DNA </a:t>
            </a:r>
            <a:r>
              <a:rPr lang="cs-CZ" baseline="0" dirty="0">
                <a:sym typeface="Wingdings" panose="05000000000000000000" pitchFamily="2" charset="2"/>
              </a:rPr>
              <a:t></a:t>
            </a:r>
            <a:endParaRPr lang="cs-CZ" baseline="0" dirty="0"/>
          </a:p>
          <a:p>
            <a:pPr marL="247719" indent="-247719">
              <a:buAutoNum type="arabicPeriod" startAt="3"/>
            </a:pPr>
            <a:r>
              <a:rPr lang="cs-CZ" baseline="0" dirty="0"/>
              <a:t>Cíl ovlivňuje strukturu systému a tedy jeho chování. </a:t>
            </a:r>
          </a:p>
          <a:p>
            <a:pPr marL="247719" indent="-247719"/>
            <a:r>
              <a:rPr lang="cs-CZ" baseline="0" dirty="0"/>
              <a:t>Je však obtížné určit skutečný cíl (i pro prvky systému) – co je cílem korporací (zvyšování zisku je pravidlo (5) – nutná podmínka přežití) – růst, větší podíl, tj. ovládání větší části okolí… </a:t>
            </a:r>
          </a:p>
          <a:p>
            <a:pPr marL="247719" indent="-247719"/>
            <a:r>
              <a:rPr lang="cs-CZ" baseline="0" dirty="0"/>
              <a:t>Zároveň je nebezpečí v měření cíle – pokud obranyschopnost budete měřit pomocí výdajů na obranu, systém bude generovat výdaje</a:t>
            </a:r>
          </a:p>
          <a:p>
            <a:pPr marL="247719" indent="-247719"/>
            <a:r>
              <a:rPr lang="cs-CZ" dirty="0"/>
              <a:t>2. Sdílená idea, část neformulovaná –</a:t>
            </a:r>
            <a:r>
              <a:rPr lang="cs-CZ" baseline="0" dirty="0"/>
              <a:t>růst je dobrý, homo sapiens je vrchol evoluce, existuje posmrtný život (to vedlo např. ke stavbě pyramid), země není centrum vesmíru</a:t>
            </a:r>
          </a:p>
          <a:p>
            <a:pPr marL="247719" indent="-247719">
              <a:buAutoNum type="arabicPeriod"/>
            </a:pPr>
            <a:r>
              <a:rPr lang="cs-CZ" baseline="0" dirty="0"/>
              <a:t>Jde o uvědomění si, že pohled na svět je složen z různých paradigma; paradigma dává „jistotu“, ale uvědomování si že se jedná o paradigma dává možnost toto měnit. – Co myslíte jak je toto dosažitelné? </a:t>
            </a:r>
          </a:p>
          <a:p>
            <a:pPr marL="247719" indent="-247719"/>
            <a:r>
              <a:rPr lang="cs-CZ" b="1" i="1" baseline="0" dirty="0"/>
              <a:t>Je zřejmé, že změny v nejsilnějších </a:t>
            </a:r>
            <a:r>
              <a:rPr lang="cs-CZ" b="1" i="1" baseline="0" dirty="0" err="1"/>
              <a:t>leverage</a:t>
            </a:r>
            <a:r>
              <a:rPr lang="cs-CZ" b="1" i="1" baseline="0" dirty="0"/>
              <a:t> point jsou velice obtížně proveditelné, mění se obvykle po vyčerpání daného paradigmatu. Vědecké revoluce atp.</a:t>
            </a:r>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12</a:t>
            </a:fld>
            <a:endParaRPr lang="en-GB"/>
          </a:p>
        </p:txBody>
      </p:sp>
    </p:spTree>
    <p:extLst>
      <p:ext uri="{BB962C8B-B14F-4D97-AF65-F5344CB8AC3E}">
        <p14:creationId xmlns:p14="http://schemas.microsoft.com/office/powerpoint/2010/main" val="34195306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Úvodní snímek 1">
    <p:spTree>
      <p:nvGrpSpPr>
        <p:cNvPr id="1" name=""/>
        <p:cNvGrpSpPr/>
        <p:nvPr/>
      </p:nvGrpSpPr>
      <p:grpSpPr>
        <a:xfrm>
          <a:off x="0" y="0"/>
          <a:ext cx="0" cy="0"/>
          <a:chOff x="0" y="0"/>
          <a:chExt cx="0" cy="0"/>
        </a:xfrm>
      </p:grpSpPr>
      <p:sp>
        <p:nvSpPr>
          <p:cNvPr id="19" name="Zástupný symbol pro text 3">
            <a:extLst>
              <a:ext uri="{FF2B5EF4-FFF2-40B4-BE49-F238E27FC236}">
                <a16:creationId xmlns:a16="http://schemas.microsoft.com/office/drawing/2014/main" id="{3E1E80FF-CDE1-4659-A50D-18C8BA373478}"/>
              </a:ext>
            </a:extLst>
          </p:cNvPr>
          <p:cNvSpPr>
            <a:spLocks noGrp="1"/>
          </p:cNvSpPr>
          <p:nvPr>
            <p:ph type="body" sz="quarter" idx="12"/>
          </p:nvPr>
        </p:nvSpPr>
        <p:spPr>
          <a:xfrm>
            <a:off x="963168" y="1116698"/>
            <a:ext cx="10265663" cy="2904067"/>
          </a:xfrm>
          <a:prstGeom prst="rect">
            <a:avLst/>
          </a:prstGeom>
        </p:spPr>
        <p:txBody>
          <a:bodyPr anchor="ctr" anchorCtr="0">
            <a:normAutofit/>
          </a:bodyPr>
          <a:lstStyle>
            <a:lvl1pPr marL="0" indent="0" algn="ctr">
              <a:lnSpc>
                <a:spcPct val="100000"/>
              </a:lnSpc>
              <a:spcBef>
                <a:spcPts val="0"/>
              </a:spcBef>
              <a:buNone/>
              <a:defRPr sz="64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9643200" y="6350001"/>
            <a:ext cx="1828800" cy="507999"/>
          </a:xfrm>
          <a:prstGeom prst="rect">
            <a:avLst/>
          </a:prstGeom>
        </p:spPr>
        <p:txBody>
          <a:bodyPr vert="horz" lIns="0" tIns="0" rIns="0" bIns="0" rtlCol="0" anchor="ctr"/>
          <a:lstStyle>
            <a:lvl1pPr algn="r">
              <a:defRPr sz="1200">
                <a:solidFill>
                  <a:schemeClr val="tx1">
                    <a:tint val="75000"/>
                  </a:schemeClr>
                </a:solidFill>
                <a:latin typeface="Roboto" panose="02000000000000000000" pitchFamily="2" charset="0"/>
                <a:ea typeface="Roboto" panose="02000000000000000000" pitchFamily="2" charset="0"/>
              </a:defRPr>
            </a:lvl1pPr>
          </a:lstStyle>
          <a:p>
            <a:fld id="{E85885DF-FB19-4BAB-A2D6-4F7CAEC1F941}" type="datetimeFigureOut">
              <a:rPr lang="cs-CZ" smtClean="0"/>
              <a:t>28.10.2024</a:t>
            </a:fld>
            <a:endParaRPr lang="cs-CZ"/>
          </a:p>
        </p:txBody>
      </p:sp>
      <p:sp>
        <p:nvSpPr>
          <p:cNvPr id="10" name="Obdélník 9">
            <a:extLst>
              <a:ext uri="{FF2B5EF4-FFF2-40B4-BE49-F238E27FC236}">
                <a16:creationId xmlns:a16="http://schemas.microsoft.com/office/drawing/2014/main" id="{024B457C-E1CC-4DF8-B068-F9E0D15995C0}"/>
              </a:ext>
            </a:extLst>
          </p:cNvPr>
          <p:cNvSpPr/>
          <p:nvPr/>
        </p:nvSpPr>
        <p:spPr>
          <a:xfrm>
            <a:off x="2" y="5334000"/>
            <a:ext cx="12191999"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700" dirty="0"/>
          </a:p>
        </p:txBody>
      </p:sp>
      <p:sp>
        <p:nvSpPr>
          <p:cNvPr id="12" name="TextovéPole 11">
            <a:extLst>
              <a:ext uri="{FF2B5EF4-FFF2-40B4-BE49-F238E27FC236}">
                <a16:creationId xmlns:a16="http://schemas.microsoft.com/office/drawing/2014/main" id="{903BDD9C-B482-4C8C-BAAA-47D61575D20D}"/>
              </a:ext>
            </a:extLst>
          </p:cNvPr>
          <p:cNvSpPr txBox="1"/>
          <p:nvPr/>
        </p:nvSpPr>
        <p:spPr>
          <a:xfrm>
            <a:off x="720000" y="6385254"/>
            <a:ext cx="4100558" cy="369332"/>
          </a:xfrm>
          <a:prstGeom prst="rect">
            <a:avLst/>
          </a:prstGeom>
          <a:noFill/>
        </p:spPr>
        <p:txBody>
          <a:bodyPr wrap="square" lIns="0" tIns="0" rIns="0" bIns="0" rtlCol="0">
            <a:spAutoFit/>
          </a:bodyPr>
          <a:lstStyle/>
          <a:p>
            <a:r>
              <a:rPr lang="cs-CZ" sz="2400" dirty="0" err="1">
                <a:solidFill>
                  <a:srgbClr val="C80C0F"/>
                </a:solidFill>
              </a:rPr>
              <a:t>pef.czu.cz</a:t>
            </a:r>
            <a:endParaRPr lang="cs-CZ" sz="2400" dirty="0">
              <a:solidFill>
                <a:srgbClr val="C80C0F"/>
              </a:solidFill>
            </a:endParaRPr>
          </a:p>
        </p:txBody>
      </p:sp>
      <p:sp>
        <p:nvSpPr>
          <p:cNvPr id="17" name="Zástupný symbol obrázku 3">
            <a:extLst>
              <a:ext uri="{FF2B5EF4-FFF2-40B4-BE49-F238E27FC236}">
                <a16:creationId xmlns:a16="http://schemas.microsoft.com/office/drawing/2014/main" id="{81CEE838-8921-437D-853F-408EC4B07EB5}"/>
              </a:ext>
            </a:extLst>
          </p:cNvPr>
          <p:cNvSpPr>
            <a:spLocks noGrp="1"/>
          </p:cNvSpPr>
          <p:nvPr>
            <p:ph type="pic" sz="quarter" idx="10"/>
          </p:nvPr>
        </p:nvSpPr>
        <p:spPr>
          <a:xfrm>
            <a:off x="0" y="0"/>
            <a:ext cx="12192000" cy="5334000"/>
          </a:xfrm>
          <a:prstGeom prst="rect">
            <a:avLst/>
          </a:prstGeom>
        </p:spPr>
        <p:txBody>
          <a:bodyPr lIns="180000" tIns="180000" rIns="180000" bIns="180000"/>
          <a:lstStyle/>
          <a:p>
            <a:r>
              <a:rPr lang="cs-CZ"/>
              <a:t>Kliknutím na ikonu přidáte obrázek.</a:t>
            </a:r>
            <a:endParaRPr lang="cs-CZ" dirty="0"/>
          </a:p>
        </p:txBody>
      </p:sp>
      <p:sp>
        <p:nvSpPr>
          <p:cNvPr id="21" name="Zástupný symbol pro text 4">
            <a:extLst>
              <a:ext uri="{FF2B5EF4-FFF2-40B4-BE49-F238E27FC236}">
                <a16:creationId xmlns:a16="http://schemas.microsoft.com/office/drawing/2014/main" id="{E690251E-0C52-4982-8171-60DC0B794B2A}"/>
              </a:ext>
            </a:extLst>
          </p:cNvPr>
          <p:cNvSpPr>
            <a:spLocks noGrp="1"/>
          </p:cNvSpPr>
          <p:nvPr>
            <p:ph type="body" sz="quarter" idx="11"/>
          </p:nvPr>
        </p:nvSpPr>
        <p:spPr>
          <a:xfrm>
            <a:off x="4058293" y="4403630"/>
            <a:ext cx="4075415" cy="652774"/>
          </a:xfrm>
          <a:prstGeom prst="rect">
            <a:avLst/>
          </a:prstGeom>
        </p:spPr>
        <p:txBody>
          <a:bodyPr/>
          <a:lstStyle>
            <a:lvl1pPr marL="0" indent="0" algn="ctr">
              <a:buNone/>
              <a:defRPr sz="2133">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1" name="Obrázek 10" descr="Obsah obrázku text&#10;&#10;Popis byl vytvořen automaticky">
            <a:extLst>
              <a:ext uri="{FF2B5EF4-FFF2-40B4-BE49-F238E27FC236}">
                <a16:creationId xmlns:a16="http://schemas.microsoft.com/office/drawing/2014/main" id="{7E8A1E33-5B28-2C43-AFFB-11AF0DAF4A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843" y="5220547"/>
            <a:ext cx="3951291" cy="1288800"/>
          </a:xfrm>
          <a:prstGeom prst="rect">
            <a:avLst/>
          </a:prstGeom>
        </p:spPr>
      </p:pic>
    </p:spTree>
    <p:extLst>
      <p:ext uri="{BB962C8B-B14F-4D97-AF65-F5344CB8AC3E}">
        <p14:creationId xmlns:p14="http://schemas.microsoft.com/office/powerpoint/2010/main" val="639814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Úvodní snímek 2">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5" y="0"/>
            <a:ext cx="12189608" cy="535200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9643200" y="6350001"/>
            <a:ext cx="1828800" cy="507999"/>
          </a:xfrm>
          <a:prstGeom prst="rect">
            <a:avLst/>
          </a:prstGeom>
        </p:spPr>
        <p:txBody>
          <a:bodyPr vert="horz" lIns="0" tIns="0" rIns="0" bIns="0" rtlCol="0" anchor="ctr"/>
          <a:lstStyle>
            <a:lvl1pPr algn="r">
              <a:defRPr sz="1200">
                <a:solidFill>
                  <a:schemeClr val="tx1">
                    <a:tint val="75000"/>
                  </a:schemeClr>
                </a:solidFill>
                <a:latin typeface="Roboto" panose="02000000000000000000" pitchFamily="2" charset="0"/>
                <a:ea typeface="Roboto" panose="02000000000000000000" pitchFamily="2" charset="0"/>
              </a:defRPr>
            </a:lvl1pPr>
          </a:lstStyle>
          <a:p>
            <a:fld id="{E85885DF-FB19-4BAB-A2D6-4F7CAEC1F941}" type="datetimeFigureOut">
              <a:rPr lang="cs-CZ" smtClean="0"/>
              <a:t>28.10.2024</a:t>
            </a:fld>
            <a:endParaRPr lang="cs-CZ"/>
          </a:p>
        </p:txBody>
      </p:sp>
      <p:sp>
        <p:nvSpPr>
          <p:cNvPr id="14" name="Obdélník 13">
            <a:extLst>
              <a:ext uri="{FF2B5EF4-FFF2-40B4-BE49-F238E27FC236}">
                <a16:creationId xmlns:a16="http://schemas.microsoft.com/office/drawing/2014/main" id="{701651B9-8DB1-4417-B27C-E73923C98BA2}"/>
              </a:ext>
            </a:extLst>
          </p:cNvPr>
          <p:cNvSpPr/>
          <p:nvPr/>
        </p:nvSpPr>
        <p:spPr>
          <a:xfrm>
            <a:off x="2" y="5334000"/>
            <a:ext cx="12191999"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700"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720000" y="6385254"/>
            <a:ext cx="4100558" cy="369332"/>
          </a:xfrm>
          <a:prstGeom prst="rect">
            <a:avLst/>
          </a:prstGeom>
          <a:noFill/>
        </p:spPr>
        <p:txBody>
          <a:bodyPr wrap="square" lIns="0" tIns="0" rIns="0" bIns="0" rtlCol="0">
            <a:spAutoFit/>
          </a:bodyPr>
          <a:lstStyle/>
          <a:p>
            <a:r>
              <a:rPr lang="cs-CZ" sz="2400" dirty="0" err="1">
                <a:solidFill>
                  <a:srgbClr val="C80C0F"/>
                </a:solidFill>
              </a:rPr>
              <a:t>pef.czu.cz</a:t>
            </a:r>
            <a:endParaRPr lang="cs-CZ" sz="24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963168" y="1116698"/>
            <a:ext cx="10265663" cy="2904067"/>
          </a:xfrm>
          <a:prstGeom prst="rect">
            <a:avLst/>
          </a:prstGeom>
        </p:spPr>
        <p:txBody>
          <a:bodyPr anchor="ctr" anchorCtr="0">
            <a:normAutofit/>
          </a:bodyPr>
          <a:lstStyle>
            <a:lvl1pPr marL="0" indent="0" algn="ctr">
              <a:lnSpc>
                <a:spcPct val="100000"/>
              </a:lnSpc>
              <a:spcBef>
                <a:spcPts val="0"/>
              </a:spcBef>
              <a:buNone/>
              <a:defRPr sz="64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4058293" y="4403630"/>
            <a:ext cx="4075415" cy="652774"/>
          </a:xfrm>
          <a:prstGeom prst="rect">
            <a:avLst/>
          </a:prstGeom>
        </p:spPr>
        <p:txBody>
          <a:bodyPr/>
          <a:lstStyle>
            <a:lvl1pPr marL="0" indent="0" algn="ctr">
              <a:buNone/>
              <a:defRPr sz="2133">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8B6B0297-ABC7-F84B-85A8-4DFECC7F51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843" y="5220547"/>
            <a:ext cx="3951291" cy="1288800"/>
          </a:xfrm>
          <a:prstGeom prst="rect">
            <a:avLst/>
          </a:prstGeom>
        </p:spPr>
      </p:pic>
    </p:spTree>
    <p:extLst>
      <p:ext uri="{BB962C8B-B14F-4D97-AF65-F5344CB8AC3E}">
        <p14:creationId xmlns:p14="http://schemas.microsoft.com/office/powerpoint/2010/main" val="4203518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Úvodní snímek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4CF31F7D-C775-4367-BA11-D7AC53523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535305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9643200" y="6350001"/>
            <a:ext cx="1828800" cy="507999"/>
          </a:xfrm>
          <a:prstGeom prst="rect">
            <a:avLst/>
          </a:prstGeom>
        </p:spPr>
        <p:txBody>
          <a:bodyPr vert="horz" lIns="0" tIns="0" rIns="0" bIns="0" rtlCol="0" anchor="ctr"/>
          <a:lstStyle>
            <a:lvl1pPr algn="r">
              <a:defRPr sz="1200">
                <a:solidFill>
                  <a:schemeClr val="tx1">
                    <a:tint val="75000"/>
                  </a:schemeClr>
                </a:solidFill>
                <a:latin typeface="Roboto" panose="02000000000000000000" pitchFamily="2" charset="0"/>
                <a:ea typeface="Roboto" panose="02000000000000000000" pitchFamily="2" charset="0"/>
              </a:defRPr>
            </a:lvl1pPr>
          </a:lstStyle>
          <a:p>
            <a:fld id="{E85885DF-FB19-4BAB-A2D6-4F7CAEC1F941}" type="datetimeFigureOut">
              <a:rPr lang="cs-CZ" smtClean="0"/>
              <a:t>28.10.2024</a:t>
            </a:fld>
            <a:endParaRPr lang="cs-CZ"/>
          </a:p>
        </p:txBody>
      </p:sp>
      <p:sp>
        <p:nvSpPr>
          <p:cNvPr id="19" name="Obdélník 18">
            <a:extLst>
              <a:ext uri="{FF2B5EF4-FFF2-40B4-BE49-F238E27FC236}">
                <a16:creationId xmlns:a16="http://schemas.microsoft.com/office/drawing/2014/main" id="{A5FBF3AD-5E16-47E0-9F0F-471206626283}"/>
              </a:ext>
            </a:extLst>
          </p:cNvPr>
          <p:cNvSpPr/>
          <p:nvPr/>
        </p:nvSpPr>
        <p:spPr>
          <a:xfrm>
            <a:off x="2" y="5334000"/>
            <a:ext cx="12191999"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700" dirty="0"/>
          </a:p>
        </p:txBody>
      </p:sp>
      <p:sp>
        <p:nvSpPr>
          <p:cNvPr id="22" name="TextovéPole 21">
            <a:extLst>
              <a:ext uri="{FF2B5EF4-FFF2-40B4-BE49-F238E27FC236}">
                <a16:creationId xmlns:a16="http://schemas.microsoft.com/office/drawing/2014/main" id="{1DDA62E2-FE7A-4AFA-8044-1ED14126E701}"/>
              </a:ext>
            </a:extLst>
          </p:cNvPr>
          <p:cNvSpPr txBox="1"/>
          <p:nvPr/>
        </p:nvSpPr>
        <p:spPr>
          <a:xfrm>
            <a:off x="720000" y="6385254"/>
            <a:ext cx="4100558" cy="369332"/>
          </a:xfrm>
          <a:prstGeom prst="rect">
            <a:avLst/>
          </a:prstGeom>
          <a:noFill/>
        </p:spPr>
        <p:txBody>
          <a:bodyPr wrap="square" lIns="0" tIns="0" rIns="0" bIns="0" rtlCol="0">
            <a:spAutoFit/>
          </a:bodyPr>
          <a:lstStyle/>
          <a:p>
            <a:r>
              <a:rPr lang="cs-CZ" sz="2400" dirty="0" err="1">
                <a:solidFill>
                  <a:srgbClr val="C80C0F"/>
                </a:solidFill>
              </a:rPr>
              <a:t>pef.czu.cz</a:t>
            </a:r>
            <a:endParaRPr lang="cs-CZ" sz="2400" dirty="0">
              <a:solidFill>
                <a:srgbClr val="C80C0F"/>
              </a:solidFill>
            </a:endParaRPr>
          </a:p>
        </p:txBody>
      </p:sp>
      <p:sp>
        <p:nvSpPr>
          <p:cNvPr id="10" name="Zástupný symbol pro text 4">
            <a:extLst>
              <a:ext uri="{FF2B5EF4-FFF2-40B4-BE49-F238E27FC236}">
                <a16:creationId xmlns:a16="http://schemas.microsoft.com/office/drawing/2014/main" id="{7602487F-3C29-4D79-9418-0A036B9FED09}"/>
              </a:ext>
            </a:extLst>
          </p:cNvPr>
          <p:cNvSpPr>
            <a:spLocks noGrp="1"/>
          </p:cNvSpPr>
          <p:nvPr>
            <p:ph type="body" sz="quarter" idx="11"/>
          </p:nvPr>
        </p:nvSpPr>
        <p:spPr>
          <a:xfrm>
            <a:off x="4058293" y="4403630"/>
            <a:ext cx="4075415" cy="652774"/>
          </a:xfrm>
          <a:prstGeom prst="rect">
            <a:avLst/>
          </a:prstGeom>
        </p:spPr>
        <p:txBody>
          <a:bodyPr/>
          <a:lstStyle>
            <a:lvl1pPr marL="0" indent="0" algn="ctr">
              <a:buNone/>
              <a:defRPr sz="2133">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sp>
        <p:nvSpPr>
          <p:cNvPr id="14" name="Zástupný symbol pro text 3">
            <a:extLst>
              <a:ext uri="{FF2B5EF4-FFF2-40B4-BE49-F238E27FC236}">
                <a16:creationId xmlns:a16="http://schemas.microsoft.com/office/drawing/2014/main" id="{F844F9EC-3F8E-4C04-9939-5FE5833C6270}"/>
              </a:ext>
            </a:extLst>
          </p:cNvPr>
          <p:cNvSpPr>
            <a:spLocks noGrp="1"/>
          </p:cNvSpPr>
          <p:nvPr>
            <p:ph type="body" sz="quarter" idx="12"/>
          </p:nvPr>
        </p:nvSpPr>
        <p:spPr>
          <a:xfrm>
            <a:off x="963168" y="1116698"/>
            <a:ext cx="10265663" cy="2904067"/>
          </a:xfrm>
          <a:prstGeom prst="rect">
            <a:avLst/>
          </a:prstGeom>
        </p:spPr>
        <p:txBody>
          <a:bodyPr anchor="ctr" anchorCtr="0">
            <a:normAutofit/>
          </a:bodyPr>
          <a:lstStyle>
            <a:lvl1pPr marL="0" indent="0" algn="ctr">
              <a:lnSpc>
                <a:spcPct val="100000"/>
              </a:lnSpc>
              <a:spcBef>
                <a:spcPts val="0"/>
              </a:spcBef>
              <a:buNone/>
              <a:defRPr sz="64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61B65073-2151-4C4E-9C3C-651867FC29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843" y="5220547"/>
            <a:ext cx="3951291" cy="1288800"/>
          </a:xfrm>
          <a:prstGeom prst="rect">
            <a:avLst/>
          </a:prstGeom>
        </p:spPr>
      </p:pic>
    </p:spTree>
    <p:extLst>
      <p:ext uri="{BB962C8B-B14F-4D97-AF65-F5344CB8AC3E}">
        <p14:creationId xmlns:p14="http://schemas.microsoft.com/office/powerpoint/2010/main" val="4092433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Úvodní snímek 4">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91999"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9643200" y="6350001"/>
            <a:ext cx="1828800" cy="507999"/>
          </a:xfrm>
          <a:prstGeom prst="rect">
            <a:avLst/>
          </a:prstGeom>
        </p:spPr>
        <p:txBody>
          <a:bodyPr vert="horz" lIns="0" tIns="0" rIns="0" bIns="0" rtlCol="0" anchor="ctr"/>
          <a:lstStyle>
            <a:lvl1pPr algn="r">
              <a:defRPr sz="1200">
                <a:solidFill>
                  <a:schemeClr val="tx1">
                    <a:tint val="75000"/>
                  </a:schemeClr>
                </a:solidFill>
                <a:latin typeface="Roboto" panose="02000000000000000000" pitchFamily="2" charset="0"/>
                <a:ea typeface="Roboto" panose="02000000000000000000" pitchFamily="2" charset="0"/>
              </a:defRPr>
            </a:lvl1pPr>
          </a:lstStyle>
          <a:p>
            <a:fld id="{E85885DF-FB19-4BAB-A2D6-4F7CAEC1F941}" type="datetimeFigureOut">
              <a:rPr lang="cs-CZ" smtClean="0"/>
              <a:t>28.10.2024</a:t>
            </a:fld>
            <a:endParaRPr lang="cs-CZ"/>
          </a:p>
        </p:txBody>
      </p:sp>
      <p:sp>
        <p:nvSpPr>
          <p:cNvPr id="19" name="Obdélník 18">
            <a:extLst>
              <a:ext uri="{FF2B5EF4-FFF2-40B4-BE49-F238E27FC236}">
                <a16:creationId xmlns:a16="http://schemas.microsoft.com/office/drawing/2014/main" id="{CD5BF138-FAF5-4C22-A496-6023824A8182}"/>
              </a:ext>
            </a:extLst>
          </p:cNvPr>
          <p:cNvSpPr/>
          <p:nvPr/>
        </p:nvSpPr>
        <p:spPr>
          <a:xfrm>
            <a:off x="2" y="5334000"/>
            <a:ext cx="12191999"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700" dirty="0"/>
          </a:p>
        </p:txBody>
      </p:sp>
      <p:sp>
        <p:nvSpPr>
          <p:cNvPr id="22" name="TextovéPole 21">
            <a:extLst>
              <a:ext uri="{FF2B5EF4-FFF2-40B4-BE49-F238E27FC236}">
                <a16:creationId xmlns:a16="http://schemas.microsoft.com/office/drawing/2014/main" id="{576E8AF4-6C04-4AD5-A275-DAF437588F37}"/>
              </a:ext>
            </a:extLst>
          </p:cNvPr>
          <p:cNvSpPr txBox="1"/>
          <p:nvPr/>
        </p:nvSpPr>
        <p:spPr>
          <a:xfrm>
            <a:off x="720000" y="6385254"/>
            <a:ext cx="4100558" cy="369332"/>
          </a:xfrm>
          <a:prstGeom prst="rect">
            <a:avLst/>
          </a:prstGeom>
          <a:noFill/>
        </p:spPr>
        <p:txBody>
          <a:bodyPr wrap="square" lIns="0" tIns="0" rIns="0" bIns="0" rtlCol="0">
            <a:spAutoFit/>
          </a:bodyPr>
          <a:lstStyle/>
          <a:p>
            <a:r>
              <a:rPr lang="cs-CZ" sz="2400" dirty="0" err="1">
                <a:solidFill>
                  <a:srgbClr val="C80C0F"/>
                </a:solidFill>
              </a:rPr>
              <a:t>pef.czu.cz</a:t>
            </a:r>
            <a:endParaRPr lang="cs-CZ" sz="2400" dirty="0">
              <a:solidFill>
                <a:srgbClr val="C80C0F"/>
              </a:solidFill>
            </a:endParaRPr>
          </a:p>
        </p:txBody>
      </p:sp>
      <p:sp>
        <p:nvSpPr>
          <p:cNvPr id="10" name="Zástupný symbol pro text 3">
            <a:extLst>
              <a:ext uri="{FF2B5EF4-FFF2-40B4-BE49-F238E27FC236}">
                <a16:creationId xmlns:a16="http://schemas.microsoft.com/office/drawing/2014/main" id="{75E6743E-3013-43C0-BCEE-F198C0D12E42}"/>
              </a:ext>
            </a:extLst>
          </p:cNvPr>
          <p:cNvSpPr>
            <a:spLocks noGrp="1"/>
          </p:cNvSpPr>
          <p:nvPr>
            <p:ph type="body" sz="quarter" idx="12"/>
          </p:nvPr>
        </p:nvSpPr>
        <p:spPr>
          <a:xfrm>
            <a:off x="963168" y="1116698"/>
            <a:ext cx="10265663" cy="2904067"/>
          </a:xfrm>
          <a:prstGeom prst="rect">
            <a:avLst/>
          </a:prstGeom>
        </p:spPr>
        <p:txBody>
          <a:bodyPr anchor="ctr" anchorCtr="0">
            <a:normAutofit/>
          </a:bodyPr>
          <a:lstStyle>
            <a:lvl1pPr marL="0" indent="0" algn="ctr">
              <a:lnSpc>
                <a:spcPct val="100000"/>
              </a:lnSpc>
              <a:spcBef>
                <a:spcPts val="0"/>
              </a:spcBef>
              <a:buNone/>
              <a:defRPr sz="64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4" name="Zástupný symbol pro text 4">
            <a:extLst>
              <a:ext uri="{FF2B5EF4-FFF2-40B4-BE49-F238E27FC236}">
                <a16:creationId xmlns:a16="http://schemas.microsoft.com/office/drawing/2014/main" id="{67A4E56B-2C18-40EB-A1CF-C76A3F36BEBA}"/>
              </a:ext>
            </a:extLst>
          </p:cNvPr>
          <p:cNvSpPr>
            <a:spLocks noGrp="1"/>
          </p:cNvSpPr>
          <p:nvPr>
            <p:ph type="body" sz="quarter" idx="11"/>
          </p:nvPr>
        </p:nvSpPr>
        <p:spPr>
          <a:xfrm>
            <a:off x="4058293" y="4403630"/>
            <a:ext cx="4075415" cy="652774"/>
          </a:xfrm>
          <a:prstGeom prst="rect">
            <a:avLst/>
          </a:prstGeom>
        </p:spPr>
        <p:txBody>
          <a:bodyPr/>
          <a:lstStyle>
            <a:lvl1pPr marL="0" indent="0" algn="ctr">
              <a:buNone/>
              <a:defRPr sz="2133">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227D3A48-039E-724E-82EF-4F01CA8E06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843" y="5220547"/>
            <a:ext cx="3951291" cy="1288800"/>
          </a:xfrm>
          <a:prstGeom prst="rect">
            <a:avLst/>
          </a:prstGeom>
        </p:spPr>
      </p:pic>
    </p:spTree>
    <p:extLst>
      <p:ext uri="{BB962C8B-B14F-4D97-AF65-F5344CB8AC3E}">
        <p14:creationId xmlns:p14="http://schemas.microsoft.com/office/powerpoint/2010/main" val="3683553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Úvodní snímek 5">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9643200" y="6350001"/>
            <a:ext cx="1828800" cy="507999"/>
          </a:xfrm>
          <a:prstGeom prst="rect">
            <a:avLst/>
          </a:prstGeom>
        </p:spPr>
        <p:txBody>
          <a:bodyPr vert="horz" lIns="0" tIns="0" rIns="0" bIns="0" rtlCol="0" anchor="ctr"/>
          <a:lstStyle>
            <a:lvl1pPr algn="r">
              <a:defRPr sz="1200">
                <a:solidFill>
                  <a:schemeClr val="tx1">
                    <a:tint val="75000"/>
                  </a:schemeClr>
                </a:solidFill>
                <a:latin typeface="Roboto" panose="02000000000000000000" pitchFamily="2" charset="0"/>
                <a:ea typeface="Roboto" panose="02000000000000000000" pitchFamily="2" charset="0"/>
              </a:defRPr>
            </a:lvl1pPr>
          </a:lstStyle>
          <a:p>
            <a:fld id="{E85885DF-FB19-4BAB-A2D6-4F7CAEC1F941}" type="datetimeFigureOut">
              <a:rPr lang="cs-CZ" smtClean="0"/>
              <a:t>28.10.2024</a:t>
            </a:fld>
            <a:endParaRPr lang="cs-CZ"/>
          </a:p>
        </p:txBody>
      </p:sp>
      <p:sp>
        <p:nvSpPr>
          <p:cNvPr id="14" name="Obdélník 13">
            <a:extLst>
              <a:ext uri="{FF2B5EF4-FFF2-40B4-BE49-F238E27FC236}">
                <a16:creationId xmlns:a16="http://schemas.microsoft.com/office/drawing/2014/main" id="{701651B9-8DB1-4417-B27C-E73923C98BA2}"/>
              </a:ext>
            </a:extLst>
          </p:cNvPr>
          <p:cNvSpPr/>
          <p:nvPr/>
        </p:nvSpPr>
        <p:spPr>
          <a:xfrm>
            <a:off x="2" y="5334000"/>
            <a:ext cx="12191999"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700"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720000" y="6385254"/>
            <a:ext cx="4100558" cy="369332"/>
          </a:xfrm>
          <a:prstGeom prst="rect">
            <a:avLst/>
          </a:prstGeom>
          <a:noFill/>
        </p:spPr>
        <p:txBody>
          <a:bodyPr wrap="square" lIns="0" tIns="0" rIns="0" bIns="0" rtlCol="0">
            <a:spAutoFit/>
          </a:bodyPr>
          <a:lstStyle/>
          <a:p>
            <a:r>
              <a:rPr lang="cs-CZ" sz="2400" dirty="0" err="1">
                <a:solidFill>
                  <a:srgbClr val="C80C0F"/>
                </a:solidFill>
              </a:rPr>
              <a:t>pef.czu.cz</a:t>
            </a:r>
            <a:endParaRPr lang="cs-CZ" sz="24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963168" y="1116698"/>
            <a:ext cx="10265663" cy="2904067"/>
          </a:xfrm>
          <a:prstGeom prst="rect">
            <a:avLst/>
          </a:prstGeom>
        </p:spPr>
        <p:txBody>
          <a:bodyPr anchor="ctr" anchorCtr="0">
            <a:normAutofit/>
          </a:bodyPr>
          <a:lstStyle>
            <a:lvl1pPr marL="0" indent="0" algn="ctr">
              <a:lnSpc>
                <a:spcPct val="100000"/>
              </a:lnSpc>
              <a:spcBef>
                <a:spcPts val="0"/>
              </a:spcBef>
              <a:buNone/>
              <a:defRPr sz="64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4058293" y="4403630"/>
            <a:ext cx="4075415" cy="652774"/>
          </a:xfrm>
          <a:prstGeom prst="rect">
            <a:avLst/>
          </a:prstGeom>
        </p:spPr>
        <p:txBody>
          <a:bodyPr/>
          <a:lstStyle>
            <a:lvl1pPr marL="0" indent="0" algn="ctr">
              <a:buNone/>
              <a:defRPr sz="2133">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5" name="Obrázek 14" descr="Obsah obrázku text&#10;&#10;Popis byl vytvořen automaticky">
            <a:extLst>
              <a:ext uri="{FF2B5EF4-FFF2-40B4-BE49-F238E27FC236}">
                <a16:creationId xmlns:a16="http://schemas.microsoft.com/office/drawing/2014/main" id="{E19424E9-4DDB-CF40-92C3-F70E30715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843" y="5220547"/>
            <a:ext cx="3951291" cy="1288800"/>
          </a:xfrm>
          <a:prstGeom prst="rect">
            <a:avLst/>
          </a:prstGeom>
        </p:spPr>
      </p:pic>
    </p:spTree>
    <p:extLst>
      <p:ext uri="{BB962C8B-B14F-4D97-AF65-F5344CB8AC3E}">
        <p14:creationId xmlns:p14="http://schemas.microsoft.com/office/powerpoint/2010/main" val="1180911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ddíl - Předěl - Kapitola 1">
    <p:spTree>
      <p:nvGrpSpPr>
        <p:cNvPr id="1" name=""/>
        <p:cNvGrpSpPr/>
        <p:nvPr/>
      </p:nvGrpSpPr>
      <p:grpSpPr>
        <a:xfrm>
          <a:off x="0" y="0"/>
          <a:ext cx="0" cy="0"/>
          <a:chOff x="0" y="0"/>
          <a:chExt cx="0" cy="0"/>
        </a:xfrm>
      </p:grpSpPr>
      <p:pic>
        <p:nvPicPr>
          <p:cNvPr id="3" name="Obrázek 2" descr="Obsah obrázku text&#10;&#10;Popis byl vytvořen automaticky">
            <a:extLst>
              <a:ext uri="{FF2B5EF4-FFF2-40B4-BE49-F238E27FC236}">
                <a16:creationId xmlns:a16="http://schemas.microsoft.com/office/drawing/2014/main" id="{93899535-AA89-8F4E-97C4-9FA4F0DD5E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845" y="6123264"/>
            <a:ext cx="2252608"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666750" y="724896"/>
            <a:ext cx="10858500" cy="5408208"/>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dirty="0"/>
          </a:p>
        </p:txBody>
      </p:sp>
      <p:sp>
        <p:nvSpPr>
          <p:cNvPr id="6" name="Zástupný symbol pro text 3">
            <a:extLst>
              <a:ext uri="{FF2B5EF4-FFF2-40B4-BE49-F238E27FC236}">
                <a16:creationId xmlns:a16="http://schemas.microsoft.com/office/drawing/2014/main" id="{137FF405-C523-4C6D-A210-824A893F5307}"/>
              </a:ext>
            </a:extLst>
          </p:cNvPr>
          <p:cNvSpPr>
            <a:spLocks noGrp="1"/>
          </p:cNvSpPr>
          <p:nvPr>
            <p:ph type="body" sz="quarter" idx="12"/>
          </p:nvPr>
        </p:nvSpPr>
        <p:spPr>
          <a:xfrm>
            <a:off x="1085850" y="2899075"/>
            <a:ext cx="10029825" cy="1059851"/>
          </a:xfrm>
          <a:prstGeom prst="rect">
            <a:avLst/>
          </a:prstGeom>
        </p:spPr>
        <p:txBody>
          <a:bodyPr anchor="ctr" anchorCtr="0">
            <a:normAutofit/>
          </a:bodyPr>
          <a:lstStyle>
            <a:lvl1pPr marL="0" indent="0" algn="ctr">
              <a:lnSpc>
                <a:spcPct val="100000"/>
              </a:lnSpc>
              <a:spcBef>
                <a:spcPts val="0"/>
              </a:spcBef>
              <a:buNone/>
              <a:defRPr sz="5334">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280388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ddíl - Předěl - Kapitola 2">
    <p:spTree>
      <p:nvGrpSpPr>
        <p:cNvPr id="1" name=""/>
        <p:cNvGrpSpPr/>
        <p:nvPr/>
      </p:nvGrpSpPr>
      <p:grpSpPr>
        <a:xfrm>
          <a:off x="0" y="0"/>
          <a:ext cx="0" cy="0"/>
          <a:chOff x="0" y="0"/>
          <a:chExt cx="0" cy="0"/>
        </a:xfrm>
      </p:grpSpPr>
      <p:pic>
        <p:nvPicPr>
          <p:cNvPr id="5" name="Obrázek 4" descr="Obsah obrázku text&#10;&#10;Popis byl vytvořen automaticky">
            <a:extLst>
              <a:ext uri="{FF2B5EF4-FFF2-40B4-BE49-F238E27FC236}">
                <a16:creationId xmlns:a16="http://schemas.microsoft.com/office/drawing/2014/main" id="{B3F927B1-1D31-1749-A32D-E5B899D0E9D8}"/>
              </a:ext>
            </a:extLst>
          </p:cNvPr>
          <p:cNvPicPr>
            <a:picLocks noChangeAspect="1"/>
          </p:cNvPicPr>
          <p:nvPr/>
        </p:nvPicPr>
        <p:blipFill>
          <a:blip r:embed="rId2" cstate="print">
            <a:duotone>
              <a:prstClr val="black"/>
              <a:srgbClr val="BFBFBF">
                <a:tint val="45000"/>
                <a:satMod val="400000"/>
              </a:srgb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479569" y="6123264"/>
            <a:ext cx="2252608"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666750" y="724896"/>
            <a:ext cx="10858500" cy="540820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dirty="0"/>
          </a:p>
        </p:txBody>
      </p:sp>
      <p:sp>
        <p:nvSpPr>
          <p:cNvPr id="7" name="Zástupný symbol pro text 3">
            <a:extLst>
              <a:ext uri="{FF2B5EF4-FFF2-40B4-BE49-F238E27FC236}">
                <a16:creationId xmlns:a16="http://schemas.microsoft.com/office/drawing/2014/main" id="{FD279ADA-FDAB-4914-9469-CB105F4C58BE}"/>
              </a:ext>
            </a:extLst>
          </p:cNvPr>
          <p:cNvSpPr>
            <a:spLocks noGrp="1"/>
          </p:cNvSpPr>
          <p:nvPr>
            <p:ph type="body" sz="quarter" idx="12"/>
          </p:nvPr>
        </p:nvSpPr>
        <p:spPr>
          <a:xfrm>
            <a:off x="1047750" y="2899075"/>
            <a:ext cx="10153650" cy="1059851"/>
          </a:xfrm>
          <a:prstGeom prst="rect">
            <a:avLst/>
          </a:prstGeom>
        </p:spPr>
        <p:txBody>
          <a:bodyPr anchor="ctr" anchorCtr="0">
            <a:normAutofit/>
          </a:bodyPr>
          <a:lstStyle>
            <a:lvl1pPr marL="0" indent="0" algn="ctr">
              <a:lnSpc>
                <a:spcPct val="100000"/>
              </a:lnSpc>
              <a:spcBef>
                <a:spcPts val="0"/>
              </a:spcBef>
              <a:buNone/>
              <a:defRPr sz="5334">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404684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ddíl - Předěl - Kapitola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001" y="736270"/>
            <a:ext cx="108460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1074821" y="2899075"/>
            <a:ext cx="10074443"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5334">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8" name="Obrázek 7" descr="Obsah obrázku text&#10;&#10;Popis byl vytvořen automaticky">
            <a:extLst>
              <a:ext uri="{FF2B5EF4-FFF2-40B4-BE49-F238E27FC236}">
                <a16:creationId xmlns:a16="http://schemas.microsoft.com/office/drawing/2014/main" id="{7C4858C6-8C38-2B41-8CFE-1254036B4C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845" y="6123264"/>
            <a:ext cx="2252608" cy="734737"/>
          </a:xfrm>
          <a:prstGeom prst="rect">
            <a:avLst/>
          </a:prstGeom>
        </p:spPr>
      </p:pic>
    </p:spTree>
    <p:extLst>
      <p:ext uri="{BB962C8B-B14F-4D97-AF65-F5344CB8AC3E}">
        <p14:creationId xmlns:p14="http://schemas.microsoft.com/office/powerpoint/2010/main" val="2705652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ddíl - Předěl - Kapitola 4">
    <p:spTree>
      <p:nvGrpSpPr>
        <p:cNvPr id="1" name=""/>
        <p:cNvGrpSpPr/>
        <p:nvPr/>
      </p:nvGrpSpPr>
      <p:grpSpPr>
        <a:xfrm>
          <a:off x="0" y="0"/>
          <a:ext cx="0" cy="0"/>
          <a:chOff x="0" y="0"/>
          <a:chExt cx="0" cy="0"/>
        </a:xfrm>
      </p:grpSpPr>
      <p:pic>
        <p:nvPicPr>
          <p:cNvPr id="2" name="Obráze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000" y="728249"/>
            <a:ext cx="108460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1074821" y="2899075"/>
            <a:ext cx="10074443"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5334">
                <a:solidFill>
                  <a:srgbClr val="C80C0F"/>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D96739DC-B272-A942-A9ED-76826B0255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845" y="6123264"/>
            <a:ext cx="2252608" cy="734737"/>
          </a:xfrm>
          <a:prstGeom prst="rect">
            <a:avLst/>
          </a:prstGeom>
        </p:spPr>
      </p:pic>
    </p:spTree>
    <p:extLst>
      <p:ext uri="{BB962C8B-B14F-4D97-AF65-F5344CB8AC3E}">
        <p14:creationId xmlns:p14="http://schemas.microsoft.com/office/powerpoint/2010/main" val="3263798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ddíl - Předěl - Kapitola 5">
    <p:spTree>
      <p:nvGrpSpPr>
        <p:cNvPr id="1" name=""/>
        <p:cNvGrpSpPr/>
        <p:nvPr/>
      </p:nvGrpSpPr>
      <p:grpSpPr>
        <a:xfrm>
          <a:off x="0" y="0"/>
          <a:ext cx="0" cy="0"/>
          <a:chOff x="0" y="0"/>
          <a:chExt cx="0" cy="0"/>
        </a:xfrm>
      </p:grpSpPr>
      <p:pic>
        <p:nvPicPr>
          <p:cNvPr id="3" name="Obráze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578" y="719999"/>
            <a:ext cx="10840844" cy="5356951"/>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1074821" y="2899075"/>
            <a:ext cx="10074443" cy="1920000"/>
          </a:xfrm>
          <a:prstGeom prst="rect">
            <a:avLst/>
          </a:prstGeom>
          <a:solidFill>
            <a:schemeClr val="bg1"/>
          </a:solidFill>
          <a:effectLst/>
        </p:spPr>
        <p:txBody>
          <a:bodyPr anchor="ctr" anchorCtr="0">
            <a:normAutofit/>
          </a:bodyPr>
          <a:lstStyle>
            <a:lvl1pPr marL="0" indent="0" algn="ctr">
              <a:lnSpc>
                <a:spcPct val="100000"/>
              </a:lnSpc>
              <a:spcBef>
                <a:spcPts val="0"/>
              </a:spcBef>
              <a:buNone/>
              <a:defRPr sz="5334">
                <a:solidFill>
                  <a:schemeClr val="tx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587EC3D4-E53B-5446-B515-D3099FF581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845" y="6123264"/>
            <a:ext cx="2252608" cy="734737"/>
          </a:xfrm>
          <a:prstGeom prst="rect">
            <a:avLst/>
          </a:prstGeom>
        </p:spPr>
      </p:pic>
    </p:spTree>
    <p:extLst>
      <p:ext uri="{BB962C8B-B14F-4D97-AF65-F5344CB8AC3E}">
        <p14:creationId xmlns:p14="http://schemas.microsoft.com/office/powerpoint/2010/main" val="2604972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ddíl - Předěl - Kapitola 6">
    <p:spTree>
      <p:nvGrpSpPr>
        <p:cNvPr id="1" name=""/>
        <p:cNvGrpSpPr/>
        <p:nvPr/>
      </p:nvGrpSpPr>
      <p:grpSpPr>
        <a:xfrm>
          <a:off x="0" y="0"/>
          <a:ext cx="0" cy="0"/>
          <a:chOff x="0" y="0"/>
          <a:chExt cx="0" cy="0"/>
        </a:xfrm>
      </p:grpSpPr>
      <p:sp>
        <p:nvSpPr>
          <p:cNvPr id="8" name="Zástupný symbol pro text 3">
            <a:extLst>
              <a:ext uri="{FF2B5EF4-FFF2-40B4-BE49-F238E27FC236}">
                <a16:creationId xmlns:a16="http://schemas.microsoft.com/office/drawing/2014/main" id="{A6D9A389-F059-4682-BB5E-006EEEC6D29D}"/>
              </a:ext>
            </a:extLst>
          </p:cNvPr>
          <p:cNvSpPr>
            <a:spLocks noGrp="1"/>
          </p:cNvSpPr>
          <p:nvPr>
            <p:ph type="body" sz="quarter" idx="12"/>
          </p:nvPr>
        </p:nvSpPr>
        <p:spPr>
          <a:xfrm>
            <a:off x="666750" y="2899075"/>
            <a:ext cx="10858500" cy="1059851"/>
          </a:xfrm>
          <a:prstGeom prst="rect">
            <a:avLst/>
          </a:prstGeom>
        </p:spPr>
        <p:txBody>
          <a:bodyPr anchor="ctr" anchorCtr="0">
            <a:normAutofit/>
          </a:bodyPr>
          <a:lstStyle>
            <a:lvl1pPr marL="0" indent="0" algn="ctr">
              <a:lnSpc>
                <a:spcPct val="100000"/>
              </a:lnSpc>
              <a:spcBef>
                <a:spcPts val="0"/>
              </a:spcBef>
              <a:buNone/>
              <a:defRPr sz="5334">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5" name="Zástupný symbol obrázku 3">
            <a:extLst>
              <a:ext uri="{FF2B5EF4-FFF2-40B4-BE49-F238E27FC236}">
                <a16:creationId xmlns:a16="http://schemas.microsoft.com/office/drawing/2014/main" id="{8E8F7AB6-976A-4CB0-A0AE-8B783479B5E9}"/>
              </a:ext>
            </a:extLst>
          </p:cNvPr>
          <p:cNvSpPr>
            <a:spLocks noGrp="1"/>
          </p:cNvSpPr>
          <p:nvPr>
            <p:ph type="pic" sz="quarter" idx="10"/>
          </p:nvPr>
        </p:nvSpPr>
        <p:spPr>
          <a:xfrm>
            <a:off x="666751" y="724799"/>
            <a:ext cx="10850400" cy="5407200"/>
          </a:xfrm>
          <a:prstGeom prst="rect">
            <a:avLst/>
          </a:prstGeom>
        </p:spPr>
        <p:txBody>
          <a:bodyPr/>
          <a:lstStyle/>
          <a:p>
            <a:r>
              <a:rPr lang="cs-CZ"/>
              <a:t>Kliknutím na ikonu přidáte obrázek.</a:t>
            </a:r>
          </a:p>
        </p:txBody>
      </p:sp>
      <p:pic>
        <p:nvPicPr>
          <p:cNvPr id="7" name="Obrázek 6" descr="Obsah obrázku text&#10;&#10;Popis byl vytvořen automaticky">
            <a:extLst>
              <a:ext uri="{FF2B5EF4-FFF2-40B4-BE49-F238E27FC236}">
                <a16:creationId xmlns:a16="http://schemas.microsoft.com/office/drawing/2014/main" id="{8DDC546C-2D13-A947-8672-83BE19C04B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845" y="6123264"/>
            <a:ext cx="2252608" cy="734737"/>
          </a:xfrm>
          <a:prstGeom prst="rect">
            <a:avLst/>
          </a:prstGeom>
        </p:spPr>
      </p:pic>
    </p:spTree>
    <p:extLst>
      <p:ext uri="{BB962C8B-B14F-4D97-AF65-F5344CB8AC3E}">
        <p14:creationId xmlns:p14="http://schemas.microsoft.com/office/powerpoint/2010/main" val="3750143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ový slide 1">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12192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321019" y="2385457"/>
            <a:ext cx="3192380"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720000" y="695412"/>
            <a:ext cx="8889762" cy="1261634"/>
          </a:xfrm>
          <a:prstGeom prst="rect">
            <a:avLst/>
          </a:prstGeom>
        </p:spPr>
        <p:txBody>
          <a:bodyPr anchor="ctr">
            <a:normAutofit/>
          </a:bodyPr>
          <a:lstStyle>
            <a:lvl1pPr marL="0" indent="0">
              <a:buNone/>
              <a:defRPr sz="540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720000" y="0"/>
            <a:ext cx="8889762" cy="695412"/>
          </a:xfrm>
          <a:prstGeom prst="rect">
            <a:avLst/>
          </a:prstGeom>
        </p:spPr>
        <p:txBody>
          <a:bodyPr anchor="ctr"/>
          <a:lstStyle>
            <a:lvl1pPr marL="0" indent="0">
              <a:buNone/>
              <a:defRPr sz="20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7" name="TextovéPole 16">
            <a:extLst>
              <a:ext uri="{FF2B5EF4-FFF2-40B4-BE49-F238E27FC236}">
                <a16:creationId xmlns:a16="http://schemas.microsoft.com/office/drawing/2014/main" id="{DED13C98-A460-4EE5-BFBB-681BBDA81D3B}"/>
              </a:ext>
            </a:extLst>
          </p:cNvPr>
          <p:cNvSpPr txBox="1"/>
          <p:nvPr/>
        </p:nvSpPr>
        <p:spPr>
          <a:xfrm>
            <a:off x="720000" y="6162588"/>
            <a:ext cx="3568589" cy="695412"/>
          </a:xfrm>
          <a:prstGeom prst="rect">
            <a:avLst/>
          </a:prstGeom>
          <a:noFill/>
        </p:spPr>
        <p:txBody>
          <a:bodyPr wrap="none" lIns="0" tIns="0" rIns="0" bIns="0" rtlCol="0" anchor="ctr" anchorCtr="0">
            <a:noAutofit/>
          </a:bodyPr>
          <a:lstStyle/>
          <a:p>
            <a:r>
              <a:rPr lang="cs-CZ" sz="16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600" dirty="0" err="1">
                <a:solidFill>
                  <a:schemeClr val="bg1">
                    <a:lumMod val="75000"/>
                  </a:schemeClr>
                </a:solidFill>
                <a:latin typeface="Roboto Medium" panose="02000000000000000000" pitchFamily="2" charset="0"/>
                <a:ea typeface="Roboto Medium" panose="02000000000000000000" pitchFamily="2" charset="0"/>
              </a:rPr>
              <a:t>of</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dirty="0" err="1">
                <a:solidFill>
                  <a:schemeClr val="bg1">
                    <a:lumMod val="75000"/>
                  </a:schemeClr>
                </a:solidFill>
                <a:latin typeface="Roboto Medium" panose="02000000000000000000" pitchFamily="2" charset="0"/>
                <a:ea typeface="Roboto Medium" panose="02000000000000000000" pitchFamily="2" charset="0"/>
              </a:rPr>
              <a:t>Life</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6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9438863" y="0"/>
            <a:ext cx="2033137" cy="695411"/>
          </a:xfrm>
          <a:prstGeom prst="rect">
            <a:avLst/>
          </a:prstGeom>
          <a:noFill/>
        </p:spPr>
        <p:txBody>
          <a:bodyPr wrap="square" lIns="0" tIns="0" rIns="0" bIns="0" rtlCol="0" anchor="ctr" anchorCtr="0">
            <a:noAutofit/>
          </a:bodyPr>
          <a:lstStyle/>
          <a:p>
            <a:pPr algn="r"/>
            <a:r>
              <a:rPr lang="cs-CZ" sz="24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24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TextovéPole 11">
            <a:extLst>
              <a:ext uri="{FF2B5EF4-FFF2-40B4-BE49-F238E27FC236}">
                <a16:creationId xmlns:a16="http://schemas.microsoft.com/office/drawing/2014/main" id="{2C766699-8A1C-452E-BA3A-E469A225BEE7}"/>
              </a:ext>
            </a:extLst>
          </p:cNvPr>
          <p:cNvSpPr txBox="1"/>
          <p:nvPr/>
        </p:nvSpPr>
        <p:spPr>
          <a:xfrm>
            <a:off x="6213642" y="6162588"/>
            <a:ext cx="5299757" cy="695412"/>
          </a:xfrm>
          <a:prstGeom prst="rect">
            <a:avLst/>
          </a:prstGeom>
          <a:noFill/>
        </p:spPr>
        <p:txBody>
          <a:bodyPr wrap="none" lIns="0" tIns="0" rIns="0" bIns="0" rtlCol="0" anchor="ctr" anchorCtr="0">
            <a:noAutofit/>
          </a:bodyPr>
          <a:lstStyle/>
          <a:p>
            <a:pPr algn="r"/>
            <a:r>
              <a:rPr lang="cs-CZ" sz="1600" dirty="0" err="1">
                <a:solidFill>
                  <a:srgbClr val="C80C0F"/>
                </a:solidFill>
                <a:latin typeface="Roboto Medium" panose="02000000000000000000" pitchFamily="2" charset="0"/>
                <a:ea typeface="Roboto Medium" panose="02000000000000000000" pitchFamily="2" charset="0"/>
              </a:rPr>
              <a:t>Faculty</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of</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Economics</a:t>
            </a:r>
            <a:r>
              <a:rPr lang="cs-CZ" sz="1600" dirty="0">
                <a:solidFill>
                  <a:srgbClr val="C80C0F"/>
                </a:solidFill>
                <a:latin typeface="Roboto Medium" panose="02000000000000000000" pitchFamily="2" charset="0"/>
                <a:ea typeface="Roboto Medium" panose="02000000000000000000" pitchFamily="2" charset="0"/>
              </a:rPr>
              <a:t> and Management</a:t>
            </a:r>
          </a:p>
        </p:txBody>
      </p:sp>
      <p:sp>
        <p:nvSpPr>
          <p:cNvPr id="13" name="Zástupný symbol pro text 6">
            <a:extLst>
              <a:ext uri="{FF2B5EF4-FFF2-40B4-BE49-F238E27FC236}">
                <a16:creationId xmlns:a16="http://schemas.microsoft.com/office/drawing/2014/main" id="{8BE1237B-FF84-4FBE-AC1D-9DB2202BD76B}"/>
              </a:ext>
            </a:extLst>
          </p:cNvPr>
          <p:cNvSpPr>
            <a:spLocks noGrp="1"/>
          </p:cNvSpPr>
          <p:nvPr>
            <p:ph type="body" sz="quarter" idx="15"/>
          </p:nvPr>
        </p:nvSpPr>
        <p:spPr>
          <a:xfrm>
            <a:off x="719667" y="2136776"/>
            <a:ext cx="9520767" cy="515683"/>
          </a:xfrm>
          <a:prstGeom prst="rect">
            <a:avLst/>
          </a:prstGeom>
        </p:spPr>
        <p:txBody>
          <a:bodyPr/>
          <a:lstStyle>
            <a:lvl1pPr marL="0" indent="0">
              <a:buNone/>
              <a:defRPr sz="2400">
                <a:latin typeface="Roboto Medium" panose="02000000000000000000" pitchFamily="2" charset="0"/>
                <a:ea typeface="Roboto Medium" panose="02000000000000000000" pitchFamily="2" charset="0"/>
              </a:defRPr>
            </a:lvl1pPr>
            <a:lvl2pPr marL="457223" indent="0">
              <a:buNone/>
              <a:defRPr sz="2133">
                <a:latin typeface="Roboto" panose="02000000000000000000" pitchFamily="2" charset="0"/>
                <a:ea typeface="Roboto" panose="02000000000000000000" pitchFamily="2" charset="0"/>
              </a:defRPr>
            </a:lvl2pPr>
            <a:lvl3pPr>
              <a:defRPr sz="1867">
                <a:latin typeface="Roboto" panose="02000000000000000000" pitchFamily="2" charset="0"/>
                <a:ea typeface="Roboto" panose="02000000000000000000" pitchFamily="2" charset="0"/>
              </a:defRPr>
            </a:lvl3pPr>
            <a:lvl4pPr>
              <a:defRPr sz="16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4C33C50D-A72F-494F-B092-15858B2C6CC1}"/>
              </a:ext>
            </a:extLst>
          </p:cNvPr>
          <p:cNvSpPr>
            <a:spLocks noGrp="1"/>
          </p:cNvSpPr>
          <p:nvPr>
            <p:ph type="body" sz="quarter" idx="16"/>
          </p:nvPr>
        </p:nvSpPr>
        <p:spPr>
          <a:xfrm>
            <a:off x="719667" y="2828926"/>
            <a:ext cx="9520767" cy="3333663"/>
          </a:xfrm>
          <a:prstGeom prst="rect">
            <a:avLst/>
          </a:prstGeom>
        </p:spPr>
        <p:txBody>
          <a:bodyPr/>
          <a:lstStyle>
            <a:lvl1pPr marL="304815" indent="-304815">
              <a:buClr>
                <a:srgbClr val="28642D"/>
              </a:buClr>
              <a:buFont typeface="Wingdings" panose="05000000000000000000" pitchFamily="2" charset="2"/>
              <a:buChar char="§"/>
              <a:defRPr lang="cs-CZ" sz="2400" dirty="0" smtClean="0">
                <a:latin typeface="Roboto" panose="02000000000000000000" pitchFamily="2" charset="0"/>
                <a:ea typeface="Roboto" panose="02000000000000000000" pitchFamily="2" charset="0"/>
              </a:defRPr>
            </a:lvl1pPr>
            <a:lvl2pPr marL="762038" indent="-304815">
              <a:buClr>
                <a:srgbClr val="28642D"/>
              </a:buClr>
              <a:buFont typeface="+mj-lt"/>
              <a:buAutoNum type="arabicPeriod"/>
              <a:defRPr lang="cs-CZ" sz="2133" dirty="0" smtClean="0">
                <a:latin typeface="Roboto" panose="02000000000000000000" pitchFamily="2" charset="0"/>
                <a:ea typeface="Roboto" panose="02000000000000000000" pitchFamily="2" charset="0"/>
              </a:defRPr>
            </a:lvl2pPr>
            <a:lvl3pPr marL="1257363" indent="-342917">
              <a:buClr>
                <a:srgbClr val="28642D"/>
              </a:buClr>
              <a:buFont typeface="+mj-lt"/>
              <a:buAutoNum type="alphaLcPeriod"/>
              <a:defRPr lang="cs-CZ" sz="1867" dirty="0" smtClean="0">
                <a:latin typeface="Roboto" panose="02000000000000000000" pitchFamily="2" charset="0"/>
                <a:ea typeface="Roboto" panose="02000000000000000000" pitchFamily="2" charset="0"/>
              </a:defRPr>
            </a:lvl3pPr>
            <a:lvl4pPr marL="1600280" indent="-228611">
              <a:buClr>
                <a:schemeClr val="tx1">
                  <a:lumMod val="65000"/>
                  <a:lumOff val="35000"/>
                </a:schemeClr>
              </a:buClr>
              <a:buFont typeface="Wingdings" panose="05000000000000000000" pitchFamily="2" charset="2"/>
              <a:buChar char="§"/>
              <a:defRPr lang="cs-CZ" sz="16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2" name="TextovéPole 1">
            <a:extLst>
              <a:ext uri="{FF2B5EF4-FFF2-40B4-BE49-F238E27FC236}">
                <a16:creationId xmlns:a16="http://schemas.microsoft.com/office/drawing/2014/main" id="{631BC1C8-BCF5-484D-8C94-7FAA0AE50120}"/>
              </a:ext>
            </a:extLst>
          </p:cNvPr>
          <p:cNvSpPr txBox="1"/>
          <p:nvPr/>
        </p:nvSpPr>
        <p:spPr>
          <a:xfrm>
            <a:off x="10746658" y="1049230"/>
            <a:ext cx="1174290" cy="584775"/>
          </a:xfrm>
          <a:prstGeom prst="rect">
            <a:avLst/>
          </a:prstGeom>
          <a:noFill/>
        </p:spPr>
        <p:txBody>
          <a:bodyPr wrap="square" rtlCol="0">
            <a:spAutoFit/>
          </a:bodyPr>
          <a:lstStyle/>
          <a:p>
            <a:pPr algn="r"/>
            <a:fld id="{912F5DA3-5B13-43E6-BB34-AB0AE73D120D}" type="slidenum">
              <a:rPr lang="cs-CZ" sz="3200" smtClean="0">
                <a:solidFill>
                  <a:schemeClr val="bg1"/>
                </a:solidFill>
                <a:latin typeface="Roboto Black" panose="02000000000000000000" pitchFamily="2" charset="0"/>
                <a:ea typeface="Roboto Black" panose="02000000000000000000" pitchFamily="2" charset="0"/>
              </a:rPr>
              <a:pPr algn="r"/>
              <a:t>‹#›</a:t>
            </a:fld>
            <a:endParaRPr lang="cs-CZ" sz="3200" dirty="0">
              <a:solidFill>
                <a:schemeClr val="bg1"/>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74446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ový slide 2">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12192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720000" y="695412"/>
            <a:ext cx="9122643" cy="1261634"/>
          </a:xfrm>
          <a:prstGeom prst="rect">
            <a:avLst/>
          </a:prstGeom>
        </p:spPr>
        <p:txBody>
          <a:bodyPr anchor="ctr">
            <a:normAutofit/>
          </a:bodyPr>
          <a:lstStyle>
            <a:lvl1pPr marL="0" indent="0">
              <a:buNone/>
              <a:defRPr sz="540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720000" y="0"/>
            <a:ext cx="9122643" cy="695412"/>
          </a:xfrm>
          <a:prstGeom prst="rect">
            <a:avLst/>
          </a:prstGeom>
        </p:spPr>
        <p:txBody>
          <a:bodyPr anchor="ctr"/>
          <a:lstStyle>
            <a:lvl1pPr marL="0" indent="0">
              <a:buNone/>
              <a:defRPr sz="20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9438863" y="1"/>
            <a:ext cx="2033137" cy="695411"/>
          </a:xfrm>
          <a:prstGeom prst="rect">
            <a:avLst/>
          </a:prstGeom>
          <a:noFill/>
        </p:spPr>
        <p:txBody>
          <a:bodyPr wrap="square" lIns="0" tIns="0" rIns="0" bIns="0" rtlCol="0" anchor="ctr" anchorCtr="0">
            <a:noAutofit/>
          </a:bodyPr>
          <a:lstStyle/>
          <a:p>
            <a:pPr algn="r"/>
            <a:r>
              <a:rPr lang="cs-CZ" sz="24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24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66B0A99E-A700-494A-928E-194351AE09DC}"/>
              </a:ext>
            </a:extLst>
          </p:cNvPr>
          <p:cNvSpPr>
            <a:spLocks noGrp="1"/>
          </p:cNvSpPr>
          <p:nvPr>
            <p:ph type="body" sz="quarter" idx="15"/>
          </p:nvPr>
        </p:nvSpPr>
        <p:spPr>
          <a:xfrm>
            <a:off x="719667" y="2136776"/>
            <a:ext cx="9520767" cy="515683"/>
          </a:xfrm>
          <a:prstGeom prst="rect">
            <a:avLst/>
          </a:prstGeom>
        </p:spPr>
        <p:txBody>
          <a:bodyPr/>
          <a:lstStyle>
            <a:lvl1pPr marL="0" indent="0">
              <a:buNone/>
              <a:defRPr sz="2400">
                <a:latin typeface="Roboto Medium" panose="02000000000000000000" pitchFamily="2" charset="0"/>
                <a:ea typeface="Roboto Medium" panose="02000000000000000000" pitchFamily="2" charset="0"/>
              </a:defRPr>
            </a:lvl1pPr>
            <a:lvl2pPr marL="457223" indent="0">
              <a:buNone/>
              <a:defRPr sz="2133">
                <a:latin typeface="Roboto" panose="02000000000000000000" pitchFamily="2" charset="0"/>
                <a:ea typeface="Roboto" panose="02000000000000000000" pitchFamily="2" charset="0"/>
              </a:defRPr>
            </a:lvl2pPr>
            <a:lvl3pPr>
              <a:defRPr sz="1867">
                <a:latin typeface="Roboto" panose="02000000000000000000" pitchFamily="2" charset="0"/>
                <a:ea typeface="Roboto" panose="02000000000000000000" pitchFamily="2" charset="0"/>
              </a:defRPr>
            </a:lvl3pPr>
            <a:lvl4pPr>
              <a:defRPr sz="16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48E4E7FD-8E67-4CA1-B99F-8BF78FD8CF5F}"/>
              </a:ext>
            </a:extLst>
          </p:cNvPr>
          <p:cNvSpPr>
            <a:spLocks noGrp="1"/>
          </p:cNvSpPr>
          <p:nvPr>
            <p:ph type="body" sz="quarter" idx="16"/>
          </p:nvPr>
        </p:nvSpPr>
        <p:spPr>
          <a:xfrm>
            <a:off x="719667" y="2828926"/>
            <a:ext cx="9520767" cy="3333663"/>
          </a:xfrm>
          <a:prstGeom prst="rect">
            <a:avLst/>
          </a:prstGeom>
        </p:spPr>
        <p:txBody>
          <a:bodyPr/>
          <a:lstStyle>
            <a:lvl1pPr marL="304815" indent="-304815">
              <a:buClr>
                <a:srgbClr val="28642D"/>
              </a:buClr>
              <a:buFont typeface="Wingdings" panose="05000000000000000000" pitchFamily="2" charset="2"/>
              <a:buChar char="§"/>
              <a:defRPr lang="cs-CZ" sz="2400" dirty="0" smtClean="0">
                <a:latin typeface="Roboto" panose="02000000000000000000" pitchFamily="2" charset="0"/>
                <a:ea typeface="Roboto" panose="02000000000000000000" pitchFamily="2" charset="0"/>
              </a:defRPr>
            </a:lvl1pPr>
            <a:lvl2pPr marL="762038" indent="-304815">
              <a:buClr>
                <a:srgbClr val="28642D"/>
              </a:buClr>
              <a:buFont typeface="+mj-lt"/>
              <a:buAutoNum type="arabicPeriod"/>
              <a:defRPr lang="cs-CZ" sz="2133" dirty="0" smtClean="0">
                <a:latin typeface="Roboto" panose="02000000000000000000" pitchFamily="2" charset="0"/>
                <a:ea typeface="Roboto" panose="02000000000000000000" pitchFamily="2" charset="0"/>
              </a:defRPr>
            </a:lvl2pPr>
            <a:lvl3pPr marL="1257363" indent="-342917">
              <a:buClr>
                <a:srgbClr val="28642D"/>
              </a:buClr>
              <a:buFont typeface="+mj-lt"/>
              <a:buAutoNum type="alphaLcPeriod"/>
              <a:defRPr lang="cs-CZ" sz="1867" dirty="0" smtClean="0">
                <a:latin typeface="Roboto" panose="02000000000000000000" pitchFamily="2" charset="0"/>
                <a:ea typeface="Roboto" panose="02000000000000000000" pitchFamily="2" charset="0"/>
              </a:defRPr>
            </a:lvl3pPr>
            <a:lvl4pPr marL="1600280" indent="-228611">
              <a:buClr>
                <a:schemeClr val="tx1">
                  <a:lumMod val="65000"/>
                  <a:lumOff val="35000"/>
                </a:schemeClr>
              </a:buClr>
              <a:buFont typeface="Wingdings" panose="05000000000000000000" pitchFamily="2" charset="2"/>
              <a:buChar char="§"/>
              <a:defRPr lang="cs-CZ" sz="16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1B42C71F-24A2-4414-9417-B39450FE2AC9}"/>
              </a:ext>
            </a:extLst>
          </p:cNvPr>
          <p:cNvSpPr txBox="1"/>
          <p:nvPr/>
        </p:nvSpPr>
        <p:spPr>
          <a:xfrm>
            <a:off x="10746658" y="1049230"/>
            <a:ext cx="1174290" cy="584775"/>
          </a:xfrm>
          <a:prstGeom prst="rect">
            <a:avLst/>
          </a:prstGeom>
          <a:noFill/>
        </p:spPr>
        <p:txBody>
          <a:bodyPr wrap="square" rtlCol="0">
            <a:spAutoFit/>
          </a:bodyPr>
          <a:lstStyle/>
          <a:p>
            <a:pPr algn="r"/>
            <a:fld id="{912F5DA3-5B13-43E6-BB34-AB0AE73D120D}" type="slidenum">
              <a:rPr lang="cs-CZ" sz="3200" smtClean="0">
                <a:solidFill>
                  <a:schemeClr val="bg1"/>
                </a:solidFill>
                <a:latin typeface="Roboto Black" panose="02000000000000000000" pitchFamily="2" charset="0"/>
                <a:ea typeface="Roboto Black" panose="02000000000000000000" pitchFamily="2" charset="0"/>
              </a:rPr>
              <a:pPr algn="r"/>
              <a:t>‹#›</a:t>
            </a:fld>
            <a:endParaRPr lang="cs-CZ" sz="3200" dirty="0">
              <a:solidFill>
                <a:schemeClr val="bg1"/>
              </a:solidFill>
              <a:latin typeface="Roboto Black" panose="02000000000000000000" pitchFamily="2" charset="0"/>
              <a:ea typeface="Roboto Black" panose="02000000000000000000" pitchFamily="2" charset="0"/>
            </a:endParaRPr>
          </a:p>
        </p:txBody>
      </p:sp>
      <p:sp>
        <p:nvSpPr>
          <p:cNvPr id="18" name="TextovéPole 17">
            <a:extLst>
              <a:ext uri="{FF2B5EF4-FFF2-40B4-BE49-F238E27FC236}">
                <a16:creationId xmlns:a16="http://schemas.microsoft.com/office/drawing/2014/main" id="{08E05BE6-9375-7B47-BE3D-8FD9100C579E}"/>
              </a:ext>
            </a:extLst>
          </p:cNvPr>
          <p:cNvSpPr txBox="1"/>
          <p:nvPr/>
        </p:nvSpPr>
        <p:spPr>
          <a:xfrm>
            <a:off x="720000" y="6162588"/>
            <a:ext cx="3568589" cy="695412"/>
          </a:xfrm>
          <a:prstGeom prst="rect">
            <a:avLst/>
          </a:prstGeom>
          <a:noFill/>
        </p:spPr>
        <p:txBody>
          <a:bodyPr wrap="none" lIns="0" tIns="0" rIns="0" bIns="0" rtlCol="0" anchor="ctr" anchorCtr="0">
            <a:noAutofit/>
          </a:bodyPr>
          <a:lstStyle/>
          <a:p>
            <a:r>
              <a:rPr lang="cs-CZ" sz="16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600" dirty="0" err="1">
                <a:solidFill>
                  <a:schemeClr val="bg1">
                    <a:lumMod val="75000"/>
                  </a:schemeClr>
                </a:solidFill>
                <a:latin typeface="Roboto Medium" panose="02000000000000000000" pitchFamily="2" charset="0"/>
                <a:ea typeface="Roboto Medium" panose="02000000000000000000" pitchFamily="2" charset="0"/>
              </a:rPr>
              <a:t>of</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dirty="0" err="1">
                <a:solidFill>
                  <a:schemeClr val="bg1">
                    <a:lumMod val="75000"/>
                  </a:schemeClr>
                </a:solidFill>
                <a:latin typeface="Roboto Medium" panose="02000000000000000000" pitchFamily="2" charset="0"/>
                <a:ea typeface="Roboto Medium" panose="02000000000000000000" pitchFamily="2" charset="0"/>
              </a:rPr>
              <a:t>Life</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6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20" name="TextovéPole 19">
            <a:extLst>
              <a:ext uri="{FF2B5EF4-FFF2-40B4-BE49-F238E27FC236}">
                <a16:creationId xmlns:a16="http://schemas.microsoft.com/office/drawing/2014/main" id="{6AC349FB-428C-7B42-B993-E97FBB98DCD8}"/>
              </a:ext>
            </a:extLst>
          </p:cNvPr>
          <p:cNvSpPr txBox="1"/>
          <p:nvPr/>
        </p:nvSpPr>
        <p:spPr>
          <a:xfrm>
            <a:off x="6213642" y="6162588"/>
            <a:ext cx="5299757" cy="695412"/>
          </a:xfrm>
          <a:prstGeom prst="rect">
            <a:avLst/>
          </a:prstGeom>
          <a:noFill/>
        </p:spPr>
        <p:txBody>
          <a:bodyPr wrap="none" lIns="0" tIns="0" rIns="0" bIns="0" rtlCol="0" anchor="ctr" anchorCtr="0">
            <a:noAutofit/>
          </a:bodyPr>
          <a:lstStyle/>
          <a:p>
            <a:pPr algn="r"/>
            <a:r>
              <a:rPr lang="cs-CZ" sz="1600" dirty="0" err="1">
                <a:solidFill>
                  <a:srgbClr val="C80C0F"/>
                </a:solidFill>
                <a:latin typeface="Roboto Medium" panose="02000000000000000000" pitchFamily="2" charset="0"/>
                <a:ea typeface="Roboto Medium" panose="02000000000000000000" pitchFamily="2" charset="0"/>
              </a:rPr>
              <a:t>Faculty</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of</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Economics</a:t>
            </a:r>
            <a:r>
              <a:rPr lang="cs-CZ" sz="16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1037897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ový slide 3">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12192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720000" y="695412"/>
            <a:ext cx="9136341" cy="1261634"/>
          </a:xfrm>
          <a:prstGeom prst="rect">
            <a:avLst/>
          </a:prstGeom>
        </p:spPr>
        <p:txBody>
          <a:bodyPr anchor="ctr">
            <a:normAutofit/>
          </a:bodyPr>
          <a:lstStyle>
            <a:lvl1pPr marL="0" indent="0">
              <a:buNone/>
              <a:defRPr sz="540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720000" y="0"/>
            <a:ext cx="9136341" cy="695412"/>
          </a:xfrm>
          <a:prstGeom prst="rect">
            <a:avLst/>
          </a:prstGeom>
        </p:spPr>
        <p:txBody>
          <a:bodyPr anchor="ctr"/>
          <a:lstStyle>
            <a:lvl1pPr marL="0" indent="0">
              <a:buNone/>
              <a:defRPr sz="20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9438863" y="1"/>
            <a:ext cx="2033137" cy="695411"/>
          </a:xfrm>
          <a:prstGeom prst="rect">
            <a:avLst/>
          </a:prstGeom>
          <a:noFill/>
        </p:spPr>
        <p:txBody>
          <a:bodyPr wrap="square" lIns="0" tIns="0" rIns="0" bIns="0" rtlCol="0" anchor="ctr" anchorCtr="0">
            <a:noAutofit/>
          </a:bodyPr>
          <a:lstStyle/>
          <a:p>
            <a:pPr algn="r"/>
            <a:r>
              <a:rPr lang="cs-CZ" sz="24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24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8924926" y="1957389"/>
            <a:ext cx="3267075" cy="4205199"/>
          </a:xfrm>
          <a:prstGeom prst="rect">
            <a:avLst/>
          </a:prstGeom>
        </p:spPr>
        <p:txBody>
          <a:bodyPr/>
          <a:lstStyle>
            <a:lvl1pPr marL="0" indent="0">
              <a:buNone/>
              <a:defRPr/>
            </a:lvl1pPr>
          </a:lstStyle>
          <a:p>
            <a:r>
              <a:rPr lang="cs-CZ"/>
              <a:t>Kliknutím na ikonu přidáte obrázek.</a:t>
            </a:r>
            <a:endParaRPr lang="cs-CZ" dirty="0"/>
          </a:p>
        </p:txBody>
      </p:sp>
      <p:sp>
        <p:nvSpPr>
          <p:cNvPr id="16" name="Zástupný symbol pro text 6">
            <a:extLst>
              <a:ext uri="{FF2B5EF4-FFF2-40B4-BE49-F238E27FC236}">
                <a16:creationId xmlns:a16="http://schemas.microsoft.com/office/drawing/2014/main" id="{BFADBFEB-36FC-4372-B6CE-58EBC7FFB940}"/>
              </a:ext>
            </a:extLst>
          </p:cNvPr>
          <p:cNvSpPr>
            <a:spLocks noGrp="1"/>
          </p:cNvSpPr>
          <p:nvPr>
            <p:ph type="body" sz="quarter" idx="15"/>
          </p:nvPr>
        </p:nvSpPr>
        <p:spPr>
          <a:xfrm>
            <a:off x="719667" y="2136776"/>
            <a:ext cx="7917475" cy="515683"/>
          </a:xfrm>
          <a:prstGeom prst="rect">
            <a:avLst/>
          </a:prstGeom>
        </p:spPr>
        <p:txBody>
          <a:bodyPr/>
          <a:lstStyle>
            <a:lvl1pPr marL="0" indent="0">
              <a:buNone/>
              <a:defRPr sz="2400">
                <a:latin typeface="Roboto Medium" panose="02000000000000000000" pitchFamily="2" charset="0"/>
                <a:ea typeface="Roboto Medium" panose="02000000000000000000" pitchFamily="2" charset="0"/>
              </a:defRPr>
            </a:lvl1pPr>
            <a:lvl2pPr marL="457223" indent="0">
              <a:buNone/>
              <a:defRPr sz="2133">
                <a:latin typeface="Roboto" panose="02000000000000000000" pitchFamily="2" charset="0"/>
                <a:ea typeface="Roboto" panose="02000000000000000000" pitchFamily="2" charset="0"/>
              </a:defRPr>
            </a:lvl2pPr>
            <a:lvl3pPr>
              <a:defRPr sz="1867">
                <a:latin typeface="Roboto" panose="02000000000000000000" pitchFamily="2" charset="0"/>
                <a:ea typeface="Roboto" panose="02000000000000000000" pitchFamily="2" charset="0"/>
              </a:defRPr>
            </a:lvl3pPr>
            <a:lvl4pPr>
              <a:defRPr sz="16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978F0355-7004-4CFE-9421-A8A1A62CF82D}"/>
              </a:ext>
            </a:extLst>
          </p:cNvPr>
          <p:cNvSpPr>
            <a:spLocks noGrp="1"/>
          </p:cNvSpPr>
          <p:nvPr>
            <p:ph type="body" sz="quarter" idx="16"/>
          </p:nvPr>
        </p:nvSpPr>
        <p:spPr>
          <a:xfrm>
            <a:off x="719667" y="2828926"/>
            <a:ext cx="7917475" cy="3333663"/>
          </a:xfrm>
          <a:prstGeom prst="rect">
            <a:avLst/>
          </a:prstGeom>
        </p:spPr>
        <p:txBody>
          <a:bodyPr/>
          <a:lstStyle>
            <a:lvl1pPr marL="304815" indent="-304815">
              <a:buClr>
                <a:srgbClr val="28642D"/>
              </a:buClr>
              <a:buFont typeface="Wingdings" panose="05000000000000000000" pitchFamily="2" charset="2"/>
              <a:buChar char="§"/>
              <a:defRPr lang="cs-CZ" sz="2400" dirty="0" smtClean="0">
                <a:latin typeface="Roboto" panose="02000000000000000000" pitchFamily="2" charset="0"/>
                <a:ea typeface="Roboto" panose="02000000000000000000" pitchFamily="2" charset="0"/>
              </a:defRPr>
            </a:lvl1pPr>
            <a:lvl2pPr marL="762038" indent="-304815">
              <a:buClr>
                <a:srgbClr val="28642D"/>
              </a:buClr>
              <a:buFont typeface="+mj-lt"/>
              <a:buAutoNum type="arabicPeriod"/>
              <a:defRPr lang="cs-CZ" sz="2133" dirty="0" smtClean="0">
                <a:latin typeface="Roboto" panose="02000000000000000000" pitchFamily="2" charset="0"/>
                <a:ea typeface="Roboto" panose="02000000000000000000" pitchFamily="2" charset="0"/>
              </a:defRPr>
            </a:lvl2pPr>
            <a:lvl3pPr marL="1257363" indent="-342917">
              <a:buClr>
                <a:srgbClr val="28642D"/>
              </a:buClr>
              <a:buFont typeface="+mj-lt"/>
              <a:buAutoNum type="alphaLcPeriod"/>
              <a:defRPr lang="cs-CZ" sz="1867" dirty="0" smtClean="0">
                <a:latin typeface="Roboto" panose="02000000000000000000" pitchFamily="2" charset="0"/>
                <a:ea typeface="Roboto" panose="02000000000000000000" pitchFamily="2" charset="0"/>
              </a:defRPr>
            </a:lvl3pPr>
            <a:lvl4pPr marL="1600280" indent="-228611">
              <a:buClr>
                <a:schemeClr val="tx1">
                  <a:lumMod val="65000"/>
                  <a:lumOff val="35000"/>
                </a:schemeClr>
              </a:buClr>
              <a:buFont typeface="Wingdings" panose="05000000000000000000" pitchFamily="2" charset="2"/>
              <a:buChar char="§"/>
              <a:defRPr lang="cs-CZ" sz="16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CEE7F35-80D6-4A44-A79F-9A5BF9F28E36}"/>
              </a:ext>
            </a:extLst>
          </p:cNvPr>
          <p:cNvSpPr txBox="1"/>
          <p:nvPr/>
        </p:nvSpPr>
        <p:spPr>
          <a:xfrm>
            <a:off x="10746658" y="1049230"/>
            <a:ext cx="1174290" cy="584775"/>
          </a:xfrm>
          <a:prstGeom prst="rect">
            <a:avLst/>
          </a:prstGeom>
          <a:noFill/>
        </p:spPr>
        <p:txBody>
          <a:bodyPr wrap="square" rtlCol="0">
            <a:spAutoFit/>
          </a:bodyPr>
          <a:lstStyle/>
          <a:p>
            <a:pPr algn="r"/>
            <a:fld id="{912F5DA3-5B13-43E6-BB34-AB0AE73D120D}" type="slidenum">
              <a:rPr lang="cs-CZ" sz="3200" smtClean="0">
                <a:solidFill>
                  <a:schemeClr val="bg1"/>
                </a:solidFill>
                <a:latin typeface="Roboto Black" panose="02000000000000000000" pitchFamily="2" charset="0"/>
                <a:ea typeface="Roboto Black" panose="02000000000000000000" pitchFamily="2" charset="0"/>
              </a:rPr>
              <a:pPr algn="r"/>
              <a:t>‹#›</a:t>
            </a:fld>
            <a:endParaRPr lang="cs-CZ" sz="32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0B5A6409-23B7-A545-A4D8-A933AD41B5C6}"/>
              </a:ext>
            </a:extLst>
          </p:cNvPr>
          <p:cNvSpPr txBox="1"/>
          <p:nvPr/>
        </p:nvSpPr>
        <p:spPr>
          <a:xfrm>
            <a:off x="720000" y="6162588"/>
            <a:ext cx="3568589" cy="695412"/>
          </a:xfrm>
          <a:prstGeom prst="rect">
            <a:avLst/>
          </a:prstGeom>
          <a:noFill/>
        </p:spPr>
        <p:txBody>
          <a:bodyPr wrap="none" lIns="0" tIns="0" rIns="0" bIns="0" rtlCol="0" anchor="ctr" anchorCtr="0">
            <a:noAutofit/>
          </a:bodyPr>
          <a:lstStyle/>
          <a:p>
            <a:r>
              <a:rPr lang="cs-CZ" sz="16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600" dirty="0" err="1">
                <a:solidFill>
                  <a:schemeClr val="bg1">
                    <a:lumMod val="75000"/>
                  </a:schemeClr>
                </a:solidFill>
                <a:latin typeface="Roboto Medium" panose="02000000000000000000" pitchFamily="2" charset="0"/>
                <a:ea typeface="Roboto Medium" panose="02000000000000000000" pitchFamily="2" charset="0"/>
              </a:rPr>
              <a:t>of</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dirty="0" err="1">
                <a:solidFill>
                  <a:schemeClr val="bg1">
                    <a:lumMod val="75000"/>
                  </a:schemeClr>
                </a:solidFill>
                <a:latin typeface="Roboto Medium" panose="02000000000000000000" pitchFamily="2" charset="0"/>
                <a:ea typeface="Roboto Medium" panose="02000000000000000000" pitchFamily="2" charset="0"/>
              </a:rPr>
              <a:t>Life</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6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C0999E4F-AF74-DB4E-8B4B-638D78E913AE}"/>
              </a:ext>
            </a:extLst>
          </p:cNvPr>
          <p:cNvSpPr txBox="1"/>
          <p:nvPr/>
        </p:nvSpPr>
        <p:spPr>
          <a:xfrm>
            <a:off x="6213642" y="6162588"/>
            <a:ext cx="5299757" cy="695412"/>
          </a:xfrm>
          <a:prstGeom prst="rect">
            <a:avLst/>
          </a:prstGeom>
          <a:noFill/>
        </p:spPr>
        <p:txBody>
          <a:bodyPr wrap="none" lIns="0" tIns="0" rIns="0" bIns="0" rtlCol="0" anchor="ctr" anchorCtr="0">
            <a:noAutofit/>
          </a:bodyPr>
          <a:lstStyle/>
          <a:p>
            <a:pPr algn="r"/>
            <a:r>
              <a:rPr lang="cs-CZ" sz="1600" dirty="0" err="1">
                <a:solidFill>
                  <a:srgbClr val="C80C0F"/>
                </a:solidFill>
                <a:latin typeface="Roboto Medium" panose="02000000000000000000" pitchFamily="2" charset="0"/>
                <a:ea typeface="Roboto Medium" panose="02000000000000000000" pitchFamily="2" charset="0"/>
              </a:rPr>
              <a:t>Faculty</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of</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Economics</a:t>
            </a:r>
            <a:r>
              <a:rPr lang="cs-CZ" sz="16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923340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ový slide 4">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12192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321019" y="2385457"/>
            <a:ext cx="3192380"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720000" y="695412"/>
            <a:ext cx="9225384" cy="1261634"/>
          </a:xfrm>
          <a:prstGeom prst="rect">
            <a:avLst/>
          </a:prstGeom>
        </p:spPr>
        <p:txBody>
          <a:bodyPr anchor="ctr">
            <a:normAutofit/>
          </a:bodyPr>
          <a:lstStyle>
            <a:lvl1pPr marL="0" indent="0">
              <a:buNone/>
              <a:defRPr sz="540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720000" y="0"/>
            <a:ext cx="9225384" cy="695412"/>
          </a:xfrm>
          <a:prstGeom prst="rect">
            <a:avLst/>
          </a:prstGeom>
        </p:spPr>
        <p:txBody>
          <a:bodyPr anchor="ctr"/>
          <a:lstStyle>
            <a:lvl1pPr marL="0" indent="0">
              <a:buNone/>
              <a:defRPr sz="20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9438863" y="1"/>
            <a:ext cx="2033137" cy="695411"/>
          </a:xfrm>
          <a:prstGeom prst="rect">
            <a:avLst/>
          </a:prstGeom>
          <a:noFill/>
        </p:spPr>
        <p:txBody>
          <a:bodyPr wrap="square" lIns="0" tIns="0" rIns="0" bIns="0" rtlCol="0" anchor="ctr" anchorCtr="0">
            <a:noAutofit/>
          </a:bodyPr>
          <a:lstStyle/>
          <a:p>
            <a:pPr algn="r"/>
            <a:r>
              <a:rPr lang="cs-CZ" sz="24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24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3" name="Zástupný symbol pro text 6">
            <a:extLst>
              <a:ext uri="{FF2B5EF4-FFF2-40B4-BE49-F238E27FC236}">
                <a16:creationId xmlns:a16="http://schemas.microsoft.com/office/drawing/2014/main" id="{64907F56-1EFF-441C-9163-66B58475FAF1}"/>
              </a:ext>
            </a:extLst>
          </p:cNvPr>
          <p:cNvSpPr>
            <a:spLocks noGrp="1"/>
          </p:cNvSpPr>
          <p:nvPr>
            <p:ph type="body" sz="quarter" idx="15"/>
          </p:nvPr>
        </p:nvSpPr>
        <p:spPr>
          <a:xfrm>
            <a:off x="719667" y="2136776"/>
            <a:ext cx="9520767" cy="515683"/>
          </a:xfrm>
          <a:prstGeom prst="rect">
            <a:avLst/>
          </a:prstGeom>
        </p:spPr>
        <p:txBody>
          <a:bodyPr/>
          <a:lstStyle>
            <a:lvl1pPr marL="0" indent="0">
              <a:buNone/>
              <a:defRPr sz="2400">
                <a:latin typeface="Roboto Medium" panose="02000000000000000000" pitchFamily="2" charset="0"/>
                <a:ea typeface="Roboto Medium" panose="02000000000000000000" pitchFamily="2" charset="0"/>
              </a:defRPr>
            </a:lvl1pPr>
            <a:lvl2pPr marL="457223" indent="0">
              <a:buNone/>
              <a:defRPr sz="2133">
                <a:latin typeface="Roboto" panose="02000000000000000000" pitchFamily="2" charset="0"/>
                <a:ea typeface="Roboto" panose="02000000000000000000" pitchFamily="2" charset="0"/>
              </a:defRPr>
            </a:lvl2pPr>
            <a:lvl3pPr>
              <a:defRPr sz="1867">
                <a:latin typeface="Roboto" panose="02000000000000000000" pitchFamily="2" charset="0"/>
                <a:ea typeface="Roboto" panose="02000000000000000000" pitchFamily="2" charset="0"/>
              </a:defRPr>
            </a:lvl3pPr>
            <a:lvl4pPr>
              <a:defRPr sz="16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0C077097-4898-476E-8653-0D75052D1710}"/>
              </a:ext>
            </a:extLst>
          </p:cNvPr>
          <p:cNvSpPr>
            <a:spLocks noGrp="1"/>
          </p:cNvSpPr>
          <p:nvPr>
            <p:ph type="body" sz="quarter" idx="16"/>
          </p:nvPr>
        </p:nvSpPr>
        <p:spPr>
          <a:xfrm>
            <a:off x="719667" y="2828926"/>
            <a:ext cx="9520767" cy="3333663"/>
          </a:xfrm>
          <a:prstGeom prst="rect">
            <a:avLst/>
          </a:prstGeom>
        </p:spPr>
        <p:txBody>
          <a:bodyPr/>
          <a:lstStyle>
            <a:lvl1pPr marL="304815" indent="-304815">
              <a:buClr>
                <a:srgbClr val="28642D"/>
              </a:buClr>
              <a:buFont typeface="Wingdings" panose="05000000000000000000" pitchFamily="2" charset="2"/>
              <a:buChar char="§"/>
              <a:defRPr lang="cs-CZ" sz="2400" dirty="0" smtClean="0">
                <a:latin typeface="Roboto" panose="02000000000000000000" pitchFamily="2" charset="0"/>
                <a:ea typeface="Roboto" panose="02000000000000000000" pitchFamily="2" charset="0"/>
              </a:defRPr>
            </a:lvl1pPr>
            <a:lvl2pPr marL="762038" indent="-304815">
              <a:buClr>
                <a:srgbClr val="28642D"/>
              </a:buClr>
              <a:buFont typeface="+mj-lt"/>
              <a:buAutoNum type="arabicPeriod"/>
              <a:defRPr lang="cs-CZ" sz="2133" dirty="0" smtClean="0">
                <a:latin typeface="Roboto" panose="02000000000000000000" pitchFamily="2" charset="0"/>
                <a:ea typeface="Roboto" panose="02000000000000000000" pitchFamily="2" charset="0"/>
              </a:defRPr>
            </a:lvl2pPr>
            <a:lvl3pPr marL="1257363" indent="-342917">
              <a:buClr>
                <a:srgbClr val="28642D"/>
              </a:buClr>
              <a:buFont typeface="+mj-lt"/>
              <a:buAutoNum type="alphaLcPeriod"/>
              <a:defRPr lang="cs-CZ" sz="1867" dirty="0" smtClean="0">
                <a:latin typeface="Roboto" panose="02000000000000000000" pitchFamily="2" charset="0"/>
                <a:ea typeface="Roboto" panose="02000000000000000000" pitchFamily="2" charset="0"/>
              </a:defRPr>
            </a:lvl3pPr>
            <a:lvl4pPr marL="1600280" indent="-228611">
              <a:buClr>
                <a:schemeClr val="tx1">
                  <a:lumMod val="65000"/>
                  <a:lumOff val="35000"/>
                </a:schemeClr>
              </a:buClr>
              <a:buFont typeface="Wingdings" panose="05000000000000000000" pitchFamily="2" charset="2"/>
              <a:buChar char="§"/>
              <a:defRPr lang="cs-CZ" sz="16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4993D17-DF83-49B5-BD7F-548B4A5A3AE6}"/>
              </a:ext>
            </a:extLst>
          </p:cNvPr>
          <p:cNvSpPr txBox="1"/>
          <p:nvPr/>
        </p:nvSpPr>
        <p:spPr>
          <a:xfrm>
            <a:off x="10746658" y="1049230"/>
            <a:ext cx="1174290" cy="584775"/>
          </a:xfrm>
          <a:prstGeom prst="rect">
            <a:avLst/>
          </a:prstGeom>
          <a:noFill/>
        </p:spPr>
        <p:txBody>
          <a:bodyPr wrap="square" rtlCol="0">
            <a:spAutoFit/>
          </a:bodyPr>
          <a:lstStyle/>
          <a:p>
            <a:pPr algn="r"/>
            <a:fld id="{912F5DA3-5B13-43E6-BB34-AB0AE73D120D}" type="slidenum">
              <a:rPr lang="cs-CZ" sz="3200" smtClean="0">
                <a:solidFill>
                  <a:schemeClr val="bg1"/>
                </a:solidFill>
                <a:latin typeface="Roboto Black" panose="02000000000000000000" pitchFamily="2" charset="0"/>
                <a:ea typeface="Roboto Black" panose="02000000000000000000" pitchFamily="2" charset="0"/>
              </a:rPr>
              <a:pPr algn="r"/>
              <a:t>‹#›</a:t>
            </a:fld>
            <a:endParaRPr lang="cs-CZ" sz="32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FC0AD8F2-4BA5-D840-9CF9-1A60BE6D3AE9}"/>
              </a:ext>
            </a:extLst>
          </p:cNvPr>
          <p:cNvSpPr txBox="1"/>
          <p:nvPr/>
        </p:nvSpPr>
        <p:spPr>
          <a:xfrm>
            <a:off x="720000" y="6162588"/>
            <a:ext cx="3568589" cy="695412"/>
          </a:xfrm>
          <a:prstGeom prst="rect">
            <a:avLst/>
          </a:prstGeom>
          <a:noFill/>
        </p:spPr>
        <p:txBody>
          <a:bodyPr wrap="none" lIns="0" tIns="0" rIns="0" bIns="0" rtlCol="0" anchor="ctr" anchorCtr="0">
            <a:noAutofit/>
          </a:bodyPr>
          <a:lstStyle/>
          <a:p>
            <a:r>
              <a:rPr lang="cs-CZ" sz="16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600" dirty="0" err="1">
                <a:solidFill>
                  <a:schemeClr val="bg1">
                    <a:lumMod val="75000"/>
                  </a:schemeClr>
                </a:solidFill>
                <a:latin typeface="Roboto Medium" panose="02000000000000000000" pitchFamily="2" charset="0"/>
                <a:ea typeface="Roboto Medium" panose="02000000000000000000" pitchFamily="2" charset="0"/>
              </a:rPr>
              <a:t>of</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dirty="0" err="1">
                <a:solidFill>
                  <a:schemeClr val="bg1">
                    <a:lumMod val="75000"/>
                  </a:schemeClr>
                </a:solidFill>
                <a:latin typeface="Roboto Medium" panose="02000000000000000000" pitchFamily="2" charset="0"/>
                <a:ea typeface="Roboto Medium" panose="02000000000000000000" pitchFamily="2" charset="0"/>
              </a:rPr>
              <a:t>Life</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6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5A3DFA86-88E0-D746-93B6-322B3E5FB3EB}"/>
              </a:ext>
            </a:extLst>
          </p:cNvPr>
          <p:cNvSpPr txBox="1"/>
          <p:nvPr/>
        </p:nvSpPr>
        <p:spPr>
          <a:xfrm>
            <a:off x="6213642" y="6162588"/>
            <a:ext cx="5299757" cy="695412"/>
          </a:xfrm>
          <a:prstGeom prst="rect">
            <a:avLst/>
          </a:prstGeom>
          <a:noFill/>
        </p:spPr>
        <p:txBody>
          <a:bodyPr wrap="none" lIns="0" tIns="0" rIns="0" bIns="0" rtlCol="0" anchor="ctr" anchorCtr="0">
            <a:noAutofit/>
          </a:bodyPr>
          <a:lstStyle/>
          <a:p>
            <a:pPr algn="r"/>
            <a:r>
              <a:rPr lang="cs-CZ" sz="1600" dirty="0" err="1">
                <a:solidFill>
                  <a:srgbClr val="C80C0F"/>
                </a:solidFill>
                <a:latin typeface="Roboto Medium" panose="02000000000000000000" pitchFamily="2" charset="0"/>
                <a:ea typeface="Roboto Medium" panose="02000000000000000000" pitchFamily="2" charset="0"/>
              </a:rPr>
              <a:t>Faculty</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of</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Economics</a:t>
            </a:r>
            <a:r>
              <a:rPr lang="cs-CZ" sz="16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1115262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ový slide 5">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12192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720000" y="695412"/>
            <a:ext cx="9306658" cy="1261634"/>
          </a:xfrm>
          <a:prstGeom prst="rect">
            <a:avLst/>
          </a:prstGeom>
        </p:spPr>
        <p:txBody>
          <a:bodyPr anchor="ctr">
            <a:normAutofit/>
          </a:bodyPr>
          <a:lstStyle>
            <a:lvl1pPr marL="0" indent="0">
              <a:buNone/>
              <a:defRPr sz="540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720000" y="0"/>
            <a:ext cx="9306658" cy="695412"/>
          </a:xfrm>
          <a:prstGeom prst="rect">
            <a:avLst/>
          </a:prstGeom>
        </p:spPr>
        <p:txBody>
          <a:bodyPr anchor="ctr"/>
          <a:lstStyle>
            <a:lvl1pPr marL="0" indent="0">
              <a:buNone/>
              <a:defRPr sz="20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9438863" y="1"/>
            <a:ext cx="2033137" cy="695411"/>
          </a:xfrm>
          <a:prstGeom prst="rect">
            <a:avLst/>
          </a:prstGeom>
          <a:noFill/>
        </p:spPr>
        <p:txBody>
          <a:bodyPr wrap="square" lIns="0" tIns="0" rIns="0" bIns="0" rtlCol="0" anchor="ctr" anchorCtr="0">
            <a:noAutofit/>
          </a:bodyPr>
          <a:lstStyle/>
          <a:p>
            <a:pPr algn="r"/>
            <a:r>
              <a:rPr lang="cs-CZ" sz="24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24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271AC1B1-6DD2-4624-B5E1-05CD48AFFD96}"/>
              </a:ext>
            </a:extLst>
          </p:cNvPr>
          <p:cNvSpPr>
            <a:spLocks noGrp="1"/>
          </p:cNvSpPr>
          <p:nvPr>
            <p:ph type="body" sz="quarter" idx="15"/>
          </p:nvPr>
        </p:nvSpPr>
        <p:spPr>
          <a:xfrm>
            <a:off x="719667" y="2136776"/>
            <a:ext cx="9520767" cy="515683"/>
          </a:xfrm>
          <a:prstGeom prst="rect">
            <a:avLst/>
          </a:prstGeom>
        </p:spPr>
        <p:txBody>
          <a:bodyPr/>
          <a:lstStyle>
            <a:lvl1pPr marL="0" indent="0">
              <a:buNone/>
              <a:defRPr sz="2400">
                <a:latin typeface="Roboto Medium" panose="02000000000000000000" pitchFamily="2" charset="0"/>
                <a:ea typeface="Roboto Medium" panose="02000000000000000000" pitchFamily="2" charset="0"/>
              </a:defRPr>
            </a:lvl1pPr>
            <a:lvl2pPr marL="457223" indent="0">
              <a:buNone/>
              <a:defRPr sz="2133">
                <a:latin typeface="Roboto" panose="02000000000000000000" pitchFamily="2" charset="0"/>
                <a:ea typeface="Roboto" panose="02000000000000000000" pitchFamily="2" charset="0"/>
              </a:defRPr>
            </a:lvl2pPr>
            <a:lvl3pPr>
              <a:defRPr sz="1867">
                <a:latin typeface="Roboto" panose="02000000000000000000" pitchFamily="2" charset="0"/>
                <a:ea typeface="Roboto" panose="02000000000000000000" pitchFamily="2" charset="0"/>
              </a:defRPr>
            </a:lvl3pPr>
            <a:lvl4pPr>
              <a:defRPr sz="16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9EB39BFC-3412-4994-BB20-6B3B39144DCD}"/>
              </a:ext>
            </a:extLst>
          </p:cNvPr>
          <p:cNvSpPr>
            <a:spLocks noGrp="1"/>
          </p:cNvSpPr>
          <p:nvPr>
            <p:ph type="body" sz="quarter" idx="16"/>
          </p:nvPr>
        </p:nvSpPr>
        <p:spPr>
          <a:xfrm>
            <a:off x="719667" y="2828926"/>
            <a:ext cx="9520767" cy="3333663"/>
          </a:xfrm>
          <a:prstGeom prst="rect">
            <a:avLst/>
          </a:prstGeom>
        </p:spPr>
        <p:txBody>
          <a:bodyPr/>
          <a:lstStyle>
            <a:lvl1pPr marL="304815" indent="-304815">
              <a:buClr>
                <a:srgbClr val="28642D"/>
              </a:buClr>
              <a:buFont typeface="Wingdings" panose="05000000000000000000" pitchFamily="2" charset="2"/>
              <a:buChar char="§"/>
              <a:defRPr lang="cs-CZ" sz="2400" dirty="0" smtClean="0">
                <a:latin typeface="Roboto" panose="02000000000000000000" pitchFamily="2" charset="0"/>
                <a:ea typeface="Roboto" panose="02000000000000000000" pitchFamily="2" charset="0"/>
              </a:defRPr>
            </a:lvl1pPr>
            <a:lvl2pPr marL="762038" indent="-304815">
              <a:buClr>
                <a:srgbClr val="28642D"/>
              </a:buClr>
              <a:buFont typeface="+mj-lt"/>
              <a:buAutoNum type="arabicPeriod"/>
              <a:defRPr lang="cs-CZ" sz="2133" dirty="0" smtClean="0">
                <a:latin typeface="Roboto" panose="02000000000000000000" pitchFamily="2" charset="0"/>
                <a:ea typeface="Roboto" panose="02000000000000000000" pitchFamily="2" charset="0"/>
              </a:defRPr>
            </a:lvl2pPr>
            <a:lvl3pPr marL="1257363" indent="-342917">
              <a:buClr>
                <a:srgbClr val="28642D"/>
              </a:buClr>
              <a:buFont typeface="+mj-lt"/>
              <a:buAutoNum type="alphaLcPeriod"/>
              <a:defRPr lang="cs-CZ" sz="1867" dirty="0" smtClean="0">
                <a:latin typeface="Roboto" panose="02000000000000000000" pitchFamily="2" charset="0"/>
                <a:ea typeface="Roboto" panose="02000000000000000000" pitchFamily="2" charset="0"/>
              </a:defRPr>
            </a:lvl3pPr>
            <a:lvl4pPr marL="1600280" indent="-228611">
              <a:buClr>
                <a:schemeClr val="tx1">
                  <a:lumMod val="65000"/>
                  <a:lumOff val="35000"/>
                </a:schemeClr>
              </a:buClr>
              <a:buFont typeface="Wingdings" panose="05000000000000000000" pitchFamily="2" charset="2"/>
              <a:buChar char="§"/>
              <a:defRPr lang="cs-CZ" sz="16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D5E1CEE8-B267-482F-8FC9-A0CBECB5B5A2}"/>
              </a:ext>
            </a:extLst>
          </p:cNvPr>
          <p:cNvSpPr txBox="1"/>
          <p:nvPr/>
        </p:nvSpPr>
        <p:spPr>
          <a:xfrm>
            <a:off x="10746658" y="1049230"/>
            <a:ext cx="1174290" cy="584775"/>
          </a:xfrm>
          <a:prstGeom prst="rect">
            <a:avLst/>
          </a:prstGeom>
          <a:noFill/>
        </p:spPr>
        <p:txBody>
          <a:bodyPr wrap="square" rtlCol="0">
            <a:spAutoFit/>
          </a:bodyPr>
          <a:lstStyle/>
          <a:p>
            <a:pPr algn="r"/>
            <a:fld id="{912F5DA3-5B13-43E6-BB34-AB0AE73D120D}" type="slidenum">
              <a:rPr lang="cs-CZ" sz="3200" smtClean="0">
                <a:solidFill>
                  <a:schemeClr val="bg1"/>
                </a:solidFill>
                <a:latin typeface="Roboto Black" panose="02000000000000000000" pitchFamily="2" charset="0"/>
                <a:ea typeface="Roboto Black" panose="02000000000000000000" pitchFamily="2" charset="0"/>
              </a:rPr>
              <a:pPr algn="r"/>
              <a:t>‹#›</a:t>
            </a:fld>
            <a:endParaRPr lang="cs-CZ" sz="3200" dirty="0">
              <a:solidFill>
                <a:schemeClr val="bg1"/>
              </a:solidFill>
              <a:latin typeface="Roboto Black" panose="02000000000000000000" pitchFamily="2" charset="0"/>
              <a:ea typeface="Roboto Black" panose="02000000000000000000" pitchFamily="2" charset="0"/>
            </a:endParaRPr>
          </a:p>
        </p:txBody>
      </p:sp>
      <p:sp>
        <p:nvSpPr>
          <p:cNvPr id="16" name="TextovéPole 15">
            <a:extLst>
              <a:ext uri="{FF2B5EF4-FFF2-40B4-BE49-F238E27FC236}">
                <a16:creationId xmlns:a16="http://schemas.microsoft.com/office/drawing/2014/main" id="{9BD26F8C-C9C9-1844-B61C-5456ED1D14E3}"/>
              </a:ext>
            </a:extLst>
          </p:cNvPr>
          <p:cNvSpPr txBox="1"/>
          <p:nvPr/>
        </p:nvSpPr>
        <p:spPr>
          <a:xfrm>
            <a:off x="720000" y="6162588"/>
            <a:ext cx="3568589" cy="695412"/>
          </a:xfrm>
          <a:prstGeom prst="rect">
            <a:avLst/>
          </a:prstGeom>
          <a:noFill/>
        </p:spPr>
        <p:txBody>
          <a:bodyPr wrap="none" lIns="0" tIns="0" rIns="0" bIns="0" rtlCol="0" anchor="ctr" anchorCtr="0">
            <a:noAutofit/>
          </a:bodyPr>
          <a:lstStyle/>
          <a:p>
            <a:r>
              <a:rPr lang="cs-CZ" sz="16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600" dirty="0" err="1">
                <a:solidFill>
                  <a:schemeClr val="bg1">
                    <a:lumMod val="75000"/>
                  </a:schemeClr>
                </a:solidFill>
                <a:latin typeface="Roboto Medium" panose="02000000000000000000" pitchFamily="2" charset="0"/>
                <a:ea typeface="Roboto Medium" panose="02000000000000000000" pitchFamily="2" charset="0"/>
              </a:rPr>
              <a:t>of</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dirty="0" err="1">
                <a:solidFill>
                  <a:schemeClr val="bg1">
                    <a:lumMod val="75000"/>
                  </a:schemeClr>
                </a:solidFill>
                <a:latin typeface="Roboto Medium" panose="02000000000000000000" pitchFamily="2" charset="0"/>
                <a:ea typeface="Roboto Medium" panose="02000000000000000000" pitchFamily="2" charset="0"/>
              </a:rPr>
              <a:t>Life</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6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7" name="TextovéPole 16">
            <a:extLst>
              <a:ext uri="{FF2B5EF4-FFF2-40B4-BE49-F238E27FC236}">
                <a16:creationId xmlns:a16="http://schemas.microsoft.com/office/drawing/2014/main" id="{015D1AAD-326F-FE43-A378-B6195D1301DC}"/>
              </a:ext>
            </a:extLst>
          </p:cNvPr>
          <p:cNvSpPr txBox="1"/>
          <p:nvPr/>
        </p:nvSpPr>
        <p:spPr>
          <a:xfrm>
            <a:off x="6213642" y="6162588"/>
            <a:ext cx="5299757" cy="695412"/>
          </a:xfrm>
          <a:prstGeom prst="rect">
            <a:avLst/>
          </a:prstGeom>
          <a:noFill/>
        </p:spPr>
        <p:txBody>
          <a:bodyPr wrap="none" lIns="0" tIns="0" rIns="0" bIns="0" rtlCol="0" anchor="ctr" anchorCtr="0">
            <a:noAutofit/>
          </a:bodyPr>
          <a:lstStyle/>
          <a:p>
            <a:pPr algn="r"/>
            <a:r>
              <a:rPr lang="cs-CZ" sz="1600" dirty="0" err="1">
                <a:solidFill>
                  <a:srgbClr val="C80C0F"/>
                </a:solidFill>
                <a:latin typeface="Roboto Medium" panose="02000000000000000000" pitchFamily="2" charset="0"/>
                <a:ea typeface="Roboto Medium" panose="02000000000000000000" pitchFamily="2" charset="0"/>
              </a:rPr>
              <a:t>Faculty</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of</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Economics</a:t>
            </a:r>
            <a:r>
              <a:rPr lang="cs-CZ" sz="16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4236658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ový slide 6">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12192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720000" y="695412"/>
            <a:ext cx="9156890" cy="1261634"/>
          </a:xfrm>
          <a:prstGeom prst="rect">
            <a:avLst/>
          </a:prstGeom>
        </p:spPr>
        <p:txBody>
          <a:bodyPr anchor="ctr">
            <a:normAutofit/>
          </a:bodyPr>
          <a:lstStyle>
            <a:lvl1pPr marL="0" indent="0">
              <a:buNone/>
              <a:defRPr sz="540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720000" y="0"/>
            <a:ext cx="9156890" cy="695412"/>
          </a:xfrm>
          <a:prstGeom prst="rect">
            <a:avLst/>
          </a:prstGeom>
        </p:spPr>
        <p:txBody>
          <a:bodyPr anchor="ctr"/>
          <a:lstStyle>
            <a:lvl1pPr marL="0" indent="0">
              <a:buNone/>
              <a:defRPr sz="20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9438863" y="1"/>
            <a:ext cx="2033137" cy="695411"/>
          </a:xfrm>
          <a:prstGeom prst="rect">
            <a:avLst/>
          </a:prstGeom>
          <a:noFill/>
        </p:spPr>
        <p:txBody>
          <a:bodyPr wrap="square" lIns="0" tIns="0" rIns="0" bIns="0" rtlCol="0" anchor="ctr" anchorCtr="0">
            <a:noAutofit/>
          </a:bodyPr>
          <a:lstStyle/>
          <a:p>
            <a:pPr algn="r"/>
            <a:r>
              <a:rPr lang="cs-CZ" sz="24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24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8924926" y="1957389"/>
            <a:ext cx="3267075" cy="4205199"/>
          </a:xfrm>
          <a:prstGeom prst="rect">
            <a:avLst/>
          </a:prstGeom>
        </p:spPr>
        <p:txBody>
          <a:bodyPr/>
          <a:lstStyle>
            <a:lvl1pPr marL="0" indent="0">
              <a:buNone/>
              <a:defRPr/>
            </a:lvl1pPr>
          </a:lstStyle>
          <a:p>
            <a:r>
              <a:rPr lang="cs-CZ"/>
              <a:t>Kliknutím na ikonu přidáte obrázek.</a:t>
            </a:r>
            <a:endParaRPr lang="cs-CZ" dirty="0"/>
          </a:p>
        </p:txBody>
      </p:sp>
      <p:sp>
        <p:nvSpPr>
          <p:cNvPr id="13" name="Zástupný symbol pro text 6">
            <a:extLst>
              <a:ext uri="{FF2B5EF4-FFF2-40B4-BE49-F238E27FC236}">
                <a16:creationId xmlns:a16="http://schemas.microsoft.com/office/drawing/2014/main" id="{C0B2EC7C-7295-4511-BEB9-1F21F76F55B4}"/>
              </a:ext>
            </a:extLst>
          </p:cNvPr>
          <p:cNvSpPr>
            <a:spLocks noGrp="1"/>
          </p:cNvSpPr>
          <p:nvPr>
            <p:ph type="body" sz="quarter" idx="15"/>
          </p:nvPr>
        </p:nvSpPr>
        <p:spPr>
          <a:xfrm>
            <a:off x="719667" y="2136776"/>
            <a:ext cx="7917475" cy="515683"/>
          </a:xfrm>
          <a:prstGeom prst="rect">
            <a:avLst/>
          </a:prstGeom>
        </p:spPr>
        <p:txBody>
          <a:bodyPr/>
          <a:lstStyle>
            <a:lvl1pPr marL="0" indent="0">
              <a:buNone/>
              <a:defRPr sz="2400">
                <a:latin typeface="Roboto Medium" panose="02000000000000000000" pitchFamily="2" charset="0"/>
                <a:ea typeface="Roboto Medium" panose="02000000000000000000" pitchFamily="2" charset="0"/>
              </a:defRPr>
            </a:lvl1pPr>
            <a:lvl2pPr marL="457223" indent="0">
              <a:buNone/>
              <a:defRPr sz="2133">
                <a:latin typeface="Roboto" panose="02000000000000000000" pitchFamily="2" charset="0"/>
                <a:ea typeface="Roboto" panose="02000000000000000000" pitchFamily="2" charset="0"/>
              </a:defRPr>
            </a:lvl2pPr>
            <a:lvl3pPr>
              <a:defRPr sz="1867">
                <a:latin typeface="Roboto" panose="02000000000000000000" pitchFamily="2" charset="0"/>
                <a:ea typeface="Roboto" panose="02000000000000000000" pitchFamily="2" charset="0"/>
              </a:defRPr>
            </a:lvl3pPr>
            <a:lvl4pPr>
              <a:defRPr sz="16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466DB023-F78F-49C1-9875-70959FECAB0E}"/>
              </a:ext>
            </a:extLst>
          </p:cNvPr>
          <p:cNvSpPr>
            <a:spLocks noGrp="1"/>
          </p:cNvSpPr>
          <p:nvPr>
            <p:ph type="body" sz="quarter" idx="16"/>
          </p:nvPr>
        </p:nvSpPr>
        <p:spPr>
          <a:xfrm>
            <a:off x="719667" y="2828926"/>
            <a:ext cx="7917475" cy="3333663"/>
          </a:xfrm>
          <a:prstGeom prst="rect">
            <a:avLst/>
          </a:prstGeom>
        </p:spPr>
        <p:txBody>
          <a:bodyPr/>
          <a:lstStyle>
            <a:lvl1pPr marL="304815" indent="-304815">
              <a:buClr>
                <a:srgbClr val="28642D"/>
              </a:buClr>
              <a:buFont typeface="Wingdings" panose="05000000000000000000" pitchFamily="2" charset="2"/>
              <a:buChar char="§"/>
              <a:defRPr lang="cs-CZ" sz="2400" dirty="0" smtClean="0">
                <a:latin typeface="Roboto" panose="02000000000000000000" pitchFamily="2" charset="0"/>
                <a:ea typeface="Roboto" panose="02000000000000000000" pitchFamily="2" charset="0"/>
              </a:defRPr>
            </a:lvl1pPr>
            <a:lvl2pPr marL="762038" indent="-304815">
              <a:buClr>
                <a:srgbClr val="28642D"/>
              </a:buClr>
              <a:buFont typeface="+mj-lt"/>
              <a:buAutoNum type="arabicPeriod"/>
              <a:defRPr lang="cs-CZ" sz="2133" dirty="0" smtClean="0">
                <a:latin typeface="Roboto" panose="02000000000000000000" pitchFamily="2" charset="0"/>
                <a:ea typeface="Roboto" panose="02000000000000000000" pitchFamily="2" charset="0"/>
              </a:defRPr>
            </a:lvl2pPr>
            <a:lvl3pPr marL="1257363" indent="-342917">
              <a:buClr>
                <a:srgbClr val="28642D"/>
              </a:buClr>
              <a:buFont typeface="+mj-lt"/>
              <a:buAutoNum type="alphaLcPeriod"/>
              <a:defRPr lang="cs-CZ" sz="1867" dirty="0" smtClean="0">
                <a:latin typeface="Roboto" panose="02000000000000000000" pitchFamily="2" charset="0"/>
                <a:ea typeface="Roboto" panose="02000000000000000000" pitchFamily="2" charset="0"/>
              </a:defRPr>
            </a:lvl3pPr>
            <a:lvl4pPr marL="1600280" indent="-228611">
              <a:buClr>
                <a:schemeClr val="tx1">
                  <a:lumMod val="65000"/>
                  <a:lumOff val="35000"/>
                </a:schemeClr>
              </a:buClr>
              <a:buFont typeface="Wingdings" panose="05000000000000000000" pitchFamily="2" charset="2"/>
              <a:buChar char="§"/>
              <a:defRPr lang="cs-CZ" sz="16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3C1BF5F3-421C-4882-84E2-ADC07FE86DF2}"/>
              </a:ext>
            </a:extLst>
          </p:cNvPr>
          <p:cNvSpPr txBox="1"/>
          <p:nvPr/>
        </p:nvSpPr>
        <p:spPr>
          <a:xfrm>
            <a:off x="10746658" y="1049230"/>
            <a:ext cx="1174290" cy="584775"/>
          </a:xfrm>
          <a:prstGeom prst="rect">
            <a:avLst/>
          </a:prstGeom>
          <a:noFill/>
        </p:spPr>
        <p:txBody>
          <a:bodyPr wrap="square" rtlCol="0">
            <a:spAutoFit/>
          </a:bodyPr>
          <a:lstStyle/>
          <a:p>
            <a:pPr algn="r"/>
            <a:fld id="{912F5DA3-5B13-43E6-BB34-AB0AE73D120D}" type="slidenum">
              <a:rPr lang="cs-CZ" sz="3200" smtClean="0">
                <a:solidFill>
                  <a:schemeClr val="bg1"/>
                </a:solidFill>
                <a:latin typeface="Roboto Black" panose="02000000000000000000" pitchFamily="2" charset="0"/>
                <a:ea typeface="Roboto Black" panose="02000000000000000000" pitchFamily="2" charset="0"/>
              </a:rPr>
              <a:pPr algn="r"/>
              <a:t>‹#›</a:t>
            </a:fld>
            <a:endParaRPr lang="cs-CZ" sz="32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5C18F710-7ED6-AD41-9784-1327E6984D92}"/>
              </a:ext>
            </a:extLst>
          </p:cNvPr>
          <p:cNvSpPr txBox="1"/>
          <p:nvPr/>
        </p:nvSpPr>
        <p:spPr>
          <a:xfrm>
            <a:off x="720000" y="6162588"/>
            <a:ext cx="3568589" cy="695412"/>
          </a:xfrm>
          <a:prstGeom prst="rect">
            <a:avLst/>
          </a:prstGeom>
          <a:noFill/>
        </p:spPr>
        <p:txBody>
          <a:bodyPr wrap="none" lIns="0" tIns="0" rIns="0" bIns="0" rtlCol="0" anchor="ctr" anchorCtr="0">
            <a:noAutofit/>
          </a:bodyPr>
          <a:lstStyle/>
          <a:p>
            <a:r>
              <a:rPr lang="cs-CZ" sz="16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600" dirty="0" err="1">
                <a:solidFill>
                  <a:schemeClr val="bg1">
                    <a:lumMod val="75000"/>
                  </a:schemeClr>
                </a:solidFill>
                <a:latin typeface="Roboto Medium" panose="02000000000000000000" pitchFamily="2" charset="0"/>
                <a:ea typeface="Roboto Medium" panose="02000000000000000000" pitchFamily="2" charset="0"/>
              </a:rPr>
              <a:t>of</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dirty="0" err="1">
                <a:solidFill>
                  <a:schemeClr val="bg1">
                    <a:lumMod val="75000"/>
                  </a:schemeClr>
                </a:solidFill>
                <a:latin typeface="Roboto Medium" panose="02000000000000000000" pitchFamily="2" charset="0"/>
                <a:ea typeface="Roboto Medium" panose="02000000000000000000" pitchFamily="2" charset="0"/>
              </a:rPr>
              <a:t>Life</a:t>
            </a:r>
            <a:r>
              <a:rPr lang="cs-CZ" sz="1600" dirty="0">
                <a:solidFill>
                  <a:schemeClr val="bg1">
                    <a:lumMod val="75000"/>
                  </a:schemeClr>
                </a:solidFill>
                <a:latin typeface="Roboto Medium" panose="02000000000000000000" pitchFamily="2" charset="0"/>
                <a:ea typeface="Roboto Medium" panose="02000000000000000000" pitchFamily="2" charset="0"/>
              </a:rPr>
              <a:t> </a:t>
            </a:r>
            <a:r>
              <a:rPr lang="cs-CZ" sz="16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6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EA1D81C2-80D4-2548-91DB-82047245A7C1}"/>
              </a:ext>
            </a:extLst>
          </p:cNvPr>
          <p:cNvSpPr txBox="1"/>
          <p:nvPr/>
        </p:nvSpPr>
        <p:spPr>
          <a:xfrm>
            <a:off x="6213642" y="6162588"/>
            <a:ext cx="5299757" cy="695412"/>
          </a:xfrm>
          <a:prstGeom prst="rect">
            <a:avLst/>
          </a:prstGeom>
          <a:noFill/>
        </p:spPr>
        <p:txBody>
          <a:bodyPr wrap="none" lIns="0" tIns="0" rIns="0" bIns="0" rtlCol="0" anchor="ctr" anchorCtr="0">
            <a:noAutofit/>
          </a:bodyPr>
          <a:lstStyle/>
          <a:p>
            <a:pPr algn="r"/>
            <a:r>
              <a:rPr lang="cs-CZ" sz="1600" dirty="0" err="1">
                <a:solidFill>
                  <a:srgbClr val="C80C0F"/>
                </a:solidFill>
                <a:latin typeface="Roboto Medium" panose="02000000000000000000" pitchFamily="2" charset="0"/>
                <a:ea typeface="Roboto Medium" panose="02000000000000000000" pitchFamily="2" charset="0"/>
              </a:rPr>
              <a:t>Faculty</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of</a:t>
            </a:r>
            <a:r>
              <a:rPr lang="cs-CZ" sz="1600" dirty="0">
                <a:solidFill>
                  <a:srgbClr val="C80C0F"/>
                </a:solidFill>
                <a:latin typeface="Roboto Medium" panose="02000000000000000000" pitchFamily="2" charset="0"/>
                <a:ea typeface="Roboto Medium" panose="02000000000000000000" pitchFamily="2" charset="0"/>
              </a:rPr>
              <a:t> </a:t>
            </a:r>
            <a:r>
              <a:rPr lang="cs-CZ" sz="1600" dirty="0" err="1">
                <a:solidFill>
                  <a:srgbClr val="C80C0F"/>
                </a:solidFill>
                <a:latin typeface="Roboto Medium" panose="02000000000000000000" pitchFamily="2" charset="0"/>
                <a:ea typeface="Roboto Medium" panose="02000000000000000000" pitchFamily="2" charset="0"/>
              </a:rPr>
              <a:t>Economics</a:t>
            </a:r>
            <a:r>
              <a:rPr lang="cs-CZ" sz="16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28657266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Závěr 1">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E53EAF9F-01E9-4701-B3CE-E5EC1515D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Obrázek 3" descr="Obsah obrázku text&#10;&#10;Popis byl vytvořen automaticky">
            <a:extLst>
              <a:ext uri="{FF2B5EF4-FFF2-40B4-BE49-F238E27FC236}">
                <a16:creationId xmlns:a16="http://schemas.microsoft.com/office/drawing/2014/main" id="{9E6C52F0-A869-994B-9A2A-946AD4F096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0292" y="4695142"/>
            <a:ext cx="5031416" cy="1641106"/>
          </a:xfrm>
          <a:prstGeom prst="rect">
            <a:avLst/>
          </a:prstGeom>
        </p:spPr>
      </p:pic>
      <p:sp>
        <p:nvSpPr>
          <p:cNvPr id="6" name="TextovéPole 5">
            <a:extLst>
              <a:ext uri="{FF2B5EF4-FFF2-40B4-BE49-F238E27FC236}">
                <a16:creationId xmlns:a16="http://schemas.microsoft.com/office/drawing/2014/main" id="{7301F1C3-936F-43D4-96DB-8DB86F629B10}"/>
              </a:ext>
            </a:extLst>
          </p:cNvPr>
          <p:cNvSpPr txBox="1"/>
          <p:nvPr/>
        </p:nvSpPr>
        <p:spPr>
          <a:xfrm>
            <a:off x="2776813" y="3028890"/>
            <a:ext cx="6638375" cy="1569660"/>
          </a:xfrm>
          <a:prstGeom prst="rect">
            <a:avLst/>
          </a:prstGeom>
          <a:noFill/>
        </p:spPr>
        <p:txBody>
          <a:bodyPr wrap="square" rtlCol="0">
            <a:spAutoFit/>
          </a:bodyPr>
          <a:lstStyle/>
          <a:p>
            <a:pPr algn="ctr"/>
            <a:r>
              <a:rPr lang="cs-CZ" sz="48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a:t>
            </a:r>
            <a:r>
              <a:rPr lang="cs-CZ" sz="48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48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you</a:t>
            </a:r>
            <a:r>
              <a:rPr lang="cs-CZ" sz="48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48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for</a:t>
            </a:r>
            <a:r>
              <a:rPr lang="cs-CZ" sz="48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48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attention</a:t>
            </a:r>
            <a:endParaRPr lang="cs-CZ" sz="48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40063519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Závěr 2">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0F7380FE-801F-3B4A-8E52-2A53DD2732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68721" y="5041976"/>
            <a:ext cx="5322288" cy="1735981"/>
          </a:xfrm>
          <a:prstGeom prst="rect">
            <a:avLst/>
          </a:prstGeom>
        </p:spPr>
      </p:pic>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ovéPole 4">
            <a:extLst>
              <a:ext uri="{FF2B5EF4-FFF2-40B4-BE49-F238E27FC236}">
                <a16:creationId xmlns:a16="http://schemas.microsoft.com/office/drawing/2014/main" id="{83DE33A4-FB93-4AAA-A88F-B4FEF27E08A8}"/>
              </a:ext>
            </a:extLst>
          </p:cNvPr>
          <p:cNvSpPr txBox="1"/>
          <p:nvPr/>
        </p:nvSpPr>
        <p:spPr>
          <a:xfrm>
            <a:off x="2754236" y="3429000"/>
            <a:ext cx="6683530" cy="830997"/>
          </a:xfrm>
          <a:prstGeom prst="rect">
            <a:avLst/>
          </a:prstGeom>
          <a:noFill/>
        </p:spPr>
        <p:txBody>
          <a:bodyPr wrap="square" rtlCol="0">
            <a:spAutoFit/>
          </a:bodyPr>
          <a:lstStyle/>
          <a:p>
            <a:pPr algn="ctr"/>
            <a:r>
              <a:rPr lang="en-US" sz="48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483F6A2C-C2E5-B44A-9660-8F89AEEB2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0321" y="5143576"/>
            <a:ext cx="5322288" cy="1735981"/>
          </a:xfrm>
          <a:prstGeom prst="rect">
            <a:avLst/>
          </a:prstGeom>
        </p:spPr>
      </p:pic>
    </p:spTree>
    <p:extLst>
      <p:ext uri="{BB962C8B-B14F-4D97-AF65-F5344CB8AC3E}">
        <p14:creationId xmlns:p14="http://schemas.microsoft.com/office/powerpoint/2010/main" val="663383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Závěr 3">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Obrázek 7" descr="Obsah obrázku text&#10;&#10;Popis byl vytvořen automaticky">
            <a:extLst>
              <a:ext uri="{FF2B5EF4-FFF2-40B4-BE49-F238E27FC236}">
                <a16:creationId xmlns:a16="http://schemas.microsoft.com/office/drawing/2014/main" id="{A9218E36-6589-BA4B-B382-FF8EA3F0CB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0292" y="4864475"/>
            <a:ext cx="5031416" cy="1641106"/>
          </a:xfrm>
          <a:prstGeom prst="rect">
            <a:avLst/>
          </a:prstGeom>
        </p:spPr>
      </p:pic>
      <p:sp>
        <p:nvSpPr>
          <p:cNvPr id="9" name="TextovéPole 8">
            <a:extLst>
              <a:ext uri="{FF2B5EF4-FFF2-40B4-BE49-F238E27FC236}">
                <a16:creationId xmlns:a16="http://schemas.microsoft.com/office/drawing/2014/main" id="{FDA8F002-9BA3-624D-B94C-A21C7E909596}"/>
              </a:ext>
            </a:extLst>
          </p:cNvPr>
          <p:cNvSpPr txBox="1"/>
          <p:nvPr/>
        </p:nvSpPr>
        <p:spPr>
          <a:xfrm>
            <a:off x="2776813" y="3028890"/>
            <a:ext cx="6638375" cy="1569660"/>
          </a:xfrm>
          <a:prstGeom prst="rect">
            <a:avLst/>
          </a:prstGeom>
          <a:noFill/>
        </p:spPr>
        <p:txBody>
          <a:bodyPr wrap="square" rtlCol="0">
            <a:spAutoFit/>
          </a:bodyPr>
          <a:lstStyle/>
          <a:p>
            <a:pPr algn="ctr"/>
            <a:r>
              <a:rPr lang="en-GB" sz="48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spTree>
    <p:extLst>
      <p:ext uri="{BB962C8B-B14F-4D97-AF65-F5344CB8AC3E}">
        <p14:creationId xmlns:p14="http://schemas.microsoft.com/office/powerpoint/2010/main" val="6995562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Závěr 4">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rotWithShape="1">
          <a:blip r:embed="rId2">
            <a:extLst>
              <a:ext uri="{28A0092B-C50C-407E-A947-70E740481C1C}">
                <a14:useLocalDpi xmlns:a14="http://schemas.microsoft.com/office/drawing/2010/main" val="0"/>
              </a:ext>
            </a:extLst>
          </a:blip>
          <a:srcRect t="7084" b="7777"/>
          <a:stretch/>
        </p:blipFill>
        <p:spPr>
          <a:xfrm>
            <a:off x="0" y="0"/>
            <a:ext cx="12192000" cy="6918247"/>
          </a:xfrm>
          <a:prstGeom prst="rect">
            <a:avLst/>
          </a:prstGeom>
        </p:spPr>
      </p:pic>
      <p:sp>
        <p:nvSpPr>
          <p:cNvPr id="6" name="TextovéPole 5">
            <a:extLst>
              <a:ext uri="{FF2B5EF4-FFF2-40B4-BE49-F238E27FC236}">
                <a16:creationId xmlns:a16="http://schemas.microsoft.com/office/drawing/2014/main" id="{D4F7AAA5-ECDB-B046-A48B-D0C2BB0C4FE7}"/>
              </a:ext>
            </a:extLst>
          </p:cNvPr>
          <p:cNvSpPr txBox="1"/>
          <p:nvPr/>
        </p:nvSpPr>
        <p:spPr>
          <a:xfrm>
            <a:off x="2754236" y="4072464"/>
            <a:ext cx="6683530" cy="830997"/>
          </a:xfrm>
          <a:prstGeom prst="rect">
            <a:avLst/>
          </a:prstGeom>
          <a:noFill/>
        </p:spPr>
        <p:txBody>
          <a:bodyPr wrap="square" rtlCol="0">
            <a:spAutoFit/>
          </a:bodyPr>
          <a:lstStyle/>
          <a:p>
            <a:pPr algn="ctr"/>
            <a:r>
              <a:rPr lang="en-US" sz="48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EC53DF36-AD81-A945-BF7B-A39A3E50D5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9558" y="5739969"/>
            <a:ext cx="3612445" cy="1178278"/>
          </a:xfrm>
          <a:prstGeom prst="rect">
            <a:avLst/>
          </a:prstGeom>
        </p:spPr>
      </p:pic>
    </p:spTree>
    <p:extLst>
      <p:ext uri="{BB962C8B-B14F-4D97-AF65-F5344CB8AC3E}">
        <p14:creationId xmlns:p14="http://schemas.microsoft.com/office/powerpoint/2010/main" val="5726799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Závěr 5">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12192000" cy="6858000"/>
          </a:xfrm>
          <a:prstGeom prst="rect">
            <a:avLst/>
          </a:prstGeom>
        </p:spPr>
      </p:pic>
      <p:sp>
        <p:nvSpPr>
          <p:cNvPr id="6" name="TextovéPole 5">
            <a:extLst>
              <a:ext uri="{FF2B5EF4-FFF2-40B4-BE49-F238E27FC236}">
                <a16:creationId xmlns:a16="http://schemas.microsoft.com/office/drawing/2014/main" id="{3B431FA6-80EF-9449-90BD-C081B545B9C0}"/>
              </a:ext>
            </a:extLst>
          </p:cNvPr>
          <p:cNvSpPr txBox="1"/>
          <p:nvPr/>
        </p:nvSpPr>
        <p:spPr>
          <a:xfrm>
            <a:off x="2754236" y="3429000"/>
            <a:ext cx="6683530" cy="830997"/>
          </a:xfrm>
          <a:prstGeom prst="rect">
            <a:avLst/>
          </a:prstGeom>
          <a:noFill/>
        </p:spPr>
        <p:txBody>
          <a:bodyPr wrap="square" rtlCol="0">
            <a:spAutoFit/>
          </a:bodyPr>
          <a:lstStyle/>
          <a:p>
            <a:pPr algn="ctr"/>
            <a:r>
              <a:rPr lang="en-US" sz="48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9" name="Obrázek 8">
            <a:extLst>
              <a:ext uri="{FF2B5EF4-FFF2-40B4-BE49-F238E27FC236}">
                <a16:creationId xmlns:a16="http://schemas.microsoft.com/office/drawing/2014/main" id="{811C0A68-FD87-6A46-8195-D340F48614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700534"/>
            <a:ext cx="3612445" cy="1178278"/>
          </a:xfrm>
          <a:prstGeom prst="rect">
            <a:avLst/>
          </a:prstGeom>
        </p:spPr>
      </p:pic>
    </p:spTree>
    <p:extLst>
      <p:ext uri="{BB962C8B-B14F-4D97-AF65-F5344CB8AC3E}">
        <p14:creationId xmlns:p14="http://schemas.microsoft.com/office/powerpoint/2010/main" val="1738432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Závěr 6">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5D978B46-7738-414B-B6A8-3DB65F297682}"/>
              </a:ext>
            </a:extLst>
          </p:cNvPr>
          <p:cNvSpPr/>
          <p:nvPr/>
        </p:nvSpPr>
        <p:spPr>
          <a:xfrm>
            <a:off x="0" y="0"/>
            <a:ext cx="12192000" cy="6858000"/>
          </a:xfrm>
          <a:prstGeom prst="rect">
            <a:avLst/>
          </a:prstGeom>
          <a:gradFill>
            <a:gsLst>
              <a:gs pos="0">
                <a:srgbClr val="C80C0F"/>
              </a:gs>
              <a:gs pos="50000">
                <a:srgbClr val="9B0000"/>
              </a:gs>
              <a:gs pos="99000">
                <a:srgbClr val="C80C0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700" dirty="0"/>
          </a:p>
        </p:txBody>
      </p:sp>
      <p:sp>
        <p:nvSpPr>
          <p:cNvPr id="7" name="TextovéPole 6">
            <a:extLst>
              <a:ext uri="{FF2B5EF4-FFF2-40B4-BE49-F238E27FC236}">
                <a16:creationId xmlns:a16="http://schemas.microsoft.com/office/drawing/2014/main" id="{EAE9CB24-0D3C-1C4D-899E-1B118B5F7B14}"/>
              </a:ext>
            </a:extLst>
          </p:cNvPr>
          <p:cNvSpPr txBox="1"/>
          <p:nvPr/>
        </p:nvSpPr>
        <p:spPr>
          <a:xfrm>
            <a:off x="2776813" y="3028890"/>
            <a:ext cx="6638375" cy="1569660"/>
          </a:xfrm>
          <a:prstGeom prst="rect">
            <a:avLst/>
          </a:prstGeom>
          <a:noFill/>
        </p:spPr>
        <p:txBody>
          <a:bodyPr wrap="square" rtlCol="0">
            <a:spAutoFit/>
          </a:bodyPr>
          <a:lstStyle/>
          <a:p>
            <a:pPr algn="ctr"/>
            <a:r>
              <a:rPr lang="en-GB" sz="48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pic>
        <p:nvPicPr>
          <p:cNvPr id="9" name="Obrázek 8" descr="Obsah obrázku text&#10;&#10;Popis byl vytvořen automaticky">
            <a:extLst>
              <a:ext uri="{FF2B5EF4-FFF2-40B4-BE49-F238E27FC236}">
                <a16:creationId xmlns:a16="http://schemas.microsoft.com/office/drawing/2014/main" id="{7ABA772E-3E2B-B94D-9EC0-C40803791A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0292" y="4864475"/>
            <a:ext cx="5031416" cy="1641106"/>
          </a:xfrm>
          <a:prstGeom prst="rect">
            <a:avLst/>
          </a:prstGeom>
        </p:spPr>
      </p:pic>
    </p:spTree>
    <p:extLst>
      <p:ext uri="{BB962C8B-B14F-4D97-AF65-F5344CB8AC3E}">
        <p14:creationId xmlns:p14="http://schemas.microsoft.com/office/powerpoint/2010/main" val="16285036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C70F054-4985-D173-F80E-97AA40183CFC}"/>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17392CB2-CBCA-06F7-3CDD-F6C78BD2E3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03BA4260-8040-7EB4-F45C-247A6D79DA3E}"/>
              </a:ext>
            </a:extLst>
          </p:cNvPr>
          <p:cNvSpPr>
            <a:spLocks noGrp="1"/>
          </p:cNvSpPr>
          <p:nvPr>
            <p:ph type="dt" sz="half" idx="10"/>
          </p:nvPr>
        </p:nvSpPr>
        <p:spPr/>
        <p:txBody>
          <a:bodyPr/>
          <a:lstStyle/>
          <a:p>
            <a:fld id="{E85885DF-FB19-4BAB-A2D6-4F7CAEC1F941}" type="datetimeFigureOut">
              <a:rPr lang="cs-CZ" smtClean="0"/>
              <a:t>28.10.2024</a:t>
            </a:fld>
            <a:endParaRPr lang="cs-CZ"/>
          </a:p>
        </p:txBody>
      </p:sp>
      <p:sp>
        <p:nvSpPr>
          <p:cNvPr id="5" name="Zástupný symbol pro zápatí 4">
            <a:extLst>
              <a:ext uri="{FF2B5EF4-FFF2-40B4-BE49-F238E27FC236}">
                <a16:creationId xmlns:a16="http://schemas.microsoft.com/office/drawing/2014/main" id="{E876D3B2-E6EA-FA3D-89F9-E33A92D10906}"/>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12CFCFAF-0A9C-E2BB-93F7-7284D54053A0}"/>
              </a:ext>
            </a:extLst>
          </p:cNvPr>
          <p:cNvSpPr>
            <a:spLocks noGrp="1"/>
          </p:cNvSpPr>
          <p:nvPr>
            <p:ph type="sldNum" sz="quarter" idx="12"/>
          </p:nvPr>
        </p:nvSpPr>
        <p:spPr/>
        <p:txBody>
          <a:bodyPr/>
          <a:lstStyle/>
          <a:p>
            <a:fld id="{82CDD4BD-6257-4660-B846-7F69E95461CF}" type="slidenum">
              <a:rPr lang="cs-CZ" smtClean="0"/>
              <a:t>‹#›</a:t>
            </a:fld>
            <a:endParaRPr lang="cs-CZ"/>
          </a:p>
        </p:txBody>
      </p:sp>
    </p:spTree>
    <p:extLst>
      <p:ext uri="{BB962C8B-B14F-4D97-AF65-F5344CB8AC3E}">
        <p14:creationId xmlns:p14="http://schemas.microsoft.com/office/powerpoint/2010/main" val="3089678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D7322C0-E1C1-C6CB-1429-07F1F1947794}"/>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89EE3D41-94D6-2F48-03E6-A98E4698C0BD}"/>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1583B0F9-578B-C0B5-A139-26F58C379E75}"/>
              </a:ext>
            </a:extLst>
          </p:cNvPr>
          <p:cNvSpPr>
            <a:spLocks noGrp="1"/>
          </p:cNvSpPr>
          <p:nvPr>
            <p:ph type="dt" sz="half" idx="10"/>
          </p:nvPr>
        </p:nvSpPr>
        <p:spPr/>
        <p:txBody>
          <a:bodyPr/>
          <a:lstStyle/>
          <a:p>
            <a:fld id="{E85885DF-FB19-4BAB-A2D6-4F7CAEC1F941}" type="datetimeFigureOut">
              <a:rPr lang="cs-CZ" smtClean="0"/>
              <a:t>28.10.2024</a:t>
            </a:fld>
            <a:endParaRPr lang="cs-CZ"/>
          </a:p>
        </p:txBody>
      </p:sp>
      <p:sp>
        <p:nvSpPr>
          <p:cNvPr id="5" name="Zástupný symbol pro zápatí 4">
            <a:extLst>
              <a:ext uri="{FF2B5EF4-FFF2-40B4-BE49-F238E27FC236}">
                <a16:creationId xmlns:a16="http://schemas.microsoft.com/office/drawing/2014/main" id="{E9BD371B-D09A-4C0E-6ECA-7D9CA7C2957B}"/>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08586216-74D3-A5BE-F00A-16143E7BF995}"/>
              </a:ext>
            </a:extLst>
          </p:cNvPr>
          <p:cNvSpPr>
            <a:spLocks noGrp="1"/>
          </p:cNvSpPr>
          <p:nvPr>
            <p:ph type="sldNum" sz="quarter" idx="12"/>
          </p:nvPr>
        </p:nvSpPr>
        <p:spPr/>
        <p:txBody>
          <a:bodyPr/>
          <a:lstStyle/>
          <a:p>
            <a:fld id="{82CDD4BD-6257-4660-B846-7F69E95461CF}" type="slidenum">
              <a:rPr lang="cs-CZ" smtClean="0"/>
              <a:t>‹#›</a:t>
            </a:fld>
            <a:endParaRPr lang="cs-CZ"/>
          </a:p>
        </p:txBody>
      </p:sp>
    </p:spTree>
    <p:extLst>
      <p:ext uri="{BB962C8B-B14F-4D97-AF65-F5344CB8AC3E}">
        <p14:creationId xmlns:p14="http://schemas.microsoft.com/office/powerpoint/2010/main" val="485564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09321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Lst>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body" sz="quarter" idx="12"/>
          </p:nvPr>
        </p:nvSpPr>
        <p:spPr>
          <a:xfrm>
            <a:off x="963168" y="1116698"/>
            <a:ext cx="10265663" cy="2904067"/>
          </a:xfrm>
        </p:spPr>
        <p:txBody>
          <a:bodyPr anchor="ctr">
            <a:normAutofit/>
          </a:bodyPr>
          <a:lstStyle/>
          <a:p>
            <a:pPr>
              <a:spcAft>
                <a:spcPts val="600"/>
              </a:spcAft>
            </a:pPr>
            <a:r>
              <a:rPr lang="en-GB" noProof="0" dirty="0"/>
              <a:t>Operations Research and Systems Analysis</a:t>
            </a:r>
            <a:endParaRPr lang="en-GB" noProof="0"/>
          </a:p>
        </p:txBody>
      </p:sp>
      <p:sp>
        <p:nvSpPr>
          <p:cNvPr id="3" name="Podnadpis 2"/>
          <p:cNvSpPr>
            <a:spLocks noGrp="1"/>
          </p:cNvSpPr>
          <p:nvPr>
            <p:ph type="body" sz="quarter" idx="11"/>
          </p:nvPr>
        </p:nvSpPr>
        <p:spPr>
          <a:xfrm>
            <a:off x="4058293" y="4403630"/>
            <a:ext cx="4075415" cy="652774"/>
          </a:xfrm>
        </p:spPr>
        <p:txBody>
          <a:bodyPr>
            <a:normAutofit/>
          </a:bodyPr>
          <a:lstStyle/>
          <a:p>
            <a:pPr lvl="0"/>
            <a:r>
              <a:rPr lang="en-GB" dirty="0"/>
              <a:t>System </a:t>
            </a:r>
            <a:r>
              <a:rPr lang="cs-CZ"/>
              <a:t>archetypes</a:t>
            </a:r>
            <a:endParaRPr lang="en-GB"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System</a:t>
            </a:r>
            <a:r>
              <a:rPr lang="cs-CZ" dirty="0"/>
              <a:t> </a:t>
            </a:r>
            <a:r>
              <a:rPr lang="cs-CZ" dirty="0" err="1"/>
              <a:t>archetypes</a:t>
            </a:r>
            <a:endParaRPr lang="en-GB" dirty="0"/>
          </a:p>
        </p:txBody>
      </p:sp>
      <p:sp>
        <p:nvSpPr>
          <p:cNvPr id="3" name="Zástupný symbol pro obsah 2"/>
          <p:cNvSpPr>
            <a:spLocks noGrp="1"/>
          </p:cNvSpPr>
          <p:nvPr>
            <p:ph idx="1"/>
          </p:nvPr>
        </p:nvSpPr>
        <p:spPr>
          <a:xfrm>
            <a:off x="2136648" y="1600200"/>
            <a:ext cx="8279832" cy="5257800"/>
          </a:xfrm>
        </p:spPr>
        <p:txBody>
          <a:bodyPr>
            <a:normAutofit lnSpcReduction="10000"/>
          </a:bodyPr>
          <a:lstStyle/>
          <a:p>
            <a:r>
              <a:rPr lang="en-GB" dirty="0"/>
              <a:t>P. M. SENGE</a:t>
            </a:r>
          </a:p>
          <a:p>
            <a:endParaRPr lang="en-GB" dirty="0"/>
          </a:p>
          <a:p>
            <a:r>
              <a:rPr lang="en-GB" i="1" dirty="0"/>
              <a:t>Common system structures</a:t>
            </a:r>
            <a:r>
              <a:rPr lang="cs-CZ" i="1" dirty="0"/>
              <a:t> </a:t>
            </a:r>
            <a:r>
              <a:rPr lang="en-GB" i="1" dirty="0"/>
              <a:t>that produce</a:t>
            </a:r>
            <a:r>
              <a:rPr lang="cs-CZ" i="1" dirty="0"/>
              <a:t> </a:t>
            </a:r>
            <a:r>
              <a:rPr lang="en-GB" i="1" dirty="0"/>
              <a:t>characteristic patterns of behaviour</a:t>
            </a:r>
            <a:r>
              <a:rPr lang="en-GB" dirty="0"/>
              <a:t>.</a:t>
            </a:r>
          </a:p>
          <a:p>
            <a:endParaRPr lang="en-GB" dirty="0"/>
          </a:p>
          <a:p>
            <a:endParaRPr lang="en-GB" dirty="0"/>
          </a:p>
          <a:p>
            <a:r>
              <a:rPr lang="en-GB" dirty="0"/>
              <a:t>D. H. MEADOWS calls system archetypes System traps and Opportunities.</a:t>
            </a:r>
            <a:endParaRPr lang="cs-CZ" dirty="0"/>
          </a:p>
          <a:p>
            <a:endParaRPr lang="cs-CZ" dirty="0"/>
          </a:p>
          <a:p>
            <a:endParaRPr lang="cs-CZ" dirty="0"/>
          </a:p>
          <a:p>
            <a:pPr marL="0" indent="0" algn="ctr">
              <a:buNone/>
            </a:pPr>
            <a:r>
              <a:rPr lang="cs-CZ" sz="2400" dirty="0" err="1"/>
              <a:t>That</a:t>
            </a:r>
            <a:r>
              <a:rPr lang="cs-CZ" sz="2400" dirty="0"/>
              <a:t> </a:t>
            </a:r>
            <a:r>
              <a:rPr lang="cs-CZ" sz="2400" dirty="0" err="1"/>
              <a:t>presentation</a:t>
            </a:r>
            <a:r>
              <a:rPr lang="cs-CZ" sz="2400" dirty="0"/>
              <a:t> </a:t>
            </a:r>
            <a:r>
              <a:rPr lang="cs-CZ" sz="2400" dirty="0" err="1"/>
              <a:t>contains</a:t>
            </a:r>
            <a:r>
              <a:rPr lang="cs-CZ" sz="2400" dirty="0"/>
              <a:t> </a:t>
            </a:r>
            <a:r>
              <a:rPr lang="cs-CZ" sz="2400" dirty="0" err="1"/>
              <a:t>only</a:t>
            </a:r>
            <a:r>
              <a:rPr lang="cs-CZ" sz="2400" dirty="0"/>
              <a:t> </a:t>
            </a:r>
            <a:r>
              <a:rPr lang="cs-CZ" sz="2400" dirty="0" err="1"/>
              <a:t>selected</a:t>
            </a:r>
            <a:r>
              <a:rPr lang="cs-CZ" sz="2400" dirty="0"/>
              <a:t> </a:t>
            </a:r>
            <a:r>
              <a:rPr lang="cs-CZ" sz="2400" dirty="0" err="1"/>
              <a:t>archetypes</a:t>
            </a:r>
            <a:r>
              <a:rPr lang="cs-CZ" sz="2400" dirty="0"/>
              <a:t>.</a:t>
            </a:r>
            <a:endParaRPr lang="en-GB" sz="2400" dirty="0"/>
          </a:p>
          <a:p>
            <a:endParaRPr lang="en-GB" sz="2400" dirty="0"/>
          </a:p>
        </p:txBody>
      </p:sp>
    </p:spTree>
    <p:extLst>
      <p:ext uri="{BB962C8B-B14F-4D97-AF65-F5344CB8AC3E}">
        <p14:creationId xmlns:p14="http://schemas.microsoft.com/office/powerpoint/2010/main" val="293156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Limits</a:t>
            </a:r>
            <a:r>
              <a:rPr lang="cs-CZ" dirty="0"/>
              <a:t> to </a:t>
            </a:r>
            <a:r>
              <a:rPr lang="cs-CZ" dirty="0" err="1"/>
              <a:t>Growth</a:t>
            </a:r>
            <a:endParaRPr lang="en-GB" dirty="0"/>
          </a:p>
        </p:txBody>
      </p:sp>
      <p:sp>
        <p:nvSpPr>
          <p:cNvPr id="3" name="Zástupný symbol pro obsah 2"/>
          <p:cNvSpPr>
            <a:spLocks noGrp="1"/>
          </p:cNvSpPr>
          <p:nvPr>
            <p:ph idx="1"/>
          </p:nvPr>
        </p:nvSpPr>
        <p:spPr>
          <a:xfrm>
            <a:off x="2136648" y="1600200"/>
            <a:ext cx="8279832" cy="2836912"/>
          </a:xfrm>
        </p:spPr>
        <p:txBody>
          <a:bodyPr>
            <a:normAutofit/>
          </a:bodyPr>
          <a:lstStyle/>
          <a:p>
            <a:r>
              <a:rPr lang="en-GB" sz="2400" dirty="0"/>
              <a:t>Name is based on the book from 1972</a:t>
            </a:r>
          </a:p>
          <a:p>
            <a:r>
              <a:rPr lang="cs-CZ" sz="2400" dirty="0"/>
              <a:t>„</a:t>
            </a:r>
            <a:r>
              <a:rPr lang="en-GB" sz="2400" dirty="0"/>
              <a:t>We still do the same thing but it is not working </a:t>
            </a:r>
            <a:r>
              <a:rPr lang="cs-CZ" sz="2400" dirty="0" err="1"/>
              <a:t>anymore</a:t>
            </a:r>
            <a:r>
              <a:rPr lang="en-GB" sz="2400" dirty="0"/>
              <a:t>...“</a:t>
            </a:r>
            <a:endParaRPr lang="cs-CZ" sz="2400" dirty="0"/>
          </a:p>
          <a:p>
            <a:r>
              <a:rPr lang="cs-CZ" sz="2400" dirty="0"/>
              <a:t>C</a:t>
            </a:r>
            <a:r>
              <a:rPr lang="en-GB" sz="2400" dirty="0" err="1"/>
              <a:t>umulative</a:t>
            </a:r>
            <a:r>
              <a:rPr lang="en-GB" sz="2400" dirty="0"/>
              <a:t> effects of continued success might lead to future problems</a:t>
            </a:r>
            <a:r>
              <a:rPr lang="cs-CZ" sz="2400" dirty="0"/>
              <a:t>.</a:t>
            </a:r>
          </a:p>
          <a:p>
            <a:r>
              <a:rPr lang="cs-CZ" sz="2400" dirty="0" err="1"/>
              <a:t>Solutions</a:t>
            </a:r>
            <a:r>
              <a:rPr lang="cs-CZ" sz="2400" dirty="0"/>
              <a:t>: Balance </a:t>
            </a:r>
            <a:r>
              <a:rPr lang="cs-CZ" sz="2400" dirty="0" err="1"/>
              <a:t>the</a:t>
            </a:r>
            <a:r>
              <a:rPr lang="cs-CZ" sz="2400" dirty="0"/>
              <a:t> </a:t>
            </a:r>
            <a:r>
              <a:rPr lang="cs-CZ" sz="2400" dirty="0" err="1"/>
              <a:t>growth</a:t>
            </a:r>
            <a:r>
              <a:rPr lang="cs-CZ" sz="2400" dirty="0"/>
              <a:t>, </a:t>
            </a:r>
            <a:r>
              <a:rPr lang="cs-CZ" sz="2400" dirty="0" err="1"/>
              <a:t>deal</a:t>
            </a:r>
            <a:r>
              <a:rPr lang="cs-CZ" sz="2400" dirty="0"/>
              <a:t> </a:t>
            </a:r>
            <a:r>
              <a:rPr lang="cs-CZ" sz="2400" dirty="0" err="1"/>
              <a:t>with</a:t>
            </a:r>
            <a:r>
              <a:rPr lang="cs-CZ" sz="2400" dirty="0"/>
              <a:t> </a:t>
            </a:r>
            <a:r>
              <a:rPr lang="cs-CZ" sz="2400" dirty="0" err="1"/>
              <a:t>the</a:t>
            </a:r>
            <a:r>
              <a:rPr lang="cs-CZ" sz="2400" dirty="0"/>
              <a:t> </a:t>
            </a:r>
            <a:r>
              <a:rPr lang="cs-CZ" sz="2400" dirty="0" err="1"/>
              <a:t>constraint</a:t>
            </a:r>
            <a:r>
              <a:rPr lang="cs-CZ" sz="2400" dirty="0"/>
              <a:t> (</a:t>
            </a:r>
            <a:r>
              <a:rPr lang="cs-CZ" sz="2400" dirty="0" err="1"/>
              <a:t>e.g</a:t>
            </a:r>
            <a:r>
              <a:rPr lang="cs-CZ" sz="2400" dirty="0"/>
              <a:t>. </a:t>
            </a:r>
            <a:r>
              <a:rPr lang="cs-CZ" sz="2400" dirty="0" err="1"/>
              <a:t>regenerate</a:t>
            </a:r>
            <a:r>
              <a:rPr lang="cs-CZ" sz="2400" dirty="0"/>
              <a:t> </a:t>
            </a:r>
            <a:r>
              <a:rPr lang="cs-CZ" sz="2400" dirty="0" err="1"/>
              <a:t>it</a:t>
            </a:r>
            <a:r>
              <a:rPr lang="cs-CZ" sz="2400" dirty="0"/>
              <a:t>).</a:t>
            </a:r>
            <a:endParaRPr lang="en-GB" sz="2400" dirty="0"/>
          </a:p>
        </p:txBody>
      </p:sp>
      <p:pic>
        <p:nvPicPr>
          <p:cNvPr id="4" name="Obrázek 3"/>
          <p:cNvPicPr>
            <a:picLocks noChangeAspect="1"/>
          </p:cNvPicPr>
          <p:nvPr/>
        </p:nvPicPr>
        <p:blipFill>
          <a:blip r:embed="rId3"/>
          <a:stretch>
            <a:fillRect/>
          </a:stretch>
        </p:blipFill>
        <p:spPr>
          <a:xfrm>
            <a:off x="3431704" y="4437112"/>
            <a:ext cx="5934086" cy="2312732"/>
          </a:xfrm>
          <a:prstGeom prst="rect">
            <a:avLst/>
          </a:prstGeom>
        </p:spPr>
      </p:pic>
    </p:spTree>
    <p:extLst>
      <p:ext uri="{BB962C8B-B14F-4D97-AF65-F5344CB8AC3E}">
        <p14:creationId xmlns:p14="http://schemas.microsoft.com/office/powerpoint/2010/main" val="474469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Shifting the Burden</a:t>
            </a:r>
          </a:p>
        </p:txBody>
      </p:sp>
      <p:sp>
        <p:nvSpPr>
          <p:cNvPr id="3" name="Zástupný symbol pro obsah 2"/>
          <p:cNvSpPr>
            <a:spLocks noGrp="1"/>
          </p:cNvSpPr>
          <p:nvPr>
            <p:ph idx="1"/>
          </p:nvPr>
        </p:nvSpPr>
        <p:spPr>
          <a:xfrm>
            <a:off x="2136648" y="1600200"/>
            <a:ext cx="4319392" cy="4925144"/>
          </a:xfrm>
        </p:spPr>
        <p:txBody>
          <a:bodyPr>
            <a:normAutofit/>
          </a:bodyPr>
          <a:lstStyle/>
          <a:p>
            <a:r>
              <a:rPr lang="en-US" dirty="0"/>
              <a:t>Short term symptomatic solution is attractive and seems relative easy</a:t>
            </a:r>
            <a:r>
              <a:rPr lang="cs-CZ" dirty="0"/>
              <a:t>, fast</a:t>
            </a:r>
            <a:r>
              <a:rPr lang="en-US" dirty="0"/>
              <a:t> and cheap</a:t>
            </a:r>
            <a:r>
              <a:rPr lang="cs-CZ" dirty="0"/>
              <a:t>.</a:t>
            </a:r>
          </a:p>
          <a:p>
            <a:endParaRPr lang="cs-CZ" dirty="0"/>
          </a:p>
          <a:p>
            <a:r>
              <a:rPr lang="en-US" dirty="0"/>
              <a:t>Solution: </a:t>
            </a:r>
            <a:r>
              <a:rPr lang="cs-CZ" dirty="0"/>
              <a:t>I</a:t>
            </a:r>
            <a:r>
              <a:rPr lang="en-US" dirty="0" err="1"/>
              <a:t>dentify</a:t>
            </a:r>
            <a:r>
              <a:rPr lang="en-US" dirty="0"/>
              <a:t> the real problem, focus on fundamental solution, use symptomatic solution only to gain time for the fundamental solution.</a:t>
            </a:r>
          </a:p>
        </p:txBody>
      </p:sp>
      <p:pic>
        <p:nvPicPr>
          <p:cNvPr id="5" name="Obrázek 4"/>
          <p:cNvPicPr>
            <a:picLocks noChangeAspect="1"/>
          </p:cNvPicPr>
          <p:nvPr/>
        </p:nvPicPr>
        <p:blipFill>
          <a:blip r:embed="rId3"/>
          <a:stretch>
            <a:fillRect/>
          </a:stretch>
        </p:blipFill>
        <p:spPr>
          <a:xfrm>
            <a:off x="6672064" y="2276872"/>
            <a:ext cx="3813750" cy="3731274"/>
          </a:xfrm>
          <a:prstGeom prst="rect">
            <a:avLst/>
          </a:prstGeom>
        </p:spPr>
      </p:pic>
    </p:spTree>
    <p:extLst>
      <p:ext uri="{BB962C8B-B14F-4D97-AF65-F5344CB8AC3E}">
        <p14:creationId xmlns:p14="http://schemas.microsoft.com/office/powerpoint/2010/main" val="2422852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Eroding Goals</a:t>
            </a:r>
          </a:p>
        </p:txBody>
      </p:sp>
      <p:sp>
        <p:nvSpPr>
          <p:cNvPr id="3" name="Zástupný symbol pro obsah 2"/>
          <p:cNvSpPr>
            <a:spLocks noGrp="1"/>
          </p:cNvSpPr>
          <p:nvPr>
            <p:ph idx="1"/>
          </p:nvPr>
        </p:nvSpPr>
        <p:spPr>
          <a:xfrm>
            <a:off x="2136648" y="1600200"/>
            <a:ext cx="4319392" cy="4925144"/>
          </a:xfrm>
        </p:spPr>
        <p:txBody>
          <a:bodyPr>
            <a:normAutofit/>
          </a:bodyPr>
          <a:lstStyle/>
          <a:p>
            <a:r>
              <a:rPr lang="en-US" dirty="0"/>
              <a:t>The gap between goal and actual conditions has two effects.</a:t>
            </a:r>
          </a:p>
          <a:p>
            <a:r>
              <a:rPr lang="en-US" dirty="0"/>
              <a:t>Pressure to adjust the goal is symptomatic solution.</a:t>
            </a:r>
          </a:p>
          <a:p>
            <a:r>
              <a:rPr lang="en-US" dirty="0"/>
              <a:t>Solution</a:t>
            </a:r>
            <a:r>
              <a:rPr lang="cs-CZ" dirty="0"/>
              <a:t>s</a:t>
            </a:r>
            <a:r>
              <a:rPr lang="en-US" dirty="0"/>
              <a:t>: </a:t>
            </a:r>
            <a:r>
              <a:rPr lang="cs-CZ" dirty="0"/>
              <a:t>S</a:t>
            </a:r>
            <a:r>
              <a:rPr lang="en-US" dirty="0"/>
              <a:t>tick with your vision, compare yourself with others only if they are better</a:t>
            </a:r>
            <a:r>
              <a:rPr lang="cs-CZ" dirty="0"/>
              <a:t>.</a:t>
            </a:r>
            <a:endParaRPr lang="en-US" dirty="0"/>
          </a:p>
          <a:p>
            <a:endParaRPr lang="en-US" dirty="0"/>
          </a:p>
        </p:txBody>
      </p:sp>
      <p:pic>
        <p:nvPicPr>
          <p:cNvPr id="4" name="Obrázek 3"/>
          <p:cNvPicPr>
            <a:picLocks noChangeAspect="1"/>
          </p:cNvPicPr>
          <p:nvPr/>
        </p:nvPicPr>
        <p:blipFill>
          <a:blip r:embed="rId3"/>
          <a:stretch>
            <a:fillRect/>
          </a:stretch>
        </p:blipFill>
        <p:spPr>
          <a:xfrm>
            <a:off x="6960096" y="1988840"/>
            <a:ext cx="3190838" cy="3858188"/>
          </a:xfrm>
          <a:prstGeom prst="rect">
            <a:avLst/>
          </a:prstGeom>
        </p:spPr>
      </p:pic>
    </p:spTree>
    <p:extLst>
      <p:ext uri="{BB962C8B-B14F-4D97-AF65-F5344CB8AC3E}">
        <p14:creationId xmlns:p14="http://schemas.microsoft.com/office/powerpoint/2010/main" val="18177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Success to the Successful </a:t>
            </a:r>
          </a:p>
        </p:txBody>
      </p:sp>
      <p:sp>
        <p:nvSpPr>
          <p:cNvPr id="3" name="Zástupný symbol pro obsah 2"/>
          <p:cNvSpPr>
            <a:spLocks noGrp="1"/>
          </p:cNvSpPr>
          <p:nvPr>
            <p:ph idx="1"/>
          </p:nvPr>
        </p:nvSpPr>
        <p:spPr>
          <a:xfrm>
            <a:off x="1847528" y="1600200"/>
            <a:ext cx="5112568" cy="5141168"/>
          </a:xfrm>
        </p:spPr>
        <p:txBody>
          <a:bodyPr>
            <a:normAutofit fontScale="92500"/>
          </a:bodyPr>
          <a:lstStyle/>
          <a:p>
            <a:r>
              <a:rPr lang="en-US" dirty="0"/>
              <a:t>This archetype is found whenever the winners of a competition receive, as part of the reward, the means to compete even more effectively in future.</a:t>
            </a:r>
          </a:p>
          <a:p>
            <a:r>
              <a:rPr lang="en-US" dirty="0"/>
              <a:t>“</a:t>
            </a:r>
            <a:r>
              <a:rPr lang="en-US" i="1" dirty="0"/>
              <a:t>To him that hath shall be given</a:t>
            </a:r>
            <a:r>
              <a:rPr lang="en-US" dirty="0"/>
              <a:t>.“</a:t>
            </a:r>
          </a:p>
          <a:p>
            <a:r>
              <a:rPr lang="en-US" dirty="0"/>
              <a:t>“</a:t>
            </a:r>
            <a:r>
              <a:rPr lang="en-US" i="1" dirty="0"/>
              <a:t>Market competition systemically eliminates market competition</a:t>
            </a:r>
            <a:r>
              <a:rPr lang="en-US" dirty="0"/>
              <a:t>.“</a:t>
            </a:r>
          </a:p>
          <a:p>
            <a:r>
              <a:rPr lang="en-US" dirty="0"/>
              <a:t>Solution</a:t>
            </a:r>
            <a:r>
              <a:rPr lang="cs-CZ" dirty="0"/>
              <a:t>s</a:t>
            </a:r>
            <a:r>
              <a:rPr lang="en-US" dirty="0"/>
              <a:t>: Diversification that allows the „losers“ to get out of the game, limitation on share of the pie…</a:t>
            </a:r>
          </a:p>
        </p:txBody>
      </p:sp>
      <p:pic>
        <p:nvPicPr>
          <p:cNvPr id="5" name="Obrázek 4"/>
          <p:cNvPicPr>
            <a:picLocks noChangeAspect="1"/>
          </p:cNvPicPr>
          <p:nvPr/>
        </p:nvPicPr>
        <p:blipFill>
          <a:blip r:embed="rId3"/>
          <a:stretch>
            <a:fillRect/>
          </a:stretch>
        </p:blipFill>
        <p:spPr>
          <a:xfrm>
            <a:off x="7108500" y="1988841"/>
            <a:ext cx="3559500" cy="4061251"/>
          </a:xfrm>
          <a:prstGeom prst="rect">
            <a:avLst/>
          </a:prstGeom>
        </p:spPr>
      </p:pic>
    </p:spTree>
    <p:extLst>
      <p:ext uri="{BB962C8B-B14F-4D97-AF65-F5344CB8AC3E}">
        <p14:creationId xmlns:p14="http://schemas.microsoft.com/office/powerpoint/2010/main" val="3784500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Escalation </a:t>
            </a:r>
          </a:p>
        </p:txBody>
      </p:sp>
      <p:sp>
        <p:nvSpPr>
          <p:cNvPr id="3" name="Zástupný symbol pro obsah 2"/>
          <p:cNvSpPr>
            <a:spLocks noGrp="1"/>
          </p:cNvSpPr>
          <p:nvPr>
            <p:ph idx="1"/>
          </p:nvPr>
        </p:nvSpPr>
        <p:spPr>
          <a:xfrm>
            <a:off x="2136648" y="1600200"/>
            <a:ext cx="4895456" cy="4937340"/>
          </a:xfrm>
        </p:spPr>
        <p:txBody>
          <a:bodyPr>
            <a:normAutofit/>
          </a:bodyPr>
          <a:lstStyle/>
          <a:p>
            <a:endParaRPr lang="cs-CZ" sz="2400" dirty="0"/>
          </a:p>
          <a:p>
            <a:r>
              <a:rPr lang="en-GB" sz="2400" dirty="0"/>
              <a:t>Competition where the participants increase their effort according to the results of the others.</a:t>
            </a:r>
          </a:p>
          <a:p>
            <a:endParaRPr lang="en-GB" sz="2400" dirty="0"/>
          </a:p>
          <a:p>
            <a:r>
              <a:rPr lang="en-GB" sz="2400" dirty="0"/>
              <a:t>Oscillation or „Results of A to B</a:t>
            </a:r>
          </a:p>
          <a:p>
            <a:endParaRPr lang="en-GB" sz="2400" dirty="0"/>
          </a:p>
          <a:p>
            <a:r>
              <a:rPr lang="en-GB" sz="2400" dirty="0"/>
              <a:t>Solution</a:t>
            </a:r>
            <a:r>
              <a:rPr lang="cs-CZ" sz="2400" dirty="0"/>
              <a:t>s</a:t>
            </a:r>
            <a:r>
              <a:rPr lang="en-GB" sz="2400" dirty="0"/>
              <a:t>: </a:t>
            </a:r>
            <a:r>
              <a:rPr lang="cs-CZ" sz="2400" dirty="0" err="1"/>
              <a:t>Avoid</a:t>
            </a:r>
            <a:r>
              <a:rPr lang="cs-CZ" sz="2400" dirty="0"/>
              <a:t> to </a:t>
            </a:r>
            <a:r>
              <a:rPr lang="cs-CZ" sz="2400" dirty="0" err="1"/>
              <a:t>get</a:t>
            </a:r>
            <a:r>
              <a:rPr lang="cs-CZ" sz="2400" dirty="0"/>
              <a:t> in, </a:t>
            </a:r>
            <a:r>
              <a:rPr lang="en-GB" sz="2400" dirty="0"/>
              <a:t>withdraw, negotiate on different structure or be so much stronger that you will win</a:t>
            </a:r>
          </a:p>
          <a:p>
            <a:endParaRPr lang="en-GB" sz="2400" dirty="0"/>
          </a:p>
        </p:txBody>
      </p:sp>
      <p:pic>
        <p:nvPicPr>
          <p:cNvPr id="5" name="Obrázek 4"/>
          <p:cNvPicPr>
            <a:picLocks noChangeAspect="1"/>
          </p:cNvPicPr>
          <p:nvPr/>
        </p:nvPicPr>
        <p:blipFill>
          <a:blip r:embed="rId3"/>
          <a:stretch>
            <a:fillRect/>
          </a:stretch>
        </p:blipFill>
        <p:spPr>
          <a:xfrm>
            <a:off x="7032104" y="2060848"/>
            <a:ext cx="3508650" cy="4200856"/>
          </a:xfrm>
          <a:prstGeom prst="rect">
            <a:avLst/>
          </a:prstGeom>
        </p:spPr>
      </p:pic>
    </p:spTree>
    <p:extLst>
      <p:ext uri="{BB962C8B-B14F-4D97-AF65-F5344CB8AC3E}">
        <p14:creationId xmlns:p14="http://schemas.microsoft.com/office/powerpoint/2010/main" val="1287353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Tragedy of the Commons</a:t>
            </a:r>
          </a:p>
        </p:txBody>
      </p:sp>
      <p:sp>
        <p:nvSpPr>
          <p:cNvPr id="3" name="Zástupný symbol pro obsah 2"/>
          <p:cNvSpPr>
            <a:spLocks noGrp="1"/>
          </p:cNvSpPr>
          <p:nvPr>
            <p:ph idx="1"/>
          </p:nvPr>
        </p:nvSpPr>
        <p:spPr>
          <a:xfrm>
            <a:off x="1631504" y="1600200"/>
            <a:ext cx="4104456" cy="5141168"/>
          </a:xfrm>
        </p:spPr>
        <p:txBody>
          <a:bodyPr>
            <a:normAutofit lnSpcReduction="10000"/>
          </a:bodyPr>
          <a:lstStyle/>
          <a:p>
            <a:r>
              <a:rPr lang="en-US" dirty="0"/>
              <a:t>G. Hardin, 1968:</a:t>
            </a:r>
          </a:p>
          <a:p>
            <a:pPr lvl="1"/>
            <a:r>
              <a:rPr lang="en-US" dirty="0"/>
              <a:t>Common grazing land – each herdsman try to keep as many cattle as possible on free commons. As a result the land is ruined.</a:t>
            </a:r>
            <a:endParaRPr lang="cs-CZ" dirty="0"/>
          </a:p>
          <a:p>
            <a:pPr lvl="1"/>
            <a:endParaRPr lang="cs-CZ" dirty="0"/>
          </a:p>
          <a:p>
            <a:r>
              <a:rPr lang="cs-CZ" dirty="0" err="1"/>
              <a:t>Bounded</a:t>
            </a:r>
            <a:r>
              <a:rPr lang="cs-CZ" dirty="0"/>
              <a:t> </a:t>
            </a:r>
            <a:r>
              <a:rPr lang="cs-CZ" dirty="0" err="1"/>
              <a:t>rationality</a:t>
            </a:r>
            <a:r>
              <a:rPr lang="cs-CZ" dirty="0"/>
              <a:t> in a </a:t>
            </a:r>
            <a:r>
              <a:rPr lang="cs-CZ" dirty="0" err="1"/>
              <a:t>nutshell</a:t>
            </a:r>
            <a:r>
              <a:rPr lang="cs-CZ" dirty="0"/>
              <a:t> </a:t>
            </a:r>
            <a:r>
              <a:rPr lang="cs-CZ" dirty="0">
                <a:sym typeface="Wingdings" panose="05000000000000000000" pitchFamily="2" charset="2"/>
              </a:rPr>
              <a:t></a:t>
            </a:r>
          </a:p>
          <a:p>
            <a:endParaRPr lang="cs-CZ" dirty="0">
              <a:sym typeface="Wingdings" panose="05000000000000000000" pitchFamily="2" charset="2"/>
            </a:endParaRPr>
          </a:p>
          <a:p>
            <a:r>
              <a:rPr lang="cs-CZ" dirty="0" err="1">
                <a:sym typeface="Wingdings" panose="05000000000000000000" pitchFamily="2" charset="2"/>
              </a:rPr>
              <a:t>Solutions</a:t>
            </a:r>
            <a:r>
              <a:rPr lang="cs-CZ" dirty="0">
                <a:sym typeface="Wingdings" panose="05000000000000000000" pitchFamily="2" charset="2"/>
              </a:rPr>
              <a:t>: </a:t>
            </a:r>
            <a:r>
              <a:rPr lang="cs-CZ" dirty="0" err="1">
                <a:sym typeface="Wingdings" panose="05000000000000000000" pitchFamily="2" charset="2"/>
              </a:rPr>
              <a:t>Educate</a:t>
            </a:r>
            <a:r>
              <a:rPr lang="cs-CZ" dirty="0">
                <a:sym typeface="Wingdings" panose="05000000000000000000" pitchFamily="2" charset="2"/>
              </a:rPr>
              <a:t> </a:t>
            </a:r>
            <a:r>
              <a:rPr lang="cs-CZ" dirty="0" err="1">
                <a:sym typeface="Wingdings" panose="05000000000000000000" pitchFamily="2" charset="2"/>
              </a:rPr>
              <a:t>the</a:t>
            </a:r>
            <a:r>
              <a:rPr lang="cs-CZ" dirty="0">
                <a:sym typeface="Wingdings" panose="05000000000000000000" pitchFamily="2" charset="2"/>
              </a:rPr>
              <a:t> </a:t>
            </a:r>
            <a:r>
              <a:rPr lang="cs-CZ" dirty="0" err="1">
                <a:sym typeface="Wingdings" panose="05000000000000000000" pitchFamily="2" charset="2"/>
              </a:rPr>
              <a:t>users</a:t>
            </a:r>
            <a:r>
              <a:rPr lang="cs-CZ" dirty="0">
                <a:sym typeface="Wingdings" panose="05000000000000000000" pitchFamily="2" charset="2"/>
              </a:rPr>
              <a:t>, </a:t>
            </a:r>
            <a:r>
              <a:rPr lang="cs-CZ" dirty="0" err="1">
                <a:sym typeface="Wingdings" panose="05000000000000000000" pitchFamily="2" charset="2"/>
              </a:rPr>
              <a:t>privatise</a:t>
            </a:r>
            <a:r>
              <a:rPr lang="cs-CZ" dirty="0">
                <a:sym typeface="Wingdings" panose="05000000000000000000" pitchFamily="2" charset="2"/>
              </a:rPr>
              <a:t>, </a:t>
            </a:r>
            <a:r>
              <a:rPr lang="cs-CZ" dirty="0" err="1">
                <a:sym typeface="Wingdings" panose="05000000000000000000" pitchFamily="2" charset="2"/>
              </a:rPr>
              <a:t>regulate</a:t>
            </a:r>
            <a:r>
              <a:rPr lang="cs-CZ" dirty="0">
                <a:sym typeface="Wingdings" panose="05000000000000000000" pitchFamily="2" charset="2"/>
              </a:rPr>
              <a:t> </a:t>
            </a:r>
            <a:r>
              <a:rPr lang="cs-CZ" dirty="0" err="1">
                <a:sym typeface="Wingdings" panose="05000000000000000000" pitchFamily="2" charset="2"/>
              </a:rPr>
              <a:t>the</a:t>
            </a:r>
            <a:r>
              <a:rPr lang="cs-CZ" dirty="0">
                <a:sym typeface="Wingdings" panose="05000000000000000000" pitchFamily="2" charset="2"/>
              </a:rPr>
              <a:t> use </a:t>
            </a:r>
            <a:r>
              <a:rPr lang="cs-CZ" dirty="0" err="1">
                <a:sym typeface="Wingdings" panose="05000000000000000000" pitchFamily="2" charset="2"/>
              </a:rPr>
              <a:t>of</a:t>
            </a:r>
            <a:r>
              <a:rPr lang="cs-CZ" dirty="0">
                <a:sym typeface="Wingdings" panose="05000000000000000000" pitchFamily="2" charset="2"/>
              </a:rPr>
              <a:t> </a:t>
            </a:r>
            <a:r>
              <a:rPr lang="cs-CZ" dirty="0" err="1">
                <a:sym typeface="Wingdings" panose="05000000000000000000" pitchFamily="2" charset="2"/>
              </a:rPr>
              <a:t>commons</a:t>
            </a:r>
            <a:r>
              <a:rPr lang="cs-CZ" dirty="0">
                <a:sym typeface="Wingdings" panose="05000000000000000000" pitchFamily="2" charset="2"/>
              </a:rPr>
              <a:t>…</a:t>
            </a:r>
            <a:endParaRPr lang="en-US" dirty="0"/>
          </a:p>
        </p:txBody>
      </p:sp>
      <p:pic>
        <p:nvPicPr>
          <p:cNvPr id="4" name="Obrázek 3"/>
          <p:cNvPicPr>
            <a:picLocks noChangeAspect="1"/>
          </p:cNvPicPr>
          <p:nvPr/>
        </p:nvPicPr>
        <p:blipFill>
          <a:blip r:embed="rId3"/>
          <a:stretch>
            <a:fillRect/>
          </a:stretch>
        </p:blipFill>
        <p:spPr>
          <a:xfrm>
            <a:off x="5752584" y="1844825"/>
            <a:ext cx="5061107" cy="4451197"/>
          </a:xfrm>
          <a:prstGeom prst="rect">
            <a:avLst/>
          </a:prstGeom>
        </p:spPr>
      </p:pic>
    </p:spTree>
    <p:extLst>
      <p:ext uri="{BB962C8B-B14F-4D97-AF65-F5344CB8AC3E}">
        <p14:creationId xmlns:p14="http://schemas.microsoft.com/office/powerpoint/2010/main" val="966634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Leverage</a:t>
            </a:r>
            <a:r>
              <a:rPr lang="cs-CZ" dirty="0"/>
              <a:t> </a:t>
            </a:r>
            <a:r>
              <a:rPr lang="cs-CZ" dirty="0" err="1"/>
              <a:t>points</a:t>
            </a:r>
            <a:r>
              <a:rPr lang="cs-CZ" dirty="0"/>
              <a:t> </a:t>
            </a:r>
            <a:endParaRPr lang="en-GB" dirty="0"/>
          </a:p>
        </p:txBody>
      </p:sp>
      <p:sp>
        <p:nvSpPr>
          <p:cNvPr id="3" name="Zástupný symbol pro obsah 2"/>
          <p:cNvSpPr>
            <a:spLocks noGrp="1"/>
          </p:cNvSpPr>
          <p:nvPr>
            <p:ph idx="1"/>
          </p:nvPr>
        </p:nvSpPr>
        <p:spPr/>
        <p:txBody>
          <a:bodyPr>
            <a:normAutofit fontScale="25000" lnSpcReduction="20000"/>
          </a:bodyPr>
          <a:lstStyle/>
          <a:p>
            <a:pPr marL="365760" lvl="1" indent="0">
              <a:buNone/>
            </a:pPr>
            <a:endParaRPr lang="en-US" dirty="0"/>
          </a:p>
        </p:txBody>
      </p:sp>
      <p:sp>
        <p:nvSpPr>
          <p:cNvPr id="5" name="TextovéPole 4">
            <a:extLst>
              <a:ext uri="{FF2B5EF4-FFF2-40B4-BE49-F238E27FC236}">
                <a16:creationId xmlns:a16="http://schemas.microsoft.com/office/drawing/2014/main" id="{B91D9E18-1918-67E8-F28C-AAD75A508960}"/>
              </a:ext>
            </a:extLst>
          </p:cNvPr>
          <p:cNvSpPr txBox="1"/>
          <p:nvPr/>
        </p:nvSpPr>
        <p:spPr>
          <a:xfrm>
            <a:off x="1276164" y="1262238"/>
            <a:ext cx="8382739" cy="4662815"/>
          </a:xfrm>
          <a:prstGeom prst="rect">
            <a:avLst/>
          </a:prstGeom>
          <a:noFill/>
        </p:spPr>
        <p:txBody>
          <a:bodyPr wrap="square">
            <a:spAutoFit/>
          </a:bodyPr>
          <a:lstStyle/>
          <a:p>
            <a:r>
              <a:rPr lang="en-US" dirty="0"/>
              <a:t>D. H. MEADOWS: </a:t>
            </a:r>
            <a:r>
              <a:rPr lang="cs-CZ" dirty="0"/>
              <a:t>List </a:t>
            </a:r>
            <a:r>
              <a:rPr lang="cs-CZ" dirty="0" err="1"/>
              <a:t>of</a:t>
            </a:r>
            <a:r>
              <a:rPr lang="cs-CZ" dirty="0"/>
              <a:t> p</a:t>
            </a:r>
            <a:r>
              <a:rPr lang="en-US" dirty="0"/>
              <a:t>laces to intervene in a system</a:t>
            </a:r>
            <a:endParaRPr lang="cs-CZ" dirty="0"/>
          </a:p>
          <a:p>
            <a:pPr lvl="1"/>
            <a:r>
              <a:rPr lang="en-US" dirty="0"/>
              <a:t>The list is tentative and the order is slithery with many exceptions.</a:t>
            </a:r>
          </a:p>
          <a:p>
            <a:endParaRPr lang="en-US" dirty="0"/>
          </a:p>
          <a:p>
            <a:r>
              <a:rPr lang="en-US" dirty="0"/>
              <a:t>Forrester: …the average manager can define the current problem very cogently, identify the system structure that leads to the problem, and guess with great accuracy where to look for leverage points (places where small change could lead to a large shift in b</a:t>
            </a:r>
            <a:r>
              <a:rPr lang="cs-CZ" dirty="0"/>
              <a:t>e</a:t>
            </a:r>
            <a:r>
              <a:rPr lang="en-US" dirty="0"/>
              <a:t>haviour)… </a:t>
            </a:r>
          </a:p>
          <a:p>
            <a:pPr marL="358775" indent="0">
              <a:buNone/>
            </a:pPr>
            <a:r>
              <a:rPr lang="en-US" dirty="0"/>
              <a:t>…but more often than not they push the change in the </a:t>
            </a:r>
            <a:r>
              <a:rPr lang="en-US" b="1" i="1" dirty="0"/>
              <a:t>wrong direction</a:t>
            </a:r>
            <a:r>
              <a:rPr lang="en-US" dirty="0"/>
              <a:t>.</a:t>
            </a:r>
          </a:p>
        </p:txBody>
      </p:sp>
    </p:spTree>
    <p:extLst>
      <p:ext uri="{BB962C8B-B14F-4D97-AF65-F5344CB8AC3E}">
        <p14:creationId xmlns:p14="http://schemas.microsoft.com/office/powerpoint/2010/main" val="41069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Leverage</a:t>
            </a:r>
            <a:r>
              <a:rPr lang="cs-CZ" dirty="0"/>
              <a:t> </a:t>
            </a:r>
            <a:r>
              <a:rPr lang="cs-CZ" dirty="0" err="1"/>
              <a:t>points</a:t>
            </a:r>
            <a:r>
              <a:rPr lang="cs-CZ" dirty="0"/>
              <a:t> </a:t>
            </a:r>
            <a:endParaRPr lang="en-GB" dirty="0"/>
          </a:p>
        </p:txBody>
      </p:sp>
      <p:sp>
        <p:nvSpPr>
          <p:cNvPr id="3" name="Zástupný symbol pro obsah 2"/>
          <p:cNvSpPr>
            <a:spLocks noGrp="1"/>
          </p:cNvSpPr>
          <p:nvPr>
            <p:ph idx="1"/>
          </p:nvPr>
        </p:nvSpPr>
        <p:spPr>
          <a:xfrm>
            <a:off x="2136648" y="1600200"/>
            <a:ext cx="8153400" cy="5257800"/>
          </a:xfrm>
        </p:spPr>
        <p:txBody>
          <a:bodyPr>
            <a:normAutofit/>
          </a:bodyPr>
          <a:lstStyle/>
          <a:p>
            <a:pPr marL="92075" lvl="1" indent="0">
              <a:buNone/>
            </a:pPr>
            <a:r>
              <a:rPr lang="en-US" dirty="0"/>
              <a:t>12. Numbers – </a:t>
            </a:r>
            <a:r>
              <a:rPr lang="cs-CZ" dirty="0"/>
              <a:t>C</a:t>
            </a:r>
            <a:r>
              <a:rPr lang="en-US" dirty="0" err="1"/>
              <a:t>onstants</a:t>
            </a:r>
            <a:r>
              <a:rPr lang="en-US" dirty="0"/>
              <a:t> and parameters</a:t>
            </a:r>
          </a:p>
          <a:p>
            <a:pPr marL="606425" lvl="1" indent="-514350">
              <a:buAutoNum type="arabicPeriod" startAt="12"/>
            </a:pPr>
            <a:endParaRPr lang="en-US" dirty="0"/>
          </a:p>
          <a:p>
            <a:pPr marL="92075" lvl="1" indent="0">
              <a:buNone/>
            </a:pPr>
            <a:r>
              <a:rPr lang="en-US" dirty="0"/>
              <a:t>11. Buffers – </a:t>
            </a:r>
            <a:r>
              <a:rPr lang="cs-CZ" dirty="0"/>
              <a:t>T</a:t>
            </a:r>
            <a:r>
              <a:rPr lang="en-US" dirty="0"/>
              <a:t>he sizes of stabilizing stocks relative to their flows</a:t>
            </a:r>
          </a:p>
          <a:p>
            <a:pPr marL="92075" lvl="1" indent="0">
              <a:buNone/>
            </a:pPr>
            <a:endParaRPr lang="en-US" dirty="0"/>
          </a:p>
          <a:p>
            <a:pPr marL="92075" lvl="1" indent="0">
              <a:buNone/>
            </a:pPr>
            <a:r>
              <a:rPr lang="en-US" dirty="0"/>
              <a:t>10. Stock-and-Flow Structures – Physical systems and their nodes of intersection</a:t>
            </a:r>
            <a:endParaRPr lang="cs-CZ" dirty="0"/>
          </a:p>
          <a:p>
            <a:pPr marL="92075" lvl="1" indent="0">
              <a:buNone/>
            </a:pPr>
            <a:endParaRPr lang="cs-CZ" dirty="0"/>
          </a:p>
          <a:p>
            <a:pPr marL="92075" lvl="1" indent="0">
              <a:buNone/>
            </a:pPr>
            <a:r>
              <a:rPr lang="en-US" dirty="0"/>
              <a:t>9. Delays – </a:t>
            </a:r>
            <a:r>
              <a:rPr lang="cs-CZ" dirty="0"/>
              <a:t>T</a:t>
            </a:r>
            <a:r>
              <a:rPr lang="en-US" dirty="0"/>
              <a:t>he lengths of time relative to the rates of system changes</a:t>
            </a:r>
          </a:p>
        </p:txBody>
      </p:sp>
    </p:spTree>
    <p:extLst>
      <p:ext uri="{BB962C8B-B14F-4D97-AF65-F5344CB8AC3E}">
        <p14:creationId xmlns:p14="http://schemas.microsoft.com/office/powerpoint/2010/main" val="1811223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Leverage</a:t>
            </a:r>
            <a:r>
              <a:rPr lang="cs-CZ" dirty="0"/>
              <a:t> </a:t>
            </a:r>
            <a:r>
              <a:rPr lang="cs-CZ" dirty="0" err="1"/>
              <a:t>points</a:t>
            </a:r>
            <a:r>
              <a:rPr lang="cs-CZ" dirty="0"/>
              <a:t> </a:t>
            </a:r>
            <a:endParaRPr lang="en-GB" dirty="0"/>
          </a:p>
        </p:txBody>
      </p:sp>
      <p:sp>
        <p:nvSpPr>
          <p:cNvPr id="3" name="Zástupný symbol pro obsah 2"/>
          <p:cNvSpPr>
            <a:spLocks noGrp="1"/>
          </p:cNvSpPr>
          <p:nvPr>
            <p:ph idx="1"/>
          </p:nvPr>
        </p:nvSpPr>
        <p:spPr>
          <a:xfrm>
            <a:off x="2136648" y="1600200"/>
            <a:ext cx="8153400" cy="5069160"/>
          </a:xfrm>
        </p:spPr>
        <p:txBody>
          <a:bodyPr>
            <a:normAutofit/>
          </a:bodyPr>
          <a:lstStyle/>
          <a:p>
            <a:pPr marL="92075" lvl="1" indent="0">
              <a:buNone/>
            </a:pPr>
            <a:r>
              <a:rPr lang="en-US" dirty="0"/>
              <a:t>8. Balancing Feedback Loops – The strength of the feedbacks relative to the impacts they are trying to correct</a:t>
            </a:r>
          </a:p>
          <a:p>
            <a:pPr marL="92075" lvl="1" indent="0">
              <a:buNone/>
            </a:pPr>
            <a:endParaRPr lang="en-US" dirty="0"/>
          </a:p>
          <a:p>
            <a:pPr marL="92075" lvl="1" indent="0">
              <a:buNone/>
            </a:pPr>
            <a:r>
              <a:rPr lang="en-US" dirty="0"/>
              <a:t>7. Reinforcing Feedback Loops – The strength of the gain of driving loops</a:t>
            </a:r>
          </a:p>
          <a:p>
            <a:pPr marL="92075" lvl="1" indent="0">
              <a:buNone/>
            </a:pPr>
            <a:endParaRPr lang="en-US" dirty="0"/>
          </a:p>
          <a:p>
            <a:pPr marL="92075" lvl="1" indent="0">
              <a:buNone/>
            </a:pPr>
            <a:r>
              <a:rPr lang="en-US" dirty="0"/>
              <a:t>6. Information flows – The structure of who does and does not have access to information</a:t>
            </a:r>
          </a:p>
          <a:p>
            <a:pPr marL="92075" lvl="1" indent="0">
              <a:buNone/>
            </a:pPr>
            <a:endParaRPr lang="en-US" dirty="0"/>
          </a:p>
          <a:p>
            <a:pPr marL="92075" lvl="1" indent="0">
              <a:buNone/>
            </a:pPr>
            <a:r>
              <a:rPr lang="en-US" dirty="0"/>
              <a:t>5. Rules – Incentives, punishments, constraints</a:t>
            </a:r>
          </a:p>
          <a:p>
            <a:pPr marL="92075" lvl="1" indent="0">
              <a:buNone/>
            </a:pPr>
            <a:endParaRPr lang="en-US" dirty="0"/>
          </a:p>
          <a:p>
            <a:pPr marL="92075" lvl="1" indent="0">
              <a:buNone/>
            </a:pPr>
            <a:endParaRPr lang="en-US" dirty="0"/>
          </a:p>
        </p:txBody>
      </p:sp>
    </p:spTree>
    <p:extLst>
      <p:ext uri="{BB962C8B-B14F-4D97-AF65-F5344CB8AC3E}">
        <p14:creationId xmlns:p14="http://schemas.microsoft.com/office/powerpoint/2010/main" val="3457818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Leverage</a:t>
            </a:r>
            <a:r>
              <a:rPr lang="cs-CZ" dirty="0"/>
              <a:t> </a:t>
            </a:r>
            <a:r>
              <a:rPr lang="cs-CZ" dirty="0" err="1"/>
              <a:t>points</a:t>
            </a:r>
            <a:r>
              <a:rPr lang="cs-CZ" dirty="0"/>
              <a:t> </a:t>
            </a:r>
            <a:endParaRPr lang="en-GB" dirty="0"/>
          </a:p>
        </p:txBody>
      </p:sp>
      <p:sp>
        <p:nvSpPr>
          <p:cNvPr id="3" name="Zástupný symbol pro obsah 2"/>
          <p:cNvSpPr>
            <a:spLocks noGrp="1"/>
          </p:cNvSpPr>
          <p:nvPr>
            <p:ph idx="1"/>
          </p:nvPr>
        </p:nvSpPr>
        <p:spPr>
          <a:xfrm>
            <a:off x="2136648" y="1600200"/>
            <a:ext cx="8153400" cy="5069160"/>
          </a:xfrm>
        </p:spPr>
        <p:txBody>
          <a:bodyPr>
            <a:normAutofit/>
          </a:bodyPr>
          <a:lstStyle/>
          <a:p>
            <a:pPr marL="92075" lvl="1" indent="0">
              <a:buNone/>
            </a:pPr>
            <a:r>
              <a:rPr lang="cs-CZ" dirty="0"/>
              <a:t>4</a:t>
            </a:r>
            <a:r>
              <a:rPr lang="en-US" dirty="0"/>
              <a:t>. </a:t>
            </a:r>
            <a:r>
              <a:rPr lang="cs-CZ" dirty="0" err="1"/>
              <a:t>Self-Organisation</a:t>
            </a:r>
            <a:r>
              <a:rPr lang="cs-CZ" dirty="0"/>
              <a:t> – </a:t>
            </a:r>
            <a:r>
              <a:rPr lang="cs-CZ" dirty="0" err="1"/>
              <a:t>The</a:t>
            </a:r>
            <a:r>
              <a:rPr lang="cs-CZ" dirty="0"/>
              <a:t> </a:t>
            </a:r>
            <a:r>
              <a:rPr lang="cs-CZ" dirty="0" err="1"/>
              <a:t>power</a:t>
            </a:r>
            <a:r>
              <a:rPr lang="cs-CZ" dirty="0"/>
              <a:t> to </a:t>
            </a:r>
            <a:r>
              <a:rPr lang="cs-CZ" dirty="0" err="1"/>
              <a:t>add</a:t>
            </a:r>
            <a:r>
              <a:rPr lang="cs-CZ" dirty="0"/>
              <a:t>, </a:t>
            </a:r>
            <a:r>
              <a:rPr lang="cs-CZ" dirty="0" err="1"/>
              <a:t>change</a:t>
            </a:r>
            <a:r>
              <a:rPr lang="cs-CZ" dirty="0"/>
              <a:t>, </a:t>
            </a:r>
            <a:r>
              <a:rPr lang="cs-CZ" dirty="0" err="1"/>
              <a:t>or</a:t>
            </a:r>
            <a:r>
              <a:rPr lang="cs-CZ" dirty="0"/>
              <a:t> </a:t>
            </a:r>
            <a:r>
              <a:rPr lang="cs-CZ" dirty="0" err="1"/>
              <a:t>evolve</a:t>
            </a:r>
            <a:r>
              <a:rPr lang="cs-CZ" dirty="0"/>
              <a:t> </a:t>
            </a:r>
            <a:r>
              <a:rPr lang="cs-CZ" dirty="0" err="1"/>
              <a:t>system</a:t>
            </a:r>
            <a:r>
              <a:rPr lang="cs-CZ" dirty="0"/>
              <a:t> </a:t>
            </a:r>
            <a:r>
              <a:rPr lang="cs-CZ" dirty="0" err="1"/>
              <a:t>structure</a:t>
            </a:r>
            <a:endParaRPr lang="en-US" dirty="0"/>
          </a:p>
          <a:p>
            <a:pPr marL="92075" lvl="1" indent="0">
              <a:buNone/>
            </a:pPr>
            <a:endParaRPr lang="en-US" dirty="0"/>
          </a:p>
          <a:p>
            <a:pPr marL="92075" lvl="1" indent="0">
              <a:buNone/>
            </a:pPr>
            <a:r>
              <a:rPr lang="cs-CZ" dirty="0"/>
              <a:t>3</a:t>
            </a:r>
            <a:r>
              <a:rPr lang="en-US" dirty="0"/>
              <a:t>. </a:t>
            </a:r>
            <a:r>
              <a:rPr lang="cs-CZ" dirty="0" err="1"/>
              <a:t>Goal</a:t>
            </a:r>
            <a:r>
              <a:rPr lang="cs-CZ" dirty="0"/>
              <a:t> – </a:t>
            </a:r>
            <a:r>
              <a:rPr lang="cs-CZ" dirty="0" err="1"/>
              <a:t>The</a:t>
            </a:r>
            <a:r>
              <a:rPr lang="cs-CZ" dirty="0"/>
              <a:t> </a:t>
            </a:r>
            <a:r>
              <a:rPr lang="cs-CZ" dirty="0" err="1"/>
              <a:t>purpose</a:t>
            </a:r>
            <a:r>
              <a:rPr lang="cs-CZ" dirty="0"/>
              <a:t> </a:t>
            </a:r>
            <a:r>
              <a:rPr lang="cs-CZ" dirty="0" err="1"/>
              <a:t>or</a:t>
            </a:r>
            <a:r>
              <a:rPr lang="cs-CZ" dirty="0"/>
              <a:t> </a:t>
            </a:r>
            <a:r>
              <a:rPr lang="cs-CZ" dirty="0" err="1"/>
              <a:t>function</a:t>
            </a:r>
            <a:r>
              <a:rPr lang="cs-CZ" dirty="0"/>
              <a:t> </a:t>
            </a:r>
            <a:r>
              <a:rPr lang="cs-CZ" dirty="0" err="1"/>
              <a:t>of</a:t>
            </a:r>
            <a:r>
              <a:rPr lang="cs-CZ" dirty="0"/>
              <a:t> </a:t>
            </a:r>
            <a:r>
              <a:rPr lang="cs-CZ" dirty="0" err="1"/>
              <a:t>the</a:t>
            </a:r>
            <a:r>
              <a:rPr lang="cs-CZ" dirty="0"/>
              <a:t> </a:t>
            </a:r>
            <a:r>
              <a:rPr lang="cs-CZ" dirty="0" err="1"/>
              <a:t>system</a:t>
            </a:r>
            <a:endParaRPr lang="en-US" dirty="0"/>
          </a:p>
          <a:p>
            <a:pPr marL="92075" lvl="1" indent="0">
              <a:buNone/>
            </a:pPr>
            <a:endParaRPr lang="en-US" dirty="0"/>
          </a:p>
          <a:p>
            <a:pPr marL="92075" lvl="1" indent="0">
              <a:buNone/>
            </a:pPr>
            <a:r>
              <a:rPr lang="cs-CZ" dirty="0"/>
              <a:t>2</a:t>
            </a:r>
            <a:r>
              <a:rPr lang="en-US" dirty="0"/>
              <a:t>. </a:t>
            </a:r>
            <a:r>
              <a:rPr lang="cs-CZ" dirty="0" err="1"/>
              <a:t>Paradigms</a:t>
            </a:r>
            <a:r>
              <a:rPr lang="cs-CZ" dirty="0"/>
              <a:t> – </a:t>
            </a:r>
            <a:r>
              <a:rPr lang="cs-CZ" dirty="0" err="1"/>
              <a:t>The</a:t>
            </a:r>
            <a:r>
              <a:rPr lang="cs-CZ" dirty="0"/>
              <a:t> mind-set </a:t>
            </a:r>
            <a:r>
              <a:rPr lang="cs-CZ" dirty="0" err="1"/>
              <a:t>out</a:t>
            </a:r>
            <a:r>
              <a:rPr lang="cs-CZ" dirty="0"/>
              <a:t> </a:t>
            </a:r>
            <a:r>
              <a:rPr lang="cs-CZ" dirty="0" err="1"/>
              <a:t>of</a:t>
            </a:r>
            <a:r>
              <a:rPr lang="cs-CZ" dirty="0"/>
              <a:t> </a:t>
            </a:r>
            <a:r>
              <a:rPr lang="cs-CZ" dirty="0" err="1"/>
              <a:t>which</a:t>
            </a:r>
            <a:r>
              <a:rPr lang="cs-CZ" dirty="0"/>
              <a:t> </a:t>
            </a:r>
            <a:r>
              <a:rPr lang="cs-CZ" dirty="0" err="1"/>
              <a:t>the</a:t>
            </a:r>
            <a:r>
              <a:rPr lang="cs-CZ" dirty="0"/>
              <a:t> </a:t>
            </a:r>
            <a:r>
              <a:rPr lang="cs-CZ" dirty="0" err="1"/>
              <a:t>system</a:t>
            </a:r>
            <a:r>
              <a:rPr lang="cs-CZ" dirty="0"/>
              <a:t> (</a:t>
            </a:r>
            <a:r>
              <a:rPr lang="cs-CZ" dirty="0" err="1"/>
              <a:t>its</a:t>
            </a:r>
            <a:r>
              <a:rPr lang="cs-CZ" dirty="0"/>
              <a:t> </a:t>
            </a:r>
            <a:r>
              <a:rPr lang="cs-CZ" dirty="0" err="1"/>
              <a:t>goals</a:t>
            </a:r>
            <a:r>
              <a:rPr lang="cs-CZ" dirty="0"/>
              <a:t>, </a:t>
            </a:r>
            <a:r>
              <a:rPr lang="cs-CZ" dirty="0" err="1"/>
              <a:t>structure</a:t>
            </a:r>
            <a:r>
              <a:rPr lang="cs-CZ" dirty="0"/>
              <a:t>, </a:t>
            </a:r>
            <a:r>
              <a:rPr lang="cs-CZ" dirty="0" err="1"/>
              <a:t>rules</a:t>
            </a:r>
            <a:r>
              <a:rPr lang="cs-CZ" dirty="0"/>
              <a:t>, </a:t>
            </a:r>
            <a:r>
              <a:rPr lang="cs-CZ" dirty="0" err="1"/>
              <a:t>dealys</a:t>
            </a:r>
            <a:r>
              <a:rPr lang="cs-CZ" dirty="0"/>
              <a:t>, </a:t>
            </a:r>
            <a:r>
              <a:rPr lang="cs-CZ" dirty="0" err="1"/>
              <a:t>parameters</a:t>
            </a:r>
            <a:r>
              <a:rPr lang="cs-CZ" dirty="0"/>
              <a:t>) </a:t>
            </a:r>
            <a:r>
              <a:rPr lang="cs-CZ" dirty="0" err="1"/>
              <a:t>arises</a:t>
            </a:r>
            <a:endParaRPr lang="en-US" dirty="0"/>
          </a:p>
          <a:p>
            <a:pPr marL="92075" lvl="1" indent="0">
              <a:buNone/>
            </a:pPr>
            <a:endParaRPr lang="en-US" dirty="0"/>
          </a:p>
          <a:p>
            <a:pPr marL="92075" lvl="1" indent="0">
              <a:buNone/>
            </a:pPr>
            <a:r>
              <a:rPr lang="cs-CZ" dirty="0"/>
              <a:t>1</a:t>
            </a:r>
            <a:r>
              <a:rPr lang="en-US" dirty="0"/>
              <a:t>. </a:t>
            </a:r>
            <a:r>
              <a:rPr lang="cs-CZ" dirty="0" err="1"/>
              <a:t>Transcending</a:t>
            </a:r>
            <a:r>
              <a:rPr lang="cs-CZ" dirty="0"/>
              <a:t> </a:t>
            </a:r>
            <a:r>
              <a:rPr lang="cs-CZ" dirty="0" err="1"/>
              <a:t>Paradigms</a:t>
            </a:r>
            <a:endParaRPr lang="en-US" dirty="0"/>
          </a:p>
          <a:p>
            <a:pPr marL="92075" lvl="1" indent="0">
              <a:buNone/>
            </a:pPr>
            <a:endParaRPr lang="en-US" dirty="0"/>
          </a:p>
          <a:p>
            <a:pPr marL="92075" lvl="1" indent="0">
              <a:buNone/>
            </a:pPr>
            <a:endParaRPr lang="en-US" dirty="0"/>
          </a:p>
        </p:txBody>
      </p:sp>
    </p:spTree>
    <p:extLst>
      <p:ext uri="{BB962C8B-B14F-4D97-AF65-F5344CB8AC3E}">
        <p14:creationId xmlns:p14="http://schemas.microsoft.com/office/powerpoint/2010/main" val="3591801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body" sz="quarter" idx="12"/>
          </p:nvPr>
        </p:nvSpPr>
        <p:spPr>
          <a:xfrm>
            <a:off x="2338389" y="2899076"/>
            <a:ext cx="7522369" cy="1059851"/>
          </a:xfrm>
        </p:spPr>
        <p:txBody>
          <a:bodyPr anchor="ctr">
            <a:normAutofit fontScale="77500" lnSpcReduction="20000"/>
          </a:bodyPr>
          <a:lstStyle/>
          <a:p>
            <a:pPr>
              <a:spcAft>
                <a:spcPts val="600"/>
              </a:spcAft>
            </a:pPr>
            <a:r>
              <a:rPr lang="cs-CZ" dirty="0" err="1"/>
              <a:t>Thank</a:t>
            </a:r>
            <a:r>
              <a:rPr lang="cs-CZ" dirty="0"/>
              <a:t> </a:t>
            </a:r>
            <a:r>
              <a:rPr lang="cs-CZ" dirty="0" err="1"/>
              <a:t>you</a:t>
            </a:r>
            <a:r>
              <a:rPr lang="cs-CZ" dirty="0"/>
              <a:t> </a:t>
            </a:r>
            <a:r>
              <a:rPr lang="cs-CZ" dirty="0" err="1"/>
              <a:t>for</a:t>
            </a:r>
            <a:r>
              <a:rPr lang="cs-CZ" dirty="0"/>
              <a:t> </a:t>
            </a:r>
            <a:r>
              <a:rPr lang="cs-CZ" dirty="0" err="1"/>
              <a:t>your</a:t>
            </a:r>
            <a:r>
              <a:rPr lang="cs-CZ" dirty="0"/>
              <a:t> </a:t>
            </a:r>
            <a:r>
              <a:rPr lang="cs-CZ" dirty="0" err="1"/>
              <a:t>attention</a:t>
            </a:r>
            <a:r>
              <a:rPr lang="cs-CZ" dirty="0"/>
              <a:t>.</a:t>
            </a:r>
            <a:endParaRPr lang="en-GB"/>
          </a:p>
        </p:txBody>
      </p:sp>
    </p:spTree>
    <p:extLst>
      <p:ext uri="{BB962C8B-B14F-4D97-AF65-F5344CB8AC3E}">
        <p14:creationId xmlns:p14="http://schemas.microsoft.com/office/powerpoint/2010/main" val="296076640"/>
      </p:ext>
    </p:extLst>
  </p:cSld>
  <p:clrMapOvr>
    <a:masterClrMapping/>
  </p:clrMapOvr>
</p:sld>
</file>

<file path=ppt/theme/theme1.xml><?xml version="1.0" encoding="utf-8"?>
<a:theme xmlns:a="http://schemas.openxmlformats.org/drawingml/2006/main" name="Motiv1">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tiv1" id="{B0B25E39-7186-46C5-9D39-950CFB3AB267}" vid="{2449E244-AD5F-4BB9-8A5A-7BFBD4B00EA6}"/>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Motiv1</Template>
  <TotalTime>0</TotalTime>
  <Words>1201</Words>
  <Application>Microsoft Office PowerPoint</Application>
  <PresentationFormat>Širokoúhlá obrazovka</PresentationFormat>
  <Paragraphs>116</Paragraphs>
  <Slides>13</Slides>
  <Notes>10</Notes>
  <HiddenSlides>0</HiddenSlides>
  <MMClips>0</MMClips>
  <ScaleCrop>false</ScaleCrop>
  <HeadingPairs>
    <vt:vector size="6" baseType="variant">
      <vt:variant>
        <vt:lpstr>Použitá písma</vt:lpstr>
      </vt:variant>
      <vt:variant>
        <vt:i4>6</vt:i4>
      </vt:variant>
      <vt:variant>
        <vt:lpstr>Motiv</vt:lpstr>
      </vt:variant>
      <vt:variant>
        <vt:i4>1</vt:i4>
      </vt:variant>
      <vt:variant>
        <vt:lpstr>Nadpisy snímků</vt:lpstr>
      </vt:variant>
      <vt:variant>
        <vt:i4>13</vt:i4>
      </vt:variant>
    </vt:vector>
  </HeadingPairs>
  <TitlesOfParts>
    <vt:vector size="20" baseType="lpstr">
      <vt:lpstr>Arial</vt:lpstr>
      <vt:lpstr>Calibri</vt:lpstr>
      <vt:lpstr>Roboto</vt:lpstr>
      <vt:lpstr>Roboto Black</vt:lpstr>
      <vt:lpstr>Roboto Medium</vt:lpstr>
      <vt:lpstr>Wingdings</vt:lpstr>
      <vt:lpstr>Motiv1</vt:lpstr>
      <vt:lpstr>Prezentace aplikace PowerPoint</vt:lpstr>
      <vt:lpstr>System archetypes</vt:lpstr>
      <vt:lpstr>Limits to Growth</vt:lpstr>
      <vt:lpstr>Shifting the Burden</vt:lpstr>
      <vt:lpstr>Eroding Goals</vt:lpstr>
      <vt:lpstr>Success to the Successful </vt:lpstr>
      <vt:lpstr>Escalation </vt:lpstr>
      <vt:lpstr>Tragedy of the Commons</vt:lpstr>
      <vt:lpstr>Leverage points </vt:lpstr>
      <vt:lpstr>Leverage points </vt:lpstr>
      <vt:lpstr>Leverage points </vt:lpstr>
      <vt:lpstr>Leverage points </vt:lpstr>
      <vt:lpstr>Prezentace aplikace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Horáková Tereza</dc:creator>
  <cp:lastModifiedBy>Horáková Tereza</cp:lastModifiedBy>
  <cp:revision>1</cp:revision>
  <dcterms:created xsi:type="dcterms:W3CDTF">2024-10-28T21:44:05Z</dcterms:created>
  <dcterms:modified xsi:type="dcterms:W3CDTF">2024-10-28T21:48:12Z</dcterms:modified>
</cp:coreProperties>
</file>