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26"/>
  </p:notesMasterIdLst>
  <p:sldIdLst>
    <p:sldId id="256" r:id="rId2"/>
    <p:sldId id="290" r:id="rId3"/>
    <p:sldId id="291" r:id="rId4"/>
    <p:sldId id="272" r:id="rId5"/>
    <p:sldId id="273" r:id="rId6"/>
    <p:sldId id="292" r:id="rId7"/>
    <p:sldId id="274" r:id="rId8"/>
    <p:sldId id="277" r:id="rId9"/>
    <p:sldId id="275" r:id="rId10"/>
    <p:sldId id="293" r:id="rId11"/>
    <p:sldId id="276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4" r:id="rId25"/>
  </p:sldIdLst>
  <p:sldSz cx="9144000" cy="6858000" type="screen4x3"/>
  <p:notesSz cx="7104063" cy="10234613"/>
  <p:defaultTextStyle>
    <a:defPPr>
      <a:defRPr lang="cs-CZ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Střední styl 2 – zvýraznění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615" autoAdjust="0"/>
    <p:restoredTop sz="86429" autoAdjust="0"/>
  </p:normalViewPr>
  <p:slideViewPr>
    <p:cSldViewPr>
      <p:cViewPr varScale="1">
        <p:scale>
          <a:sx n="74" d="100"/>
          <a:sy n="74" d="100"/>
        </p:scale>
        <p:origin x="28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3078427" cy="511731"/>
          </a:xfrm>
          <a:prstGeom prst="rect">
            <a:avLst/>
          </a:prstGeom>
        </p:spPr>
        <p:txBody>
          <a:bodyPr vert="horz" lIns="99054" tIns="49529" rIns="99054" bIns="4952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023995" y="0"/>
            <a:ext cx="3078427" cy="511731"/>
          </a:xfrm>
          <a:prstGeom prst="rect">
            <a:avLst/>
          </a:prstGeom>
        </p:spPr>
        <p:txBody>
          <a:bodyPr vert="horz" lIns="99054" tIns="49529" rIns="99054" bIns="49529" rtlCol="0"/>
          <a:lstStyle>
            <a:lvl1pPr algn="r">
              <a:defRPr sz="1300"/>
            </a:lvl1pPr>
          </a:lstStyle>
          <a:p>
            <a:fld id="{3DFDF4BB-19E4-4249-AD4F-E9648CF8E63C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9938"/>
            <a:ext cx="5113337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4" tIns="49529" rIns="99054" bIns="49529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710407" y="4861444"/>
            <a:ext cx="5683250" cy="4605576"/>
          </a:xfrm>
          <a:prstGeom prst="rect">
            <a:avLst/>
          </a:prstGeom>
        </p:spPr>
        <p:txBody>
          <a:bodyPr vert="horz" lIns="99054" tIns="49529" rIns="99054" bIns="49529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3" y="9721109"/>
            <a:ext cx="3078427" cy="511731"/>
          </a:xfrm>
          <a:prstGeom prst="rect">
            <a:avLst/>
          </a:prstGeom>
        </p:spPr>
        <p:txBody>
          <a:bodyPr vert="horz" lIns="99054" tIns="49529" rIns="99054" bIns="4952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023995" y="9721109"/>
            <a:ext cx="3078427" cy="511731"/>
          </a:xfrm>
          <a:prstGeom prst="rect">
            <a:avLst/>
          </a:prstGeom>
        </p:spPr>
        <p:txBody>
          <a:bodyPr vert="horz" lIns="99054" tIns="49529" rIns="99054" bIns="49529" rtlCol="0" anchor="b"/>
          <a:lstStyle>
            <a:lvl1pPr algn="r">
              <a:defRPr sz="1300"/>
            </a:lvl1pPr>
          </a:lstStyle>
          <a:p>
            <a:fld id="{2F931F19-2CCB-4CD0-A569-BC4C390A5E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793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Goal</a:t>
            </a:r>
            <a:r>
              <a:rPr lang="cs-CZ" dirty="0"/>
              <a:t>:</a:t>
            </a:r>
          </a:p>
          <a:p>
            <a:r>
              <a:rPr lang="cs-CZ" dirty="0" err="1"/>
              <a:t>Understand</a:t>
            </a:r>
            <a:r>
              <a:rPr lang="cs-CZ" dirty="0"/>
              <a:t> </a:t>
            </a:r>
            <a:r>
              <a:rPr lang="cs-CZ" dirty="0" err="1"/>
              <a:t>what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stochastic</a:t>
            </a:r>
            <a:r>
              <a:rPr lang="cs-CZ" dirty="0"/>
              <a:t> </a:t>
            </a:r>
            <a:r>
              <a:rPr lang="cs-CZ" dirty="0" err="1"/>
              <a:t>process</a:t>
            </a:r>
            <a:endParaRPr lang="cs-CZ" dirty="0"/>
          </a:p>
          <a:p>
            <a:r>
              <a:rPr lang="cs-CZ" dirty="0"/>
              <a:t>To </a:t>
            </a:r>
            <a:r>
              <a:rPr lang="cs-CZ" dirty="0" err="1"/>
              <a:t>solve</a:t>
            </a:r>
            <a:r>
              <a:rPr lang="cs-CZ" dirty="0"/>
              <a:t> basic </a:t>
            </a:r>
            <a:r>
              <a:rPr lang="cs-CZ" dirty="0" err="1"/>
              <a:t>problems</a:t>
            </a:r>
            <a:r>
              <a:rPr lang="cs-CZ" baseline="0" dirty="0"/>
              <a:t> </a:t>
            </a:r>
            <a:r>
              <a:rPr lang="cs-CZ" baseline="0" dirty="0" err="1"/>
              <a:t>of</a:t>
            </a:r>
            <a:r>
              <a:rPr lang="cs-CZ" baseline="0" dirty="0"/>
              <a:t> </a:t>
            </a:r>
            <a:r>
              <a:rPr lang="cs-CZ" baseline="0" dirty="0" err="1"/>
              <a:t>stochastic</a:t>
            </a:r>
            <a:r>
              <a:rPr lang="cs-CZ" baseline="0" dirty="0"/>
              <a:t> modelling i.</a:t>
            </a:r>
            <a:r>
              <a:rPr lang="cs-CZ" baseline="0" dirty="0" err="1"/>
              <a:t>e</a:t>
            </a:r>
            <a:r>
              <a:rPr lang="cs-CZ" baseline="0" dirty="0"/>
              <a:t>.:</a:t>
            </a:r>
          </a:p>
          <a:p>
            <a:r>
              <a:rPr lang="cs-CZ" baseline="0" dirty="0" err="1"/>
              <a:t>Queuing</a:t>
            </a:r>
            <a:r>
              <a:rPr lang="cs-CZ" baseline="0" dirty="0"/>
              <a:t> </a:t>
            </a:r>
            <a:r>
              <a:rPr lang="cs-CZ" baseline="0" dirty="0" err="1"/>
              <a:t>theory</a:t>
            </a:r>
            <a:endParaRPr lang="cs-CZ" baseline="0" dirty="0"/>
          </a:p>
          <a:p>
            <a:r>
              <a:rPr lang="cs-CZ" baseline="0" dirty="0" err="1"/>
              <a:t>Markov</a:t>
            </a:r>
            <a:r>
              <a:rPr lang="cs-CZ" baseline="0" dirty="0"/>
              <a:t> </a:t>
            </a:r>
            <a:r>
              <a:rPr lang="cs-CZ" baseline="0" dirty="0" err="1"/>
              <a:t>chains</a:t>
            </a:r>
            <a:endParaRPr lang="cs-CZ" baseline="0" dirty="0"/>
          </a:p>
          <a:p>
            <a:r>
              <a:rPr lang="cs-CZ" baseline="0" dirty="0"/>
              <a:t>And </a:t>
            </a:r>
            <a:r>
              <a:rPr lang="cs-CZ" baseline="0" dirty="0" err="1"/>
              <a:t>it</a:t>
            </a:r>
            <a:r>
              <a:rPr lang="cs-CZ" baseline="0" dirty="0"/>
              <a:t> </a:t>
            </a:r>
            <a:r>
              <a:rPr lang="cs-CZ" baseline="0" dirty="0" err="1"/>
              <a:t>application</a:t>
            </a:r>
            <a:r>
              <a:rPr lang="cs-CZ" baseline="0" dirty="0"/>
              <a:t> to basic </a:t>
            </a:r>
            <a:r>
              <a:rPr lang="cs-CZ" baseline="0" dirty="0" err="1"/>
              <a:t>maintenance</a:t>
            </a:r>
            <a:r>
              <a:rPr lang="cs-CZ" baseline="0" dirty="0"/>
              <a:t> </a:t>
            </a:r>
            <a:r>
              <a:rPr lang="cs-CZ" baseline="0" dirty="0" err="1"/>
              <a:t>problems</a:t>
            </a:r>
            <a:endParaRPr lang="cs-CZ" baseline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38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Ručně na tabuli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238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/>
              <a:t>Recurrent state</a:t>
            </a:r>
            <a:r>
              <a:rPr lang="en-US" dirty="0"/>
              <a:t>: a state that is certain to be revisited in future.</a:t>
            </a:r>
            <a:r>
              <a:rPr lang="cs-CZ" dirty="0"/>
              <a:t> Probability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equal</a:t>
            </a:r>
            <a:r>
              <a:rPr lang="cs-CZ" dirty="0"/>
              <a:t> to 1 </a:t>
            </a:r>
            <a:r>
              <a:rPr lang="cs-CZ" dirty="0" err="1"/>
              <a:t>that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stat</a:t>
            </a:r>
            <a:r>
              <a:rPr lang="cs-CZ" dirty="0"/>
              <a:t> </a:t>
            </a:r>
            <a:r>
              <a:rPr lang="cs-CZ" dirty="0" err="1"/>
              <a:t>will</a:t>
            </a:r>
            <a:r>
              <a:rPr lang="cs-CZ" dirty="0"/>
              <a:t> </a:t>
            </a:r>
            <a:r>
              <a:rPr lang="cs-CZ" dirty="0" err="1"/>
              <a:t>be</a:t>
            </a:r>
            <a:r>
              <a:rPr lang="cs-CZ" dirty="0"/>
              <a:t> </a:t>
            </a:r>
            <a:r>
              <a:rPr lang="cs-CZ" dirty="0" err="1"/>
              <a:t>revisited</a:t>
            </a:r>
            <a:r>
              <a:rPr lang="cs-CZ" dirty="0"/>
              <a:t> in </a:t>
            </a:r>
            <a:r>
              <a:rPr lang="cs-CZ" dirty="0" err="1"/>
              <a:t>future</a:t>
            </a:r>
            <a:r>
              <a:rPr lang="cs-CZ"/>
              <a:t>.</a:t>
            </a:r>
            <a:endParaRPr lang="en-US" dirty="0"/>
          </a:p>
          <a:p>
            <a:pPr lvl="1"/>
            <a:r>
              <a:rPr lang="en-US" b="1" dirty="0"/>
              <a:t>Transient state</a:t>
            </a:r>
            <a:r>
              <a:rPr lang="en-US" dirty="0"/>
              <a:t>: a state that might not ever be revisited in the future.</a:t>
            </a:r>
          </a:p>
          <a:p>
            <a:pPr lvl="1"/>
            <a:r>
              <a:rPr lang="en-US" b="1" dirty="0"/>
              <a:t>Absorbing state</a:t>
            </a:r>
            <a:r>
              <a:rPr lang="en-US" dirty="0"/>
              <a:t>: a state that is never left after it is entered (this is a special case of a recurrent state).</a:t>
            </a:r>
            <a:endParaRPr lang="en-US" sz="2400" b="1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696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ástupný symbol pro text 3">
            <a:extLst>
              <a:ext uri="{FF2B5EF4-FFF2-40B4-BE49-F238E27FC236}">
                <a16:creationId xmlns:a16="http://schemas.microsoft.com/office/drawing/2014/main" id="{3E1E80FF-CDE1-4659-A50D-18C8BA3734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024B457C-E1CC-4DF8-B068-F9E0D15995C0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903BDD9C-B482-4C8C-BAAA-47D61575D20D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7" name="Zástupný symbol obrázku 3">
            <a:extLst>
              <a:ext uri="{FF2B5EF4-FFF2-40B4-BE49-F238E27FC236}">
                <a16:creationId xmlns:a16="http://schemas.microsoft.com/office/drawing/2014/main" id="{81CEE838-8921-437D-853F-408EC4B07E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334000"/>
          </a:xfrm>
          <a:prstGeom prst="rect">
            <a:avLst/>
          </a:prstGeom>
        </p:spPr>
        <p:txBody>
          <a:bodyPr lIns="180000" tIns="180000" rIns="180000" bIns="180000"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1" name="Zástupný symbol pro text 4">
            <a:extLst>
              <a:ext uri="{FF2B5EF4-FFF2-40B4-BE49-F238E27FC236}">
                <a16:creationId xmlns:a16="http://schemas.microsoft.com/office/drawing/2014/main" id="{E690251E-0C52-4982-8171-60DC0B794B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1" name="Obrázek 10" descr="Obsah obrázku text&#10;&#10;Popis byl vytvořen automaticky">
            <a:extLst>
              <a:ext uri="{FF2B5EF4-FFF2-40B4-BE49-F238E27FC236}">
                <a16:creationId xmlns:a16="http://schemas.microsoft.com/office/drawing/2014/main" id="{7E8A1E33-5B28-2C43-AFFB-11AF0DAF4A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0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" y="0"/>
            <a:ext cx="9142206" cy="535200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8B6B0297-ABC7-F84B-85A8-4DFECC7F51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99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CF31F7D-C775-4367-BA11-D7AC5352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35305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A5FBF3AD-5E16-47E0-9F0F-471206626283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1DDA62E2-FE7A-4AFA-8044-1ED14126E701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4">
            <a:extLst>
              <a:ext uri="{FF2B5EF4-FFF2-40B4-BE49-F238E27FC236}">
                <a16:creationId xmlns:a16="http://schemas.microsoft.com/office/drawing/2014/main" id="{7602487F-3C29-4D79-9418-0A036B9FED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3">
            <a:extLst>
              <a:ext uri="{FF2B5EF4-FFF2-40B4-BE49-F238E27FC236}">
                <a16:creationId xmlns:a16="http://schemas.microsoft.com/office/drawing/2014/main" id="{F844F9EC-3F8E-4C04-9939-5FE5833C62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61B65073-2151-4C4E-9C3C-651867FC29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0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CD5BF138-FAF5-4C22-A496-6023824A818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576E8AF4-6C04-4AD5-A275-DAF437588F3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75E6743E-3013-43C0-BCEE-F198C0D12E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4">
            <a:extLst>
              <a:ext uri="{FF2B5EF4-FFF2-40B4-BE49-F238E27FC236}">
                <a16:creationId xmlns:a16="http://schemas.microsoft.com/office/drawing/2014/main" id="{67A4E56B-2C18-40EB-A1CF-C76A3F36BE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227D3A48-039E-724E-82EF-4F01CA8E06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2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5" name="Obrázek 14" descr="Obsah obrázku text&#10;&#10;Popis byl vytvořen automaticky">
            <a:extLst>
              <a:ext uri="{FF2B5EF4-FFF2-40B4-BE49-F238E27FC236}">
                <a16:creationId xmlns:a16="http://schemas.microsoft.com/office/drawing/2014/main" id="{E19424E9-4DDB-CF40-92C3-F70E307154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06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93899535-AA89-8F4E-97C4-9FA4F0DD5E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6" name="Zástupný symbol pro text 3">
            <a:extLst>
              <a:ext uri="{FF2B5EF4-FFF2-40B4-BE49-F238E27FC236}">
                <a16:creationId xmlns:a16="http://schemas.microsoft.com/office/drawing/2014/main" id="{137FF405-C523-4C6D-A210-824A893F53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9821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B3F927B1-1D31-1749-A32D-E5B899D0E9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BFBFB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77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FD279ADA-FDAB-4914-9469-CB105F4C5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5813" y="2899075"/>
            <a:ext cx="7615238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91180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36270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7C4858C6-8C38-2B41-8CFE-1254036B4C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28249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rgbClr val="C80C0F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D96739DC-B272-A942-A9ED-76826B0255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9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34" y="719999"/>
            <a:ext cx="8130633" cy="5356951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920000"/>
          </a:xfrm>
          <a:prstGeom prst="rect">
            <a:avLst/>
          </a:prstGeom>
          <a:solidFill>
            <a:schemeClr val="bg1"/>
          </a:solidFill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587EC3D4-E53B-5446-B515-D3099FF581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0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text 3">
            <a:extLst>
              <a:ext uri="{FF2B5EF4-FFF2-40B4-BE49-F238E27FC236}">
                <a16:creationId xmlns:a16="http://schemas.microsoft.com/office/drawing/2014/main" id="{A6D9A389-F059-4682-BB5E-006EEEC6D2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063" y="2899075"/>
            <a:ext cx="8143875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obrázku 3">
            <a:extLst>
              <a:ext uri="{FF2B5EF4-FFF2-40B4-BE49-F238E27FC236}">
                <a16:creationId xmlns:a16="http://schemas.microsoft.com/office/drawing/2014/main" id="{8E8F7AB6-976A-4CB0-A0AE-8B783479B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63" y="724799"/>
            <a:ext cx="8137800" cy="54072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8DDC546C-2D13-A947-8672-83BE19C04B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89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DED13C98-A460-4EE5-BFBB-681BBDA81D3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C766699-8A1C-452E-BA3A-E469A225BEE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8BE1237B-FF84-4FBE-AC1D-9DB2202BD7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4C33C50D-A72F-494F-B092-15858B2C6C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31BC1C8-BCF5-484D-8C94-7FAA0AE50120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740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4198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4198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66B0A99E-A700-494A-928E-194351AE09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48E4E7FD-8E67-4CA1-B99F-8BF78FD8CF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B42C71F-24A2-4414-9417-B39450FE2AC9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08E05BE6-9375-7B47-BE3D-8FD9100C579E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6AC349FB-428C-7B42-B993-E97FBB98DCD8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16562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52256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52256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6" name="Zástupný symbol pro text 6">
            <a:extLst>
              <a:ext uri="{FF2B5EF4-FFF2-40B4-BE49-F238E27FC236}">
                <a16:creationId xmlns:a16="http://schemas.microsoft.com/office/drawing/2014/main" id="{BFADBFEB-36FC-4372-B6CE-58EBC7FFB9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978F0355-7004-4CFE-9421-A8A1A62CF8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CEE7F35-80D6-4A44-A79F-9A5BF9F28E3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B5A6409-23B7-A545-A4D8-A933AD41B5C6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0999E4F-AF74-DB4E-8B4B-638D78E913AE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661461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1903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1903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64907F56-1EFF-441C-9163-66B58475FA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0C077097-4898-476E-8653-0D75052D17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4993D17-DF83-49B5-BD7F-548B4A5A3AE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FC0AD8F2-4BA5-D840-9CF9-1A60BE6D3AE9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A3DFA86-88E0-D746-93B6-322B3E5FB3EB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865941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79994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79994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271AC1B1-6DD2-4624-B5E1-05CD48AFFD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9EB39BFC-3412-4994-BB20-6B3B39144D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D5E1CEE8-B267-482F-8FC9-A0CBECB5B5A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BD26F8C-C9C9-1844-B61C-5456ED1D14E3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15D1AAD-326F-FE43-A378-B6195D1301DC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41730211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6766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6766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C0B2EC7C-7295-4511-BEB9-1F21F76F5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466DB023-F78F-49C1-9875-70959FECAB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3C1BF5F3-421C-4882-84E2-ADC07FE86DF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5C18F710-7ED6-AD41-9784-1327E6984D92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EA1D81C2-80D4-2548-91DB-82047245A7C1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763942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53EAF9F-01E9-4701-B3CE-E5EC1515D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9E6C52F0-A869-994B-9A2A-946AD4F096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695142"/>
            <a:ext cx="3773562" cy="1641106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7301F1C3-936F-43D4-96DB-8DB86F629B10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you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for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attention</a:t>
            </a:r>
            <a:endParaRPr lang="cs-CZ" sz="3600" dirty="0">
              <a:solidFill>
                <a:schemeClr val="bg1"/>
              </a:solidFill>
              <a:effectLst>
                <a:glow rad="1397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470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F7380FE-801F-3B4A-8E52-2A53DD2732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541" y="5041976"/>
            <a:ext cx="3991716" cy="1735981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3DE33A4-FB93-4AAA-A88F-B4FEF27E08A8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83F6A2C-C2E5-B44A-9660-8F89AEEB28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741" y="5143576"/>
            <a:ext cx="3991716" cy="173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719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A9218E36-6589-BA4B-B382-FF8EA3F0CB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FDA8F002-9BA3-624D-B94C-A21C7E909596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</p:spTree>
    <p:extLst>
      <p:ext uri="{BB962C8B-B14F-4D97-AF65-F5344CB8AC3E}">
        <p14:creationId xmlns:p14="http://schemas.microsoft.com/office/powerpoint/2010/main" val="2146906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7777"/>
          <a:stretch/>
        </p:blipFill>
        <p:spPr>
          <a:xfrm>
            <a:off x="0" y="0"/>
            <a:ext cx="9144000" cy="6918247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4F7AAA5-ECDB-B046-A48B-D0C2BB0C4FE7}"/>
              </a:ext>
            </a:extLst>
          </p:cNvPr>
          <p:cNvSpPr txBox="1"/>
          <p:nvPr/>
        </p:nvSpPr>
        <p:spPr>
          <a:xfrm>
            <a:off x="2065677" y="4072465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C53DF36-AD81-A945-BF7B-A39A3E50D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8" y="5739969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482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9144000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B431FA6-80EF-9449-90BD-C081B545B9C0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11C0A68-FD87-6A46-8195-D340F48614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0534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33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>
            <a:extLst>
              <a:ext uri="{FF2B5EF4-FFF2-40B4-BE49-F238E27FC236}">
                <a16:creationId xmlns:a16="http://schemas.microsoft.com/office/drawing/2014/main" id="{5D978B46-7738-414B-B6A8-3DB65F29768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C80C0F"/>
              </a:gs>
              <a:gs pos="50000">
                <a:srgbClr val="9B0000"/>
              </a:gs>
              <a:gs pos="99000">
                <a:srgbClr val="C80C0F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AE9CB24-0D3C-1C4D-899E-1B118B5F7B14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 descr="Obsah obrázku text&#10;&#10;Popis byl vytvořen automaticky">
            <a:extLst>
              <a:ext uri="{FF2B5EF4-FFF2-40B4-BE49-F238E27FC236}">
                <a16:creationId xmlns:a16="http://schemas.microsoft.com/office/drawing/2014/main" id="{7ABA772E-3E2B-B94D-9EC0-C40803791A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664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D678B2-D910-4B9F-8745-B0B8C181CD2F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8851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D3B-B00F-4DF2-A530-C9E5BC8837BB}" type="datetimeFigureOut">
              <a:rPr lang="cs-CZ" smtClean="0"/>
              <a:pPr/>
              <a:t>28.10.2024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D678B2-D910-4B9F-8745-B0B8C181CD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019118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text 4"/>
          <p:cNvSpPr>
            <a:spLocks noGrp="1"/>
          </p:cNvSpPr>
          <p:nvPr>
            <p:ph type="body" sz="quarter" idx="10"/>
          </p:nvPr>
        </p:nvSpPr>
        <p:spPr>
          <a:xfrm>
            <a:off x="3492601" y="6308552"/>
            <a:ext cx="3815705" cy="287337"/>
          </a:xfrm>
        </p:spPr>
        <p:txBody>
          <a:bodyPr anchor="ctr" anchorCtr="0">
            <a:noAutofit/>
          </a:bodyPr>
          <a:lstStyle>
            <a:lvl1pPr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8" name="Zástupný symbol pro text 6"/>
          <p:cNvSpPr>
            <a:spLocks noGrp="1"/>
          </p:cNvSpPr>
          <p:nvPr>
            <p:ph type="body" sz="quarter" idx="11" hasCustomPrompt="1"/>
          </p:nvPr>
        </p:nvSpPr>
        <p:spPr>
          <a:xfrm>
            <a:off x="3492601" y="6595888"/>
            <a:ext cx="3815705" cy="262112"/>
          </a:xfrm>
        </p:spPr>
        <p:txBody>
          <a:bodyPr anchor="ctr" anchorCtr="0">
            <a:noAutofit/>
          </a:bodyPr>
          <a:lstStyle>
            <a:lvl1pPr>
              <a:buNone/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Jméno Příjmení</a:t>
            </a:r>
          </a:p>
        </p:txBody>
      </p:sp>
    </p:spTree>
    <p:extLst>
      <p:ext uri="{BB962C8B-B14F-4D97-AF65-F5344CB8AC3E}">
        <p14:creationId xmlns:p14="http://schemas.microsoft.com/office/powerpoint/2010/main" val="23327622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text 4"/>
          <p:cNvSpPr>
            <a:spLocks noGrp="1"/>
          </p:cNvSpPr>
          <p:nvPr>
            <p:ph type="body" sz="quarter" idx="10"/>
          </p:nvPr>
        </p:nvSpPr>
        <p:spPr>
          <a:xfrm>
            <a:off x="3492601" y="6308552"/>
            <a:ext cx="3815705" cy="287337"/>
          </a:xfrm>
        </p:spPr>
        <p:txBody>
          <a:bodyPr anchor="ctr" anchorCtr="0">
            <a:noAutofit/>
          </a:bodyPr>
          <a:lstStyle>
            <a:lvl1pPr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8" name="Zástupný symbol pro text 6"/>
          <p:cNvSpPr>
            <a:spLocks noGrp="1"/>
          </p:cNvSpPr>
          <p:nvPr>
            <p:ph type="body" sz="quarter" idx="11" hasCustomPrompt="1"/>
          </p:nvPr>
        </p:nvSpPr>
        <p:spPr>
          <a:xfrm>
            <a:off x="3492601" y="6595888"/>
            <a:ext cx="3815705" cy="262112"/>
          </a:xfrm>
        </p:spPr>
        <p:txBody>
          <a:bodyPr anchor="ctr" anchorCtr="0">
            <a:noAutofit/>
          </a:bodyPr>
          <a:lstStyle>
            <a:lvl1pPr>
              <a:buNone/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Jméno Příjmení</a:t>
            </a:r>
          </a:p>
        </p:txBody>
      </p:sp>
    </p:spTree>
    <p:extLst>
      <p:ext uri="{BB962C8B-B14F-4D97-AF65-F5344CB8AC3E}">
        <p14:creationId xmlns:p14="http://schemas.microsoft.com/office/powerpoint/2010/main" val="41783482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Nadpis, text a 2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876800" y="1600200"/>
            <a:ext cx="3810000" cy="21891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876800" y="3941763"/>
            <a:ext cx="3810000" cy="2189162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7132-DC61-4C9A-980A-14E6C9854D14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0333695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01C92-5CE7-48BE-AF48-26AE546A6000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16506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22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  <p:sldLayoutId id="2147483752" r:id="rId28"/>
    <p:sldLayoutId id="2147483753" r:id="rId2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rkov_property" TargetMode="External"/><Relationship Id="rId2" Type="http://schemas.openxmlformats.org/officeDocument/2006/relationships/hyperlink" Target="https://en.wikipedia.org/wiki/Memorylessness" TargetMode="Externa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ugene_Onegin" TargetMode="External"/><Relationship Id="rId7" Type="http://schemas.openxmlformats.org/officeDocument/2006/relationships/image" Target="../media/image20.jpeg"/><Relationship Id="rId2" Type="http://schemas.openxmlformats.org/officeDocument/2006/relationships/hyperlink" Target="https://en.wikipedia.org/wiki/Andrey_Markov" TargetMode="Externa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en.wikipedia.org/wiki/File:AAMarkov.jpg" TargetMode="External"/><Relationship Id="rId5" Type="http://schemas.openxmlformats.org/officeDocument/2006/relationships/hyperlink" Target="https://en.wikipedia.org/wiki/Andrey_Nikolaevich_Kolmogorov" TargetMode="External"/><Relationship Id="rId4" Type="http://schemas.openxmlformats.org/officeDocument/2006/relationships/hyperlink" Target="https://en.wikipedia.org/wiki/Agner_Krarup_Erlan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en.wikipedia.org/wiki/File:Markovkate_01.svg" TargetMode="Externa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Operations Research and Systems Analysis</a:t>
            </a:r>
            <a:endParaRPr lang="en-GB" noProof="0"/>
          </a:p>
        </p:txBody>
      </p:sp>
      <p:sp>
        <p:nvSpPr>
          <p:cNvPr id="3" name="Podnadpis 2"/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</p:spPr>
        <p:txBody>
          <a:bodyPr>
            <a:normAutofit/>
          </a:bodyPr>
          <a:lstStyle/>
          <a:p>
            <a:pPr lvl="0"/>
            <a:r>
              <a:rPr lang="en-GB" noProof="0"/>
              <a:t>Stochastic process</a:t>
            </a:r>
            <a:r>
              <a:rPr lang="cs-CZ"/>
              <a:t> -</a:t>
            </a:r>
            <a:r>
              <a:rPr lang="en-GB" noProof="0"/>
              <a:t> Markov chains </a:t>
            </a:r>
            <a:endParaRPr lang="en-GB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Markov</a:t>
            </a:r>
            <a:r>
              <a:rPr lang="cs-CZ" dirty="0"/>
              <a:t> </a:t>
            </a:r>
            <a:r>
              <a:rPr lang="cs-CZ" dirty="0" err="1"/>
              <a:t>Chains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/>
            <a:r>
              <a:rPr lang="en-US" dirty="0"/>
              <a:t>A Markov chain describes a system moving from one state to another under a certain probabilistic rule.</a:t>
            </a:r>
          </a:p>
          <a:p>
            <a:pPr marL="457200" indent="-457200"/>
            <a:r>
              <a:rPr lang="en-US" dirty="0"/>
              <a:t>The process consists of countable number of stages. Stages can correspond to:</a:t>
            </a:r>
          </a:p>
          <a:p>
            <a:pPr marL="914400" lvl="1" indent="-457200">
              <a:lnSpc>
                <a:spcPct val="90000"/>
              </a:lnSpc>
              <a:buFontTx/>
              <a:buChar char="–"/>
            </a:pPr>
            <a:r>
              <a:rPr lang="en-US" sz="2000" dirty="0"/>
              <a:t>Fixed time periods (days, weeks, months)</a:t>
            </a:r>
          </a:p>
          <a:p>
            <a:pPr marL="914400" lvl="1" indent="-457200">
              <a:lnSpc>
                <a:spcPct val="90000"/>
              </a:lnSpc>
              <a:buFontTx/>
              <a:buChar char="–"/>
            </a:pPr>
            <a:r>
              <a:rPr lang="en-US" sz="2000" dirty="0"/>
              <a:t>Random points in time right after a change occurs.</a:t>
            </a:r>
          </a:p>
          <a:p>
            <a:pPr marL="457200" indent="-457200"/>
            <a:r>
              <a:rPr lang="en-US" dirty="0"/>
              <a:t>At each </a:t>
            </a:r>
            <a:r>
              <a:rPr lang="en-US" i="1" dirty="0"/>
              <a:t>stage</a:t>
            </a:r>
            <a:r>
              <a:rPr lang="en-US" dirty="0"/>
              <a:t> the process can be assessed and determined to be in any one of a countable number </a:t>
            </a:r>
            <a:r>
              <a:rPr lang="en-US" i="1" dirty="0"/>
              <a:t>states.</a:t>
            </a:r>
          </a:p>
          <a:p>
            <a:pPr marL="457200" indent="-457200"/>
            <a:r>
              <a:rPr lang="en-US" dirty="0"/>
              <a:t>The probability of moving from state</a:t>
            </a:r>
            <a:r>
              <a:rPr lang="cs-CZ" dirty="0"/>
              <a:t> </a:t>
            </a:r>
            <a:r>
              <a:rPr lang="en-US" dirty="0"/>
              <a:t>“</a:t>
            </a:r>
            <a:r>
              <a:rPr lang="en-US" dirty="0" err="1"/>
              <a:t>i</a:t>
            </a:r>
            <a:r>
              <a:rPr lang="en-US" dirty="0"/>
              <a:t>“ at stage k to state “j“ at stage k + 1 is independent of how the process has </a:t>
            </a:r>
            <a:br>
              <a:rPr lang="en-US" dirty="0"/>
            </a:br>
            <a:r>
              <a:rPr lang="en-US" dirty="0"/>
              <a:t>arrived at state “</a:t>
            </a:r>
            <a:r>
              <a:rPr lang="en-US" dirty="0" err="1"/>
              <a:t>i</a:t>
            </a:r>
            <a:r>
              <a:rPr lang="en-US" dirty="0"/>
              <a:t>“.</a:t>
            </a:r>
            <a:r>
              <a:rPr lang="en-US" dirty="0">
                <a:latin typeface="Times New Roman" pitchFamily="18" charset="0"/>
              </a:rPr>
              <a:t> </a:t>
            </a:r>
            <a:endParaRPr lang="cs-CZ" dirty="0">
              <a:latin typeface="Times New Roman" pitchFamily="18" charset="0"/>
            </a:endParaRPr>
          </a:p>
          <a:p>
            <a:pPr marL="457200" indent="-457200"/>
            <a:endParaRPr lang="cs-CZ" dirty="0">
              <a:latin typeface="Times New Roman" pitchFamily="18" charset="0"/>
            </a:endParaRPr>
          </a:p>
          <a:p>
            <a:pPr marL="0" indent="0">
              <a:buNone/>
            </a:pPr>
            <a:r>
              <a:rPr lang="en-US" dirty="0"/>
              <a:t>It must possess a property that is characterized as </a:t>
            </a:r>
            <a:r>
              <a:rPr lang="en-US" dirty="0">
                <a:hlinkClick r:id="rId2" tooltip="Memorylessness"/>
              </a:rPr>
              <a:t>"</a:t>
            </a:r>
            <a:r>
              <a:rPr lang="en-US" dirty="0" err="1">
                <a:hlinkClick r:id="rId2" tooltip="Memorylessness"/>
              </a:rPr>
              <a:t>memorylessness</a:t>
            </a:r>
            <a:r>
              <a:rPr lang="en-US" dirty="0">
                <a:hlinkClick r:id="rId2" tooltip="Memorylessness"/>
              </a:rPr>
              <a:t>"</a:t>
            </a:r>
            <a:r>
              <a:rPr lang="en-US" dirty="0"/>
              <a:t>: the</a:t>
            </a:r>
            <a:r>
              <a:rPr lang="cs-CZ" dirty="0"/>
              <a:t> </a:t>
            </a:r>
            <a:r>
              <a:rPr lang="en-US" dirty="0"/>
              <a:t>probability distribution of the next state depends only on the current state and not on the sequence of events that preceded it. This specific kind of "</a:t>
            </a:r>
            <a:r>
              <a:rPr lang="en-US" dirty="0" err="1"/>
              <a:t>memorylessness</a:t>
            </a:r>
            <a:r>
              <a:rPr lang="en-US" dirty="0"/>
              <a:t>" is called the </a:t>
            </a:r>
            <a:r>
              <a:rPr lang="en-US" dirty="0">
                <a:hlinkClick r:id="rId3" tooltip="Markov property"/>
              </a:rPr>
              <a:t>Markov property</a:t>
            </a:r>
            <a:endParaRPr lang="en-US" dirty="0">
              <a:latin typeface="Times New Roman" pitchFamily="18" charset="0"/>
            </a:endParaRPr>
          </a:p>
          <a:p>
            <a:endParaRPr lang="cs-CZ" dirty="0"/>
          </a:p>
        </p:txBody>
      </p:sp>
      <p:sp>
        <p:nvSpPr>
          <p:cNvPr id="4" name="Obdélník 3"/>
          <p:cNvSpPr/>
          <p:nvPr/>
        </p:nvSpPr>
        <p:spPr>
          <a:xfrm>
            <a:off x="539552" y="4871864"/>
            <a:ext cx="813690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Nadpis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Historical</a:t>
            </a:r>
            <a:r>
              <a:rPr lang="cs-CZ" dirty="0"/>
              <a:t> </a:t>
            </a:r>
            <a:r>
              <a:rPr lang="cs-CZ" dirty="0" err="1"/>
              <a:t>remark</a:t>
            </a:r>
            <a:endParaRPr lang="cs-CZ" dirty="0"/>
          </a:p>
        </p:txBody>
      </p:sp>
      <p:sp>
        <p:nvSpPr>
          <p:cNvPr id="24" name="Zástupný symbol pro obsah 23"/>
          <p:cNvSpPr>
            <a:spLocks noGrp="1"/>
          </p:cNvSpPr>
          <p:nvPr>
            <p:ph idx="1"/>
          </p:nvPr>
        </p:nvSpPr>
        <p:spPr>
          <a:xfrm>
            <a:off x="576242" y="1700808"/>
            <a:ext cx="5626968" cy="4968551"/>
          </a:xfrm>
        </p:spPr>
        <p:txBody>
          <a:bodyPr>
            <a:normAutofit/>
          </a:bodyPr>
          <a:lstStyle/>
          <a:p>
            <a:r>
              <a:rPr lang="cs-CZ" dirty="0">
                <a:hlinkClick r:id="rId2" tooltip="Andrey Markov"/>
              </a:rPr>
              <a:t>Andrey </a:t>
            </a:r>
            <a:r>
              <a:rPr lang="cs-CZ" dirty="0" err="1">
                <a:hlinkClick r:id="rId2" tooltip="Andrey Markov"/>
              </a:rPr>
              <a:t>Markov</a:t>
            </a:r>
            <a:r>
              <a:rPr lang="cs-CZ" dirty="0"/>
              <a:t> </a:t>
            </a:r>
            <a:r>
              <a:rPr lang="cs-CZ" dirty="0" err="1"/>
              <a:t>produced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first</a:t>
            </a:r>
            <a:r>
              <a:rPr lang="cs-CZ" dirty="0"/>
              <a:t> </a:t>
            </a:r>
            <a:r>
              <a:rPr lang="cs-CZ" dirty="0" err="1"/>
              <a:t>results</a:t>
            </a:r>
            <a:r>
              <a:rPr lang="cs-CZ" dirty="0"/>
              <a:t> (1906) </a:t>
            </a:r>
            <a:r>
              <a:rPr lang="cs-CZ" dirty="0" err="1"/>
              <a:t>for</a:t>
            </a:r>
            <a:r>
              <a:rPr lang="cs-CZ" dirty="0"/>
              <a:t> these </a:t>
            </a:r>
            <a:r>
              <a:rPr lang="cs-CZ" dirty="0" err="1"/>
              <a:t>processes</a:t>
            </a:r>
            <a:r>
              <a:rPr lang="cs-CZ" dirty="0"/>
              <a:t>, </a:t>
            </a:r>
            <a:r>
              <a:rPr lang="cs-CZ" dirty="0" err="1"/>
              <a:t>purely</a:t>
            </a:r>
            <a:r>
              <a:rPr lang="cs-CZ" dirty="0"/>
              <a:t> </a:t>
            </a:r>
            <a:r>
              <a:rPr lang="cs-CZ" dirty="0" err="1"/>
              <a:t>theoretically</a:t>
            </a:r>
            <a:r>
              <a:rPr lang="cs-CZ" dirty="0"/>
              <a:t>. In 1913, he </a:t>
            </a:r>
            <a:r>
              <a:rPr lang="cs-CZ" dirty="0" err="1"/>
              <a:t>applied</a:t>
            </a:r>
            <a:r>
              <a:rPr lang="cs-CZ" dirty="0"/>
              <a:t> his </a:t>
            </a:r>
            <a:r>
              <a:rPr lang="cs-CZ" dirty="0" err="1"/>
              <a:t>findings</a:t>
            </a:r>
            <a:r>
              <a:rPr lang="cs-CZ" dirty="0"/>
              <a:t> to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first</a:t>
            </a:r>
            <a:r>
              <a:rPr lang="cs-CZ" dirty="0"/>
              <a:t> 20,000 </a:t>
            </a:r>
            <a:r>
              <a:rPr lang="cs-CZ" dirty="0" err="1"/>
              <a:t>letters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Pushkin's</a:t>
            </a:r>
            <a:r>
              <a:rPr lang="cs-CZ" dirty="0"/>
              <a:t> </a:t>
            </a:r>
            <a:r>
              <a:rPr lang="cs-CZ" i="1" dirty="0">
                <a:hlinkClick r:id="rId3" tooltip="Eugene Onegin"/>
              </a:rPr>
              <a:t>Eugene </a:t>
            </a:r>
            <a:r>
              <a:rPr lang="cs-CZ" i="1" dirty="0" err="1">
                <a:hlinkClick r:id="rId3" tooltip="Eugene Onegin"/>
              </a:rPr>
              <a:t>Onegin</a:t>
            </a:r>
            <a:r>
              <a:rPr lang="cs-CZ" dirty="0"/>
              <a:t>. By 1917, more </a:t>
            </a:r>
            <a:r>
              <a:rPr lang="cs-CZ" dirty="0" err="1"/>
              <a:t>practical</a:t>
            </a:r>
            <a:r>
              <a:rPr lang="cs-CZ" dirty="0"/>
              <a:t> </a:t>
            </a:r>
            <a:r>
              <a:rPr lang="cs-CZ" dirty="0" err="1"/>
              <a:t>application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his </a:t>
            </a:r>
            <a:r>
              <a:rPr lang="cs-CZ" dirty="0" err="1"/>
              <a:t>work</a:t>
            </a:r>
            <a:r>
              <a:rPr lang="cs-CZ" dirty="0"/>
              <a:t> </a:t>
            </a:r>
            <a:r>
              <a:rPr lang="cs-CZ" dirty="0" err="1"/>
              <a:t>was</a:t>
            </a:r>
            <a:r>
              <a:rPr lang="cs-CZ" dirty="0"/>
              <a:t> made by </a:t>
            </a:r>
            <a:r>
              <a:rPr lang="cs-CZ" dirty="0" err="1">
                <a:hlinkClick r:id="rId4" tooltip="Agner Krarup Erlang"/>
              </a:rPr>
              <a:t>Erlang</a:t>
            </a:r>
            <a:r>
              <a:rPr lang="cs-CZ" dirty="0"/>
              <a:t> to </a:t>
            </a:r>
            <a:r>
              <a:rPr lang="cs-CZ" dirty="0" err="1"/>
              <a:t>obtain</a:t>
            </a:r>
            <a:r>
              <a:rPr lang="cs-CZ" dirty="0"/>
              <a:t> </a:t>
            </a:r>
            <a:r>
              <a:rPr lang="cs-CZ" dirty="0" err="1"/>
              <a:t>formulas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call </a:t>
            </a:r>
            <a:r>
              <a:rPr lang="cs-CZ" dirty="0" err="1"/>
              <a:t>loss</a:t>
            </a:r>
            <a:r>
              <a:rPr lang="cs-CZ" dirty="0"/>
              <a:t> and </a:t>
            </a:r>
            <a:r>
              <a:rPr lang="cs-CZ" dirty="0" err="1"/>
              <a:t>waiting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 in </a:t>
            </a:r>
            <a:r>
              <a:rPr lang="cs-CZ" dirty="0" err="1"/>
              <a:t>telephone</a:t>
            </a:r>
            <a:r>
              <a:rPr lang="cs-CZ" dirty="0"/>
              <a:t> </a:t>
            </a:r>
            <a:r>
              <a:rPr lang="cs-CZ" dirty="0" err="1"/>
              <a:t>networks</a:t>
            </a:r>
            <a:r>
              <a:rPr lang="cs-CZ" dirty="0"/>
              <a:t>. A </a:t>
            </a:r>
            <a:r>
              <a:rPr lang="cs-CZ" dirty="0" err="1"/>
              <a:t>generalization</a:t>
            </a:r>
            <a:r>
              <a:rPr lang="cs-CZ" dirty="0"/>
              <a:t> to </a:t>
            </a:r>
            <a:r>
              <a:rPr lang="cs-CZ" dirty="0" err="1"/>
              <a:t>countably</a:t>
            </a:r>
            <a:r>
              <a:rPr lang="cs-CZ" dirty="0"/>
              <a:t> </a:t>
            </a:r>
            <a:r>
              <a:rPr lang="cs-CZ" dirty="0" err="1"/>
              <a:t>infinite</a:t>
            </a:r>
            <a:r>
              <a:rPr lang="cs-CZ" dirty="0"/>
              <a:t> </a:t>
            </a:r>
            <a:r>
              <a:rPr lang="cs-CZ" dirty="0" err="1"/>
              <a:t>state</a:t>
            </a:r>
            <a:r>
              <a:rPr lang="cs-CZ" dirty="0"/>
              <a:t> </a:t>
            </a:r>
            <a:r>
              <a:rPr lang="cs-CZ" dirty="0" err="1"/>
              <a:t>spaces</a:t>
            </a:r>
            <a:r>
              <a:rPr lang="cs-CZ" dirty="0"/>
              <a:t> </a:t>
            </a:r>
            <a:r>
              <a:rPr lang="cs-CZ" dirty="0" err="1"/>
              <a:t>was</a:t>
            </a:r>
            <a:r>
              <a:rPr lang="cs-CZ" dirty="0"/>
              <a:t> </a:t>
            </a:r>
            <a:r>
              <a:rPr lang="cs-CZ" dirty="0" err="1"/>
              <a:t>given</a:t>
            </a:r>
            <a:r>
              <a:rPr lang="cs-CZ" dirty="0"/>
              <a:t> by </a:t>
            </a:r>
            <a:r>
              <a:rPr lang="cs-CZ" dirty="0" err="1">
                <a:hlinkClick r:id="rId5" tooltip="Andrey Nikolaevich Kolmogorov"/>
              </a:rPr>
              <a:t>Kolmogorov</a:t>
            </a:r>
            <a:r>
              <a:rPr lang="cs-CZ" dirty="0"/>
              <a:t> (1936). </a:t>
            </a:r>
          </a:p>
        </p:txBody>
      </p:sp>
      <p:pic>
        <p:nvPicPr>
          <p:cNvPr id="102403" name="Picture 3" descr="https://upload.wikimedia.org/wikipedia/commons/thumb/7/70/AAMarkov.jpg/220px-AAMarkov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216" y="980728"/>
            <a:ext cx="2095500" cy="27336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Markov chains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noProof="0"/>
              <a:t>Markov property:</a:t>
            </a:r>
          </a:p>
          <a:p>
            <a:pPr lvl="1"/>
            <a:r>
              <a:rPr lang="en-GB" noProof="0"/>
              <a:t>The probability of moving from state </a:t>
            </a:r>
            <a:r>
              <a:rPr lang="en-GB" b="1" i="1" noProof="0"/>
              <a:t>i</a:t>
            </a:r>
            <a:r>
              <a:rPr lang="en-GB" noProof="0"/>
              <a:t> at stage </a:t>
            </a:r>
            <a:r>
              <a:rPr lang="en-GB" b="1" i="1" noProof="0"/>
              <a:t>n</a:t>
            </a:r>
            <a:r>
              <a:rPr lang="en-GB" noProof="0"/>
              <a:t> to state </a:t>
            </a:r>
            <a:r>
              <a:rPr lang="en-GB" b="1" i="1" noProof="0"/>
              <a:t>j</a:t>
            </a:r>
            <a:r>
              <a:rPr lang="en-GB" noProof="0"/>
              <a:t> at stage </a:t>
            </a:r>
            <a:r>
              <a:rPr lang="en-GB" b="1" i="1" noProof="0"/>
              <a:t>n</a:t>
            </a:r>
            <a:r>
              <a:rPr lang="en-GB" noProof="0"/>
              <a:t> + 1 depend only on state at stage </a:t>
            </a:r>
            <a:r>
              <a:rPr lang="en-GB" b="1" i="1" noProof="0"/>
              <a:t>n</a:t>
            </a:r>
            <a:r>
              <a:rPr lang="en-GB" noProof="0"/>
              <a:t> and transition probabilities.</a:t>
            </a:r>
          </a:p>
          <a:p>
            <a:pPr lvl="1">
              <a:buNone/>
            </a:pPr>
            <a:endParaRPr lang="en-GB" noProof="0"/>
          </a:p>
          <a:p>
            <a:pPr lvl="1">
              <a:buNone/>
            </a:pPr>
            <a:r>
              <a:rPr lang="en-GB" i="1" noProof="0"/>
              <a:t>P</a:t>
            </a:r>
            <a:r>
              <a:rPr lang="en-GB" noProof="0">
                <a:latin typeface="Cambria Math"/>
                <a:ea typeface="Cambria Math"/>
              </a:rPr>
              <a:t>{X</a:t>
            </a:r>
            <a:r>
              <a:rPr lang="en-GB" baseline="-25000" noProof="0">
                <a:latin typeface="Cambria Math"/>
                <a:ea typeface="Cambria Math"/>
              </a:rPr>
              <a:t>n+1</a:t>
            </a:r>
            <a:r>
              <a:rPr lang="en-GB" noProof="0">
                <a:latin typeface="Cambria Math"/>
                <a:ea typeface="Cambria Math"/>
              </a:rPr>
              <a:t>=i</a:t>
            </a:r>
            <a:r>
              <a:rPr lang="en-GB" baseline="-25000" noProof="0">
                <a:latin typeface="Cambria Math"/>
                <a:ea typeface="Cambria Math"/>
              </a:rPr>
              <a:t>n+1</a:t>
            </a:r>
            <a:r>
              <a:rPr lang="en-GB" noProof="0">
                <a:latin typeface="Cambria Math"/>
                <a:ea typeface="Cambria Math"/>
              </a:rPr>
              <a:t> | X</a:t>
            </a:r>
            <a:r>
              <a:rPr lang="en-GB" baseline="-25000" noProof="0">
                <a:latin typeface="Cambria Math"/>
                <a:ea typeface="Cambria Math"/>
              </a:rPr>
              <a:t>0</a:t>
            </a:r>
            <a:r>
              <a:rPr lang="en-GB" noProof="0">
                <a:latin typeface="Cambria Math"/>
                <a:ea typeface="Cambria Math"/>
              </a:rPr>
              <a:t>=i</a:t>
            </a:r>
            <a:r>
              <a:rPr lang="en-GB" baseline="-25000" noProof="0">
                <a:latin typeface="Cambria Math"/>
                <a:ea typeface="Cambria Math"/>
              </a:rPr>
              <a:t>0</a:t>
            </a:r>
            <a:r>
              <a:rPr lang="en-GB" noProof="0">
                <a:latin typeface="Cambria Math"/>
                <a:ea typeface="Cambria Math"/>
              </a:rPr>
              <a:t>, …, X</a:t>
            </a:r>
            <a:r>
              <a:rPr lang="en-GB" baseline="-25000" noProof="0">
                <a:latin typeface="Cambria Math"/>
                <a:ea typeface="Cambria Math"/>
              </a:rPr>
              <a:t>n</a:t>
            </a:r>
            <a:r>
              <a:rPr lang="en-GB" noProof="0">
                <a:latin typeface="Cambria Math"/>
                <a:ea typeface="Cambria Math"/>
              </a:rPr>
              <a:t>=i</a:t>
            </a:r>
            <a:r>
              <a:rPr lang="en-GB" baseline="-25000" noProof="0">
                <a:latin typeface="Cambria Math"/>
                <a:ea typeface="Cambria Math"/>
              </a:rPr>
              <a:t>n</a:t>
            </a:r>
            <a:r>
              <a:rPr lang="en-GB" noProof="0">
                <a:latin typeface="Cambria Math"/>
                <a:ea typeface="Cambria Math"/>
              </a:rPr>
              <a:t>}=</a:t>
            </a:r>
            <a:r>
              <a:rPr lang="en-GB" i="1" noProof="0"/>
              <a:t>P</a:t>
            </a:r>
            <a:r>
              <a:rPr lang="en-GB" noProof="0">
                <a:latin typeface="Cambria Math"/>
                <a:ea typeface="Cambria Math"/>
              </a:rPr>
              <a:t>{X</a:t>
            </a:r>
            <a:r>
              <a:rPr lang="en-GB" baseline="-25000" noProof="0">
                <a:latin typeface="Cambria Math"/>
                <a:ea typeface="Cambria Math"/>
              </a:rPr>
              <a:t>n+1</a:t>
            </a:r>
            <a:r>
              <a:rPr lang="en-GB" noProof="0">
                <a:latin typeface="Cambria Math"/>
                <a:ea typeface="Cambria Math"/>
              </a:rPr>
              <a:t>=i</a:t>
            </a:r>
            <a:r>
              <a:rPr lang="en-GB" baseline="-25000" noProof="0">
                <a:latin typeface="Cambria Math"/>
                <a:ea typeface="Cambria Math"/>
              </a:rPr>
              <a:t>n+1</a:t>
            </a:r>
            <a:r>
              <a:rPr lang="en-GB" noProof="0">
                <a:latin typeface="Cambria Math"/>
                <a:ea typeface="Cambria Math"/>
              </a:rPr>
              <a:t> | X</a:t>
            </a:r>
            <a:r>
              <a:rPr lang="en-GB" baseline="-25000" noProof="0">
                <a:latin typeface="Cambria Math"/>
                <a:ea typeface="Cambria Math"/>
              </a:rPr>
              <a:t>n</a:t>
            </a:r>
            <a:r>
              <a:rPr lang="en-GB" noProof="0">
                <a:latin typeface="Cambria Math"/>
                <a:ea typeface="Cambria Math"/>
              </a:rPr>
              <a:t>=i</a:t>
            </a:r>
            <a:r>
              <a:rPr lang="en-GB" baseline="-25000" noProof="0">
                <a:latin typeface="Cambria Math"/>
                <a:ea typeface="Cambria Math"/>
              </a:rPr>
              <a:t>n</a:t>
            </a:r>
            <a:r>
              <a:rPr lang="en-GB" noProof="0">
                <a:latin typeface="Cambria Math"/>
                <a:ea typeface="Cambria Math"/>
              </a:rPr>
              <a:t>}</a:t>
            </a:r>
            <a:endParaRPr lang="en-GB" noProof="0"/>
          </a:p>
          <a:p>
            <a:pPr lvl="1"/>
            <a:endParaRPr lang="en-GB" noProof="0"/>
          </a:p>
          <a:p>
            <a:r>
              <a:rPr lang="en-GB" noProof="0"/>
              <a:t>Transition probability  </a:t>
            </a:r>
            <a:r>
              <a:rPr lang="en-GB" i="1" noProof="0"/>
              <a:t>p</a:t>
            </a:r>
            <a:r>
              <a:rPr lang="en-GB" i="1" baseline="-25000" noProof="0"/>
              <a:t>ij </a:t>
            </a:r>
            <a:endParaRPr lang="en-GB" i="1" noProof="0"/>
          </a:p>
          <a:p>
            <a:pPr lvl="1"/>
            <a:r>
              <a:rPr lang="en-GB" noProof="0"/>
              <a:t>the probability that the process moves from state </a:t>
            </a:r>
            <a:r>
              <a:rPr lang="en-GB" b="1" i="1" noProof="0"/>
              <a:t>i </a:t>
            </a:r>
            <a:r>
              <a:rPr lang="en-GB" noProof="0"/>
              <a:t>at one stage to state </a:t>
            </a:r>
            <a:r>
              <a:rPr lang="en-GB" b="1" i="1" noProof="0"/>
              <a:t>j</a:t>
            </a:r>
            <a:r>
              <a:rPr lang="en-GB" noProof="0"/>
              <a:t> at the next stage.</a:t>
            </a:r>
          </a:p>
          <a:p>
            <a:pPr>
              <a:buNone/>
            </a:pPr>
            <a:endParaRPr lang="en-GB" noProof="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/>
              <a:t>Transition Matrix </a:t>
            </a:r>
            <a:r>
              <a:rPr lang="en-GB" b="1" i="1" noProof="0"/>
              <a:t>P</a:t>
            </a:r>
            <a:endParaRPr lang="en-GB" noProof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rmAutofit/>
          </a:bodyPr>
          <a:lstStyle/>
          <a:p>
            <a:r>
              <a:rPr lang="en-GB" noProof="0" dirty="0"/>
              <a:t>Always square matrix</a:t>
            </a:r>
          </a:p>
          <a:p>
            <a:r>
              <a:rPr lang="en-GB" noProof="0" dirty="0"/>
              <a:t>Sum in the row is always 1</a:t>
            </a:r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We will work just with time-homogenous </a:t>
            </a:r>
            <a:r>
              <a:rPr lang="cs-CZ" noProof="0" dirty="0"/>
              <a:t>M</a:t>
            </a:r>
            <a:r>
              <a:rPr lang="en-GB" noProof="0" dirty="0" err="1"/>
              <a:t>arkov</a:t>
            </a:r>
            <a:r>
              <a:rPr lang="en-GB" noProof="0" dirty="0"/>
              <a:t> chains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413320"/>
              </p:ext>
            </p:extLst>
          </p:nvPr>
        </p:nvGraphicFramePr>
        <p:xfrm>
          <a:off x="3923928" y="2392362"/>
          <a:ext cx="3529013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939800" progId="Equation.DSMT4">
                  <p:embed/>
                </p:oleObj>
              </mc:Choice>
              <mc:Fallback>
                <p:oleObj name="Equation" r:id="rId2" imgW="1600200" imgH="939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2392362"/>
                        <a:ext cx="3529013" cy="207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title"/>
          </p:nvPr>
        </p:nvSpPr>
        <p:spPr>
          <a:xfrm>
            <a:off x="457200" y="250566"/>
            <a:ext cx="8229600" cy="936103"/>
          </a:xfrm>
        </p:spPr>
        <p:txBody>
          <a:bodyPr>
            <a:normAutofit/>
          </a:bodyPr>
          <a:lstStyle/>
          <a:p>
            <a:r>
              <a:rPr lang="en-US" dirty="0"/>
              <a:t>A simple two-state Markov chain</a:t>
            </a:r>
            <a:endParaRPr lang="cs-CZ" dirty="0"/>
          </a:p>
        </p:txBody>
      </p:sp>
      <p:sp>
        <p:nvSpPr>
          <p:cNvPr id="7" name="Zástupný symbol pro obsah 6"/>
          <p:cNvSpPr>
            <a:spLocks noGrp="1"/>
          </p:cNvSpPr>
          <p:nvPr>
            <p:ph idx="1"/>
          </p:nvPr>
        </p:nvSpPr>
        <p:spPr>
          <a:xfrm>
            <a:off x="457200" y="980729"/>
            <a:ext cx="1522512" cy="4752529"/>
          </a:xfrm>
        </p:spPr>
        <p:txBody>
          <a:bodyPr/>
          <a:lstStyle/>
          <a:p>
            <a:endParaRPr lang="en-US" dirty="0"/>
          </a:p>
          <a:p>
            <a:endParaRPr lang="cs-CZ" dirty="0"/>
          </a:p>
        </p:txBody>
      </p:sp>
      <p:pic>
        <p:nvPicPr>
          <p:cNvPr id="110594" name="Picture 2" descr="https://upload.wikimedia.org/wikipedia/commons/thumb/2/2b/Markovkate_01.svg/220px-Markovkate_01.svg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5314" y="2307450"/>
            <a:ext cx="2880320" cy="2880320"/>
          </a:xfrm>
          <a:prstGeom prst="rect">
            <a:avLst/>
          </a:prstGeom>
          <a:noFill/>
        </p:spPr>
      </p:pic>
      <p:graphicFrame>
        <p:nvGraphicFramePr>
          <p:cNvPr id="12" name="Tabulk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849158"/>
              </p:ext>
            </p:extLst>
          </p:nvPr>
        </p:nvGraphicFramePr>
        <p:xfrm>
          <a:off x="4699577" y="3151810"/>
          <a:ext cx="27363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State vector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i="1" noProof="0" dirty="0"/>
              <a:t>p</a:t>
            </a:r>
            <a:r>
              <a:rPr lang="en-GB" noProof="0" dirty="0"/>
              <a:t>(0) is initial state distribution</a:t>
            </a:r>
          </a:p>
        </p:txBody>
      </p:sp>
      <p:graphicFrame>
        <p:nvGraphicFramePr>
          <p:cNvPr id="6145" name="Object 2"/>
          <p:cNvGraphicFramePr>
            <a:graphicFrameLocks noChangeAspect="1"/>
          </p:cNvGraphicFramePr>
          <p:nvPr/>
        </p:nvGraphicFramePr>
        <p:xfrm>
          <a:off x="3103563" y="2679700"/>
          <a:ext cx="2828925" cy="230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1015920" progId="Equation.DSMT4">
                  <p:embed/>
                </p:oleObj>
              </mc:Choice>
              <mc:Fallback>
                <p:oleObj name="Equation" r:id="rId2" imgW="1244520" imgH="10159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2679700"/>
                        <a:ext cx="2828925" cy="2309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Repairer in the garage knows the following</a:t>
            </a:r>
          </a:p>
          <a:p>
            <a:pPr lvl="1"/>
            <a:r>
              <a:rPr lang="en-GB" dirty="0"/>
              <a:t>Repair of one car takes one day</a:t>
            </a:r>
          </a:p>
          <a:p>
            <a:pPr lvl="1"/>
            <a:r>
              <a:rPr lang="en-GB" dirty="0"/>
              <a:t>In 75% of days there is no request for car repair</a:t>
            </a:r>
          </a:p>
          <a:p>
            <a:pPr lvl="1"/>
            <a:r>
              <a:rPr lang="en-GB" dirty="0"/>
              <a:t>In 20% of days there is one request for car repair</a:t>
            </a:r>
          </a:p>
          <a:p>
            <a:pPr lvl="1"/>
            <a:r>
              <a:rPr lang="en-GB" dirty="0"/>
              <a:t>In 5% of days there are two requests for car repair</a:t>
            </a:r>
            <a:endParaRPr lang="cs-CZ" dirty="0"/>
          </a:p>
          <a:p>
            <a:pPr lvl="1"/>
            <a:r>
              <a:rPr lang="cs-CZ" dirty="0" err="1"/>
              <a:t>Backlog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orders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never</a:t>
            </a:r>
            <a:r>
              <a:rPr lang="cs-CZ" dirty="0"/>
              <a:t> </a:t>
            </a:r>
            <a:r>
              <a:rPr lang="cs-CZ" dirty="0" err="1"/>
              <a:t>bigger</a:t>
            </a:r>
            <a:r>
              <a:rPr lang="cs-CZ" dirty="0"/>
              <a:t> </a:t>
            </a:r>
            <a:r>
              <a:rPr lang="cs-CZ" dirty="0" err="1"/>
              <a:t>than</a:t>
            </a:r>
            <a:r>
              <a:rPr lang="cs-CZ" dirty="0"/>
              <a:t> 3. </a:t>
            </a:r>
            <a:r>
              <a:rPr lang="cs-CZ" dirty="0" err="1"/>
              <a:t>All</a:t>
            </a:r>
            <a:r>
              <a:rPr lang="cs-CZ" dirty="0"/>
              <a:t> </a:t>
            </a:r>
            <a:r>
              <a:rPr lang="cs-CZ" dirty="0" err="1"/>
              <a:t>other</a:t>
            </a:r>
            <a:r>
              <a:rPr lang="cs-CZ" dirty="0"/>
              <a:t> </a:t>
            </a:r>
            <a:r>
              <a:rPr lang="cs-CZ" dirty="0" err="1"/>
              <a:t>requests</a:t>
            </a:r>
            <a:r>
              <a:rPr lang="cs-CZ" dirty="0"/>
              <a:t> are </a:t>
            </a:r>
            <a:r>
              <a:rPr lang="cs-CZ" dirty="0" err="1"/>
              <a:t>send</a:t>
            </a:r>
            <a:r>
              <a:rPr lang="cs-CZ" dirty="0"/>
              <a:t> to </a:t>
            </a:r>
            <a:r>
              <a:rPr lang="cs-CZ" dirty="0" err="1"/>
              <a:t>another</a:t>
            </a:r>
            <a:r>
              <a:rPr lang="cs-CZ" dirty="0"/>
              <a:t> </a:t>
            </a:r>
            <a:r>
              <a:rPr lang="cs-CZ" dirty="0" err="1"/>
              <a:t>garage</a:t>
            </a:r>
            <a:r>
              <a:rPr lang="cs-CZ" dirty="0"/>
              <a:t>.</a:t>
            </a:r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Construct the transition matrix.</a:t>
            </a:r>
          </a:p>
          <a:p>
            <a:pPr lvl="1"/>
            <a:r>
              <a:rPr lang="en-GB" dirty="0"/>
              <a:t>Calculate state vector for third day if you start with one car to repair.</a:t>
            </a:r>
          </a:p>
          <a:p>
            <a:pPr marL="365760" lvl="1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Steady state probabilities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Does not depend on the initial state distribution.</a:t>
            </a:r>
          </a:p>
          <a:p>
            <a:endParaRPr lang="en-GB" noProof="0" dirty="0"/>
          </a:p>
          <a:p>
            <a:pPr algn="ctr">
              <a:buNone/>
            </a:pPr>
            <a:r>
              <a:rPr lang="en-GB" b="1" i="1" noProof="0" dirty="0">
                <a:latin typeface="Symbol" pitchFamily="18" charset="2"/>
              </a:rPr>
              <a:t>p</a:t>
            </a:r>
            <a:r>
              <a:rPr lang="cs-CZ" b="1" baseline="30000" noProof="0" dirty="0">
                <a:latin typeface="Symbol" pitchFamily="18" charset="2"/>
              </a:rPr>
              <a:t>T</a:t>
            </a:r>
            <a:r>
              <a:rPr lang="en-GB" b="1" i="1" noProof="0" dirty="0">
                <a:latin typeface="Symbol" pitchFamily="18" charset="2"/>
              </a:rPr>
              <a:t>  </a:t>
            </a:r>
            <a:r>
              <a:rPr lang="en-GB" noProof="0" dirty="0"/>
              <a:t>= </a:t>
            </a:r>
            <a:r>
              <a:rPr lang="en-GB" b="1" i="1" noProof="0" dirty="0">
                <a:latin typeface="Symbol" pitchFamily="18" charset="2"/>
              </a:rPr>
              <a:t>p</a:t>
            </a:r>
            <a:r>
              <a:rPr lang="cs-CZ" b="1" baseline="30000" dirty="0">
                <a:latin typeface="Symbol" pitchFamily="18" charset="2"/>
              </a:rPr>
              <a:t>T</a:t>
            </a:r>
            <a:r>
              <a:rPr lang="en-GB" b="1" i="1" noProof="0" dirty="0"/>
              <a:t>P</a:t>
            </a:r>
          </a:p>
          <a:p>
            <a:pPr algn="ctr">
              <a:buNone/>
            </a:pPr>
            <a:r>
              <a:rPr lang="en-GB" noProof="0" dirty="0">
                <a:latin typeface="Cambria Math"/>
                <a:ea typeface="Cambria Math"/>
              </a:rPr>
              <a:t>∑</a:t>
            </a:r>
            <a:r>
              <a:rPr lang="en-GB" noProof="0" dirty="0">
                <a:latin typeface="Symbol" pitchFamily="18" charset="2"/>
              </a:rPr>
              <a:t>p</a:t>
            </a:r>
            <a:r>
              <a:rPr lang="en-GB" baseline="-25000" noProof="0" dirty="0">
                <a:latin typeface="+mj-lt"/>
              </a:rPr>
              <a:t>i</a:t>
            </a:r>
            <a:r>
              <a:rPr lang="en-GB" noProof="0" dirty="0">
                <a:latin typeface="+mj-lt"/>
              </a:rPr>
              <a:t> = 1</a:t>
            </a:r>
            <a:endParaRPr lang="en-GB" baseline="-25000" noProof="0" dirty="0">
              <a:latin typeface="+mj-lt"/>
            </a:endParaRPr>
          </a:p>
          <a:p>
            <a:pPr algn="ctr">
              <a:buNone/>
            </a:pPr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cs-CZ" dirty="0" err="1"/>
              <a:t>Let‘s</a:t>
            </a:r>
            <a:r>
              <a:rPr lang="cs-CZ" dirty="0"/>
              <a:t> </a:t>
            </a:r>
            <a:r>
              <a:rPr lang="cs-CZ" dirty="0" err="1"/>
              <a:t>have</a:t>
            </a:r>
            <a:r>
              <a:rPr lang="cs-CZ" dirty="0"/>
              <a:t> </a:t>
            </a:r>
            <a:r>
              <a:rPr lang="cs-CZ" b="1" i="1" dirty="0"/>
              <a:t>P</a:t>
            </a:r>
          </a:p>
          <a:p>
            <a:pPr lvl="1"/>
            <a:endParaRPr lang="cs-CZ" b="1" i="1" dirty="0"/>
          </a:p>
          <a:p>
            <a:pPr lvl="1"/>
            <a:endParaRPr lang="cs-CZ" b="1" i="1" dirty="0"/>
          </a:p>
          <a:p>
            <a:pPr lvl="1"/>
            <a:endParaRPr lang="cs-CZ" b="1" i="1" dirty="0"/>
          </a:p>
          <a:p>
            <a:pPr lvl="1"/>
            <a:endParaRPr lang="cs-CZ" b="1" i="1" dirty="0"/>
          </a:p>
          <a:p>
            <a:pPr lvl="1"/>
            <a:endParaRPr lang="cs-CZ" b="1" i="1" dirty="0"/>
          </a:p>
          <a:p>
            <a:pPr lvl="1"/>
            <a:r>
              <a:rPr lang="cs-CZ" dirty="0" err="1"/>
              <a:t>Find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steady</a:t>
            </a:r>
            <a:r>
              <a:rPr lang="cs-CZ" dirty="0"/>
              <a:t> </a:t>
            </a:r>
            <a:r>
              <a:rPr lang="cs-CZ" dirty="0" err="1"/>
              <a:t>state</a:t>
            </a:r>
            <a:r>
              <a:rPr lang="cs-CZ" dirty="0"/>
              <a:t> </a:t>
            </a:r>
            <a:r>
              <a:rPr lang="cs-CZ" dirty="0" err="1"/>
              <a:t>probabilities</a:t>
            </a:r>
            <a:r>
              <a:rPr lang="cs-CZ" dirty="0"/>
              <a:t>!</a:t>
            </a:r>
          </a:p>
          <a:p>
            <a:pPr lvl="1"/>
            <a:endParaRPr lang="cs-CZ" b="1" i="1" dirty="0"/>
          </a:p>
          <a:p>
            <a:pPr lvl="1"/>
            <a:endParaRPr lang="en-GB" b="1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ovéPole 3"/>
              <p:cNvSpPr txBox="1"/>
              <p:nvPr/>
            </p:nvSpPr>
            <p:spPr>
              <a:xfrm>
                <a:off x="3419872" y="1844824"/>
                <a:ext cx="3002169" cy="9817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cs-CZ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cs-CZ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cs-CZ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cs-CZ" sz="24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b="1" dirty="0"/>
              </a:p>
            </p:txBody>
          </p:sp>
        </mc:Choice>
        <mc:Fallback>
          <p:sp>
            <p:nvSpPr>
              <p:cNvPr id="4" name="TextovéPo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1844824"/>
                <a:ext cx="3002169" cy="9817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18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Clasification of states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  <a:p>
            <a:r>
              <a:rPr lang="en-GB"/>
              <a:t>Recurrent state</a:t>
            </a:r>
          </a:p>
          <a:p>
            <a:endParaRPr lang="en-GB"/>
          </a:p>
          <a:p>
            <a:r>
              <a:rPr lang="en-GB"/>
              <a:t>Transient state</a:t>
            </a:r>
          </a:p>
          <a:p>
            <a:endParaRPr lang="en-GB"/>
          </a:p>
          <a:p>
            <a:r>
              <a:rPr lang="en-GB"/>
              <a:t>Absorbing state</a:t>
            </a:r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Absorbing states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1560" y="1484784"/>
            <a:ext cx="8153400" cy="4495800"/>
          </a:xfrm>
        </p:spPr>
        <p:txBody>
          <a:bodyPr/>
          <a:lstStyle/>
          <a:p>
            <a:r>
              <a:rPr lang="en-GB" b="1" i="1" dirty="0"/>
              <a:t>I</a:t>
            </a:r>
            <a:r>
              <a:rPr lang="en-GB" dirty="0"/>
              <a:t> transient probabilities between absorbing states</a:t>
            </a:r>
          </a:p>
          <a:p>
            <a:r>
              <a:rPr lang="en-GB" b="1" i="1" dirty="0"/>
              <a:t>0</a:t>
            </a:r>
            <a:r>
              <a:rPr lang="en-GB" dirty="0"/>
              <a:t> transient probabilities from absorbing to transient states</a:t>
            </a:r>
          </a:p>
          <a:p>
            <a:r>
              <a:rPr lang="en-GB" b="1" i="1" dirty="0"/>
              <a:t>R</a:t>
            </a:r>
            <a:r>
              <a:rPr lang="en-GB" dirty="0"/>
              <a:t> transient probabilities from transient to states absorbing</a:t>
            </a:r>
          </a:p>
          <a:p>
            <a:r>
              <a:rPr lang="en-GB" b="1" i="1" dirty="0"/>
              <a:t>Q</a:t>
            </a:r>
            <a:r>
              <a:rPr lang="en-GB" dirty="0"/>
              <a:t> transient probabilities between transient states</a:t>
            </a:r>
          </a:p>
          <a:p>
            <a:endParaRPr lang="en-GB" noProof="0" dirty="0"/>
          </a:p>
        </p:txBody>
      </p:sp>
      <p:graphicFrame>
        <p:nvGraphicFramePr>
          <p:cNvPr id="419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483420"/>
              </p:ext>
            </p:extLst>
          </p:nvPr>
        </p:nvGraphicFramePr>
        <p:xfrm>
          <a:off x="5652120" y="4502472"/>
          <a:ext cx="2741613" cy="174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2" imgW="660240" imgH="419040" progId="Equation.3">
                  <p:embed/>
                </p:oleObj>
              </mc:Choice>
              <mc:Fallback>
                <p:oleObj name="Rovnice" r:id="rId2" imgW="66024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4502472"/>
                        <a:ext cx="2741613" cy="174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Fundamental matrix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Fundamental matrix </a:t>
            </a:r>
            <a:r>
              <a:rPr lang="en-GB" sz="3200" b="1" i="1" noProof="0" dirty="0"/>
              <a:t>N</a:t>
            </a:r>
            <a:r>
              <a:rPr lang="en-GB" sz="3200" noProof="0" dirty="0">
                <a:latin typeface="Times New Roman" pitchFamily="18" charset="0"/>
              </a:rPr>
              <a:t> = (</a:t>
            </a:r>
            <a:r>
              <a:rPr lang="en-GB" sz="3200" b="1" i="1" noProof="0" dirty="0"/>
              <a:t>I</a:t>
            </a:r>
            <a:r>
              <a:rPr lang="en-GB" sz="3200" i="1" noProof="0" dirty="0"/>
              <a:t> – </a:t>
            </a:r>
            <a:r>
              <a:rPr lang="en-GB" sz="3200" b="1" i="1" noProof="0" dirty="0"/>
              <a:t>Q</a:t>
            </a:r>
            <a:r>
              <a:rPr lang="en-GB" sz="3200" noProof="0" dirty="0">
                <a:latin typeface="Times New Roman" pitchFamily="18" charset="0"/>
              </a:rPr>
              <a:t>)</a:t>
            </a:r>
            <a:r>
              <a:rPr lang="en-GB" sz="3200" baseline="30000" noProof="0" dirty="0">
                <a:latin typeface="Times New Roman" pitchFamily="18" charset="0"/>
              </a:rPr>
              <a:t>-1</a:t>
            </a:r>
          </a:p>
          <a:p>
            <a:r>
              <a:rPr lang="en-GB" i="1" noProof="0" dirty="0" err="1"/>
              <a:t>n</a:t>
            </a:r>
            <a:r>
              <a:rPr lang="en-GB" baseline="-25000" noProof="0" dirty="0" err="1"/>
              <a:t>ij</a:t>
            </a:r>
            <a:r>
              <a:rPr lang="en-GB" noProof="0" dirty="0"/>
              <a:t> expected number of </a:t>
            </a:r>
            <a:r>
              <a:rPr lang="cs-CZ" noProof="0" dirty="0" err="1"/>
              <a:t>visits</a:t>
            </a:r>
            <a:r>
              <a:rPr lang="cs-CZ" noProof="0" dirty="0"/>
              <a:t> to </a:t>
            </a:r>
            <a:r>
              <a:rPr lang="cs-CZ" noProof="0" dirty="0" err="1"/>
              <a:t>state</a:t>
            </a:r>
            <a:r>
              <a:rPr lang="cs-CZ" noProof="0" dirty="0"/>
              <a:t> </a:t>
            </a:r>
            <a:r>
              <a:rPr lang="cs-CZ" i="1" noProof="0" dirty="0"/>
              <a:t>j</a:t>
            </a:r>
            <a:r>
              <a:rPr lang="cs-CZ" noProof="0" dirty="0"/>
              <a:t> </a:t>
            </a:r>
            <a:r>
              <a:rPr lang="cs-CZ" noProof="0" dirty="0" err="1"/>
              <a:t>before</a:t>
            </a:r>
            <a:r>
              <a:rPr lang="cs-CZ" noProof="0" dirty="0"/>
              <a:t> </a:t>
            </a:r>
            <a:r>
              <a:rPr lang="cs-CZ" noProof="0" dirty="0" err="1"/>
              <a:t>absorbtion</a:t>
            </a:r>
            <a:r>
              <a:rPr lang="cs-CZ" noProof="0" dirty="0"/>
              <a:t>, </a:t>
            </a:r>
            <a:r>
              <a:rPr lang="cs-CZ" noProof="0" dirty="0" err="1"/>
              <a:t>given</a:t>
            </a:r>
            <a:r>
              <a:rPr lang="cs-CZ" noProof="0" dirty="0"/>
              <a:t> </a:t>
            </a:r>
            <a:r>
              <a:rPr lang="cs-CZ" noProof="0" dirty="0" err="1"/>
              <a:t>that</a:t>
            </a:r>
            <a:r>
              <a:rPr lang="cs-CZ" noProof="0" dirty="0"/>
              <a:t> </a:t>
            </a:r>
            <a:r>
              <a:rPr lang="cs-CZ" noProof="0" dirty="0" err="1"/>
              <a:t>the</a:t>
            </a:r>
            <a:r>
              <a:rPr lang="cs-CZ" noProof="0" dirty="0"/>
              <a:t> </a:t>
            </a:r>
            <a:r>
              <a:rPr lang="cs-CZ" noProof="0" dirty="0" err="1"/>
              <a:t>current</a:t>
            </a:r>
            <a:r>
              <a:rPr lang="cs-CZ" noProof="0" dirty="0"/>
              <a:t> </a:t>
            </a:r>
            <a:r>
              <a:rPr lang="cs-CZ" noProof="0" dirty="0" err="1"/>
              <a:t>state</a:t>
            </a:r>
            <a:r>
              <a:rPr lang="cs-CZ" noProof="0" dirty="0"/>
              <a:t> </a:t>
            </a:r>
            <a:r>
              <a:rPr lang="cs-CZ" noProof="0" dirty="0" err="1"/>
              <a:t>is</a:t>
            </a:r>
            <a:r>
              <a:rPr lang="cs-CZ" noProof="0" dirty="0"/>
              <a:t> </a:t>
            </a:r>
            <a:r>
              <a:rPr lang="cs-CZ" i="1" noProof="0" dirty="0"/>
              <a:t>i.</a:t>
            </a:r>
            <a:endParaRPr lang="en-GB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/>
              <a:t>Transition from transient to abrobing state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noProof="0" dirty="0"/>
              <a:t>Probability ending in </a:t>
            </a:r>
            <a:r>
              <a:rPr lang="en-GB" i="1" noProof="0" dirty="0" err="1"/>
              <a:t>j</a:t>
            </a:r>
            <a:r>
              <a:rPr lang="en-GB" baseline="30000" noProof="0" dirty="0" err="1"/>
              <a:t>th</a:t>
            </a:r>
            <a:r>
              <a:rPr lang="en-GB" noProof="0" dirty="0"/>
              <a:t> absorbing state if starting in </a:t>
            </a:r>
            <a:r>
              <a:rPr lang="en-GB" i="1" noProof="0" dirty="0" err="1"/>
              <a:t>i</a:t>
            </a:r>
            <a:r>
              <a:rPr lang="en-GB" baseline="30000" noProof="0" dirty="0" err="1"/>
              <a:t>th</a:t>
            </a:r>
            <a:r>
              <a:rPr lang="en-GB" noProof="0" dirty="0"/>
              <a:t> transient state.</a:t>
            </a:r>
          </a:p>
          <a:p>
            <a:endParaRPr lang="en-GB" noProof="0" dirty="0"/>
          </a:p>
          <a:p>
            <a:pPr algn="ctr">
              <a:buNone/>
            </a:pPr>
            <a:r>
              <a:rPr lang="en-GB" sz="3200" b="1" i="1" noProof="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3200" b="1" noProof="0" dirty="0">
                <a:latin typeface="Times New Roman" pitchFamily="18" charset="0"/>
                <a:cs typeface="Times New Roman" pitchFamily="18" charset="0"/>
              </a:rPr>
              <a:t> = (</a:t>
            </a:r>
            <a:r>
              <a:rPr lang="cs-CZ" sz="32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GB" sz="3200" b="1" noProof="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GB" sz="3200" b="1" i="1" noProof="0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GB" sz="3200" b="1" noProof="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GB" sz="3200" b="1" baseline="30000" noProof="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GB" sz="3200" b="1" i="1" noProof="0" dirty="0">
                <a:latin typeface="Times New Roman" pitchFamily="18" charset="0"/>
                <a:cs typeface="Times New Roman" pitchFamily="18" charset="0"/>
              </a:rPr>
              <a:t>R</a:t>
            </a:r>
          </a:p>
          <a:p>
            <a:endParaRPr lang="en-GB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</a:t>
            </a:r>
            <a:r>
              <a:rPr lang="cs-CZ" noProof="0" dirty="0"/>
              <a:t> (I)</a:t>
            </a:r>
            <a:endParaRPr lang="en-GB" noProof="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Bachelor study program at non-specified university.</a:t>
            </a:r>
          </a:p>
          <a:p>
            <a:r>
              <a:rPr lang="en-GB" noProof="0" dirty="0"/>
              <a:t>First year:</a:t>
            </a:r>
          </a:p>
          <a:p>
            <a:pPr lvl="1"/>
            <a:r>
              <a:rPr lang="en-GB" noProof="0" dirty="0"/>
              <a:t>68% of students continue to second year</a:t>
            </a:r>
          </a:p>
          <a:p>
            <a:pPr lvl="1"/>
            <a:r>
              <a:rPr lang="en-GB" noProof="0" dirty="0"/>
              <a:t>12% leave the university</a:t>
            </a:r>
          </a:p>
          <a:p>
            <a:pPr lvl="1"/>
            <a:r>
              <a:rPr lang="en-GB" noProof="0" dirty="0"/>
              <a:t>20% must retake the first year</a:t>
            </a:r>
          </a:p>
          <a:p>
            <a:r>
              <a:rPr lang="en-GB" noProof="0" dirty="0"/>
              <a:t>Second year:</a:t>
            </a:r>
          </a:p>
          <a:p>
            <a:pPr lvl="1"/>
            <a:r>
              <a:rPr lang="en-GB" noProof="0" dirty="0"/>
              <a:t>75% of students continue to </a:t>
            </a:r>
            <a:r>
              <a:rPr lang="cs-CZ" noProof="0" dirty="0" err="1"/>
              <a:t>third</a:t>
            </a:r>
            <a:r>
              <a:rPr lang="cs-CZ" noProof="0" dirty="0"/>
              <a:t> </a:t>
            </a:r>
            <a:r>
              <a:rPr lang="en-GB" noProof="0" dirty="0"/>
              <a:t>year</a:t>
            </a:r>
          </a:p>
          <a:p>
            <a:pPr lvl="1"/>
            <a:r>
              <a:rPr lang="en-GB" noProof="0" dirty="0"/>
              <a:t>10% leave the university</a:t>
            </a:r>
          </a:p>
          <a:p>
            <a:pPr lvl="1"/>
            <a:r>
              <a:rPr lang="cs-CZ" noProof="0" dirty="0"/>
              <a:t>1</a:t>
            </a:r>
            <a:r>
              <a:rPr lang="en-GB" noProof="0" dirty="0"/>
              <a:t>5% must retake the </a:t>
            </a:r>
            <a:r>
              <a:rPr lang="cs-CZ" noProof="0" dirty="0"/>
              <a:t>second </a:t>
            </a:r>
            <a:r>
              <a:rPr lang="en-GB" noProof="0" dirty="0"/>
              <a:t>year</a:t>
            </a:r>
          </a:p>
          <a:p>
            <a:r>
              <a:rPr lang="en-GB" noProof="0" dirty="0"/>
              <a:t>Third year:</a:t>
            </a:r>
          </a:p>
          <a:p>
            <a:pPr lvl="1"/>
            <a:r>
              <a:rPr lang="en-GB" noProof="0" dirty="0"/>
              <a:t>78% successfully finish the study program</a:t>
            </a:r>
          </a:p>
          <a:p>
            <a:pPr lvl="1"/>
            <a:r>
              <a:rPr lang="en-GB" noProof="0" dirty="0"/>
              <a:t>5% leave the university</a:t>
            </a:r>
          </a:p>
          <a:p>
            <a:pPr lvl="1"/>
            <a:r>
              <a:rPr lang="en-GB" noProof="0" dirty="0"/>
              <a:t>17% must retake the </a:t>
            </a:r>
            <a:r>
              <a:rPr lang="cs-CZ" noProof="0" dirty="0" err="1"/>
              <a:t>third</a:t>
            </a:r>
            <a:r>
              <a:rPr lang="cs-CZ" noProof="0" dirty="0"/>
              <a:t> </a:t>
            </a:r>
            <a:r>
              <a:rPr lang="en-GB" noProof="0" dirty="0"/>
              <a:t>year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 (II)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Construct the transition matrix</a:t>
            </a:r>
          </a:p>
          <a:p>
            <a:r>
              <a:rPr lang="en-GB" dirty="0"/>
              <a:t>Calculate the probability that the student in first year will finish the university successfully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Maintenance</a:t>
            </a:r>
            <a:r>
              <a:rPr lang="cs-CZ" dirty="0"/>
              <a:t> model</a:t>
            </a:r>
            <a:endParaRPr lang="cs-CZ" altLang="cs-CZ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978080" cy="4781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cs-CZ" dirty="0">
                <a:latin typeface="Times New Roman" panose="02020603050405020304" pitchFamily="18" charset="0"/>
              </a:rPr>
              <a:t>One of possible applications</a:t>
            </a:r>
          </a:p>
          <a:p>
            <a:pPr eaLnBrk="1" hangingPunct="1">
              <a:lnSpc>
                <a:spcPct val="90000"/>
              </a:lnSpc>
            </a:pPr>
            <a:endParaRPr lang="en-GB" altLang="cs-CZ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GB" altLang="cs-CZ" dirty="0">
              <a:latin typeface="Times New Roman" panose="02020603050405020304" pitchFamily="18" charset="0"/>
            </a:endParaRPr>
          </a:p>
          <a:p>
            <a:pPr marL="319088" indent="-319088" eaLnBrk="1" hangingPunct="1">
              <a:lnSpc>
                <a:spcPct val="90000"/>
              </a:lnSpc>
            </a:pPr>
            <a:r>
              <a:rPr lang="en-GB" altLang="cs-CZ" i="1" dirty="0" err="1">
                <a:latin typeface="Times New Roman" panose="02020603050405020304" pitchFamily="18" charset="0"/>
              </a:rPr>
              <a:t>a</a:t>
            </a:r>
            <a:r>
              <a:rPr lang="en-GB" altLang="cs-CZ" i="1" baseline="-25000" dirty="0" err="1">
                <a:latin typeface="Times New Roman" panose="02020603050405020304" pitchFamily="18" charset="0"/>
              </a:rPr>
              <a:t>i</a:t>
            </a:r>
            <a:r>
              <a:rPr lang="en-GB" altLang="cs-CZ" dirty="0">
                <a:latin typeface="Times New Roman" panose="02020603050405020304" pitchFamily="18" charset="0"/>
              </a:rPr>
              <a:t> – failure/retirement probability of the unit in </a:t>
            </a:r>
            <a:r>
              <a:rPr lang="en-GB" altLang="cs-CZ" i="1" dirty="0" err="1">
                <a:latin typeface="Times New Roman" panose="02020603050405020304" pitchFamily="18" charset="0"/>
              </a:rPr>
              <a:t>i</a:t>
            </a:r>
            <a:r>
              <a:rPr lang="en-GB" altLang="cs-CZ" dirty="0" err="1">
                <a:latin typeface="Times New Roman" panose="02020603050405020304" pitchFamily="18" charset="0"/>
              </a:rPr>
              <a:t>th</a:t>
            </a:r>
            <a:r>
              <a:rPr lang="en-GB" altLang="cs-CZ" dirty="0">
                <a:latin typeface="Times New Roman" panose="02020603050405020304" pitchFamily="18" charset="0"/>
              </a:rPr>
              <a:t> stage/period</a:t>
            </a:r>
          </a:p>
          <a:p>
            <a:pPr eaLnBrk="1" hangingPunct="1">
              <a:lnSpc>
                <a:spcPct val="90000"/>
              </a:lnSpc>
            </a:pPr>
            <a:r>
              <a:rPr lang="en-GB" altLang="cs-CZ" i="1" dirty="0" err="1">
                <a:latin typeface="Times New Roman" panose="02020603050405020304" pitchFamily="18" charset="0"/>
              </a:rPr>
              <a:t>r</a:t>
            </a:r>
            <a:r>
              <a:rPr lang="en-GB" altLang="cs-CZ" i="1" baseline="-25000" dirty="0" err="1">
                <a:latin typeface="Times New Roman" panose="02020603050405020304" pitchFamily="18" charset="0"/>
              </a:rPr>
              <a:t>i</a:t>
            </a:r>
            <a:r>
              <a:rPr lang="en-GB" altLang="cs-CZ" dirty="0">
                <a:latin typeface="Times New Roman" panose="02020603050405020304" pitchFamily="18" charset="0"/>
              </a:rPr>
              <a:t> – probability of surviving the </a:t>
            </a:r>
            <a:r>
              <a:rPr lang="en-GB" altLang="cs-CZ" i="1" dirty="0" err="1">
                <a:latin typeface="Times New Roman" panose="02020603050405020304" pitchFamily="18" charset="0"/>
              </a:rPr>
              <a:t>i</a:t>
            </a:r>
            <a:r>
              <a:rPr lang="en-GB" altLang="cs-CZ" dirty="0" err="1">
                <a:latin typeface="Times New Roman" panose="02020603050405020304" pitchFamily="18" charset="0"/>
              </a:rPr>
              <a:t>th</a:t>
            </a:r>
            <a:r>
              <a:rPr lang="en-GB" altLang="cs-CZ" dirty="0">
                <a:latin typeface="Times New Roman" panose="02020603050405020304" pitchFamily="18" charset="0"/>
              </a:rPr>
              <a:t> stage/period</a:t>
            </a:r>
          </a:p>
          <a:p>
            <a:pPr eaLnBrk="1" hangingPunct="1">
              <a:lnSpc>
                <a:spcPct val="90000"/>
              </a:lnSpc>
            </a:pPr>
            <a:r>
              <a:rPr lang="en-GB" altLang="cs-CZ" i="1" dirty="0">
                <a:latin typeface="Times New Roman" panose="02020603050405020304" pitchFamily="18" charset="0"/>
              </a:rPr>
              <a:t>T</a:t>
            </a:r>
            <a:r>
              <a:rPr lang="en-GB" altLang="cs-CZ" dirty="0">
                <a:latin typeface="Times New Roman" panose="02020603050405020304" pitchFamily="18" charset="0"/>
              </a:rPr>
              <a:t> – maximum service life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cs-CZ" i="1" dirty="0">
                <a:latin typeface="Times New Roman" panose="02020603050405020304" pitchFamily="18" charset="0"/>
              </a:rPr>
              <a:t>V</a:t>
            </a:r>
            <a:r>
              <a:rPr lang="en-GB" altLang="cs-CZ" dirty="0">
                <a:latin typeface="Times New Roman" panose="02020603050405020304" pitchFamily="18" charset="0"/>
              </a:rPr>
              <a:t> – average service life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cs-CZ" dirty="0"/>
              <a:t>Model preconditions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188" y="1600200"/>
            <a:ext cx="8281987" cy="49974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Times New Roman" panose="02020603050405020304" pitchFamily="18" charset="0"/>
              </a:rPr>
              <a:t>Homogenous units,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Times New Roman" panose="02020603050405020304" pitchFamily="18" charset="0"/>
              </a:rPr>
              <a:t>The amount of units does not change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Times New Roman" panose="02020603050405020304" pitchFamily="18" charset="0"/>
              </a:rPr>
              <a:t>Units are not repaired, retired units are replaced by new units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Times New Roman" panose="02020603050405020304" pitchFamily="18" charset="0"/>
              </a:rPr>
              <a:t>Attributes of the unit does not change throughout the service life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Times New Roman" panose="02020603050405020304" pitchFamily="18" charset="0"/>
              </a:rPr>
              <a:t>We know the probability of failure in </a:t>
            </a:r>
            <a:r>
              <a:rPr lang="en-US" altLang="cs-CZ" i="1" dirty="0" err="1">
                <a:latin typeface="Times New Roman" panose="02020603050405020304" pitchFamily="18" charset="0"/>
              </a:rPr>
              <a:t>i</a:t>
            </a:r>
            <a:r>
              <a:rPr lang="en-US" altLang="cs-CZ" dirty="0" err="1">
                <a:latin typeface="Times New Roman" panose="02020603050405020304" pitchFamily="18" charset="0"/>
              </a:rPr>
              <a:t>th</a:t>
            </a:r>
            <a:r>
              <a:rPr lang="en-US" altLang="cs-CZ" dirty="0">
                <a:latin typeface="Times New Roman" panose="02020603050405020304" pitchFamily="18" charset="0"/>
              </a:rPr>
              <a:t> period </a:t>
            </a:r>
            <a:r>
              <a:rPr lang="en-US" altLang="cs-CZ" i="1" dirty="0" err="1">
                <a:latin typeface="Times New Roman" panose="02020603050405020304" pitchFamily="18" charset="0"/>
              </a:rPr>
              <a:t>a</a:t>
            </a:r>
            <a:r>
              <a:rPr lang="en-US" altLang="cs-CZ" i="1" baseline="-25000" dirty="0" err="1">
                <a:latin typeface="Times New Roman" panose="02020603050405020304" pitchFamily="18" charset="0"/>
              </a:rPr>
              <a:t>i</a:t>
            </a:r>
            <a:endParaRPr lang="en-US" altLang="cs-CZ" i="1" baseline="-25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Times New Roman" panose="02020603050405020304" pitchFamily="18" charset="0"/>
              </a:rPr>
              <a:t>Renewal of the units takes place at the end of the time step (all time steps has same length)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Times New Roman" panose="02020603050405020304" pitchFamily="18" charset="0"/>
              </a:rPr>
              <a:t>Probability of failure is independent on the condition of other units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dirty="0" err="1"/>
              <a:t>Formulas</a:t>
            </a:r>
            <a:endParaRPr lang="cs-CZ" altLang="cs-CZ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2400" i="1" dirty="0" err="1">
                <a:latin typeface="Times New Roman" panose="02020603050405020304" pitchFamily="18" charset="0"/>
              </a:rPr>
              <a:t>a</a:t>
            </a:r>
            <a:r>
              <a:rPr lang="cs-CZ" altLang="cs-CZ" sz="2400" i="1" baseline="-25000" dirty="0" err="1">
                <a:latin typeface="Times New Roman" panose="02020603050405020304" pitchFamily="18" charset="0"/>
              </a:rPr>
              <a:t>i</a:t>
            </a:r>
            <a:r>
              <a:rPr lang="cs-CZ" altLang="cs-CZ" sz="2400" dirty="0">
                <a:latin typeface="Times New Roman" panose="02020603050405020304" pitchFamily="18" charset="0"/>
              </a:rPr>
              <a:t> 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≥ 0, </a:t>
            </a: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= 1, 2, 3, …, </a:t>
            </a: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2400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cs-CZ" altLang="cs-CZ" sz="2400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= 1, </a:t>
            </a: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+1, </a:t>
            </a: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+2, …</a:t>
            </a:r>
          </a:p>
          <a:p>
            <a:pPr eaLnBrk="1" hangingPunct="1"/>
            <a:endParaRPr lang="cs-CZ" altLang="cs-CZ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/>
            <a:endParaRPr lang="cs-CZ" altLang="cs-CZ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1024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602470334"/>
              </p:ext>
            </p:extLst>
          </p:nvPr>
        </p:nvGraphicFramePr>
        <p:xfrm>
          <a:off x="887413" y="2471738"/>
          <a:ext cx="1109662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2" imgW="545863" imgH="431613" progId="Equation.3">
                  <p:embed/>
                </p:oleObj>
              </mc:Choice>
              <mc:Fallback>
                <p:oleObj name="Rovnice" r:id="rId2" imgW="545863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2471738"/>
                        <a:ext cx="1109662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71550" y="4221163"/>
          <a:ext cx="122237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647700" imgH="431800" progId="Equation.3">
                  <p:embed/>
                </p:oleObj>
              </mc:Choice>
              <mc:Fallback>
                <p:oleObj name="Rovnice" r:id="rId4" imgW="647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221163"/>
                        <a:ext cx="1222375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4876800" y="4010025"/>
            <a:ext cx="381000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2400" i="1" dirty="0">
                <a:latin typeface="Times New Roman" panose="02020603050405020304" pitchFamily="18" charset="0"/>
              </a:rPr>
              <a:t>r</a:t>
            </a:r>
            <a:r>
              <a:rPr lang="cs-CZ" altLang="cs-CZ" sz="2400" baseline="-25000" dirty="0">
                <a:latin typeface="Times New Roman" panose="02020603050405020304" pitchFamily="18" charset="0"/>
              </a:rPr>
              <a:t>0</a:t>
            </a:r>
            <a:r>
              <a:rPr lang="cs-CZ" altLang="cs-CZ" sz="2400" dirty="0">
                <a:latin typeface="Times New Roman" panose="02020603050405020304" pitchFamily="18" charset="0"/>
              </a:rPr>
              <a:t> 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= 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cs-CZ" altLang="cs-CZ" sz="24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cs-CZ" altLang="cs-CZ" sz="2400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-1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cs-CZ" altLang="cs-CZ" sz="2400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cs-CZ" altLang="cs-CZ" sz="2400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endParaRPr lang="cs-CZ" altLang="cs-CZ" sz="2400" i="1" baseline="-25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2400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cs-CZ" altLang="cs-CZ" sz="2400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cs-CZ" altLang="cs-CZ" sz="24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+1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cs-CZ" altLang="cs-CZ" sz="24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+2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+ … + </a:t>
            </a:r>
            <a:r>
              <a:rPr lang="cs-CZ" altLang="cs-CZ" sz="2400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cs-CZ" altLang="cs-CZ" sz="2400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b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= 0, 1, …, </a:t>
            </a: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-1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cs-CZ" altLang="cs-CZ" sz="24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-1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cs-CZ" altLang="cs-CZ" sz="2400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cs-CZ" altLang="cs-CZ" sz="2400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cs-CZ" altLang="cs-CZ" sz="2400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cs-CZ" altLang="cs-CZ" sz="2400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 = 0, 1, …, </a:t>
            </a:r>
            <a:r>
              <a:rPr lang="cs-CZ" altLang="cs-CZ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cs-CZ" altLang="cs-CZ" sz="2400" dirty="0">
                <a:latin typeface="Times New Roman" panose="02020603050405020304" pitchFamily="18" charset="0"/>
                <a:cs typeface="Arial" panose="020B0604020202020204" pitchFamily="34" charset="0"/>
              </a:rPr>
              <a:t>-1</a:t>
            </a:r>
          </a:p>
          <a:p>
            <a:pPr eaLnBrk="1" hangingPunct="1"/>
            <a:endParaRPr lang="cs-CZ" altLang="cs-CZ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247" name="Text Box 10"/>
          <p:cNvSpPr txBox="1">
            <a:spLocks noChangeArrowheads="1"/>
          </p:cNvSpPr>
          <p:nvPr/>
        </p:nvSpPr>
        <p:spPr bwMode="auto">
          <a:xfrm>
            <a:off x="900113" y="5084763"/>
            <a:ext cx="1368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cs-CZ" altLang="cs-CZ" dirty="0" err="1"/>
              <a:t>i.e</a:t>
            </a:r>
            <a:r>
              <a:rPr lang="cs-CZ" altLang="cs-CZ" dirty="0"/>
              <a:t>.</a:t>
            </a:r>
          </a:p>
        </p:txBody>
      </p:sp>
      <p:graphicFrame>
        <p:nvGraphicFramePr>
          <p:cNvPr id="1024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309637"/>
              </p:ext>
            </p:extLst>
          </p:nvPr>
        </p:nvGraphicFramePr>
        <p:xfrm>
          <a:off x="971550" y="5500688"/>
          <a:ext cx="107950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571252" imgH="431613" progId="Equation.3">
                  <p:embed/>
                </p:oleObj>
              </mc:Choice>
              <mc:Fallback>
                <p:oleObj name="Rovnice" r:id="rId6" imgW="571252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500688"/>
                        <a:ext cx="1079500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cs-CZ" sz="3800" dirty="0"/>
              <a:t>Maintenance model via Markov chain</a:t>
            </a:r>
            <a:r>
              <a:rPr lang="cs-CZ" altLang="cs-CZ" sz="3800" dirty="0"/>
              <a:t> </a:t>
            </a:r>
            <a:endParaRPr lang="en-US" altLang="cs-CZ" sz="38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95288" y="1600200"/>
            <a:ext cx="8424862" cy="49974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Times New Roman" panose="02020603050405020304" pitchFamily="18" charset="0"/>
              </a:rPr>
              <a:t>Stage of the system – age of the unit.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Times New Roman" panose="02020603050405020304" pitchFamily="18" charset="0"/>
              </a:rPr>
              <a:t>Two possibilities – aging or retirement and 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cs-CZ" dirty="0">
                <a:latin typeface="Times New Roman" panose="02020603050405020304" pitchFamily="18" charset="0"/>
              </a:rPr>
              <a:t>Rows in transition matrix contain only two non-</a:t>
            </a:r>
            <a:r>
              <a:rPr lang="cs-CZ" altLang="cs-CZ" dirty="0">
                <a:latin typeface="Times New Roman" panose="02020603050405020304" pitchFamily="18" charset="0"/>
              </a:rPr>
              <a:t>z</a:t>
            </a:r>
            <a:r>
              <a:rPr lang="en-US" altLang="cs-CZ" dirty="0" err="1">
                <a:latin typeface="Times New Roman" panose="02020603050405020304" pitchFamily="18" charset="0"/>
              </a:rPr>
              <a:t>ero</a:t>
            </a:r>
            <a:r>
              <a:rPr lang="en-US" altLang="cs-CZ" dirty="0">
                <a:latin typeface="Times New Roman" panose="02020603050405020304" pitchFamily="18" charset="0"/>
              </a:rPr>
              <a:t> elements </a:t>
            </a:r>
            <a:r>
              <a:rPr lang="en-US" altLang="cs-CZ" i="1" dirty="0" err="1">
                <a:latin typeface="Times New Roman" panose="02020603050405020304" pitchFamily="18" charset="0"/>
              </a:rPr>
              <a:t>p</a:t>
            </a:r>
            <a:r>
              <a:rPr lang="en-US" altLang="cs-CZ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 and </a:t>
            </a:r>
            <a:r>
              <a:rPr lang="en-US" altLang="cs-CZ" i="1" dirty="0" err="1">
                <a:latin typeface="Times New Roman" panose="02020603050405020304" pitchFamily="18" charset="0"/>
              </a:rPr>
              <a:t>q</a:t>
            </a:r>
            <a:r>
              <a:rPr lang="en-US" altLang="cs-CZ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</a:rPr>
              <a:t>Conditional probability that the unit will retire in an </a:t>
            </a:r>
            <a:r>
              <a:rPr lang="en-US" i="1" dirty="0">
                <a:latin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</a:rPr>
              <a:t>th period </a:t>
            </a:r>
            <a:r>
              <a:rPr lang="en-US" altLang="cs-CZ" dirty="0">
                <a:latin typeface="Times New Roman" panose="02020603050405020304" pitchFamily="18" charset="0"/>
              </a:rPr>
              <a:t>(</a:t>
            </a:r>
            <a:r>
              <a:rPr lang="en-US" altLang="cs-CZ" i="1" dirty="0" err="1">
                <a:latin typeface="Times New Roman" panose="02020603050405020304" pitchFamily="18" charset="0"/>
              </a:rPr>
              <a:t>p</a:t>
            </a:r>
            <a:r>
              <a:rPr lang="en-US" altLang="cs-CZ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):  		</a:t>
            </a:r>
            <a:r>
              <a:rPr lang="en-US" altLang="cs-CZ" i="1" dirty="0">
                <a:latin typeface="Times New Roman" panose="02020603050405020304" pitchFamily="18" charset="0"/>
              </a:rPr>
              <a:t>a</a:t>
            </a:r>
            <a:r>
              <a:rPr lang="en-US" altLang="cs-CZ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 = </a:t>
            </a:r>
            <a:r>
              <a:rPr lang="en-US" altLang="cs-CZ" i="1" dirty="0">
                <a:latin typeface="Times New Roman" panose="02020603050405020304" pitchFamily="18" charset="0"/>
              </a:rPr>
              <a:t>r</a:t>
            </a:r>
            <a:r>
              <a:rPr lang="en-US" altLang="cs-CZ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cs-CZ" baseline="-25000" dirty="0">
                <a:latin typeface="Times New Roman" panose="02020603050405020304" pitchFamily="18" charset="0"/>
              </a:rPr>
              <a:t>-1</a:t>
            </a:r>
            <a:r>
              <a:rPr lang="en-US" altLang="cs-CZ" i="1" dirty="0">
                <a:latin typeface="Times New Roman" panose="02020603050405020304" pitchFamily="18" charset="0"/>
              </a:rPr>
              <a:t>p</a:t>
            </a:r>
            <a:r>
              <a:rPr lang="en-US" altLang="cs-CZ" baseline="-25000" dirty="0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cs-CZ" baseline="-25000" dirty="0">
                <a:latin typeface="Times New Roman" panose="02020603050405020304" pitchFamily="18" charset="0"/>
              </a:rPr>
              <a:t>						</a:t>
            </a:r>
            <a:r>
              <a:rPr lang="en-US" altLang="cs-CZ" i="1" dirty="0" err="1">
                <a:latin typeface="Times New Roman" panose="02020603050405020304" pitchFamily="18" charset="0"/>
              </a:rPr>
              <a:t>p</a:t>
            </a:r>
            <a:r>
              <a:rPr lang="en-US" altLang="cs-CZ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 = </a:t>
            </a:r>
            <a:r>
              <a:rPr lang="en-US" altLang="cs-CZ" i="1" dirty="0">
                <a:latin typeface="Times New Roman" panose="02020603050405020304" pitchFamily="18" charset="0"/>
              </a:rPr>
              <a:t>a</a:t>
            </a:r>
            <a:r>
              <a:rPr lang="en-US" altLang="cs-CZ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/</a:t>
            </a:r>
            <a:r>
              <a:rPr lang="en-US" altLang="cs-CZ" i="1" dirty="0">
                <a:latin typeface="Times New Roman" panose="02020603050405020304" pitchFamily="18" charset="0"/>
              </a:rPr>
              <a:t>r</a:t>
            </a:r>
            <a:r>
              <a:rPr lang="en-US" altLang="cs-CZ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cs-CZ" baseline="-25000" dirty="0">
                <a:latin typeface="Times New Roman" panose="02020603050405020304" pitchFamily="18" charset="0"/>
              </a:rPr>
              <a:t>-1</a:t>
            </a:r>
            <a:endParaRPr lang="en-US" altLang="cs-CZ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cs-CZ" dirty="0">
                <a:latin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</a:rPr>
              <a:t>onditional</a:t>
            </a:r>
            <a:r>
              <a:rPr lang="en-US" dirty="0">
                <a:latin typeface="Times New Roman" panose="02020603050405020304" pitchFamily="18" charset="0"/>
              </a:rPr>
              <a:t> probability that the unit</a:t>
            </a:r>
            <a:r>
              <a:rPr lang="cs-CZ" dirty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</a:rPr>
              <a:t>will age to the period </a:t>
            </a:r>
            <a:r>
              <a:rPr lang="en-US" i="1" dirty="0">
                <a:latin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</a:rPr>
              <a:t>+1 </a:t>
            </a:r>
            <a:r>
              <a:rPr lang="en-US" altLang="cs-CZ" dirty="0">
                <a:latin typeface="Times New Roman" panose="02020603050405020304" pitchFamily="18" charset="0"/>
              </a:rPr>
              <a:t>:   			</a:t>
            </a:r>
            <a:r>
              <a:rPr lang="en-US" altLang="cs-CZ" i="1" dirty="0" err="1">
                <a:latin typeface="Times New Roman" panose="02020603050405020304" pitchFamily="18" charset="0"/>
              </a:rPr>
              <a:t>r</a:t>
            </a:r>
            <a:r>
              <a:rPr lang="en-US" altLang="cs-CZ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 = </a:t>
            </a:r>
            <a:r>
              <a:rPr lang="en-US" altLang="cs-CZ" i="1" dirty="0">
                <a:latin typeface="Times New Roman" panose="02020603050405020304" pitchFamily="18" charset="0"/>
              </a:rPr>
              <a:t>r</a:t>
            </a:r>
            <a:r>
              <a:rPr lang="en-US" altLang="cs-CZ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cs-CZ" baseline="-25000" dirty="0">
                <a:latin typeface="Times New Roman" panose="02020603050405020304" pitchFamily="18" charset="0"/>
              </a:rPr>
              <a:t>-1</a:t>
            </a:r>
            <a:r>
              <a:rPr lang="en-US" altLang="cs-CZ" i="1" dirty="0">
                <a:latin typeface="Times New Roman" panose="02020603050405020304" pitchFamily="18" charset="0"/>
              </a:rPr>
              <a:t>q</a:t>
            </a:r>
            <a:r>
              <a:rPr lang="en-US" altLang="cs-CZ" i="1" baseline="-25000" dirty="0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cs-CZ" dirty="0">
                <a:latin typeface="Times New Roman" panose="02020603050405020304" pitchFamily="18" charset="0"/>
              </a:rPr>
              <a:t>						</a:t>
            </a:r>
            <a:r>
              <a:rPr lang="en-US" altLang="cs-CZ" i="1" dirty="0" err="1">
                <a:latin typeface="Times New Roman" panose="02020603050405020304" pitchFamily="18" charset="0"/>
              </a:rPr>
              <a:t>q</a:t>
            </a:r>
            <a:r>
              <a:rPr lang="en-US" altLang="cs-CZ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 = </a:t>
            </a:r>
            <a:r>
              <a:rPr lang="en-US" altLang="cs-CZ" i="1" dirty="0" err="1">
                <a:latin typeface="Times New Roman" panose="02020603050405020304" pitchFamily="18" charset="0"/>
              </a:rPr>
              <a:t>r</a:t>
            </a:r>
            <a:r>
              <a:rPr lang="en-US" altLang="cs-CZ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/</a:t>
            </a:r>
            <a:r>
              <a:rPr lang="en-US" altLang="cs-CZ" i="1" dirty="0">
                <a:latin typeface="Times New Roman" panose="02020603050405020304" pitchFamily="18" charset="0"/>
              </a:rPr>
              <a:t>r</a:t>
            </a:r>
            <a:r>
              <a:rPr lang="en-US" altLang="cs-CZ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cs-CZ" baseline="-25000" dirty="0">
                <a:latin typeface="Times New Roman" panose="02020603050405020304" pitchFamily="18" charset="0"/>
              </a:rPr>
              <a:t>-1</a:t>
            </a:r>
            <a:r>
              <a:rPr lang="en-US" altLang="cs-CZ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cs-CZ" sz="3800" dirty="0"/>
              <a:t>Maintenance model via Markov chain</a:t>
            </a:r>
            <a:r>
              <a:rPr lang="cs-CZ" altLang="cs-CZ" sz="3800" dirty="0"/>
              <a:t>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600200"/>
            <a:ext cx="8496300" cy="4530725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</a:rPr>
              <a:t>Steady state probabilities</a:t>
            </a:r>
            <a:r>
              <a:rPr lang="cs-CZ" altLang="cs-CZ" dirty="0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cs-CZ" altLang="cs-CZ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cs-CZ" altLang="cs-CZ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cs-CZ" dirty="0">
                <a:latin typeface="Times New Roman" panose="02020603050405020304" pitchFamily="18" charset="0"/>
              </a:rPr>
              <a:t>If </a:t>
            </a:r>
            <a:r>
              <a:rPr lang="en-US" altLang="cs-CZ" i="1" dirty="0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 is total amount of units it is necessary to replace </a:t>
            </a:r>
            <a:r>
              <a:rPr lang="en-US" altLang="cs-CZ" i="1" dirty="0">
                <a:latin typeface="Times New Roman" panose="02020603050405020304" pitchFamily="18" charset="0"/>
              </a:rPr>
              <a:t>N</a:t>
            </a:r>
            <a:r>
              <a:rPr lang="en-US" altLang="cs-CZ" dirty="0">
                <a:latin typeface="Times New Roman" panose="02020603050405020304" pitchFamily="18" charset="0"/>
              </a:rPr>
              <a:t>/</a:t>
            </a:r>
            <a:r>
              <a:rPr lang="en-US" altLang="cs-CZ" i="1" dirty="0">
                <a:latin typeface="Times New Roman" panose="02020603050405020304" pitchFamily="18" charset="0"/>
              </a:rPr>
              <a:t>V</a:t>
            </a:r>
            <a:r>
              <a:rPr lang="en-US" altLang="cs-CZ" dirty="0">
                <a:latin typeface="Times New Roman" panose="02020603050405020304" pitchFamily="18" charset="0"/>
              </a:rPr>
              <a:t> units in average</a:t>
            </a:r>
            <a:r>
              <a:rPr lang="cs-CZ" altLang="cs-CZ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cs-CZ" altLang="cs-CZ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31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65590293"/>
              </p:ext>
            </p:extLst>
          </p:nvPr>
        </p:nvGraphicFramePr>
        <p:xfrm>
          <a:off x="3491880" y="1451792"/>
          <a:ext cx="30956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2" imgW="1206500" imgH="431800" progId="Equation.3">
                  <p:embed/>
                </p:oleObj>
              </mc:Choice>
              <mc:Fallback>
                <p:oleObj name="Rovnice" r:id="rId2" imgW="1206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1451792"/>
                        <a:ext cx="309562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dirty="0" err="1"/>
              <a:t>Example</a:t>
            </a:r>
            <a:endParaRPr lang="cs-CZ" altLang="cs-CZ" dirty="0"/>
          </a:p>
        </p:txBody>
      </p:sp>
      <p:sp>
        <p:nvSpPr>
          <p:cNvPr id="14339" name="Zástupný symbol pro text 2"/>
          <p:cNvSpPr txBox="1">
            <a:spLocks/>
          </p:cNvSpPr>
          <p:nvPr/>
        </p:nvSpPr>
        <p:spPr bwMode="auto">
          <a:xfrm>
            <a:off x="467544" y="1628800"/>
            <a:ext cx="8424936" cy="432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cs-CZ" sz="2400" dirty="0"/>
              <a:t>Janitor has to check 20 bulbs each month. The maximum service life is 6 months. Probability of retirement in previous months is as follows:</a:t>
            </a:r>
            <a:endParaRPr lang="cs-CZ" altLang="cs-CZ" sz="2400" dirty="0"/>
          </a:p>
          <a:p>
            <a:pPr eaLnBrk="1" hangingPunct="1"/>
            <a:endParaRPr lang="en-US" altLang="cs-CZ" sz="2400" dirty="0"/>
          </a:p>
          <a:p>
            <a:pPr lvl="1" eaLnBrk="1" hangingPunct="1"/>
            <a:r>
              <a:rPr lang="en-US" altLang="cs-CZ" sz="2200" dirty="0"/>
              <a:t>1st month: 	30%</a:t>
            </a:r>
          </a:p>
          <a:p>
            <a:pPr lvl="1" eaLnBrk="1" hangingPunct="1"/>
            <a:r>
              <a:rPr lang="en-US" altLang="cs-CZ" sz="2200" dirty="0"/>
              <a:t>2nd month: 	20%</a:t>
            </a:r>
          </a:p>
          <a:p>
            <a:pPr lvl="1" eaLnBrk="1" hangingPunct="1"/>
            <a:r>
              <a:rPr lang="en-US" altLang="cs-CZ" sz="2200" dirty="0"/>
              <a:t>3rd month: 	10%</a:t>
            </a:r>
          </a:p>
          <a:p>
            <a:pPr lvl="1" eaLnBrk="1" hangingPunct="1"/>
            <a:r>
              <a:rPr lang="en-US" altLang="cs-CZ" sz="2200" dirty="0"/>
              <a:t>4th month: 	10%</a:t>
            </a:r>
          </a:p>
          <a:p>
            <a:pPr lvl="1"/>
            <a:r>
              <a:rPr lang="en-US" altLang="cs-CZ" sz="2200" dirty="0"/>
              <a:t>5th month : 	10%</a:t>
            </a:r>
          </a:p>
          <a:p>
            <a:pPr lvl="1"/>
            <a:r>
              <a:rPr lang="en-US" altLang="cs-CZ" sz="2200" dirty="0"/>
              <a:t>6th month : 	20%</a:t>
            </a:r>
            <a:endParaRPr lang="cs-CZ" altLang="cs-CZ" sz="2200" dirty="0"/>
          </a:p>
          <a:p>
            <a:pPr lvl="1"/>
            <a:endParaRPr lang="en-US" altLang="cs-CZ" sz="22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cs-CZ" sz="2400" dirty="0">
              <a:solidFill>
                <a:schemeClr val="tx2"/>
              </a:solidFill>
            </a:endParaRPr>
          </a:p>
          <a:p>
            <a:pPr eaLnBrk="1" hangingPunct="1"/>
            <a:endParaRPr lang="en-GB" altLang="cs-CZ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dirty="0" err="1"/>
              <a:t>Example</a:t>
            </a:r>
            <a:endParaRPr lang="cs-CZ" altLang="cs-CZ" dirty="0"/>
          </a:p>
        </p:txBody>
      </p:sp>
      <p:sp>
        <p:nvSpPr>
          <p:cNvPr id="14339" name="Zástupný symbol pro text 2"/>
          <p:cNvSpPr txBox="1">
            <a:spLocks/>
          </p:cNvSpPr>
          <p:nvPr/>
        </p:nvSpPr>
        <p:spPr bwMode="auto">
          <a:xfrm>
            <a:off x="467544" y="1628800"/>
            <a:ext cx="8424936" cy="432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cs-CZ" sz="2400" dirty="0"/>
              <a:t>Janitor has to check 20 bulbs each month. The maximum service life is 6 months. </a:t>
            </a:r>
            <a:endParaRPr lang="cs-CZ" altLang="cs-CZ" sz="2400" dirty="0"/>
          </a:p>
          <a:p>
            <a:pPr eaLnBrk="1" hangingPunct="1"/>
            <a:endParaRPr lang="cs-CZ" altLang="cs-CZ" sz="2400" dirty="0"/>
          </a:p>
          <a:p>
            <a:r>
              <a:rPr lang="en-US" altLang="cs-CZ" sz="2400" dirty="0"/>
              <a:t>All bulbs are new at the beginning of the year. </a:t>
            </a:r>
          </a:p>
          <a:p>
            <a:r>
              <a:rPr lang="en-US" altLang="cs-CZ" sz="2400" dirty="0"/>
              <a:t>What is average service life of these bulbs? </a:t>
            </a:r>
          </a:p>
          <a:p>
            <a:r>
              <a:rPr lang="en-US" altLang="cs-CZ" sz="2400" dirty="0"/>
              <a:t>What will be the age structure at the end of the year?</a:t>
            </a:r>
            <a:endParaRPr lang="cs-CZ" altLang="cs-CZ" sz="2400" dirty="0"/>
          </a:p>
          <a:p>
            <a:r>
              <a:rPr lang="en-US" altLang="cs-CZ" sz="2400" dirty="0"/>
              <a:t>How many bulbs must be replaced in average every month</a:t>
            </a:r>
            <a:r>
              <a:rPr lang="cs-CZ" altLang="cs-CZ" sz="2400" dirty="0"/>
              <a:t>?</a:t>
            </a:r>
          </a:p>
          <a:p>
            <a:pPr marL="0" indent="0" eaLnBrk="1" hangingPunct="1">
              <a:buNone/>
            </a:pPr>
            <a:endParaRPr lang="en-US" altLang="cs-CZ" sz="22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cs-CZ" sz="2400" dirty="0">
              <a:solidFill>
                <a:schemeClr val="tx2"/>
              </a:solidFill>
            </a:endParaRPr>
          </a:p>
          <a:p>
            <a:pPr eaLnBrk="1" hangingPunct="1"/>
            <a:endParaRPr lang="en-GB" altLang="cs-CZ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777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your</a:t>
            </a:r>
            <a:r>
              <a:rPr lang="cs-CZ" dirty="0"/>
              <a:t> </a:t>
            </a:r>
            <a:r>
              <a:rPr lang="cs-CZ" dirty="0" err="1"/>
              <a:t>attention</a:t>
            </a:r>
            <a:r>
              <a:rPr lang="cs-CZ" dirty="0"/>
              <a:t>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664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1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tiv1" id="{B0B25E39-7186-46C5-9D39-950CFB3AB267}" vid="{2449E244-AD5F-4BB9-8A5A-7BFBD4B00EA6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Motiv1</Template>
  <TotalTime>0</TotalTime>
  <Words>1259</Words>
  <Application>Microsoft Office PowerPoint</Application>
  <PresentationFormat>Předvádění na obrazovce (4:3)</PresentationFormat>
  <Paragraphs>171</Paragraphs>
  <Slides>24</Slides>
  <Notes>3</Notes>
  <HiddenSlides>0</HiddenSlides>
  <MMClips>0</MMClips>
  <ScaleCrop>false</ScaleCrop>
  <HeadingPairs>
    <vt:vector size="8" baseType="variant">
      <vt:variant>
        <vt:lpstr>Použitá písma</vt:lpstr>
      </vt:variant>
      <vt:variant>
        <vt:i4>9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2</vt:i4>
      </vt:variant>
      <vt:variant>
        <vt:lpstr>Nadpisy snímků</vt:lpstr>
      </vt:variant>
      <vt:variant>
        <vt:i4>24</vt:i4>
      </vt:variant>
    </vt:vector>
  </HeadingPairs>
  <TitlesOfParts>
    <vt:vector size="36" baseType="lpstr">
      <vt:lpstr>Arial</vt:lpstr>
      <vt:lpstr>Calibri</vt:lpstr>
      <vt:lpstr>Cambria Math</vt:lpstr>
      <vt:lpstr>Roboto</vt:lpstr>
      <vt:lpstr>Roboto Black</vt:lpstr>
      <vt:lpstr>Roboto Medium</vt:lpstr>
      <vt:lpstr>Symbol</vt:lpstr>
      <vt:lpstr>Times New Roman</vt:lpstr>
      <vt:lpstr>Wingdings</vt:lpstr>
      <vt:lpstr>Motiv1</vt:lpstr>
      <vt:lpstr>Equation</vt:lpstr>
      <vt:lpstr>Rovnice</vt:lpstr>
      <vt:lpstr>Prezentace aplikace PowerPoint</vt:lpstr>
      <vt:lpstr>Markov Chains</vt:lpstr>
      <vt:lpstr>Historical remark</vt:lpstr>
      <vt:lpstr>Markov chains</vt:lpstr>
      <vt:lpstr>Transition Matrix P</vt:lpstr>
      <vt:lpstr>A simple two-state Markov chain</vt:lpstr>
      <vt:lpstr>State vector</vt:lpstr>
      <vt:lpstr>Example</vt:lpstr>
      <vt:lpstr>Steady state probabilities</vt:lpstr>
      <vt:lpstr>Example</vt:lpstr>
      <vt:lpstr>Clasification of states</vt:lpstr>
      <vt:lpstr>Absorbing states</vt:lpstr>
      <vt:lpstr>Fundamental matrix</vt:lpstr>
      <vt:lpstr>Transition from transient to abrobing state </vt:lpstr>
      <vt:lpstr>Example (I)</vt:lpstr>
      <vt:lpstr>Example (II)</vt:lpstr>
      <vt:lpstr>Maintenance model</vt:lpstr>
      <vt:lpstr>Model preconditions</vt:lpstr>
      <vt:lpstr>Formulas</vt:lpstr>
      <vt:lpstr>Maintenance model via Markov chain </vt:lpstr>
      <vt:lpstr>Maintenance model via Markov chain </vt:lpstr>
      <vt:lpstr>Example</vt:lpstr>
      <vt:lpstr>Example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Research and System Analysis</dc:title>
  <dc:creator>krejcii</dc:creator>
  <cp:lastModifiedBy>Horáková Tereza</cp:lastModifiedBy>
  <cp:revision>435</cp:revision>
  <cp:lastPrinted>2015-03-16T11:08:35Z</cp:lastPrinted>
  <dcterms:created xsi:type="dcterms:W3CDTF">2012-01-18T09:02:27Z</dcterms:created>
  <dcterms:modified xsi:type="dcterms:W3CDTF">2024-10-28T21:39:45Z</dcterms:modified>
</cp:coreProperties>
</file>