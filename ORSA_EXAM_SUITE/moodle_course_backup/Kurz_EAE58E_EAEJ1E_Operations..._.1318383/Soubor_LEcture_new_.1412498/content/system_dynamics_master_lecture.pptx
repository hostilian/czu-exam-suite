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3" r:id="rId7"/>
    <p:sldId id="264" r:id="rId8"/>
    <p:sldId id="261" r:id="rId9"/>
    <p:sldId id="262" r:id="rId10"/>
    <p:sldId id="265" r:id="rId11"/>
    <p:sldId id="266" r:id="rId12"/>
    <p:sldId id="275" r:id="rId13"/>
    <p:sldId id="276" r:id="rId14"/>
    <p:sldId id="277" r:id="rId15"/>
    <p:sldId id="278" r:id="rId16"/>
    <p:sldId id="280" r:id="rId17"/>
    <p:sldId id="271" r:id="rId18"/>
    <p:sldId id="272" r:id="rId19"/>
    <p:sldId id="273" r:id="rId20"/>
    <p:sldId id="270" r:id="rId21"/>
    <p:sldId id="27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73273-3A66-451D-A639-5C75142FA5A1}" type="datetimeFigureOut">
              <a:rPr lang="cs-CZ" smtClean="0"/>
              <a:t>16.03.2026</a:t>
            </a:fld>
            <a:endParaRPr lang="cs-CZ"/>
          </a:p>
        </p:txBody>
      </p:sp>
      <p:sp>
        <p:nvSpPr>
          <p:cNvPr id="4" name="Zástupný symbol pro obrázek snímk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3A2AAB-0088-4521-BC4D-37295F4CD849}" type="slidenum">
              <a:rPr lang="cs-CZ" smtClean="0"/>
              <a:t>‹#›</a:t>
            </a:fld>
            <a:endParaRPr lang="cs-CZ"/>
          </a:p>
        </p:txBody>
      </p:sp>
    </p:spTree>
    <p:extLst>
      <p:ext uri="{BB962C8B-B14F-4D97-AF65-F5344CB8AC3E}">
        <p14:creationId xmlns:p14="http://schemas.microsoft.com/office/powerpoint/2010/main" val="707473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Educational_game" TargetMode="External"/><Relationship Id="rId7" Type="http://schemas.openxmlformats.org/officeDocument/2006/relationships/hyperlink" Target="https://en.wikipedia.org/wiki/Beer_distribution_game#cite_note-TBG-2"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en.wikipedia.org/wiki/Bullwhip_effect" TargetMode="External"/><Relationship Id="rId5" Type="http://schemas.openxmlformats.org/officeDocument/2006/relationships/hyperlink" Target="https://en.wikipedia.org/wiki/Supply_chain" TargetMode="External"/><Relationship Id="rId4" Type="http://schemas.openxmlformats.org/officeDocument/2006/relationships/hyperlink" Target="https://en.wikipedia.org/wiki/Beer_distribution_game#cite_note-SCA-1"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US" dirty="0"/>
          </a:p>
          <a:p>
            <a:r>
              <a:rPr lang="en-US" dirty="0"/>
              <a:t>The </a:t>
            </a:r>
            <a:r>
              <a:rPr lang="en-US" b="1" dirty="0"/>
              <a:t>beer distribution game </a:t>
            </a:r>
            <a:r>
              <a:rPr lang="en-US" dirty="0"/>
              <a:t>(also known as the </a:t>
            </a:r>
            <a:r>
              <a:rPr lang="en-US" b="1" dirty="0"/>
              <a:t>beer game</a:t>
            </a:r>
            <a:r>
              <a:rPr lang="en-US" dirty="0"/>
              <a:t>) is an </a:t>
            </a:r>
            <a:r>
              <a:rPr lang="en-US" dirty="0">
                <a:hlinkClick r:id="rId3" tooltip="Educational game"/>
              </a:rPr>
              <a:t>educational game</a:t>
            </a:r>
            <a:r>
              <a:rPr lang="en-US" dirty="0"/>
              <a:t> that is used to experience typical coordination problems of a supply chain process. It reflects a role-play simulation where several participants play with each other. The game represents a supply chain with a non-coordinated process where problems arise due to lack of information sharing.</a:t>
            </a:r>
            <a:r>
              <a:rPr lang="en-US" baseline="30000" dirty="0">
                <a:hlinkClick r:id="rId4"/>
              </a:rPr>
              <a:t>[1]</a:t>
            </a:r>
            <a:r>
              <a:rPr lang="en-US" dirty="0"/>
              <a:t> This game outlines the importance of information sharing, supply chain management and collaboration throughout a </a:t>
            </a:r>
            <a:r>
              <a:rPr lang="en-US" dirty="0">
                <a:hlinkClick r:id="rId5" tooltip="Supply chain"/>
              </a:rPr>
              <a:t>supply chain</a:t>
            </a:r>
            <a:r>
              <a:rPr lang="en-US" dirty="0"/>
              <a:t> process. Due to lack of information, suppliers, manufacturers, sales people and customers often have an incomplete understanding of what the real demand of an order is. The most interesting part of the game is that each group has no control over another part of the supply chain. Therefore, each group has only significant control over their own part of the supply chain. Each group can highly influence the entire supply chain by ordering too much or too little which can lead to a </a:t>
            </a:r>
            <a:r>
              <a:rPr lang="en-US" dirty="0">
                <a:hlinkClick r:id="rId6" tooltip="Bullwhip effect"/>
              </a:rPr>
              <a:t>bullwhip effect</a:t>
            </a:r>
            <a:r>
              <a:rPr lang="en-US" dirty="0"/>
              <a:t>. Therefore, the order taking of a group also highly depends on decisions of the other groups.</a:t>
            </a:r>
            <a:r>
              <a:rPr lang="en-US" baseline="30000" dirty="0">
                <a:hlinkClick r:id="rId7"/>
              </a:rPr>
              <a:t>[2]</a:t>
            </a:r>
            <a:endParaRPr lang="cs-CZ" dirty="0"/>
          </a:p>
          <a:p>
            <a:endParaRPr lang="cs-CZ" dirty="0"/>
          </a:p>
          <a:p>
            <a:endParaRPr lang="cs-CZ" dirty="0"/>
          </a:p>
        </p:txBody>
      </p:sp>
      <p:sp>
        <p:nvSpPr>
          <p:cNvPr id="4" name="Zástupný symbol pro číslo snímku 3"/>
          <p:cNvSpPr>
            <a:spLocks noGrp="1"/>
          </p:cNvSpPr>
          <p:nvPr>
            <p:ph type="sldNum" sz="quarter" idx="5"/>
          </p:nvPr>
        </p:nvSpPr>
        <p:spPr/>
        <p:txBody>
          <a:bodyPr/>
          <a:lstStyle/>
          <a:p>
            <a:fld id="{BB3A2AAB-0088-4521-BC4D-37295F4CD849}" type="slidenum">
              <a:rPr lang="cs-CZ" smtClean="0"/>
              <a:t>20</a:t>
            </a:fld>
            <a:endParaRPr lang="cs-CZ"/>
          </a:p>
        </p:txBody>
      </p:sp>
    </p:spTree>
    <p:extLst>
      <p:ext uri="{BB962C8B-B14F-4D97-AF65-F5344CB8AC3E}">
        <p14:creationId xmlns:p14="http://schemas.microsoft.com/office/powerpoint/2010/main" val="338291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System Dynamics</a:t>
            </a:r>
          </a:p>
        </p:txBody>
      </p:sp>
      <p:sp>
        <p:nvSpPr>
          <p:cNvPr id="3" name="Subtitle 2"/>
          <p:cNvSpPr>
            <a:spLocks noGrp="1"/>
          </p:cNvSpPr>
          <p:nvPr>
            <p:ph type="subTitle" idx="1"/>
          </p:nvPr>
        </p:nvSpPr>
        <p:spPr/>
        <p:txBody>
          <a:bodyPr/>
          <a:lstStyle/>
          <a:p>
            <a:r>
              <a:rPr lang="cs-CZ" dirty="0"/>
              <a:t>1st </a:t>
            </a:r>
            <a:r>
              <a:rPr lang="cs-CZ" dirty="0" err="1"/>
              <a:t>lecture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Systems Thinking?</a:t>
            </a:r>
          </a:p>
        </p:txBody>
      </p:sp>
      <p:sp>
        <p:nvSpPr>
          <p:cNvPr id="3" name="Content Placeholder 2"/>
          <p:cNvSpPr>
            <a:spLocks noGrp="1"/>
          </p:cNvSpPr>
          <p:nvPr>
            <p:ph idx="1"/>
          </p:nvPr>
        </p:nvSpPr>
        <p:spPr/>
        <p:txBody>
          <a:bodyPr/>
          <a:lstStyle/>
          <a:p>
            <a:r>
              <a:rPr dirty="0"/>
              <a:t>Many real-world problems are complex:</a:t>
            </a:r>
          </a:p>
          <a:p>
            <a:pPr>
              <a:buFont typeface="Wingdings" panose="05000000000000000000" pitchFamily="2" charset="2"/>
              <a:buChar char="Ø"/>
            </a:pPr>
            <a:r>
              <a:rPr dirty="0"/>
              <a:t>Traffic congestion</a:t>
            </a:r>
          </a:p>
          <a:p>
            <a:pPr>
              <a:buFont typeface="Wingdings" panose="05000000000000000000" pitchFamily="2" charset="2"/>
              <a:buChar char="Ø"/>
            </a:pPr>
            <a:r>
              <a:rPr dirty="0"/>
              <a:t>Economic cycles</a:t>
            </a:r>
          </a:p>
          <a:p>
            <a:pPr>
              <a:buFont typeface="Wingdings" panose="05000000000000000000" pitchFamily="2" charset="2"/>
              <a:buChar char="Ø"/>
            </a:pPr>
            <a:r>
              <a:rPr dirty="0"/>
              <a:t>Healthcare systems</a:t>
            </a:r>
          </a:p>
          <a:p>
            <a:pPr>
              <a:buFont typeface="Wingdings" panose="05000000000000000000" pitchFamily="2" charset="2"/>
              <a:buChar char="Ø"/>
            </a:pPr>
            <a:r>
              <a:rPr dirty="0"/>
              <a:t>Climate change</a:t>
            </a:r>
          </a:p>
          <a:p>
            <a:endParaRPr dirty="0"/>
          </a:p>
          <a:p>
            <a:r>
              <a:rPr dirty="0"/>
              <a:t>Linear solutions often fail.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Complex Systems</a:t>
            </a:r>
          </a:p>
        </p:txBody>
      </p:sp>
      <p:sp>
        <p:nvSpPr>
          <p:cNvPr id="3" name="Content Placeholder 2"/>
          <p:cNvSpPr>
            <a:spLocks noGrp="1"/>
          </p:cNvSpPr>
          <p:nvPr>
            <p:ph idx="1"/>
          </p:nvPr>
        </p:nvSpPr>
        <p:spPr/>
        <p:txBody>
          <a:bodyPr/>
          <a:lstStyle/>
          <a:p>
            <a:r>
              <a:rPr dirty="0"/>
              <a:t>Many interacting elements</a:t>
            </a:r>
          </a:p>
          <a:p>
            <a:r>
              <a:rPr dirty="0"/>
              <a:t>Feedback loops</a:t>
            </a:r>
          </a:p>
          <a:p>
            <a:r>
              <a:rPr dirty="0"/>
              <a:t>Delays between cause and effect</a:t>
            </a:r>
          </a:p>
          <a:p>
            <a:r>
              <a:rPr dirty="0"/>
              <a:t>Nonlinear relationships</a:t>
            </a:r>
          </a:p>
          <a:p>
            <a:r>
              <a:rPr dirty="0"/>
              <a:t>Unintended consequences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System Dynamics?</a:t>
            </a:r>
          </a:p>
        </p:txBody>
      </p:sp>
      <p:sp>
        <p:nvSpPr>
          <p:cNvPr id="3" name="Content Placeholder 2"/>
          <p:cNvSpPr>
            <a:spLocks noGrp="1"/>
          </p:cNvSpPr>
          <p:nvPr>
            <p:ph idx="1"/>
          </p:nvPr>
        </p:nvSpPr>
        <p:spPr/>
        <p:txBody>
          <a:bodyPr>
            <a:normAutofit lnSpcReduction="10000"/>
          </a:bodyPr>
          <a:lstStyle/>
          <a:p>
            <a:r>
              <a:rPr dirty="0"/>
              <a:t>A method for understanding complex systems over time.</a:t>
            </a:r>
          </a:p>
          <a:p>
            <a:r>
              <a:rPr dirty="0"/>
              <a:t>Developed by Jay W. Forrester at MIT.</a:t>
            </a:r>
          </a:p>
          <a:p>
            <a:endParaRPr dirty="0"/>
          </a:p>
          <a:p>
            <a:r>
              <a:rPr dirty="0"/>
              <a:t>Focus:</a:t>
            </a:r>
          </a:p>
          <a:p>
            <a:pPr>
              <a:buFont typeface="Wingdings" panose="05000000000000000000" pitchFamily="2" charset="2"/>
              <a:buChar char="Ø"/>
            </a:pPr>
            <a:r>
              <a:rPr dirty="0"/>
              <a:t>System structure</a:t>
            </a:r>
          </a:p>
          <a:p>
            <a:pPr>
              <a:buFont typeface="Wingdings" panose="05000000000000000000" pitchFamily="2" charset="2"/>
              <a:buChar char="Ø"/>
            </a:pPr>
            <a:r>
              <a:rPr dirty="0"/>
              <a:t>Feedback loops</a:t>
            </a:r>
          </a:p>
          <a:p>
            <a:pPr>
              <a:buFont typeface="Wingdings" panose="05000000000000000000" pitchFamily="2" charset="2"/>
              <a:buChar char="Ø"/>
            </a:pPr>
            <a:r>
              <a:rPr dirty="0"/>
              <a:t>Simulation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Concepts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a:t>Systems</a:t>
            </a:r>
          </a:p>
          <a:p>
            <a:pPr>
              <a:buFont typeface="Wingdings" panose="05000000000000000000" pitchFamily="2" charset="2"/>
              <a:buChar char="Ø"/>
            </a:pPr>
            <a:r>
              <a:rPr dirty="0"/>
              <a:t>Feedback loops</a:t>
            </a:r>
            <a:r>
              <a:rPr lang="cs-CZ" dirty="0"/>
              <a:t> – R/B</a:t>
            </a:r>
            <a:endParaRPr dirty="0"/>
          </a:p>
          <a:p>
            <a:pPr>
              <a:buFont typeface="Wingdings" panose="05000000000000000000" pitchFamily="2" charset="2"/>
              <a:buChar char="Ø"/>
            </a:pPr>
            <a:r>
              <a:rPr dirty="0"/>
              <a:t>Stocks and flows</a:t>
            </a:r>
            <a:r>
              <a:rPr lang="cs-CZ" dirty="0"/>
              <a:t> – </a:t>
            </a:r>
            <a:r>
              <a:rPr lang="cs-CZ" dirty="0" err="1"/>
              <a:t>Changes</a:t>
            </a:r>
            <a:r>
              <a:rPr lang="cs-CZ" dirty="0"/>
              <a:t> </a:t>
            </a:r>
            <a:r>
              <a:rPr lang="cs-CZ" dirty="0" err="1"/>
              <a:t>over</a:t>
            </a:r>
            <a:r>
              <a:rPr lang="cs-CZ" dirty="0"/>
              <a:t> </a:t>
            </a:r>
            <a:r>
              <a:rPr lang="cs-CZ" dirty="0" err="1"/>
              <a:t>time</a:t>
            </a:r>
            <a:endParaRPr dirty="0"/>
          </a:p>
          <a:p>
            <a:pPr>
              <a:buFont typeface="Wingdings" panose="05000000000000000000" pitchFamily="2" charset="2"/>
              <a:buChar char="Ø"/>
            </a:pPr>
            <a:r>
              <a:rPr dirty="0"/>
              <a:t>Delays</a:t>
            </a:r>
          </a:p>
          <a:p>
            <a:pPr>
              <a:buFont typeface="Wingdings" panose="05000000000000000000" pitchFamily="2" charset="2"/>
              <a:buChar char="Ø"/>
            </a:pPr>
            <a:r>
              <a:rPr dirty="0"/>
              <a:t>Dynamic behavior</a:t>
            </a:r>
            <a:r>
              <a:rPr lang="cs-CZ" dirty="0"/>
              <a:t> – modeling </a:t>
            </a:r>
            <a:r>
              <a:rPr lang="cs-CZ" dirty="0" err="1"/>
              <a:t>systems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Reinforcing Feedback Loop</a:t>
            </a:r>
          </a:p>
        </p:txBody>
      </p:sp>
      <p:sp>
        <p:nvSpPr>
          <p:cNvPr id="5" name="TextovéPole 4">
            <a:extLst>
              <a:ext uri="{FF2B5EF4-FFF2-40B4-BE49-F238E27FC236}">
                <a16:creationId xmlns:a16="http://schemas.microsoft.com/office/drawing/2014/main" id="{E55AB291-EDF5-6C3C-5881-9B98A99CE864}"/>
              </a:ext>
            </a:extLst>
          </p:cNvPr>
          <p:cNvSpPr txBox="1"/>
          <p:nvPr/>
        </p:nvSpPr>
        <p:spPr>
          <a:xfrm>
            <a:off x="576072" y="1481646"/>
            <a:ext cx="7818120" cy="4324261"/>
          </a:xfrm>
          <a:prstGeom prst="rect">
            <a:avLst/>
          </a:prstGeom>
          <a:noFill/>
        </p:spPr>
        <p:txBody>
          <a:bodyPr wrap="square">
            <a:spAutoFit/>
          </a:bodyPr>
          <a:lstStyle/>
          <a:p>
            <a:pPr>
              <a:buNone/>
            </a:pPr>
            <a:r>
              <a:rPr lang="en-US" sz="2500" dirty="0"/>
              <a:t>Reinforcing loops produce </a:t>
            </a:r>
            <a:r>
              <a:rPr lang="en-US" sz="2500" b="1" dirty="0"/>
              <a:t>growth or decline</a:t>
            </a:r>
            <a:r>
              <a:rPr lang="en-US" sz="2500" dirty="0"/>
              <a:t>.</a:t>
            </a:r>
          </a:p>
          <a:p>
            <a:pPr>
              <a:buNone/>
            </a:pPr>
            <a:r>
              <a:rPr lang="en-US" sz="2500" dirty="0"/>
              <a:t>Example:</a:t>
            </a:r>
          </a:p>
          <a:p>
            <a:pPr>
              <a:buNone/>
            </a:pPr>
            <a:r>
              <a:rPr lang="en-US" sz="2500" dirty="0"/>
              <a:t>more customers</a:t>
            </a:r>
            <a:br>
              <a:rPr lang="en-US" sz="2500" dirty="0"/>
            </a:br>
            <a:r>
              <a:rPr lang="en-US" sz="2500" dirty="0"/>
              <a:t>→ more recommendations</a:t>
            </a:r>
            <a:br>
              <a:rPr lang="en-US" sz="2500" dirty="0"/>
            </a:br>
            <a:r>
              <a:rPr lang="en-US" sz="2500" dirty="0"/>
              <a:t>→ more new customers</a:t>
            </a:r>
          </a:p>
          <a:p>
            <a:pPr>
              <a:buNone/>
            </a:pPr>
            <a:r>
              <a:rPr lang="en-US" sz="2500" dirty="0"/>
              <a:t>This creates a </a:t>
            </a:r>
            <a:r>
              <a:rPr lang="en-US" sz="2500" b="1" dirty="0"/>
              <a:t>self-reinforcing cycle</a:t>
            </a:r>
            <a:r>
              <a:rPr lang="en-US" sz="2500" dirty="0"/>
              <a:t>.</a:t>
            </a:r>
          </a:p>
          <a:p>
            <a:pPr>
              <a:buNone/>
            </a:pPr>
            <a:r>
              <a:rPr lang="en-US" sz="2500" dirty="0"/>
              <a:t>Examples in practice:</a:t>
            </a:r>
          </a:p>
          <a:p>
            <a:pPr>
              <a:buFont typeface="Arial" panose="020B0604020202020204" pitchFamily="34" charset="0"/>
              <a:buChar char="•"/>
            </a:pPr>
            <a:r>
              <a:rPr lang="en-US" sz="2500" dirty="0"/>
              <a:t>diffusion of innovations</a:t>
            </a:r>
          </a:p>
          <a:p>
            <a:pPr>
              <a:buFont typeface="Arial" panose="020B0604020202020204" pitchFamily="34" charset="0"/>
              <a:buChar char="•"/>
            </a:pPr>
            <a:r>
              <a:rPr lang="en-US" sz="2500" dirty="0"/>
              <a:t>growth of social networks</a:t>
            </a:r>
          </a:p>
          <a:p>
            <a:pPr>
              <a:buFont typeface="Arial" panose="020B0604020202020204" pitchFamily="34" charset="0"/>
              <a:buChar char="•"/>
            </a:pPr>
            <a:r>
              <a:rPr lang="en-US" sz="2500" dirty="0"/>
              <a:t>viral marketing</a:t>
            </a:r>
          </a:p>
          <a:p>
            <a:pPr>
              <a:buNone/>
            </a:pPr>
            <a:r>
              <a:rPr lang="en-US" sz="2500" dirty="0"/>
              <a:t>These loops often produce </a:t>
            </a:r>
            <a:r>
              <a:rPr lang="en-US" sz="2500" b="1" dirty="0"/>
              <a:t>exponential growth</a:t>
            </a:r>
            <a:r>
              <a:rPr lang="cs-CZ" sz="2500" b="1" dirty="0"/>
              <a:t>/</a:t>
            </a:r>
            <a:r>
              <a:rPr lang="cs-CZ" sz="2500" b="1" dirty="0" err="1"/>
              <a:t>decay</a:t>
            </a:r>
            <a:r>
              <a:rPr lang="en-US" sz="25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Balancing Feedback Loop</a:t>
            </a:r>
          </a:p>
        </p:txBody>
      </p:sp>
      <p:sp>
        <p:nvSpPr>
          <p:cNvPr id="5" name="TextovéPole 4">
            <a:extLst>
              <a:ext uri="{FF2B5EF4-FFF2-40B4-BE49-F238E27FC236}">
                <a16:creationId xmlns:a16="http://schemas.microsoft.com/office/drawing/2014/main" id="{C8D14692-2C7A-1611-7524-A66CD5D2B8E8}"/>
              </a:ext>
            </a:extLst>
          </p:cNvPr>
          <p:cNvSpPr txBox="1"/>
          <p:nvPr/>
        </p:nvSpPr>
        <p:spPr>
          <a:xfrm>
            <a:off x="640080" y="1417638"/>
            <a:ext cx="7680960" cy="4708981"/>
          </a:xfrm>
          <a:prstGeom prst="rect">
            <a:avLst/>
          </a:prstGeom>
          <a:noFill/>
        </p:spPr>
        <p:txBody>
          <a:bodyPr wrap="square">
            <a:spAutoFit/>
          </a:bodyPr>
          <a:lstStyle/>
          <a:p>
            <a:pPr>
              <a:buNone/>
            </a:pPr>
            <a:r>
              <a:rPr lang="en-US" sz="2500" dirty="0"/>
              <a:t>Balancing loops work in the opposite way.</a:t>
            </a:r>
            <a:br>
              <a:rPr lang="en-US" sz="2500" dirty="0"/>
            </a:br>
            <a:r>
              <a:rPr lang="en-US" sz="2500" dirty="0"/>
              <a:t>They </a:t>
            </a:r>
            <a:r>
              <a:rPr lang="en-US" sz="2500" b="1" dirty="0"/>
              <a:t>stabilize the system</a:t>
            </a:r>
            <a:r>
              <a:rPr lang="en-US" sz="2500" dirty="0"/>
              <a:t>.</a:t>
            </a:r>
          </a:p>
          <a:p>
            <a:pPr>
              <a:buNone/>
            </a:pPr>
            <a:r>
              <a:rPr lang="en-US" sz="2500" dirty="0"/>
              <a:t>Example:</a:t>
            </a:r>
          </a:p>
          <a:p>
            <a:pPr>
              <a:buNone/>
            </a:pPr>
            <a:r>
              <a:rPr lang="en-US" sz="2500" dirty="0"/>
              <a:t>more customers</a:t>
            </a:r>
            <a:br>
              <a:rPr lang="en-US" sz="2500" dirty="0"/>
            </a:br>
            <a:r>
              <a:rPr lang="en-US" sz="2500" dirty="0"/>
              <a:t>→ greater workload for employees</a:t>
            </a:r>
            <a:br>
              <a:rPr lang="en-US" sz="2500" dirty="0"/>
            </a:br>
            <a:r>
              <a:rPr lang="en-US" sz="2500" dirty="0"/>
              <a:t>→ lower service quality</a:t>
            </a:r>
            <a:br>
              <a:rPr lang="en-US" sz="2500" dirty="0"/>
            </a:br>
            <a:r>
              <a:rPr lang="en-US" sz="2500" dirty="0"/>
              <a:t>→ fewer recommendations</a:t>
            </a:r>
          </a:p>
          <a:p>
            <a:pPr>
              <a:buNone/>
            </a:pPr>
            <a:r>
              <a:rPr lang="en-US" sz="2500" dirty="0"/>
              <a:t>The system therefore tends to </a:t>
            </a:r>
            <a:r>
              <a:rPr lang="en-US" sz="2500" b="1" dirty="0"/>
              <a:t>move toward equilibrium</a:t>
            </a:r>
            <a:r>
              <a:rPr lang="en-US" sz="2500" dirty="0"/>
              <a:t>.</a:t>
            </a:r>
          </a:p>
          <a:p>
            <a:pPr>
              <a:buNone/>
            </a:pPr>
            <a:r>
              <a:rPr lang="en-US" sz="2500" dirty="0"/>
              <a:t>Examples include:</a:t>
            </a:r>
          </a:p>
          <a:p>
            <a:pPr>
              <a:buFont typeface="Arial" panose="020B0604020202020204" pitchFamily="34" charset="0"/>
              <a:buChar char="•"/>
            </a:pPr>
            <a:r>
              <a:rPr lang="en-US" sz="2500" dirty="0"/>
              <a:t>thermostats regulating temperature</a:t>
            </a:r>
          </a:p>
          <a:p>
            <a:pPr>
              <a:buFont typeface="Arial" panose="020B0604020202020204" pitchFamily="34" charset="0"/>
              <a:buChar char="•"/>
            </a:pPr>
            <a:r>
              <a:rPr lang="en-US" sz="2500" dirty="0"/>
              <a:t>inventory management</a:t>
            </a:r>
          </a:p>
          <a:p>
            <a:pPr>
              <a:buFont typeface="Arial" panose="020B0604020202020204" pitchFamily="34" charset="0"/>
              <a:buChar char="•"/>
            </a:pPr>
            <a:r>
              <a:rPr lang="en-US" sz="2500" dirty="0"/>
              <a:t>market price </a:t>
            </a:r>
            <a:r>
              <a:rPr lang="en-US" sz="2500" dirty="0" err="1"/>
              <a:t>adjustmen</a:t>
            </a:r>
            <a:r>
              <a:rPr lang="cs-CZ" sz="2500" dirty="0" err="1"/>
              <a:t>ts</a:t>
            </a:r>
            <a:endParaRPr lang="en-US" sz="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dirty="0" err="1"/>
              <a:t>Change</a:t>
            </a:r>
            <a:r>
              <a:rPr lang="cs-CZ" dirty="0"/>
              <a:t> </a:t>
            </a:r>
            <a:r>
              <a:rPr lang="cs-CZ" dirty="0" err="1"/>
              <a:t>over</a:t>
            </a:r>
            <a:r>
              <a:rPr lang="cs-CZ" dirty="0"/>
              <a:t> </a:t>
            </a:r>
            <a:r>
              <a:rPr lang="cs-CZ" dirty="0" err="1"/>
              <a:t>time</a:t>
            </a:r>
            <a:endParaRPr dirty="0"/>
          </a:p>
        </p:txBody>
      </p:sp>
      <p:sp>
        <p:nvSpPr>
          <p:cNvPr id="3" name="Content Placeholder 2"/>
          <p:cNvSpPr>
            <a:spLocks noGrp="1"/>
          </p:cNvSpPr>
          <p:nvPr>
            <p:ph idx="1"/>
          </p:nvPr>
        </p:nvSpPr>
        <p:spPr/>
        <p:txBody>
          <a:bodyPr/>
          <a:lstStyle/>
          <a:p>
            <a:r>
              <a:rPr dirty="0"/>
              <a:t>Stock = accumulated quantity</a:t>
            </a:r>
          </a:p>
          <a:p>
            <a:r>
              <a:rPr dirty="0"/>
              <a:t>Example: number of customers</a:t>
            </a:r>
          </a:p>
          <a:p>
            <a:endParaRPr dirty="0"/>
          </a:p>
          <a:p>
            <a:r>
              <a:rPr dirty="0"/>
              <a:t>Flow = processes changing stocks</a:t>
            </a:r>
          </a:p>
          <a:p>
            <a:r>
              <a:rPr dirty="0"/>
              <a:t>Example: new customers, lost customers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Stock and Flow Diagram</a:t>
            </a:r>
          </a:p>
        </p:txBody>
      </p:sp>
      <p:pic>
        <p:nvPicPr>
          <p:cNvPr id="8" name="Obrázek 7">
            <a:extLst>
              <a:ext uri="{FF2B5EF4-FFF2-40B4-BE49-F238E27FC236}">
                <a16:creationId xmlns:a16="http://schemas.microsoft.com/office/drawing/2014/main" id="{6893389B-252B-289B-FDE4-8F8505A86422}"/>
              </a:ext>
            </a:extLst>
          </p:cNvPr>
          <p:cNvPicPr>
            <a:picLocks noChangeAspect="1"/>
          </p:cNvPicPr>
          <p:nvPr/>
        </p:nvPicPr>
        <p:blipFill>
          <a:blip r:embed="rId2"/>
          <a:srcRect l="39500" t="34558" r="24200" b="23395"/>
          <a:stretch>
            <a:fillRect/>
          </a:stretch>
        </p:blipFill>
        <p:spPr>
          <a:xfrm>
            <a:off x="365760" y="2814506"/>
            <a:ext cx="5689045" cy="3541940"/>
          </a:xfrm>
          <a:prstGeom prst="rect">
            <a:avLst/>
          </a:prstGeom>
        </p:spPr>
      </p:pic>
      <p:pic>
        <p:nvPicPr>
          <p:cNvPr id="6" name="Obrázek 5">
            <a:extLst>
              <a:ext uri="{FF2B5EF4-FFF2-40B4-BE49-F238E27FC236}">
                <a16:creationId xmlns:a16="http://schemas.microsoft.com/office/drawing/2014/main" id="{DCA86A6F-823C-2737-0005-8FA1CA177680}"/>
              </a:ext>
            </a:extLst>
          </p:cNvPr>
          <p:cNvPicPr>
            <a:picLocks noChangeAspect="1"/>
          </p:cNvPicPr>
          <p:nvPr/>
        </p:nvPicPr>
        <p:blipFill>
          <a:blip r:embed="rId3"/>
          <a:srcRect l="40301" t="28419" r="17299" b="20047"/>
          <a:stretch>
            <a:fillRect/>
          </a:stretch>
        </p:blipFill>
        <p:spPr>
          <a:xfrm>
            <a:off x="3763133" y="1248394"/>
            <a:ext cx="5108024" cy="33370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S-Curve of Growth</a:t>
            </a:r>
          </a:p>
        </p:txBody>
      </p:sp>
      <p:pic>
        <p:nvPicPr>
          <p:cNvPr id="3" name="Picture 2" descr="s_curve_final.png"/>
          <p:cNvPicPr>
            <a:picLocks noChangeAspect="1"/>
          </p:cNvPicPr>
          <p:nvPr/>
        </p:nvPicPr>
        <p:blipFill>
          <a:blip r:embed="rId2"/>
          <a:stretch>
            <a:fillRect/>
          </a:stretch>
        </p:blipFill>
        <p:spPr>
          <a:xfrm>
            <a:off x="1165860" y="1097280"/>
            <a:ext cx="6812280" cy="5109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Stages of S-Curve</a:t>
            </a:r>
          </a:p>
        </p:txBody>
      </p:sp>
      <p:sp>
        <p:nvSpPr>
          <p:cNvPr id="3" name="Content Placeholder 2"/>
          <p:cNvSpPr>
            <a:spLocks noGrp="1"/>
          </p:cNvSpPr>
          <p:nvPr>
            <p:ph idx="1"/>
          </p:nvPr>
        </p:nvSpPr>
        <p:spPr/>
        <p:txBody>
          <a:bodyPr/>
          <a:lstStyle/>
          <a:p>
            <a:r>
              <a:t>1. Early stage – slow growth</a:t>
            </a:r>
          </a:p>
          <a:p>
            <a:r>
              <a:t>2. Rapid growth – reinforcing loops dominate</a:t>
            </a:r>
          </a:p>
          <a:p>
            <a:r>
              <a:t>3. Slowing growth – balancing loops appear</a:t>
            </a:r>
          </a:p>
          <a:p>
            <a:r>
              <a:t>4. Saturation – limits to growth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57B01C1-D9F4-202E-A778-78FA571C0988}"/>
              </a:ext>
            </a:extLst>
          </p:cNvPr>
          <p:cNvSpPr>
            <a:spLocks noGrp="1"/>
          </p:cNvSpPr>
          <p:nvPr>
            <p:ph type="title"/>
          </p:nvPr>
        </p:nvSpPr>
        <p:spPr/>
        <p:txBody>
          <a:bodyPr/>
          <a:lstStyle/>
          <a:p>
            <a:r>
              <a:rPr lang="cs-CZ" dirty="0" err="1"/>
              <a:t>Delays</a:t>
            </a:r>
            <a:r>
              <a:rPr lang="cs-CZ" dirty="0"/>
              <a:t> in </a:t>
            </a:r>
            <a:r>
              <a:rPr lang="cs-CZ" dirty="0" err="1"/>
              <a:t>system</a:t>
            </a:r>
            <a:endParaRPr lang="cs-CZ" dirty="0"/>
          </a:p>
        </p:txBody>
      </p:sp>
      <p:sp>
        <p:nvSpPr>
          <p:cNvPr id="5" name="TextovéPole 4">
            <a:extLst>
              <a:ext uri="{FF2B5EF4-FFF2-40B4-BE49-F238E27FC236}">
                <a16:creationId xmlns:a16="http://schemas.microsoft.com/office/drawing/2014/main" id="{433A7209-EC64-E965-8E96-8B2D7C837E39}"/>
              </a:ext>
            </a:extLst>
          </p:cNvPr>
          <p:cNvSpPr txBox="1"/>
          <p:nvPr/>
        </p:nvSpPr>
        <p:spPr>
          <a:xfrm>
            <a:off x="886968" y="1312236"/>
            <a:ext cx="7653528" cy="4324261"/>
          </a:xfrm>
          <a:prstGeom prst="rect">
            <a:avLst/>
          </a:prstGeom>
          <a:noFill/>
        </p:spPr>
        <p:txBody>
          <a:bodyPr wrap="square">
            <a:spAutoFit/>
          </a:bodyPr>
          <a:lstStyle/>
          <a:p>
            <a:pPr>
              <a:buNone/>
            </a:pPr>
            <a:r>
              <a:rPr lang="en-US" sz="2500" dirty="0"/>
              <a:t>Another important concept is </a:t>
            </a:r>
            <a:r>
              <a:rPr lang="en-US" sz="2500" b="1" dirty="0"/>
              <a:t>time delay</a:t>
            </a:r>
            <a:r>
              <a:rPr lang="en-US" sz="2500" dirty="0"/>
              <a:t>.</a:t>
            </a:r>
          </a:p>
          <a:p>
            <a:pPr>
              <a:buNone/>
            </a:pPr>
            <a:r>
              <a:rPr lang="en-US" sz="2500" dirty="0"/>
              <a:t>A delay occurs when the consequences of a decision appear </a:t>
            </a:r>
            <a:r>
              <a:rPr lang="en-US" sz="2500" b="1" dirty="0"/>
              <a:t>only after some time</a:t>
            </a:r>
            <a:r>
              <a:rPr lang="en-US" sz="2500" dirty="0"/>
              <a:t>.</a:t>
            </a:r>
          </a:p>
          <a:p>
            <a:pPr>
              <a:buNone/>
            </a:pPr>
            <a:r>
              <a:rPr lang="en-US" sz="2500" dirty="0"/>
              <a:t>Examples:</a:t>
            </a:r>
          </a:p>
          <a:p>
            <a:pPr>
              <a:buFont typeface="Arial" panose="020B0604020202020204" pitchFamily="34" charset="0"/>
              <a:buChar char="•"/>
            </a:pPr>
            <a:r>
              <a:rPr lang="en-US" sz="2500" dirty="0"/>
              <a:t>marketing campaigns influence sales after several weeks</a:t>
            </a:r>
          </a:p>
          <a:p>
            <a:pPr>
              <a:buFont typeface="Arial" panose="020B0604020202020204" pitchFamily="34" charset="0"/>
              <a:buChar char="•"/>
            </a:pPr>
            <a:r>
              <a:rPr lang="en-US" sz="2500" dirty="0"/>
              <a:t>education affects economic productivity after many years</a:t>
            </a:r>
          </a:p>
          <a:p>
            <a:pPr>
              <a:buFont typeface="Arial" panose="020B0604020202020204" pitchFamily="34" charset="0"/>
              <a:buChar char="•"/>
            </a:pPr>
            <a:r>
              <a:rPr lang="en-US" sz="2500" dirty="0"/>
              <a:t>infrastructure investments take years to produce results</a:t>
            </a:r>
          </a:p>
          <a:p>
            <a:pPr>
              <a:buNone/>
            </a:pPr>
            <a:r>
              <a:rPr lang="en-US" sz="2500" dirty="0"/>
              <a:t>Delays often make systems </a:t>
            </a:r>
            <a:r>
              <a:rPr lang="en-US" sz="2500" b="1" dirty="0"/>
              <a:t>difficult to manage</a:t>
            </a:r>
            <a:r>
              <a:rPr lang="en-US" sz="2500" dirty="0"/>
              <a:t>, because decision-makers may not immediately see the consequences of their actions.</a:t>
            </a:r>
          </a:p>
        </p:txBody>
      </p:sp>
    </p:spTree>
    <p:extLst>
      <p:ext uri="{BB962C8B-B14F-4D97-AF65-F5344CB8AC3E}">
        <p14:creationId xmlns:p14="http://schemas.microsoft.com/office/powerpoint/2010/main" val="3924666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09EC2A-D7C7-6C62-60C6-680C6A65C44A}"/>
              </a:ext>
            </a:extLst>
          </p:cNvPr>
          <p:cNvSpPr>
            <a:spLocks noGrp="1"/>
          </p:cNvSpPr>
          <p:nvPr>
            <p:ph type="title"/>
          </p:nvPr>
        </p:nvSpPr>
        <p:spPr/>
        <p:txBody>
          <a:bodyPr/>
          <a:lstStyle/>
          <a:p>
            <a:r>
              <a:rPr lang="cs-CZ" dirty="0"/>
              <a:t>Modeling </a:t>
            </a:r>
            <a:r>
              <a:rPr lang="cs-CZ" dirty="0" err="1"/>
              <a:t>systems</a:t>
            </a:r>
            <a:endParaRPr lang="cs-CZ" dirty="0"/>
          </a:p>
        </p:txBody>
      </p:sp>
      <p:sp>
        <p:nvSpPr>
          <p:cNvPr id="3" name="Zástupný obsah 2">
            <a:extLst>
              <a:ext uri="{FF2B5EF4-FFF2-40B4-BE49-F238E27FC236}">
                <a16:creationId xmlns:a16="http://schemas.microsoft.com/office/drawing/2014/main" id="{6547A59F-E3BD-BE62-5182-DD84B917729C}"/>
              </a:ext>
            </a:extLst>
          </p:cNvPr>
          <p:cNvSpPr>
            <a:spLocks noGrp="1"/>
          </p:cNvSpPr>
          <p:nvPr>
            <p:ph idx="1"/>
          </p:nvPr>
        </p:nvSpPr>
        <p:spPr/>
        <p:txBody>
          <a:bodyPr/>
          <a:lstStyle/>
          <a:p>
            <a:r>
              <a:rPr lang="en-US" dirty="0"/>
              <a:t>System dynamics uses </a:t>
            </a:r>
            <a:r>
              <a:rPr lang="en-US" b="1" dirty="0"/>
              <a:t>models</a:t>
            </a:r>
            <a:r>
              <a:rPr lang="en-US" dirty="0"/>
              <a:t> to represent and analyze systems.</a:t>
            </a:r>
          </a:p>
          <a:p>
            <a:r>
              <a:rPr lang="en-US" dirty="0"/>
              <a:t>Two common types of models are used.</a:t>
            </a:r>
            <a:endParaRPr lang="cs-CZ" dirty="0"/>
          </a:p>
          <a:p>
            <a:r>
              <a:rPr lang="cs-CZ" dirty="0"/>
              <a:t>CLD and SFD</a:t>
            </a:r>
          </a:p>
        </p:txBody>
      </p:sp>
    </p:spTree>
    <p:extLst>
      <p:ext uri="{BB962C8B-B14F-4D97-AF65-F5344CB8AC3E}">
        <p14:creationId xmlns:p14="http://schemas.microsoft.com/office/powerpoint/2010/main" val="4074528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52504C5-F836-E00C-FF35-7250C745232D}"/>
              </a:ext>
            </a:extLst>
          </p:cNvPr>
          <p:cNvSpPr>
            <a:spLocks noGrp="1"/>
          </p:cNvSpPr>
          <p:nvPr>
            <p:ph type="title"/>
          </p:nvPr>
        </p:nvSpPr>
        <p:spPr/>
        <p:txBody>
          <a:bodyPr/>
          <a:lstStyle/>
          <a:p>
            <a:r>
              <a:rPr lang="cs-CZ" dirty="0"/>
              <a:t>CLD</a:t>
            </a:r>
          </a:p>
        </p:txBody>
      </p:sp>
      <p:sp>
        <p:nvSpPr>
          <p:cNvPr id="3" name="Zástupný obsah 2">
            <a:extLst>
              <a:ext uri="{FF2B5EF4-FFF2-40B4-BE49-F238E27FC236}">
                <a16:creationId xmlns:a16="http://schemas.microsoft.com/office/drawing/2014/main" id="{E556769A-8738-6E6F-8A1F-933554671DAC}"/>
              </a:ext>
            </a:extLst>
          </p:cNvPr>
          <p:cNvSpPr>
            <a:spLocks noGrp="1"/>
          </p:cNvSpPr>
          <p:nvPr>
            <p:ph idx="1"/>
          </p:nvPr>
        </p:nvSpPr>
        <p:spPr/>
        <p:txBody>
          <a:bodyPr/>
          <a:lstStyle/>
          <a:p>
            <a:r>
              <a:rPr lang="en-US" b="1" dirty="0"/>
              <a:t>Causal loop diagrams</a:t>
            </a:r>
          </a:p>
          <a:p>
            <a:r>
              <a:rPr lang="en-US" dirty="0"/>
              <a:t>Causal loop diagrams visualize </a:t>
            </a:r>
            <a:r>
              <a:rPr lang="en-US" b="1" dirty="0"/>
              <a:t>relationships between variables</a:t>
            </a:r>
            <a:r>
              <a:rPr lang="en-US" dirty="0"/>
              <a:t>.</a:t>
            </a:r>
          </a:p>
          <a:p>
            <a:r>
              <a:rPr lang="en-US" dirty="0"/>
              <a:t>Example:</a:t>
            </a:r>
          </a:p>
          <a:p>
            <a:r>
              <a:rPr lang="en-US" dirty="0"/>
              <a:t>Marketing → Customers → Recommendations → Customers</a:t>
            </a:r>
          </a:p>
          <a:p>
            <a:r>
              <a:rPr lang="en-US" dirty="0"/>
              <a:t>These diagrams help reveal the </a:t>
            </a:r>
            <a:r>
              <a:rPr lang="en-US" b="1" dirty="0"/>
              <a:t>structure of a system</a:t>
            </a:r>
            <a:r>
              <a:rPr lang="en-US" dirty="0"/>
              <a:t>.</a:t>
            </a:r>
          </a:p>
          <a:p>
            <a:endParaRPr lang="cs-CZ" dirty="0"/>
          </a:p>
        </p:txBody>
      </p:sp>
    </p:spTree>
    <p:extLst>
      <p:ext uri="{BB962C8B-B14F-4D97-AF65-F5344CB8AC3E}">
        <p14:creationId xmlns:p14="http://schemas.microsoft.com/office/powerpoint/2010/main" val="1372007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A52D525-5DE7-98B6-DE97-FDF426AED4E5}"/>
              </a:ext>
            </a:extLst>
          </p:cNvPr>
          <p:cNvSpPr>
            <a:spLocks noGrp="1"/>
          </p:cNvSpPr>
          <p:nvPr>
            <p:ph type="title"/>
          </p:nvPr>
        </p:nvSpPr>
        <p:spPr/>
        <p:txBody>
          <a:bodyPr/>
          <a:lstStyle/>
          <a:p>
            <a:r>
              <a:rPr lang="cs-CZ" dirty="0" err="1"/>
              <a:t>Stock</a:t>
            </a:r>
            <a:r>
              <a:rPr lang="cs-CZ" dirty="0"/>
              <a:t> and </a:t>
            </a:r>
            <a:r>
              <a:rPr lang="cs-CZ" dirty="0" err="1"/>
              <a:t>flow</a:t>
            </a:r>
            <a:r>
              <a:rPr lang="cs-CZ" dirty="0"/>
              <a:t> diagram</a:t>
            </a:r>
          </a:p>
        </p:txBody>
      </p:sp>
      <p:sp>
        <p:nvSpPr>
          <p:cNvPr id="3" name="Zástupný obsah 2">
            <a:extLst>
              <a:ext uri="{FF2B5EF4-FFF2-40B4-BE49-F238E27FC236}">
                <a16:creationId xmlns:a16="http://schemas.microsoft.com/office/drawing/2014/main" id="{7A5AEFD0-1095-707B-5407-1193F0275846}"/>
              </a:ext>
            </a:extLst>
          </p:cNvPr>
          <p:cNvSpPr>
            <a:spLocks noGrp="1"/>
          </p:cNvSpPr>
          <p:nvPr>
            <p:ph idx="1"/>
          </p:nvPr>
        </p:nvSpPr>
        <p:spPr/>
        <p:txBody>
          <a:bodyPr>
            <a:normAutofit fontScale="85000" lnSpcReduction="20000"/>
          </a:bodyPr>
          <a:lstStyle/>
          <a:p>
            <a:r>
              <a:rPr lang="en-US" b="1" dirty="0"/>
              <a:t>Simulation models</a:t>
            </a:r>
          </a:p>
          <a:p>
            <a:r>
              <a:rPr lang="en-US" dirty="0"/>
              <a:t>The next step is building </a:t>
            </a:r>
            <a:r>
              <a:rPr lang="en-US" b="1" dirty="0"/>
              <a:t>computer simulation models</a:t>
            </a:r>
            <a:r>
              <a:rPr lang="en-US" dirty="0"/>
              <a:t>.</a:t>
            </a:r>
          </a:p>
          <a:p>
            <a:r>
              <a:rPr lang="en-US" dirty="0"/>
              <a:t>These models allow researchers and managers to:</a:t>
            </a:r>
          </a:p>
          <a:p>
            <a:r>
              <a:rPr lang="en-US" dirty="0"/>
              <a:t>test strategies</a:t>
            </a:r>
          </a:p>
          <a:p>
            <a:r>
              <a:rPr lang="en-US" dirty="0"/>
              <a:t>explore future scenarios</a:t>
            </a:r>
          </a:p>
          <a:p>
            <a:r>
              <a:rPr lang="en-US" dirty="0"/>
              <a:t>evaluate policy decisions</a:t>
            </a:r>
          </a:p>
          <a:p>
            <a:r>
              <a:rPr lang="en-US" dirty="0"/>
              <a:t>Common tools used in system dynamics include:</a:t>
            </a:r>
          </a:p>
          <a:p>
            <a:r>
              <a:rPr lang="en-US" dirty="0" err="1"/>
              <a:t>Vensim</a:t>
            </a:r>
            <a:endParaRPr lang="en-US" dirty="0"/>
          </a:p>
          <a:p>
            <a:r>
              <a:rPr lang="en-US" dirty="0"/>
              <a:t>Stella</a:t>
            </a:r>
          </a:p>
          <a:p>
            <a:r>
              <a:rPr lang="en-US" dirty="0" err="1"/>
              <a:t>AnyLogic</a:t>
            </a:r>
            <a:endParaRPr lang="en-US" dirty="0"/>
          </a:p>
          <a:p>
            <a:endParaRPr lang="cs-CZ" dirty="0"/>
          </a:p>
        </p:txBody>
      </p:sp>
    </p:spTree>
    <p:extLst>
      <p:ext uri="{BB962C8B-B14F-4D97-AF65-F5344CB8AC3E}">
        <p14:creationId xmlns:p14="http://schemas.microsoft.com/office/powerpoint/2010/main" val="2253347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E7BAB63-F3A2-F21E-C6AF-A1328117A7E7}"/>
              </a:ext>
            </a:extLst>
          </p:cNvPr>
          <p:cNvSpPr>
            <a:spLocks noGrp="1"/>
          </p:cNvSpPr>
          <p:nvPr>
            <p:ph type="title"/>
          </p:nvPr>
        </p:nvSpPr>
        <p:spPr/>
        <p:txBody>
          <a:bodyPr/>
          <a:lstStyle/>
          <a:p>
            <a:r>
              <a:rPr lang="cs-CZ" dirty="0"/>
              <a:t>CLD vs SFD</a:t>
            </a:r>
          </a:p>
        </p:txBody>
      </p:sp>
      <p:graphicFrame>
        <p:nvGraphicFramePr>
          <p:cNvPr id="4" name="Zástupný obsah 3">
            <a:extLst>
              <a:ext uri="{FF2B5EF4-FFF2-40B4-BE49-F238E27FC236}">
                <a16:creationId xmlns:a16="http://schemas.microsoft.com/office/drawing/2014/main" id="{6E09AB71-7DCB-5A0E-F314-DEF0F79E5F11}"/>
              </a:ext>
            </a:extLst>
          </p:cNvPr>
          <p:cNvGraphicFramePr>
            <a:graphicFrameLocks noGrp="1"/>
          </p:cNvGraphicFramePr>
          <p:nvPr>
            <p:ph idx="1"/>
            <p:extLst>
              <p:ext uri="{D42A27DB-BD31-4B8C-83A1-F6EECF244321}">
                <p14:modId xmlns:p14="http://schemas.microsoft.com/office/powerpoint/2010/main" val="2248637077"/>
              </p:ext>
            </p:extLst>
          </p:nvPr>
        </p:nvGraphicFramePr>
        <p:xfrm>
          <a:off x="457200" y="1828800"/>
          <a:ext cx="8449056" cy="4123944"/>
        </p:xfrm>
        <a:graphic>
          <a:graphicData uri="http://schemas.openxmlformats.org/drawingml/2006/table">
            <a:tbl>
              <a:tblPr/>
              <a:tblGrid>
                <a:gridCol w="4224528">
                  <a:extLst>
                    <a:ext uri="{9D8B030D-6E8A-4147-A177-3AD203B41FA5}">
                      <a16:colId xmlns:a16="http://schemas.microsoft.com/office/drawing/2014/main" val="3267122071"/>
                    </a:ext>
                  </a:extLst>
                </a:gridCol>
                <a:gridCol w="4224528">
                  <a:extLst>
                    <a:ext uri="{9D8B030D-6E8A-4147-A177-3AD203B41FA5}">
                      <a16:colId xmlns:a16="http://schemas.microsoft.com/office/drawing/2014/main" val="2447862370"/>
                    </a:ext>
                  </a:extLst>
                </a:gridCol>
              </a:tblGrid>
              <a:tr h="687324">
                <a:tc>
                  <a:txBody>
                    <a:bodyPr/>
                    <a:lstStyle/>
                    <a:p>
                      <a:pPr algn="ctr">
                        <a:buNone/>
                      </a:pPr>
                      <a:r>
                        <a:rPr lang="cs-CZ" dirty="0">
                          <a:highlight>
                            <a:srgbClr val="FFFF00"/>
                          </a:highlight>
                        </a:rPr>
                        <a:t>CLD</a:t>
                      </a:r>
                    </a:p>
                  </a:txBody>
                  <a:tcPr anchor="ctr">
                    <a:lnL>
                      <a:noFill/>
                    </a:lnL>
                    <a:lnR>
                      <a:noFill/>
                    </a:lnR>
                    <a:lnT>
                      <a:noFill/>
                    </a:lnT>
                    <a:lnB>
                      <a:noFill/>
                    </a:lnB>
                    <a:noFill/>
                  </a:tcPr>
                </a:tc>
                <a:tc>
                  <a:txBody>
                    <a:bodyPr/>
                    <a:lstStyle/>
                    <a:p>
                      <a:pPr algn="ctr">
                        <a:buNone/>
                      </a:pPr>
                      <a:r>
                        <a:rPr lang="cs-CZ" dirty="0">
                          <a:highlight>
                            <a:srgbClr val="FFFF00"/>
                          </a:highlight>
                        </a:rPr>
                        <a:t>SFD</a:t>
                      </a:r>
                    </a:p>
                  </a:txBody>
                  <a:tcPr anchor="ctr">
                    <a:lnL>
                      <a:noFill/>
                    </a:lnL>
                    <a:lnR>
                      <a:noFill/>
                    </a:lnR>
                    <a:lnT>
                      <a:noFill/>
                    </a:lnT>
                    <a:lnB>
                      <a:noFill/>
                    </a:lnB>
                    <a:noFill/>
                  </a:tcPr>
                </a:tc>
                <a:extLst>
                  <a:ext uri="{0D108BD9-81ED-4DB2-BD59-A6C34878D82A}">
                    <a16:rowId xmlns:a16="http://schemas.microsoft.com/office/drawing/2014/main" val="2616265295"/>
                  </a:ext>
                </a:extLst>
              </a:tr>
              <a:tr h="687324">
                <a:tc>
                  <a:txBody>
                    <a:bodyPr/>
                    <a:lstStyle/>
                    <a:p>
                      <a:pPr algn="ctr">
                        <a:buNone/>
                      </a:pPr>
                      <a:r>
                        <a:rPr lang="cs-CZ"/>
                        <a:t>shows relationships between variables</a:t>
                      </a:r>
                    </a:p>
                  </a:txBody>
                  <a:tcPr anchor="ctr">
                    <a:lnL>
                      <a:noFill/>
                    </a:lnL>
                    <a:lnR>
                      <a:noFill/>
                    </a:lnR>
                    <a:lnT>
                      <a:noFill/>
                    </a:lnT>
                    <a:lnB>
                      <a:noFill/>
                    </a:lnB>
                    <a:noFill/>
                  </a:tcPr>
                </a:tc>
                <a:tc>
                  <a:txBody>
                    <a:bodyPr/>
                    <a:lstStyle/>
                    <a:p>
                      <a:pPr algn="ctr">
                        <a:buNone/>
                      </a:pPr>
                      <a:r>
                        <a:rPr lang="cs-CZ"/>
                        <a:t>models change over time</a:t>
                      </a:r>
                    </a:p>
                  </a:txBody>
                  <a:tcPr anchor="ctr">
                    <a:lnL>
                      <a:noFill/>
                    </a:lnL>
                    <a:lnR>
                      <a:noFill/>
                    </a:lnR>
                    <a:lnT>
                      <a:noFill/>
                    </a:lnT>
                    <a:lnB>
                      <a:noFill/>
                    </a:lnB>
                    <a:noFill/>
                  </a:tcPr>
                </a:tc>
                <a:extLst>
                  <a:ext uri="{0D108BD9-81ED-4DB2-BD59-A6C34878D82A}">
                    <a16:rowId xmlns:a16="http://schemas.microsoft.com/office/drawing/2014/main" val="1017638607"/>
                  </a:ext>
                </a:extLst>
              </a:tr>
              <a:tr h="687324">
                <a:tc>
                  <a:txBody>
                    <a:bodyPr/>
                    <a:lstStyle/>
                    <a:p>
                      <a:pPr algn="ctr">
                        <a:buNone/>
                      </a:pPr>
                      <a:r>
                        <a:rPr lang="cs-CZ" dirty="0" err="1"/>
                        <a:t>conceptual</a:t>
                      </a:r>
                      <a:r>
                        <a:rPr lang="cs-CZ" dirty="0"/>
                        <a:t> model</a:t>
                      </a:r>
                    </a:p>
                  </a:txBody>
                  <a:tcPr anchor="ctr">
                    <a:lnL>
                      <a:noFill/>
                    </a:lnL>
                    <a:lnR>
                      <a:noFill/>
                    </a:lnR>
                    <a:lnT>
                      <a:noFill/>
                    </a:lnT>
                    <a:lnB>
                      <a:noFill/>
                    </a:lnB>
                    <a:noFill/>
                  </a:tcPr>
                </a:tc>
                <a:tc>
                  <a:txBody>
                    <a:bodyPr/>
                    <a:lstStyle/>
                    <a:p>
                      <a:pPr algn="ctr">
                        <a:buNone/>
                      </a:pPr>
                      <a:r>
                        <a:rPr lang="cs-CZ"/>
                        <a:t>quantitative model</a:t>
                      </a:r>
                    </a:p>
                  </a:txBody>
                  <a:tcPr anchor="ctr">
                    <a:lnL>
                      <a:noFill/>
                    </a:lnL>
                    <a:lnR>
                      <a:noFill/>
                    </a:lnR>
                    <a:lnT>
                      <a:noFill/>
                    </a:lnT>
                    <a:lnB>
                      <a:noFill/>
                    </a:lnB>
                    <a:noFill/>
                  </a:tcPr>
                </a:tc>
                <a:extLst>
                  <a:ext uri="{0D108BD9-81ED-4DB2-BD59-A6C34878D82A}">
                    <a16:rowId xmlns:a16="http://schemas.microsoft.com/office/drawing/2014/main" val="642046138"/>
                  </a:ext>
                </a:extLst>
              </a:tr>
              <a:tr h="687324">
                <a:tc>
                  <a:txBody>
                    <a:bodyPr/>
                    <a:lstStyle/>
                    <a:p>
                      <a:pPr algn="ctr">
                        <a:buNone/>
                      </a:pPr>
                      <a:r>
                        <a:rPr lang="cs-CZ"/>
                        <a:t>uses feedback loops</a:t>
                      </a:r>
                    </a:p>
                  </a:txBody>
                  <a:tcPr anchor="ctr">
                    <a:lnL>
                      <a:noFill/>
                    </a:lnL>
                    <a:lnR>
                      <a:noFill/>
                    </a:lnR>
                    <a:lnT>
                      <a:noFill/>
                    </a:lnT>
                    <a:lnB>
                      <a:noFill/>
                    </a:lnB>
                    <a:noFill/>
                  </a:tcPr>
                </a:tc>
                <a:tc>
                  <a:txBody>
                    <a:bodyPr/>
                    <a:lstStyle/>
                    <a:p>
                      <a:pPr algn="ctr">
                        <a:buNone/>
                      </a:pPr>
                      <a:r>
                        <a:rPr lang="cs-CZ"/>
                        <a:t>uses stocks and flows</a:t>
                      </a:r>
                    </a:p>
                  </a:txBody>
                  <a:tcPr anchor="ctr">
                    <a:lnL>
                      <a:noFill/>
                    </a:lnL>
                    <a:lnR>
                      <a:noFill/>
                    </a:lnR>
                    <a:lnT>
                      <a:noFill/>
                    </a:lnT>
                    <a:lnB>
                      <a:noFill/>
                    </a:lnB>
                    <a:noFill/>
                  </a:tcPr>
                </a:tc>
                <a:extLst>
                  <a:ext uri="{0D108BD9-81ED-4DB2-BD59-A6C34878D82A}">
                    <a16:rowId xmlns:a16="http://schemas.microsoft.com/office/drawing/2014/main" val="2863161950"/>
                  </a:ext>
                </a:extLst>
              </a:tr>
              <a:tr h="687324">
                <a:tc>
                  <a:txBody>
                    <a:bodyPr/>
                    <a:lstStyle/>
                    <a:p>
                      <a:pPr algn="ctr">
                        <a:buNone/>
                      </a:pPr>
                      <a:r>
                        <a:rPr lang="cs-CZ"/>
                        <a:t>does not use equations</a:t>
                      </a:r>
                    </a:p>
                  </a:txBody>
                  <a:tcPr anchor="ctr">
                    <a:lnL>
                      <a:noFill/>
                    </a:lnL>
                    <a:lnR>
                      <a:noFill/>
                    </a:lnR>
                    <a:lnT>
                      <a:noFill/>
                    </a:lnT>
                    <a:lnB>
                      <a:noFill/>
                    </a:lnB>
                    <a:noFill/>
                  </a:tcPr>
                </a:tc>
                <a:tc>
                  <a:txBody>
                    <a:bodyPr/>
                    <a:lstStyle/>
                    <a:p>
                      <a:pPr algn="ctr">
                        <a:buNone/>
                      </a:pPr>
                      <a:r>
                        <a:rPr lang="cs-CZ"/>
                        <a:t>contains mathematical equations</a:t>
                      </a:r>
                    </a:p>
                  </a:txBody>
                  <a:tcPr anchor="ctr">
                    <a:lnL>
                      <a:noFill/>
                    </a:lnL>
                    <a:lnR>
                      <a:noFill/>
                    </a:lnR>
                    <a:lnT>
                      <a:noFill/>
                    </a:lnT>
                    <a:lnB>
                      <a:noFill/>
                    </a:lnB>
                    <a:noFill/>
                  </a:tcPr>
                </a:tc>
                <a:extLst>
                  <a:ext uri="{0D108BD9-81ED-4DB2-BD59-A6C34878D82A}">
                    <a16:rowId xmlns:a16="http://schemas.microsoft.com/office/drawing/2014/main" val="559536272"/>
                  </a:ext>
                </a:extLst>
              </a:tr>
              <a:tr h="687324">
                <a:tc>
                  <a:txBody>
                    <a:bodyPr/>
                    <a:lstStyle/>
                    <a:p>
                      <a:pPr algn="ctr">
                        <a:buNone/>
                      </a:pPr>
                      <a:r>
                        <a:rPr lang="cs-CZ"/>
                        <a:t>suitable for discussion</a:t>
                      </a:r>
                    </a:p>
                  </a:txBody>
                  <a:tcPr anchor="ctr">
                    <a:lnL>
                      <a:noFill/>
                    </a:lnL>
                    <a:lnR>
                      <a:noFill/>
                    </a:lnR>
                    <a:lnT>
                      <a:noFill/>
                    </a:lnT>
                    <a:lnB>
                      <a:noFill/>
                    </a:lnB>
                    <a:noFill/>
                  </a:tcPr>
                </a:tc>
                <a:tc>
                  <a:txBody>
                    <a:bodyPr/>
                    <a:lstStyle/>
                    <a:p>
                      <a:pPr algn="ctr">
                        <a:buNone/>
                      </a:pPr>
                      <a:r>
                        <a:rPr lang="cs-CZ" dirty="0" err="1"/>
                        <a:t>suitable</a:t>
                      </a:r>
                      <a:r>
                        <a:rPr lang="cs-CZ" dirty="0"/>
                        <a:t> </a:t>
                      </a:r>
                      <a:r>
                        <a:rPr lang="cs-CZ" dirty="0" err="1"/>
                        <a:t>for</a:t>
                      </a:r>
                      <a:r>
                        <a:rPr lang="cs-CZ" dirty="0"/>
                        <a:t> </a:t>
                      </a:r>
                      <a:r>
                        <a:rPr lang="cs-CZ" dirty="0" err="1"/>
                        <a:t>simulation</a:t>
                      </a:r>
                      <a:endParaRPr lang="cs-CZ" dirty="0"/>
                    </a:p>
                  </a:txBody>
                  <a:tcPr anchor="ctr">
                    <a:lnL>
                      <a:noFill/>
                    </a:lnL>
                    <a:lnR>
                      <a:noFill/>
                    </a:lnR>
                    <a:lnT>
                      <a:noFill/>
                    </a:lnT>
                    <a:lnB>
                      <a:noFill/>
                    </a:lnB>
                    <a:noFill/>
                  </a:tcPr>
                </a:tc>
                <a:extLst>
                  <a:ext uri="{0D108BD9-81ED-4DB2-BD59-A6C34878D82A}">
                    <a16:rowId xmlns:a16="http://schemas.microsoft.com/office/drawing/2014/main" val="1801735919"/>
                  </a:ext>
                </a:extLst>
              </a:tr>
            </a:tbl>
          </a:graphicData>
        </a:graphic>
      </p:graphicFrame>
    </p:spTree>
    <p:extLst>
      <p:ext uri="{BB962C8B-B14F-4D97-AF65-F5344CB8AC3E}">
        <p14:creationId xmlns:p14="http://schemas.microsoft.com/office/powerpoint/2010/main" val="1415085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Traffic Congestion Example</a:t>
            </a:r>
          </a:p>
        </p:txBody>
      </p:sp>
      <p:sp>
        <p:nvSpPr>
          <p:cNvPr id="3" name="Content Placeholder 2"/>
          <p:cNvSpPr>
            <a:spLocks noGrp="1"/>
          </p:cNvSpPr>
          <p:nvPr>
            <p:ph idx="1"/>
          </p:nvPr>
        </p:nvSpPr>
        <p:spPr/>
        <p:txBody>
          <a:bodyPr/>
          <a:lstStyle/>
          <a:p>
            <a:r>
              <a:t>More roads → faster traffic → more people drive → congestion returns.</a:t>
            </a:r>
          </a:p>
          <a:p>
            <a:endParaRPr/>
          </a:p>
          <a:p>
            <a:r>
              <a:t>Example of induced demand.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Student Activity</a:t>
            </a:r>
          </a:p>
        </p:txBody>
      </p:sp>
      <p:sp>
        <p:nvSpPr>
          <p:cNvPr id="3" name="Content Placeholder 2"/>
          <p:cNvSpPr>
            <a:spLocks noGrp="1"/>
          </p:cNvSpPr>
          <p:nvPr>
            <p:ph idx="1"/>
          </p:nvPr>
        </p:nvSpPr>
        <p:spPr/>
        <p:txBody>
          <a:bodyPr/>
          <a:lstStyle/>
          <a:p>
            <a:r>
              <a:rPr dirty="0"/>
              <a:t>Discuss in groups:</a:t>
            </a:r>
          </a:p>
          <a:p>
            <a:pPr>
              <a:buFont typeface="Wingdings" panose="05000000000000000000" pitchFamily="2" charset="2"/>
              <a:buChar char="Ø"/>
            </a:pPr>
            <a:endParaRPr dirty="0"/>
          </a:p>
          <a:p>
            <a:pPr>
              <a:buFont typeface="Wingdings" panose="05000000000000000000" pitchFamily="2" charset="2"/>
              <a:buChar char="Ø"/>
            </a:pPr>
            <a:r>
              <a:rPr dirty="0"/>
              <a:t>What variables influence congestion?</a:t>
            </a:r>
          </a:p>
          <a:p>
            <a:pPr>
              <a:buFont typeface="Wingdings" panose="05000000000000000000" pitchFamily="2" charset="2"/>
              <a:buChar char="Ø"/>
            </a:pPr>
            <a:r>
              <a:rPr dirty="0"/>
              <a:t>What feedback loops exist?</a:t>
            </a:r>
          </a:p>
          <a:p>
            <a:pPr>
              <a:buFont typeface="Wingdings" panose="05000000000000000000" pitchFamily="2" charset="2"/>
              <a:buChar char="Ø"/>
            </a:pPr>
            <a:r>
              <a:rPr dirty="0"/>
              <a:t>Why do simple solutions fail?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Applications</a:t>
            </a:r>
            <a:r>
              <a:rPr lang="cs-CZ" dirty="0"/>
              <a:t> </a:t>
            </a:r>
            <a:r>
              <a:rPr lang="cs-CZ" dirty="0" err="1"/>
              <a:t>of</a:t>
            </a:r>
            <a:r>
              <a:rPr lang="cs-CZ" dirty="0"/>
              <a:t> SD</a:t>
            </a:r>
            <a:endParaRPr dirty="0"/>
          </a:p>
        </p:txBody>
      </p:sp>
      <p:sp>
        <p:nvSpPr>
          <p:cNvPr id="3" name="Content Placeholder 2"/>
          <p:cNvSpPr>
            <a:spLocks noGrp="1"/>
          </p:cNvSpPr>
          <p:nvPr>
            <p:ph idx="1"/>
          </p:nvPr>
        </p:nvSpPr>
        <p:spPr/>
        <p:txBody>
          <a:bodyPr/>
          <a:lstStyle/>
          <a:p>
            <a:r>
              <a:t>Business strategy</a:t>
            </a:r>
          </a:p>
          <a:p>
            <a:r>
              <a:t>Marketing diffusion</a:t>
            </a:r>
          </a:p>
          <a:p>
            <a:r>
              <a:t>Public policy</a:t>
            </a:r>
          </a:p>
          <a:p>
            <a:r>
              <a:t>Urban planning</a:t>
            </a:r>
          </a:p>
          <a:p>
            <a:r>
              <a:t>Environmental systems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Beer Game (MIT Simulation)</a:t>
            </a:r>
          </a:p>
        </p:txBody>
      </p:sp>
      <p:sp>
        <p:nvSpPr>
          <p:cNvPr id="3" name="Content Placeholder 2"/>
          <p:cNvSpPr>
            <a:spLocks noGrp="1"/>
          </p:cNvSpPr>
          <p:nvPr>
            <p:ph idx="1"/>
          </p:nvPr>
        </p:nvSpPr>
        <p:spPr/>
        <p:txBody>
          <a:bodyPr>
            <a:normAutofit fontScale="70000" lnSpcReduction="20000"/>
          </a:bodyPr>
          <a:lstStyle/>
          <a:p>
            <a:r>
              <a:rPr dirty="0"/>
              <a:t>Classic supply chain simulation.</a:t>
            </a:r>
          </a:p>
          <a:p>
            <a:endParaRPr dirty="0"/>
          </a:p>
          <a:p>
            <a:r>
              <a:rPr dirty="0"/>
              <a:t>Participants:</a:t>
            </a:r>
          </a:p>
          <a:p>
            <a:r>
              <a:rPr dirty="0"/>
              <a:t>• Retailer</a:t>
            </a:r>
          </a:p>
          <a:p>
            <a:r>
              <a:rPr dirty="0"/>
              <a:t>• Wholesaler</a:t>
            </a:r>
          </a:p>
          <a:p>
            <a:r>
              <a:rPr dirty="0"/>
              <a:t>• Distributor</a:t>
            </a:r>
          </a:p>
          <a:p>
            <a:r>
              <a:rPr dirty="0"/>
              <a:t>• Factory</a:t>
            </a:r>
          </a:p>
          <a:p>
            <a:endParaRPr dirty="0"/>
          </a:p>
          <a:p>
            <a:r>
              <a:rPr dirty="0"/>
              <a:t>Demonstrates:</a:t>
            </a:r>
          </a:p>
          <a:p>
            <a:r>
              <a:rPr dirty="0"/>
              <a:t>• delays</a:t>
            </a:r>
          </a:p>
          <a:p>
            <a:r>
              <a:rPr dirty="0"/>
              <a:t>• demand amplification (bullwhip effect)</a:t>
            </a:r>
          </a:p>
          <a:p>
            <a:r>
              <a:rPr dirty="0"/>
              <a:t>• importance of system thinking</a:t>
            </a:r>
            <a:endParaRPr lang="cs-CZ"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a:t>
            </a:r>
          </a:p>
        </p:txBody>
      </p:sp>
      <p:sp>
        <p:nvSpPr>
          <p:cNvPr id="3" name="Content Placeholder 2"/>
          <p:cNvSpPr>
            <a:spLocks noGrp="1"/>
          </p:cNvSpPr>
          <p:nvPr>
            <p:ph idx="1"/>
          </p:nvPr>
        </p:nvSpPr>
        <p:spPr/>
        <p:txBody>
          <a:bodyPr/>
          <a:lstStyle/>
          <a:p>
            <a:r>
              <a:t>System behavior emerges from structure.</a:t>
            </a:r>
          </a:p>
          <a:p>
            <a:r>
              <a:t>Feedback loops and delays shape 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777</Words>
  <Application>Microsoft Office PowerPoint</Application>
  <PresentationFormat>Předvádění na obrazovce (4:3)</PresentationFormat>
  <Paragraphs>139</Paragraphs>
  <Slides>21</Slides>
  <Notes>1</Notes>
  <HiddenSlides>0</HiddenSlides>
  <MMClips>0</MMClips>
  <ScaleCrop>false</ScaleCrop>
  <HeadingPairs>
    <vt:vector size="6" baseType="variant">
      <vt:variant>
        <vt:lpstr>Použitá písma</vt:lpstr>
      </vt:variant>
      <vt:variant>
        <vt:i4>4</vt:i4>
      </vt:variant>
      <vt:variant>
        <vt:lpstr>Motiv</vt:lpstr>
      </vt:variant>
      <vt:variant>
        <vt:i4>1</vt:i4>
      </vt:variant>
      <vt:variant>
        <vt:lpstr>Nadpisy snímků</vt:lpstr>
      </vt:variant>
      <vt:variant>
        <vt:i4>21</vt:i4>
      </vt:variant>
    </vt:vector>
  </HeadingPairs>
  <TitlesOfParts>
    <vt:vector size="26" baseType="lpstr">
      <vt:lpstr>Aptos</vt:lpstr>
      <vt:lpstr>Arial</vt:lpstr>
      <vt:lpstr>Calibri</vt:lpstr>
      <vt:lpstr>Wingdings</vt:lpstr>
      <vt:lpstr>Office Theme</vt:lpstr>
      <vt:lpstr>System Dynamics</vt:lpstr>
      <vt:lpstr>Why Systems Thinking?</vt:lpstr>
      <vt:lpstr>Characteristics of Complex Systems</vt:lpstr>
      <vt:lpstr>What is System Dynamics?</vt:lpstr>
      <vt:lpstr>Key Concepts</vt:lpstr>
      <vt:lpstr>Reinforcing Feedback Loop</vt:lpstr>
      <vt:lpstr>Balancing Feedback Loop</vt:lpstr>
      <vt:lpstr>Change over time</vt:lpstr>
      <vt:lpstr>Stock and Flow Diagram</vt:lpstr>
      <vt:lpstr>S-Curve of Growth</vt:lpstr>
      <vt:lpstr>Stages of S-Curve</vt:lpstr>
      <vt:lpstr>Delays in system</vt:lpstr>
      <vt:lpstr>Modeling systems</vt:lpstr>
      <vt:lpstr>CLD</vt:lpstr>
      <vt:lpstr>Stock and flow diagram</vt:lpstr>
      <vt:lpstr>CLD vs SFD</vt:lpstr>
      <vt:lpstr>Traffic Congestion Example</vt:lpstr>
      <vt:lpstr>Student Activity</vt:lpstr>
      <vt:lpstr>Applications of SD</vt:lpstr>
      <vt:lpstr>The Beer Game (MIT Simulation)</vt:lpstr>
      <vt:lpstr>Key Takeaway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Horáková Tereza</cp:lastModifiedBy>
  <cp:revision>2</cp:revision>
  <dcterms:created xsi:type="dcterms:W3CDTF">2013-01-27T09:14:16Z</dcterms:created>
  <dcterms:modified xsi:type="dcterms:W3CDTF">2026-03-16T09:03:08Z</dcterms:modified>
  <cp:category/>
</cp:coreProperties>
</file>