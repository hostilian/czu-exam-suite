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0"/>
  </p:notesMasterIdLst>
  <p:sldIdLst>
    <p:sldId id="256" r:id="rId2"/>
    <p:sldId id="258" r:id="rId3"/>
    <p:sldId id="257" r:id="rId4"/>
    <p:sldId id="264" r:id="rId5"/>
    <p:sldId id="270" r:id="rId6"/>
    <p:sldId id="263" r:id="rId7"/>
    <p:sldId id="262" r:id="rId8"/>
    <p:sldId id="259" r:id="rId9"/>
    <p:sldId id="260" r:id="rId10"/>
    <p:sldId id="295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4" r:id="rId26"/>
    <p:sldId id="296" r:id="rId27"/>
    <p:sldId id="297" r:id="rId28"/>
    <p:sldId id="298" r:id="rId29"/>
  </p:sldIdLst>
  <p:sldSz cx="9144000" cy="6858000" type="screen4x3"/>
  <p:notesSz cx="7099300" cy="10234613"/>
  <p:defaultTextStyle>
    <a:defPPr>
      <a:defRPr lang="cs-CZ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8" autoAdjust="0"/>
    <p:restoredTop sz="86346" autoAdjust="0"/>
  </p:normalViewPr>
  <p:slideViewPr>
    <p:cSldViewPr>
      <p:cViewPr varScale="1">
        <p:scale>
          <a:sx n="74" d="100"/>
          <a:sy n="74" d="100"/>
        </p:scale>
        <p:origin x="113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816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021297" y="0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/>
          <a:lstStyle>
            <a:lvl1pPr algn="r">
              <a:defRPr sz="1300"/>
            </a:lvl1pPr>
          </a:lstStyle>
          <a:p>
            <a:fld id="{3DFDF4BB-19E4-4249-AD4F-E9648CF8E63C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26" tIns="49514" rIns="99026" bIns="49514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709931" y="4861444"/>
            <a:ext cx="5679440" cy="4605576"/>
          </a:xfrm>
          <a:prstGeom prst="rect">
            <a:avLst/>
          </a:prstGeom>
        </p:spPr>
        <p:txBody>
          <a:bodyPr vert="horz" lIns="99026" tIns="49514" rIns="99026" bIns="49514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3" y="9721109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021297" y="9721109"/>
            <a:ext cx="3076363" cy="511731"/>
          </a:xfrm>
          <a:prstGeom prst="rect">
            <a:avLst/>
          </a:prstGeom>
        </p:spPr>
        <p:txBody>
          <a:bodyPr vert="horz" lIns="99026" tIns="49514" rIns="99026" bIns="49514" rtlCol="0" anchor="b"/>
          <a:lstStyle>
            <a:lvl1pPr algn="r">
              <a:defRPr sz="1300"/>
            </a:lvl1pPr>
          </a:lstStyle>
          <a:p>
            <a:fld id="{2F931F19-2CCB-4CD0-A569-BC4C390A5E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26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b="0" dirty="0" err="1"/>
              <a:t>Goal</a:t>
            </a:r>
            <a:r>
              <a:rPr lang="cs-CZ" b="0" dirty="0"/>
              <a:t>:</a:t>
            </a:r>
          </a:p>
          <a:p>
            <a:r>
              <a:rPr lang="cs-CZ" b="0" baseline="0" dirty="0" err="1"/>
              <a:t>Basics</a:t>
            </a:r>
            <a:r>
              <a:rPr lang="cs-CZ" b="0" baseline="0" dirty="0"/>
              <a:t> </a:t>
            </a:r>
            <a:r>
              <a:rPr lang="cs-CZ" b="0" baseline="0" dirty="0" err="1"/>
              <a:t>of</a:t>
            </a:r>
            <a:r>
              <a:rPr lang="cs-CZ" b="0" baseline="0" dirty="0"/>
              <a:t> </a:t>
            </a:r>
            <a:r>
              <a:rPr lang="cs-CZ" b="0" baseline="0" dirty="0" err="1"/>
              <a:t>theory</a:t>
            </a:r>
            <a:r>
              <a:rPr lang="cs-CZ" b="0" baseline="0" dirty="0"/>
              <a:t> </a:t>
            </a:r>
            <a:r>
              <a:rPr lang="cs-CZ" b="0" baseline="0" dirty="0" err="1"/>
              <a:t>of</a:t>
            </a:r>
            <a:r>
              <a:rPr lang="cs-CZ" b="0" baseline="0" dirty="0"/>
              <a:t> </a:t>
            </a:r>
            <a:r>
              <a:rPr lang="cs-CZ" b="0" baseline="0" dirty="0" err="1"/>
              <a:t>simulation</a:t>
            </a:r>
            <a:endParaRPr lang="cs-CZ" b="0" baseline="0" dirty="0"/>
          </a:p>
          <a:p>
            <a:r>
              <a:rPr lang="cs-CZ" b="0" baseline="0" dirty="0" err="1"/>
              <a:t>Touch</a:t>
            </a:r>
            <a:r>
              <a:rPr lang="cs-CZ" b="0" baseline="0" dirty="0"/>
              <a:t> </a:t>
            </a:r>
            <a:r>
              <a:rPr lang="cs-CZ" b="0" baseline="0" dirty="0" err="1"/>
              <a:t>the</a:t>
            </a:r>
            <a:r>
              <a:rPr lang="cs-CZ" b="0" baseline="0" dirty="0"/>
              <a:t> </a:t>
            </a:r>
            <a:r>
              <a:rPr lang="cs-CZ" b="0" baseline="0" dirty="0" err="1"/>
              <a:t>ProModel</a:t>
            </a:r>
            <a:endParaRPr lang="cs-CZ" b="0" baseline="0" dirty="0"/>
          </a:p>
          <a:p>
            <a:endParaRPr lang="cs-CZ" b="0" baseline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24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Over</a:t>
            </a:r>
            <a:r>
              <a:rPr lang="cs-CZ" dirty="0"/>
              <a:t> a period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 – </a:t>
            </a:r>
            <a:r>
              <a:rPr lang="cs-CZ" dirty="0" err="1"/>
              <a:t>there</a:t>
            </a:r>
            <a:r>
              <a:rPr lang="cs-CZ" dirty="0"/>
              <a:t> </a:t>
            </a:r>
            <a:r>
              <a:rPr lang="cs-CZ" dirty="0" err="1"/>
              <a:t>exist</a:t>
            </a:r>
            <a:r>
              <a:rPr lang="cs-CZ" dirty="0"/>
              <a:t> static </a:t>
            </a:r>
            <a:r>
              <a:rPr lang="cs-CZ" dirty="0" err="1"/>
              <a:t>simulations</a:t>
            </a:r>
            <a:r>
              <a:rPr lang="cs-CZ" dirty="0"/>
              <a:t>.</a:t>
            </a:r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035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i="1" dirty="0"/>
              <a:t>…</a:t>
            </a:r>
            <a:r>
              <a:rPr lang="en-US" i="1" dirty="0"/>
              <a:t>it is tempting, if the only tool you have is a hammer, to treat everything as if it were a nail.</a:t>
            </a:r>
            <a:r>
              <a:rPr lang="cs-CZ" dirty="0"/>
              <a:t> Abraham </a:t>
            </a:r>
            <a:r>
              <a:rPr lang="cs-CZ" dirty="0" err="1"/>
              <a:t>Harold</a:t>
            </a:r>
            <a:r>
              <a:rPr lang="cs-CZ" dirty="0"/>
              <a:t> </a:t>
            </a:r>
            <a:r>
              <a:rPr lang="cs-CZ" dirty="0" err="1"/>
              <a:t>Maslow</a:t>
            </a:r>
            <a:r>
              <a:rPr lang="cs-CZ" dirty="0"/>
              <a:t> </a:t>
            </a:r>
            <a:r>
              <a:rPr lang="en-US" dirty="0"/>
              <a:t>The Psychology of Science, 1966,</a:t>
            </a:r>
            <a:r>
              <a:rPr lang="cs-CZ" dirty="0"/>
              <a:t> p. 15</a:t>
            </a:r>
            <a:endParaRPr lang="cs-CZ" i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954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Can</a:t>
            </a:r>
            <a:r>
              <a:rPr lang="en-GB" baseline="0" noProof="0" dirty="0"/>
              <a:t> be generalised for any sophisticated method, that is used correctly.</a:t>
            </a:r>
            <a:endParaRPr lang="en-GB" noProof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612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ED96C-B576-43EA-BA80-73AFCDE52D65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8090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Dynamic include the passage of</a:t>
            </a:r>
            <a:r>
              <a:rPr lang="en-GB" baseline="0" noProof="0" dirty="0"/>
              <a:t> time</a:t>
            </a:r>
          </a:p>
          <a:p>
            <a:r>
              <a:rPr lang="en-GB" baseline="0" noProof="0" dirty="0"/>
              <a:t>Stochastic – one or more input variables are random</a:t>
            </a:r>
          </a:p>
          <a:p>
            <a:r>
              <a:rPr lang="en-GB" baseline="0" noProof="0" dirty="0"/>
              <a:t>Discrete-event – state changes occur at discrete points in time – </a:t>
            </a:r>
            <a:r>
              <a:rPr lang="en-GB" baseline="0" noProof="0" dirty="0" err="1"/>
              <a:t>e.g</a:t>
            </a:r>
            <a:r>
              <a:rPr lang="en-GB" baseline="0" noProof="0" dirty="0"/>
              <a:t> arrival of customer </a:t>
            </a:r>
          </a:p>
          <a:p>
            <a:r>
              <a:rPr lang="en-GB" baseline="0" noProof="0" dirty="0"/>
              <a:t>Continuous-change – temperature of building controlled by cooling </a:t>
            </a:r>
            <a:r>
              <a:rPr lang="en-GB" baseline="0" noProof="0" dirty="0" err="1"/>
              <a:t>syst</a:t>
            </a:r>
            <a:r>
              <a:rPr lang="cs-CZ" baseline="0" noProof="0" dirty="0"/>
              <a:t>e</a:t>
            </a:r>
            <a:r>
              <a:rPr lang="en-GB" baseline="0" noProof="0" dirty="0"/>
              <a:t>m</a:t>
            </a:r>
          </a:p>
          <a:p>
            <a:r>
              <a:rPr lang="en-GB" baseline="0" noProof="0" dirty="0"/>
              <a:t>Combination: e.g. Truck arrives at a fill station (a discrete event) and begins filling a tank (a continuous event)</a:t>
            </a:r>
          </a:p>
          <a:p>
            <a:r>
              <a:rPr lang="en-GB" baseline="0" noProof="0" dirty="0"/>
              <a:t>	1) continuous variable value suddenly increase or decrease as the discrete event (e.g. replenishment of inventory)</a:t>
            </a:r>
          </a:p>
          <a:p>
            <a:r>
              <a:rPr lang="en-GB" baseline="0" noProof="0" dirty="0"/>
              <a:t>	2) Initiation of a discrete event occur as the result of reaching a threshold value in a continuous variable (reaching the a reorder point in an inventory model)</a:t>
            </a:r>
          </a:p>
          <a:p>
            <a:r>
              <a:rPr lang="en-GB" baseline="0" noProof="0" dirty="0"/>
              <a:t>	3) The change rate of a continuous variable may be altered as the result of a discrete event (sudden change in demand change the inventory usage rate)</a:t>
            </a:r>
          </a:p>
          <a:p>
            <a:r>
              <a:rPr lang="en-GB" baseline="0" noProof="0" dirty="0"/>
              <a:t>	4) An initiation or interruption of change in a continuous variable may occur as the result of a discrete event (</a:t>
            </a:r>
            <a:r>
              <a:rPr lang="cs-CZ" baseline="0" noProof="0" dirty="0" err="1"/>
              <a:t>the</a:t>
            </a:r>
            <a:r>
              <a:rPr lang="cs-CZ" baseline="0" noProof="0" dirty="0"/>
              <a:t> </a:t>
            </a:r>
            <a:r>
              <a:rPr lang="en-GB" baseline="0" noProof="0" dirty="0"/>
              <a:t>depletion of inventory terminate the sells)</a:t>
            </a:r>
            <a:endParaRPr lang="en-GB" noProof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571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noProof="0" dirty="0"/>
          </a:p>
          <a:p>
            <a:endParaRPr lang="cs-CZ" noProof="0" dirty="0"/>
          </a:p>
          <a:p>
            <a:r>
              <a:rPr lang="en-GB" noProof="0" dirty="0"/>
              <a:t>Ad</a:t>
            </a:r>
            <a:r>
              <a:rPr lang="en-GB" baseline="0" noProof="0" dirty="0"/>
              <a:t> 2) project plan needs to be developed to determine the resources, time, budged requirements</a:t>
            </a:r>
          </a:p>
          <a:p>
            <a:r>
              <a:rPr lang="en-GB" baseline="0" noProof="0" dirty="0"/>
              <a:t>Ad 3) step 3 results in conceptual model and data document on which all can agree</a:t>
            </a:r>
          </a:p>
          <a:p>
            <a:r>
              <a:rPr lang="en-GB" baseline="0" noProof="0" dirty="0"/>
              <a:t>Ad 4) contains also </a:t>
            </a:r>
            <a:r>
              <a:rPr lang="en-GB" baseline="0" noProof="0" dirty="0" err="1"/>
              <a:t>debuging</a:t>
            </a:r>
            <a:endParaRPr lang="en-GB" baseline="0" noProof="0" dirty="0"/>
          </a:p>
          <a:p>
            <a:r>
              <a:rPr lang="en-GB" noProof="0" dirty="0"/>
              <a:t>Ad 5) testing different scenarios</a:t>
            </a:r>
          </a:p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102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Randomness in</a:t>
            </a:r>
            <a:r>
              <a:rPr lang="en-GB" baseline="0" noProof="0" dirty="0"/>
              <a:t> computer modelling:</a:t>
            </a:r>
          </a:p>
          <a:p>
            <a:r>
              <a:rPr lang="en-GB" baseline="0" noProof="0" dirty="0"/>
              <a:t>Example linear </a:t>
            </a:r>
            <a:r>
              <a:rPr lang="en-GB" baseline="0" noProof="0" dirty="0" err="1"/>
              <a:t>congruential</a:t>
            </a:r>
            <a:r>
              <a:rPr lang="en-GB" baseline="0" noProof="0" dirty="0"/>
              <a:t> generator LCG</a:t>
            </a:r>
          </a:p>
          <a:p>
            <a:r>
              <a:rPr lang="en-GB" baseline="0" noProof="0" dirty="0"/>
              <a:t>X</a:t>
            </a:r>
            <a:r>
              <a:rPr lang="en-GB" baseline="-25000" noProof="0" dirty="0"/>
              <a:t>n+1</a:t>
            </a:r>
            <a:r>
              <a:rPr lang="en-GB" baseline="0" noProof="0" dirty="0"/>
              <a:t> = (</a:t>
            </a:r>
            <a:r>
              <a:rPr lang="en-GB" i="1" baseline="0" noProof="0" dirty="0" err="1"/>
              <a:t>a</a:t>
            </a:r>
            <a:r>
              <a:rPr lang="en-GB" baseline="0" noProof="0" dirty="0" err="1"/>
              <a:t>X</a:t>
            </a:r>
            <a:r>
              <a:rPr lang="en-GB" baseline="-25000" noProof="0" dirty="0" err="1"/>
              <a:t>n</a:t>
            </a:r>
            <a:r>
              <a:rPr lang="en-GB" baseline="0" noProof="0" dirty="0"/>
              <a:t> + </a:t>
            </a:r>
            <a:r>
              <a:rPr lang="en-GB" i="1" baseline="0" noProof="0" dirty="0"/>
              <a:t>c</a:t>
            </a:r>
            <a:r>
              <a:rPr lang="en-GB" baseline="0" noProof="0" dirty="0"/>
              <a:t>) (mod </a:t>
            </a:r>
            <a:r>
              <a:rPr lang="en-GB" i="1" baseline="0" noProof="0" dirty="0"/>
              <a:t>m</a:t>
            </a:r>
            <a:r>
              <a:rPr lang="en-GB" baseline="0" noProof="0" dirty="0"/>
              <a:t>) </a:t>
            </a:r>
          </a:p>
          <a:p>
            <a:r>
              <a:rPr lang="en-GB" i="1" baseline="0" noProof="0" dirty="0"/>
              <a:t>a, c, m </a:t>
            </a:r>
            <a:r>
              <a:rPr lang="en-GB" baseline="0" noProof="0" dirty="0"/>
              <a:t>chosen parameters</a:t>
            </a:r>
            <a:r>
              <a:rPr lang="cs-CZ" baseline="0" noProof="0" dirty="0"/>
              <a:t>, m </a:t>
            </a:r>
            <a:r>
              <a:rPr lang="cs-CZ" baseline="0" noProof="0" dirty="0" err="1"/>
              <a:t>depends</a:t>
            </a:r>
            <a:r>
              <a:rPr lang="cs-CZ" baseline="0" noProof="0" dirty="0"/>
              <a:t> on </a:t>
            </a:r>
            <a:r>
              <a:rPr lang="cs-CZ" baseline="0" noProof="0" dirty="0" err="1"/>
              <a:t>computer</a:t>
            </a:r>
            <a:r>
              <a:rPr lang="cs-CZ" baseline="0" noProof="0" dirty="0"/>
              <a:t> speed, </a:t>
            </a:r>
            <a:r>
              <a:rPr lang="cs-CZ" baseline="0" noProof="0" dirty="0" err="1"/>
              <a:t>some</a:t>
            </a:r>
            <a:r>
              <a:rPr lang="cs-CZ" baseline="0" noProof="0" dirty="0"/>
              <a:t> </a:t>
            </a:r>
            <a:r>
              <a:rPr lang="cs-CZ" baseline="0" noProof="0" dirty="0" err="1"/>
              <a:t>author</a:t>
            </a:r>
            <a:r>
              <a:rPr lang="cs-CZ" baseline="0" noProof="0" dirty="0"/>
              <a:t> </a:t>
            </a:r>
            <a:r>
              <a:rPr lang="cs-CZ" baseline="0" noProof="0" dirty="0" err="1"/>
              <a:t>says</a:t>
            </a:r>
            <a:r>
              <a:rPr lang="cs-CZ" baseline="0" noProof="0" dirty="0"/>
              <a:t> 2</a:t>
            </a:r>
            <a:r>
              <a:rPr lang="cs-CZ" baseline="30000" noProof="0" dirty="0"/>
              <a:t>64</a:t>
            </a:r>
            <a:r>
              <a:rPr lang="cs-CZ" baseline="0" noProof="0" dirty="0"/>
              <a:t> </a:t>
            </a:r>
            <a:r>
              <a:rPr lang="cs-CZ" baseline="0" noProof="0" dirty="0" err="1"/>
              <a:t>is</a:t>
            </a:r>
            <a:r>
              <a:rPr lang="cs-CZ" baseline="0" noProof="0" dirty="0"/>
              <a:t> not </a:t>
            </a:r>
            <a:r>
              <a:rPr lang="cs-CZ" baseline="0" noProof="0" dirty="0" err="1"/>
              <a:t>enought</a:t>
            </a:r>
            <a:endParaRPr lang="en-GB" baseline="0" noProof="0" dirty="0"/>
          </a:p>
          <a:p>
            <a:r>
              <a:rPr lang="en-GB" baseline="0" noProof="0" dirty="0"/>
              <a:t>Period is always ≤ </a:t>
            </a:r>
            <a:r>
              <a:rPr lang="en-GB" i="1" baseline="0" noProof="0" dirty="0"/>
              <a:t>m</a:t>
            </a:r>
          </a:p>
          <a:p>
            <a:r>
              <a:rPr lang="en-GB" baseline="0" noProof="0" dirty="0"/>
              <a:t>X</a:t>
            </a:r>
            <a:r>
              <a:rPr lang="en-GB" baseline="-25000" noProof="0" dirty="0"/>
              <a:t>0</a:t>
            </a:r>
            <a:r>
              <a:rPr lang="en-GB" baseline="0" noProof="0" dirty="0"/>
              <a:t> is so called seed</a:t>
            </a:r>
            <a:r>
              <a:rPr lang="cs-CZ" baseline="0" noProof="0" dirty="0"/>
              <a:t>, </a:t>
            </a:r>
            <a:r>
              <a:rPr lang="cs-CZ" baseline="0" noProof="0" dirty="0" err="1"/>
              <a:t>commonly</a:t>
            </a:r>
            <a:r>
              <a:rPr lang="cs-CZ" baseline="0" noProof="0" dirty="0"/>
              <a:t> </a:t>
            </a:r>
            <a:r>
              <a:rPr lang="cs-CZ" baseline="0" noProof="0" dirty="0" err="1"/>
              <a:t>the</a:t>
            </a:r>
            <a:r>
              <a:rPr lang="cs-CZ" baseline="0" noProof="0" dirty="0"/>
              <a:t> </a:t>
            </a:r>
            <a:r>
              <a:rPr lang="cs-CZ" baseline="0" noProof="0" dirty="0" err="1"/>
              <a:t>current</a:t>
            </a:r>
            <a:r>
              <a:rPr lang="cs-CZ" baseline="0" noProof="0" dirty="0"/>
              <a:t> </a:t>
            </a:r>
            <a:r>
              <a:rPr lang="cs-CZ" baseline="0" noProof="0" dirty="0" err="1"/>
              <a:t>time</a:t>
            </a:r>
            <a:endParaRPr lang="cs-CZ" baseline="0" noProof="0" dirty="0"/>
          </a:p>
          <a:p>
            <a:r>
              <a:rPr lang="cs-CZ" i="1" baseline="0" noProof="0" dirty="0"/>
              <a:t>Modulo – </a:t>
            </a:r>
            <a:r>
              <a:rPr lang="cs-CZ" i="1" baseline="0" noProof="0" dirty="0" err="1"/>
              <a:t>reminder</a:t>
            </a:r>
            <a:r>
              <a:rPr lang="cs-CZ" i="1" baseline="0" noProof="0" dirty="0"/>
              <a:t> </a:t>
            </a:r>
            <a:r>
              <a:rPr lang="cs-CZ" i="1" baseline="0" noProof="0" dirty="0" err="1"/>
              <a:t>after</a:t>
            </a:r>
            <a:r>
              <a:rPr lang="cs-CZ" i="1" baseline="0" noProof="0" dirty="0"/>
              <a:t> </a:t>
            </a:r>
            <a:r>
              <a:rPr lang="cs-CZ" i="1" baseline="0" noProof="0" dirty="0" err="1"/>
              <a:t>integer</a:t>
            </a:r>
            <a:r>
              <a:rPr lang="cs-CZ" i="1" baseline="0" noProof="0" dirty="0"/>
              <a:t> </a:t>
            </a:r>
            <a:r>
              <a:rPr lang="cs-CZ" i="1" baseline="0" noProof="0" dirty="0" err="1"/>
              <a:t>division</a:t>
            </a:r>
            <a:endParaRPr lang="cs-CZ" i="1" baseline="0" noProof="0" dirty="0"/>
          </a:p>
          <a:p>
            <a:r>
              <a:rPr lang="cs-CZ" i="0" baseline="0" noProof="0" dirty="0"/>
              <a:t>Funkce =</a:t>
            </a:r>
            <a:r>
              <a:rPr lang="cs-CZ" i="0" baseline="0" noProof="0" dirty="0" err="1"/>
              <a:t>mod</a:t>
            </a:r>
            <a:endParaRPr lang="cs-CZ" i="0" baseline="0" noProof="0" dirty="0"/>
          </a:p>
          <a:p>
            <a:r>
              <a:rPr lang="cs-CZ" i="0" baseline="0" noProof="0" dirty="0" err="1"/>
              <a:t>Example</a:t>
            </a:r>
            <a:r>
              <a:rPr lang="cs-CZ" i="0" baseline="0" noProof="0" dirty="0"/>
              <a:t> show in Excel</a:t>
            </a:r>
          </a:p>
          <a:p>
            <a:r>
              <a:rPr lang="cs-CZ" i="0" baseline="0" noProof="0" dirty="0"/>
              <a:t>a = 18</a:t>
            </a:r>
          </a:p>
          <a:p>
            <a:r>
              <a:rPr lang="cs-CZ" i="0" baseline="0" noProof="0" dirty="0"/>
              <a:t>c = 13</a:t>
            </a:r>
          </a:p>
          <a:p>
            <a:r>
              <a:rPr lang="cs-CZ" i="0" baseline="0" noProof="0" dirty="0"/>
              <a:t>m = 17</a:t>
            </a:r>
          </a:p>
          <a:p>
            <a:r>
              <a:rPr lang="cs-CZ" i="0" baseline="0" noProof="0" dirty="0" err="1"/>
              <a:t>Seed</a:t>
            </a:r>
            <a:r>
              <a:rPr lang="cs-CZ" i="0" baseline="0" noProof="0" dirty="0"/>
              <a:t> = 10</a:t>
            </a:r>
          </a:p>
          <a:p>
            <a:endParaRPr lang="cs-CZ" i="0" baseline="0" noProof="0" dirty="0"/>
          </a:p>
          <a:p>
            <a:r>
              <a:rPr lang="cs-CZ" b="1" i="0" baseline="0" noProof="0" dirty="0" err="1"/>
              <a:t>ProModel</a:t>
            </a:r>
            <a:r>
              <a:rPr lang="cs-CZ" i="0" baseline="0" noProof="0" dirty="0"/>
              <a:t> </a:t>
            </a:r>
            <a:r>
              <a:rPr lang="cs-CZ" i="0" baseline="0" noProof="0" dirty="0" err="1"/>
              <a:t>provides</a:t>
            </a:r>
            <a:r>
              <a:rPr lang="cs-CZ" i="0" baseline="0" noProof="0" dirty="0"/>
              <a:t> more </a:t>
            </a:r>
            <a:r>
              <a:rPr lang="cs-CZ" i="0" baseline="0" noProof="0" dirty="0" err="1"/>
              <a:t>than</a:t>
            </a:r>
            <a:r>
              <a:rPr lang="cs-CZ" i="0" baseline="0" noProof="0" dirty="0"/>
              <a:t> 2.1 bilion </a:t>
            </a:r>
            <a:r>
              <a:rPr lang="cs-CZ" i="0" baseline="0" noProof="0" dirty="0" err="1"/>
              <a:t>different</a:t>
            </a:r>
            <a:r>
              <a:rPr lang="cs-CZ" i="0" baseline="0" noProof="0" dirty="0"/>
              <a:t> </a:t>
            </a:r>
            <a:r>
              <a:rPr lang="cs-CZ" i="0" baseline="0" noProof="0" dirty="0" err="1"/>
              <a:t>values</a:t>
            </a:r>
            <a:r>
              <a:rPr lang="cs-CZ" i="0" baseline="0" noProof="0" dirty="0"/>
              <a:t> </a:t>
            </a:r>
            <a:r>
              <a:rPr lang="cs-CZ" i="0" baseline="0" noProof="0" dirty="0" err="1"/>
              <a:t>before</a:t>
            </a:r>
            <a:r>
              <a:rPr lang="cs-CZ" i="0" baseline="0" noProof="0" dirty="0"/>
              <a:t> </a:t>
            </a:r>
            <a:r>
              <a:rPr lang="cs-CZ" i="0" baseline="0" noProof="0" dirty="0" err="1"/>
              <a:t>cycling</a:t>
            </a:r>
            <a:endParaRPr lang="cs-CZ" i="0" baseline="0" noProof="0" dirty="0"/>
          </a:p>
          <a:p>
            <a:endParaRPr lang="cs-CZ" i="0" baseline="0" noProof="0" dirty="0"/>
          </a:p>
          <a:p>
            <a:r>
              <a:rPr lang="cs-CZ" b="1" i="0" baseline="0" noProof="0" dirty="0"/>
              <a:t>MCMC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232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931F19-2CCB-4CD0-A569-BC4C390A5EE6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931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ABS Agent </a:t>
            </a:r>
            <a:r>
              <a:rPr lang="cs-CZ" dirty="0" err="1"/>
              <a:t>Based</a:t>
            </a:r>
            <a:r>
              <a:rPr lang="cs-CZ" dirty="0"/>
              <a:t> </a:t>
            </a:r>
            <a:r>
              <a:rPr lang="cs-CZ" dirty="0" err="1"/>
              <a:t>Simulation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Vysvětlit pravidla</a:t>
            </a:r>
          </a:p>
          <a:p>
            <a:r>
              <a:rPr lang="cs-CZ" dirty="0"/>
              <a:t>Pak</a:t>
            </a:r>
            <a:r>
              <a:rPr lang="cs-CZ" baseline="0" dirty="0"/>
              <a:t> projet přednastavené možnosti vlevo dole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ED96C-B576-43EA-BA80-73AFCDE52D65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635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ástupný symbol pro text 3">
            <a:extLst>
              <a:ext uri="{FF2B5EF4-FFF2-40B4-BE49-F238E27FC236}">
                <a16:creationId xmlns:a16="http://schemas.microsoft.com/office/drawing/2014/main" id="{3E1E80FF-CDE1-4659-A50D-18C8BA373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024B457C-E1CC-4DF8-B068-F9E0D15995C0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903BDD9C-B482-4C8C-BAAA-47D61575D20D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7" name="Zástupný symbol obrázku 3">
            <a:extLst>
              <a:ext uri="{FF2B5EF4-FFF2-40B4-BE49-F238E27FC236}">
                <a16:creationId xmlns:a16="http://schemas.microsoft.com/office/drawing/2014/main" id="{81CEE838-8921-437D-853F-408EC4B07E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334000"/>
          </a:xfrm>
          <a:prstGeom prst="rect">
            <a:avLst/>
          </a:prstGeom>
        </p:spPr>
        <p:txBody>
          <a:bodyPr lIns="180000" tIns="180000" rIns="180000" bIns="180000"/>
          <a:lstStyle/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21" name="Zástupný symbol pro text 4">
            <a:extLst>
              <a:ext uri="{FF2B5EF4-FFF2-40B4-BE49-F238E27FC236}">
                <a16:creationId xmlns:a16="http://schemas.microsoft.com/office/drawing/2014/main" id="{E690251E-0C52-4982-8171-60DC0B794B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1" name="Obrázek 10" descr="Obsah obrázku text&#10;&#10;Popis byl vytvořen automaticky">
            <a:extLst>
              <a:ext uri="{FF2B5EF4-FFF2-40B4-BE49-F238E27FC236}">
                <a16:creationId xmlns:a16="http://schemas.microsoft.com/office/drawing/2014/main" id="{7E8A1E33-5B28-2C43-AFFB-11AF0DAF4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35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" y="0"/>
            <a:ext cx="9142206" cy="535200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8B6B0297-ABC7-F84B-85A8-4DFECC7F5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7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4CF31F7D-C775-4367-BA11-D7AC5352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0" cy="5353050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A5FBF3AD-5E16-47E0-9F0F-471206626283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DDA62E2-FE7A-4AFA-8044-1ED14126E701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4">
            <a:extLst>
              <a:ext uri="{FF2B5EF4-FFF2-40B4-BE49-F238E27FC236}">
                <a16:creationId xmlns:a16="http://schemas.microsoft.com/office/drawing/2014/main" id="{7602487F-3C29-4D79-9418-0A036B9FED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3">
            <a:extLst>
              <a:ext uri="{FF2B5EF4-FFF2-40B4-BE49-F238E27FC236}">
                <a16:creationId xmlns:a16="http://schemas.microsoft.com/office/drawing/2014/main" id="{F844F9EC-3F8E-4C04-9939-5FE5833C62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61B65073-2151-4C4E-9C3C-651867FC2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9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D5BF138-FAF5-4C22-A496-6023824A818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576E8AF4-6C04-4AD5-A275-DAF437588F3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75E6743E-3013-43C0-BCEE-F198C0D12E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Zástupný symbol pro text 4">
            <a:extLst>
              <a:ext uri="{FF2B5EF4-FFF2-40B4-BE49-F238E27FC236}">
                <a16:creationId xmlns:a16="http://schemas.microsoft.com/office/drawing/2014/main" id="{67A4E56B-2C18-40EB-A1CF-C76A3F36BE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 descr="Obsah obrázku text&#10;&#10;Popis byl vytvořen automaticky">
            <a:extLst>
              <a:ext uri="{FF2B5EF4-FFF2-40B4-BE49-F238E27FC236}">
                <a16:creationId xmlns:a16="http://schemas.microsoft.com/office/drawing/2014/main" id="{227D3A48-039E-724E-82EF-4F01CA8E0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7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Úvodní sníme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5A95B17-73AF-43C9-B939-77EAE907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35304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755B8E-77DD-4F71-9CD0-611770504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2400" y="6350001"/>
            <a:ext cx="1371600" cy="5079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4" name="Obdélník 13">
            <a:extLst>
              <a:ext uri="{FF2B5EF4-FFF2-40B4-BE49-F238E27FC236}">
                <a16:creationId xmlns:a16="http://schemas.microsoft.com/office/drawing/2014/main" id="{701651B9-8DB1-4417-B27C-E73923C98BA2}"/>
              </a:ext>
            </a:extLst>
          </p:cNvPr>
          <p:cNvSpPr/>
          <p:nvPr/>
        </p:nvSpPr>
        <p:spPr>
          <a:xfrm>
            <a:off x="1" y="5334000"/>
            <a:ext cx="9144000" cy="1016000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cs-CZ" sz="2025" dirty="0"/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C0724D5-0E83-4994-8DB9-7A30BDB88977}"/>
              </a:ext>
            </a:extLst>
          </p:cNvPr>
          <p:cNvSpPr txBox="1"/>
          <p:nvPr/>
        </p:nvSpPr>
        <p:spPr>
          <a:xfrm>
            <a:off x="540000" y="6385254"/>
            <a:ext cx="30754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cs-CZ" sz="1800" dirty="0" err="1">
                <a:solidFill>
                  <a:srgbClr val="C80C0F"/>
                </a:solidFill>
              </a:rPr>
              <a:t>pef.czu.cz</a:t>
            </a:r>
            <a:endParaRPr lang="cs-CZ" sz="1800" dirty="0">
              <a:solidFill>
                <a:srgbClr val="C80C0F"/>
              </a:solidFill>
            </a:endParaRPr>
          </a:p>
        </p:txBody>
      </p:sp>
      <p:sp>
        <p:nvSpPr>
          <p:cNvPr id="10" name="Zástupný symbol pro text 3">
            <a:extLst>
              <a:ext uri="{FF2B5EF4-FFF2-40B4-BE49-F238E27FC236}">
                <a16:creationId xmlns:a16="http://schemas.microsoft.com/office/drawing/2014/main" id="{8B80490D-70E9-4F37-B670-B92332575E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symbol pro text 4">
            <a:extLst>
              <a:ext uri="{FF2B5EF4-FFF2-40B4-BE49-F238E27FC236}">
                <a16:creationId xmlns:a16="http://schemas.microsoft.com/office/drawing/2014/main" id="{C22D2AE3-7756-458C-8A84-0DE8F08D47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5" name="Obrázek 14" descr="Obsah obrázku text&#10;&#10;Popis byl vytvořen automaticky">
            <a:extLst>
              <a:ext uri="{FF2B5EF4-FFF2-40B4-BE49-F238E27FC236}">
                <a16:creationId xmlns:a16="http://schemas.microsoft.com/office/drawing/2014/main" id="{E19424E9-4DDB-CF40-92C3-F70E30715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3" y="5220547"/>
            <a:ext cx="2963468" cy="12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1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 descr="Obsah obrázku text&#10;&#10;Popis byl vytvořen automaticky">
            <a:extLst>
              <a:ext uri="{FF2B5EF4-FFF2-40B4-BE49-F238E27FC236}">
                <a16:creationId xmlns:a16="http://schemas.microsoft.com/office/drawing/2014/main" id="{93899535-AA89-8F4E-97C4-9FA4F0DD5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6" name="Zástupný symbol pro text 3">
            <a:extLst>
              <a:ext uri="{FF2B5EF4-FFF2-40B4-BE49-F238E27FC236}">
                <a16:creationId xmlns:a16="http://schemas.microsoft.com/office/drawing/2014/main" id="{137FF405-C523-4C6D-A210-824A893F5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48393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3F927B1-1D31-1749-A32D-E5B899D0E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BFBFB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77" y="6123264"/>
            <a:ext cx="1689456" cy="734737"/>
          </a:xfrm>
          <a:prstGeom prst="rect">
            <a:avLst/>
          </a:prstGeom>
        </p:spPr>
      </p:pic>
      <p:sp>
        <p:nvSpPr>
          <p:cNvPr id="4" name="Obdélník 3">
            <a:extLst>
              <a:ext uri="{FF2B5EF4-FFF2-40B4-BE49-F238E27FC236}">
                <a16:creationId xmlns:a16="http://schemas.microsoft.com/office/drawing/2014/main" id="{8DD13F2A-11D3-42C8-83F3-81FF4931281C}"/>
              </a:ext>
            </a:extLst>
          </p:cNvPr>
          <p:cNvSpPr/>
          <p:nvPr/>
        </p:nvSpPr>
        <p:spPr>
          <a:xfrm>
            <a:off x="500063" y="724896"/>
            <a:ext cx="8143875" cy="54082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FD279ADA-FDAB-4914-9469-CB105F4C5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5813" y="2899075"/>
            <a:ext cx="7615238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14173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79C5E546-3806-41A1-87D3-7E4A64F7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36270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7C4858C6-8C38-2B41-8CFE-1254036B4C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728249"/>
            <a:ext cx="8134503" cy="5359500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059851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rgbClr val="C80C0F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D96739DC-B272-A942-A9ED-76826B025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0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34" y="719999"/>
            <a:ext cx="8130633" cy="5356951"/>
          </a:xfrm>
          <a:prstGeom prst="rect">
            <a:avLst/>
          </a:prstGeom>
        </p:spPr>
      </p:pic>
      <p:sp>
        <p:nvSpPr>
          <p:cNvPr id="7" name="Zástupný symbol pro text 3">
            <a:extLst>
              <a:ext uri="{FF2B5EF4-FFF2-40B4-BE49-F238E27FC236}">
                <a16:creationId xmlns:a16="http://schemas.microsoft.com/office/drawing/2014/main" id="{2CC0A638-579A-43E4-96B4-3CF08EB81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6116" y="2899075"/>
            <a:ext cx="7555832" cy="1920000"/>
          </a:xfrm>
          <a:prstGeom prst="rect">
            <a:avLst/>
          </a:prstGeom>
          <a:solidFill>
            <a:schemeClr val="bg1"/>
          </a:solidFill>
          <a:effectLst/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587EC3D4-E53B-5446-B515-D3099FF581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ddíl - Předěl - Kapitol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3">
            <a:extLst>
              <a:ext uri="{FF2B5EF4-FFF2-40B4-BE49-F238E27FC236}">
                <a16:creationId xmlns:a16="http://schemas.microsoft.com/office/drawing/2014/main" id="{A6D9A389-F059-4682-BB5E-006EEEC6D2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63" y="2899075"/>
            <a:ext cx="8143875" cy="105985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obrázku 3">
            <a:extLst>
              <a:ext uri="{FF2B5EF4-FFF2-40B4-BE49-F238E27FC236}">
                <a16:creationId xmlns:a16="http://schemas.microsoft.com/office/drawing/2014/main" id="{8E8F7AB6-976A-4CB0-A0AE-8B783479B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63" y="724799"/>
            <a:ext cx="8137800" cy="5407200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Kliknutím na ikonu přidáte obrázek.</a:t>
            </a:r>
          </a:p>
        </p:txBody>
      </p:sp>
      <p:pic>
        <p:nvPicPr>
          <p:cNvPr id="7" name="Obrázek 6" descr="Obsah obrázku text&#10;&#10;Popis byl vytvořen automaticky">
            <a:extLst>
              <a:ext uri="{FF2B5EF4-FFF2-40B4-BE49-F238E27FC236}">
                <a16:creationId xmlns:a16="http://schemas.microsoft.com/office/drawing/2014/main" id="{8DDC546C-2D13-A947-8672-83BE19C04B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84" y="6123264"/>
            <a:ext cx="1689456" cy="7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4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66732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66732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DED13C98-A460-4EE5-BFBB-681BBDA81D3B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0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2C766699-8A1C-452E-BA3A-E469A225BEE7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8BE1237B-FF84-4FBE-AC1D-9DB2202BD7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4C33C50D-A72F-494F-B092-15858B2C6C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631BC1C8-BCF5-484D-8C94-7FAA0AE50120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246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41982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41982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66B0A99E-A700-494A-928E-194351AE0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48E4E7FD-8E67-4CA1-B99F-8BF78FD8CF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1B42C71F-24A2-4414-9417-B39450FE2AC9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08E05BE6-9375-7B47-BE3D-8FD9100C579E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20" name="TextovéPole 19">
            <a:extLst>
              <a:ext uri="{FF2B5EF4-FFF2-40B4-BE49-F238E27FC236}">
                <a16:creationId xmlns:a16="http://schemas.microsoft.com/office/drawing/2014/main" id="{6AC349FB-428C-7B42-B993-E97FBB98DCD8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207010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rgbClr val="C80C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52256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52256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6" name="Zástupný symbol pro text 6">
            <a:extLst>
              <a:ext uri="{FF2B5EF4-FFF2-40B4-BE49-F238E27FC236}">
                <a16:creationId xmlns:a16="http://schemas.microsoft.com/office/drawing/2014/main" id="{BFADBFEB-36FC-4372-B6CE-58EBC7FFB9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Zástupný symbol pro text 13">
            <a:extLst>
              <a:ext uri="{FF2B5EF4-FFF2-40B4-BE49-F238E27FC236}">
                <a16:creationId xmlns:a16="http://schemas.microsoft.com/office/drawing/2014/main" id="{978F0355-7004-4CFE-9421-A8A1A62CF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CEE7F35-80D6-4A44-A79F-9A5BF9F28E3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B5A6409-23B7-A545-A4D8-A933AD41B5C6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C0999E4F-AF74-DB4E-8B4B-638D78E913AE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181040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4A793D0-309B-40EC-A585-1DA5E95018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65" y="2385457"/>
            <a:ext cx="2394285" cy="3835461"/>
          </a:xfrm>
          <a:prstGeom prst="rect">
            <a:avLst/>
          </a:prstGeom>
        </p:spPr>
      </p:pic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1903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1903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64907F56-1EFF-441C-9163-66B58475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0C077097-4898-476E-8653-0D75052D17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A4993D17-DF83-49B5-BD7F-548B4A5A3AE6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C0AD8F2-4BA5-D840-9CF9-1A60BE6D3AE9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5A3DFA86-88E0-D746-93B6-322B3E5FB3EB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2773252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979994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979994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2" name="Zástupný symbol pro text 6">
            <a:extLst>
              <a:ext uri="{FF2B5EF4-FFF2-40B4-BE49-F238E27FC236}">
                <a16:creationId xmlns:a16="http://schemas.microsoft.com/office/drawing/2014/main" id="{271AC1B1-6DD2-4624-B5E1-05CD48AFFD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7140575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Zástupný symbol pro text 13">
            <a:extLst>
              <a:ext uri="{FF2B5EF4-FFF2-40B4-BE49-F238E27FC236}">
                <a16:creationId xmlns:a16="http://schemas.microsoft.com/office/drawing/2014/main" id="{9EB39BFC-3412-4994-BB20-6B3B39144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7140575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5E1CEE8-B267-482F-8FC9-A0CBECB5B5A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9BD26F8C-C9C9-1844-B61C-5456ED1D14E3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015D1AAD-326F-FE43-A378-B6195D1301DC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380192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vý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96DD5CD3-7617-4840-AA29-D0221417B652}"/>
              </a:ext>
            </a:extLst>
          </p:cNvPr>
          <p:cNvSpPr/>
          <p:nvPr/>
        </p:nvSpPr>
        <p:spPr>
          <a:xfrm>
            <a:off x="0" y="695412"/>
            <a:ext cx="9144000" cy="12616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BF461FE-AADE-4936-BB3A-2C77A4C3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695412"/>
            <a:ext cx="6867668" cy="12616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4050" b="1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slidu</a:t>
            </a:r>
          </a:p>
        </p:txBody>
      </p:sp>
      <p:sp>
        <p:nvSpPr>
          <p:cNvPr id="15" name="Zástupný text 2">
            <a:extLst>
              <a:ext uri="{FF2B5EF4-FFF2-40B4-BE49-F238E27FC236}">
                <a16:creationId xmlns:a16="http://schemas.microsoft.com/office/drawing/2014/main" id="{C00DD73C-FAD0-4F3F-B43B-FEB6D7834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0"/>
            <a:ext cx="6867668" cy="6954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500" b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cs-CZ" dirty="0"/>
              <a:t>Název oddílu</a:t>
            </a:r>
          </a:p>
        </p:txBody>
      </p: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E2B2C2CE-4580-48E9-9D76-D7AE5C49014B}"/>
              </a:ext>
            </a:extLst>
          </p:cNvPr>
          <p:cNvSpPr txBox="1"/>
          <p:nvPr/>
        </p:nvSpPr>
        <p:spPr>
          <a:xfrm>
            <a:off x="7079147" y="1"/>
            <a:ext cx="1524853" cy="6954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cs-CZ" sz="1800" dirty="0" err="1">
                <a:solidFill>
                  <a:schemeClr val="bg2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pef.czu.cz</a:t>
            </a:r>
            <a:endParaRPr lang="cs-CZ" sz="1800" dirty="0">
              <a:solidFill>
                <a:schemeClr val="bg2">
                  <a:lumMod val="75000"/>
                </a:schemeClr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0" name="Zástupný symbol obrázku 24">
            <a:extLst>
              <a:ext uri="{FF2B5EF4-FFF2-40B4-BE49-F238E27FC236}">
                <a16:creationId xmlns:a16="http://schemas.microsoft.com/office/drawing/2014/main" id="{B6AD1CE9-FEC3-45D9-B4F6-AEB4A1A23D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693694" y="1957389"/>
            <a:ext cx="2450307" cy="4205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13" name="Zástupný symbol pro text 6">
            <a:extLst>
              <a:ext uri="{FF2B5EF4-FFF2-40B4-BE49-F238E27FC236}">
                <a16:creationId xmlns:a16="http://schemas.microsoft.com/office/drawing/2014/main" id="{C0B2EC7C-7295-4511-BEB9-1F21F76F5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750" y="2136776"/>
            <a:ext cx="5938106" cy="5156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342900" indent="0">
              <a:buNone/>
              <a:defRPr sz="16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14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12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466DB023-F78F-49C1-9875-70959FECA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750" y="2828926"/>
            <a:ext cx="5938106" cy="33336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28642D"/>
              </a:buClr>
              <a:buFont typeface="Wingdings" panose="05000000000000000000" pitchFamily="2" charset="2"/>
              <a:buChar char="§"/>
              <a:defRPr lang="cs-CZ" sz="1800" dirty="0" smtClean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571500" indent="-228600">
              <a:buClr>
                <a:srgbClr val="28642D"/>
              </a:buClr>
              <a:buFont typeface="+mj-lt"/>
              <a:buAutoNum type="arabicPeriod"/>
              <a:defRPr lang="cs-CZ" sz="1600" dirty="0" smtClean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42975" indent="-257175">
              <a:buClr>
                <a:srgbClr val="28642D"/>
              </a:buClr>
              <a:buFont typeface="+mj-lt"/>
              <a:buAutoNum type="alphaLcPeriod"/>
              <a:defRPr lang="cs-CZ" sz="1400" dirty="0" smtClean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200150" indent="-17145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 lang="cs-CZ" sz="1200" dirty="0">
                <a:latin typeface="Roboto" panose="02000000000000000000" pitchFamily="2" charset="0"/>
                <a:ea typeface="Roboto" panose="02000000000000000000" pitchFamily="2" charset="0"/>
              </a:defRPr>
            </a:lvl4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3C1BF5F3-421C-4882-84E2-ADC07FE86DF2}"/>
              </a:ext>
            </a:extLst>
          </p:cNvPr>
          <p:cNvSpPr txBox="1"/>
          <p:nvPr/>
        </p:nvSpPr>
        <p:spPr>
          <a:xfrm>
            <a:off x="8059993" y="1049230"/>
            <a:ext cx="880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12F5DA3-5B13-43E6-BB34-AB0AE73D120D}" type="slidenum">
              <a:rPr lang="cs-CZ" sz="2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pPr algn="r"/>
              <a:t>‹#›</a:t>
            </a:fld>
            <a:endParaRPr lang="cs-CZ" sz="24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5C18F710-7ED6-AD41-9784-1327E6984D92}"/>
              </a:ext>
            </a:extLst>
          </p:cNvPr>
          <p:cNvSpPr txBox="1"/>
          <p:nvPr/>
        </p:nvSpPr>
        <p:spPr>
          <a:xfrm>
            <a:off x="540000" y="6162588"/>
            <a:ext cx="2676442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Czech University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Life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u="sng" dirty="0" err="1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Sciences</a:t>
            </a:r>
            <a:r>
              <a:rPr lang="cs-CZ" sz="1200" dirty="0">
                <a:solidFill>
                  <a:schemeClr val="bg1">
                    <a:lumMod val="75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Prague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EA1D81C2-80D4-2548-91DB-82047245A7C1}"/>
              </a:ext>
            </a:extLst>
          </p:cNvPr>
          <p:cNvSpPr txBox="1"/>
          <p:nvPr/>
        </p:nvSpPr>
        <p:spPr>
          <a:xfrm>
            <a:off x="4660232" y="6162588"/>
            <a:ext cx="3974818" cy="69541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Faculty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cs-CZ" sz="1200" dirty="0" err="1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Economics</a:t>
            </a:r>
            <a:r>
              <a:rPr lang="cs-CZ" sz="1200" dirty="0">
                <a:solidFill>
                  <a:srgbClr val="C80C0F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074001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E53EAF9F-01E9-4701-B3CE-E5EC1515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Obrázek 3" descr="Obsah obrázku text&#10;&#10;Popis byl vytvořen automaticky">
            <a:extLst>
              <a:ext uri="{FF2B5EF4-FFF2-40B4-BE49-F238E27FC236}">
                <a16:creationId xmlns:a16="http://schemas.microsoft.com/office/drawing/2014/main" id="{9E6C52F0-A869-994B-9A2A-946AD4F096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695142"/>
            <a:ext cx="3773562" cy="1641106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7301F1C3-936F-43D4-96DB-8DB86F629B10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you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for</a:t>
            </a:r>
            <a:r>
              <a:rPr lang="cs-CZ" sz="360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cs-CZ" sz="3600" dirty="0" err="1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attention</a:t>
            </a:r>
            <a:endParaRPr lang="cs-CZ" sz="3600" dirty="0">
              <a:solidFill>
                <a:schemeClr val="bg1"/>
              </a:solidFill>
              <a:effectLst>
                <a:glow rad="139700">
                  <a:schemeClr val="tx1">
                    <a:lumMod val="65000"/>
                    <a:lumOff val="35000"/>
                    <a:alpha val="40000"/>
                  </a:schemeClr>
                </a:glow>
              </a:effectLst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361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F7380FE-801F-3B4A-8E52-2A53DD273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41" y="5041976"/>
            <a:ext cx="3991716" cy="173598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3DE33A4-FB93-4AAA-A88F-B4FEF27E08A8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83F6A2C-C2E5-B44A-9660-8F89AEEB2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1" y="5143576"/>
            <a:ext cx="3991716" cy="1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38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Obrázek 7" descr="Obsah obrázku text&#10;&#10;Popis byl vytvořen automaticky">
            <a:extLst>
              <a:ext uri="{FF2B5EF4-FFF2-40B4-BE49-F238E27FC236}">
                <a16:creationId xmlns:a16="http://schemas.microsoft.com/office/drawing/2014/main" id="{A9218E36-6589-BA4B-B382-FF8EA3F0CB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DA8F002-9BA3-624D-B94C-A21C7E909596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</p:spTree>
    <p:extLst>
      <p:ext uri="{BB962C8B-B14F-4D97-AF65-F5344CB8AC3E}">
        <p14:creationId xmlns:p14="http://schemas.microsoft.com/office/powerpoint/2010/main" val="1654499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4" b="7777"/>
          <a:stretch/>
        </p:blipFill>
        <p:spPr>
          <a:xfrm>
            <a:off x="0" y="0"/>
            <a:ext cx="9144000" cy="691824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4F7AAA5-ECDB-B046-A48B-D0C2BB0C4FE7}"/>
              </a:ext>
            </a:extLst>
          </p:cNvPr>
          <p:cNvSpPr txBox="1"/>
          <p:nvPr/>
        </p:nvSpPr>
        <p:spPr>
          <a:xfrm>
            <a:off x="2065677" y="4072465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C53DF36-AD81-A945-BF7B-A39A3E50D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8" y="5739969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56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AA4C6F00-A48B-4E22-84E3-5F01FAC0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"/>
            <a:ext cx="9144000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B431FA6-80EF-9449-90BD-C081B545B9C0}"/>
              </a:ext>
            </a:extLst>
          </p:cNvPr>
          <p:cNvSpPr txBox="1"/>
          <p:nvPr/>
        </p:nvSpPr>
        <p:spPr>
          <a:xfrm>
            <a:off x="2065677" y="3429001"/>
            <a:ext cx="501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noProof="0" dirty="0">
                <a:solidFill>
                  <a:srgbClr val="C0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11C0A68-FD87-6A46-8195-D340F4861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534"/>
            <a:ext cx="2709334" cy="11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679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ávě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>
            <a:extLst>
              <a:ext uri="{FF2B5EF4-FFF2-40B4-BE49-F238E27FC236}">
                <a16:creationId xmlns:a16="http://schemas.microsoft.com/office/drawing/2014/main" id="{5D978B46-7738-414B-B6A8-3DB65F29768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C80C0F"/>
              </a:gs>
              <a:gs pos="50000">
                <a:srgbClr val="9B0000"/>
              </a:gs>
              <a:gs pos="99000">
                <a:srgbClr val="C80C0F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2025"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AE9CB24-0D3C-1C4D-899E-1B118B5F7B14}"/>
              </a:ext>
            </a:extLst>
          </p:cNvPr>
          <p:cNvSpPr txBox="1"/>
          <p:nvPr/>
        </p:nvSpPr>
        <p:spPr>
          <a:xfrm>
            <a:off x="2082610" y="3028891"/>
            <a:ext cx="4978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noProof="0" dirty="0">
                <a:solidFill>
                  <a:schemeClr val="bg1"/>
                </a:solidFill>
                <a:effectLst>
                  <a:glow rad="1397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  <a:latin typeface="Roboto Black" panose="02000000000000000000" pitchFamily="2" charset="0"/>
                <a:ea typeface="Roboto Black" panose="02000000000000000000" pitchFamily="2" charset="0"/>
              </a:rPr>
              <a:t>Thank you for attention</a:t>
            </a:r>
          </a:p>
        </p:txBody>
      </p:sp>
      <p:pic>
        <p:nvPicPr>
          <p:cNvPr id="9" name="Obrázek 8" descr="Obsah obrázku text&#10;&#10;Popis byl vytvořen automaticky">
            <a:extLst>
              <a:ext uri="{FF2B5EF4-FFF2-40B4-BE49-F238E27FC236}">
                <a16:creationId xmlns:a16="http://schemas.microsoft.com/office/drawing/2014/main" id="{7ABA772E-3E2B-B94D-9EC0-C40803791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19" y="4864475"/>
            <a:ext cx="3773562" cy="16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74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Úvodní sníme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Podnadpis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28" name="Zástupný symbol pro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DBC9D3B-B00F-4DF2-A530-C9E5BC8837BB}" type="datetimeFigureOut">
              <a:rPr lang="en-GB" noProof="0" smtClean="0"/>
              <a:pPr/>
              <a:t>28/10/2024</a:t>
            </a:fld>
            <a:endParaRPr lang="en-GB" noProof="0"/>
          </a:p>
        </p:txBody>
      </p:sp>
      <p:sp>
        <p:nvSpPr>
          <p:cNvPr id="17" name="Zástupný symbol pro zápatí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D678B2-D910-4B9F-8745-B0B8C181CD2F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4752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symbol pro obsah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696782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268760"/>
            <a:ext cx="8229600" cy="504056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381947"/>
          </a:xfrm>
        </p:spPr>
        <p:txBody>
          <a:bodyPr/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8604448" y="6381329"/>
            <a:ext cx="539552" cy="476672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3AEDDAAB-A658-44E2-8C71-DECE112013F5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3"/>
          </p:nvPr>
        </p:nvSpPr>
        <p:spPr>
          <a:xfrm>
            <a:off x="4283968" y="260649"/>
            <a:ext cx="4392488" cy="360039"/>
          </a:xfrm>
        </p:spPr>
        <p:txBody>
          <a:bodyPr anchor="ctr" anchorCtr="0">
            <a:norm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12" name="Zástupný symbol pro text 11"/>
          <p:cNvSpPr>
            <a:spLocks noGrp="1"/>
          </p:cNvSpPr>
          <p:nvPr>
            <p:ph type="body" sz="quarter" idx="14" hasCustomPrompt="1"/>
          </p:nvPr>
        </p:nvSpPr>
        <p:spPr>
          <a:xfrm>
            <a:off x="4283199" y="620689"/>
            <a:ext cx="4393257" cy="216023"/>
          </a:xfr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3469147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1" name="Zástupný symbol pro obsah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3" name="Zástupný symbol pro obsah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12" name="Zástupný symbol pro číslo snímku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cs-CZ"/>
          </a:p>
        </p:txBody>
      </p:sp>
      <p:sp>
        <p:nvSpPr>
          <p:cNvPr id="16" name="Zástupný symbol pro tex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15" name="Zástupný symbol pro tex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36550524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Záhlaví část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2" name="Zástupný symbol pro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C9D3B-B00F-4DF2-A530-C9E5BC8837BB}" type="datetimeFigureOut">
              <a:rPr lang="cs-CZ" smtClean="0"/>
              <a:pPr/>
              <a:t>28.10.2024</a:t>
            </a:fld>
            <a:endParaRPr lang="cs-CZ"/>
          </a:p>
        </p:txBody>
      </p:sp>
      <p:sp>
        <p:nvSpPr>
          <p:cNvPr id="13" name="Zástupný symbol pro číslo snímku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2D678B2-D910-4B9F-8745-B0B8C181CD2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4" name="Zástupný symbol pro zápatí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4293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268760"/>
            <a:ext cx="8229600" cy="504056"/>
          </a:xfrm>
          <a:prstGeom prst="rect">
            <a:avLst/>
          </a:prstGeo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381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8604448" y="6381329"/>
            <a:ext cx="539552" cy="476672"/>
          </a:xfrm>
          <a:prstGeom prst="rect">
            <a:avLst/>
          </a:prstGeo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3AEDDAAB-A658-44E2-8C71-DECE112013F5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3"/>
          </p:nvPr>
        </p:nvSpPr>
        <p:spPr>
          <a:xfrm>
            <a:off x="4283968" y="260649"/>
            <a:ext cx="4392488" cy="36003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Klepnutím lze upravit styly předlohy textu.</a:t>
            </a:r>
          </a:p>
        </p:txBody>
      </p:sp>
      <p:sp>
        <p:nvSpPr>
          <p:cNvPr id="12" name="Zástupný symbol pro text 11"/>
          <p:cNvSpPr>
            <a:spLocks noGrp="1"/>
          </p:cNvSpPr>
          <p:nvPr>
            <p:ph type="body" sz="quarter" idx="14" hasCustomPrompt="1"/>
          </p:nvPr>
        </p:nvSpPr>
        <p:spPr>
          <a:xfrm>
            <a:off x="4283199" y="620689"/>
            <a:ext cx="4393257" cy="21602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 dirty="0"/>
              <a:t>Jméno Příjmení</a:t>
            </a:r>
          </a:p>
        </p:txBody>
      </p:sp>
    </p:spTree>
    <p:extLst>
      <p:ext uri="{BB962C8B-B14F-4D97-AF65-F5344CB8AC3E}">
        <p14:creationId xmlns:p14="http://schemas.microsoft.com/office/powerpoint/2010/main" val="288346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42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25" r:id="rId2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mathworld.wolfram.com/MonteCarloMethod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storm.org/gameoflif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body" sz="quarter" idx="12"/>
          </p:nvPr>
        </p:nvSpPr>
        <p:spPr>
          <a:xfrm>
            <a:off x="722376" y="1116698"/>
            <a:ext cx="7699248" cy="29040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Operations Research and Systems Analysis</a:t>
            </a:r>
            <a:endParaRPr lang="en-GB" noProof="0"/>
          </a:p>
        </p:txBody>
      </p:sp>
      <p:sp>
        <p:nvSpPr>
          <p:cNvPr id="3" name="Podnadpis 2"/>
          <p:cNvSpPr>
            <a:spLocks noGrp="1"/>
          </p:cNvSpPr>
          <p:nvPr>
            <p:ph type="body" sz="quarter" idx="11"/>
          </p:nvPr>
        </p:nvSpPr>
        <p:spPr>
          <a:xfrm>
            <a:off x="3043719" y="4403630"/>
            <a:ext cx="3056562" cy="652774"/>
          </a:xfrm>
        </p:spPr>
        <p:txBody>
          <a:bodyPr>
            <a:normAutofit/>
          </a:bodyPr>
          <a:lstStyle/>
          <a:p>
            <a:pPr lvl="0"/>
            <a:r>
              <a:rPr lang="en-GB" sz="1200" noProof="0"/>
              <a:t>Simulation, theory</a:t>
            </a:r>
            <a:r>
              <a:rPr lang="cs-CZ" sz="1200" noProof="0"/>
              <a:t>;</a:t>
            </a:r>
            <a:r>
              <a:rPr lang="en-GB" sz="1200"/>
              <a:t> </a:t>
            </a:r>
            <a:r>
              <a:rPr lang="cs-CZ" sz="1200" err="1"/>
              <a:t>discrete</a:t>
            </a:r>
            <a:r>
              <a:rPr lang="cs-CZ" sz="1200"/>
              <a:t> </a:t>
            </a:r>
            <a:r>
              <a:rPr lang="cs-CZ" sz="1200" err="1"/>
              <a:t>event</a:t>
            </a:r>
            <a:r>
              <a:rPr lang="cs-CZ" sz="1200"/>
              <a:t> </a:t>
            </a:r>
            <a:r>
              <a:rPr lang="cs-CZ" sz="1200" err="1"/>
              <a:t>simulation</a:t>
            </a:r>
            <a:r>
              <a:rPr lang="cs-CZ" sz="1200"/>
              <a:t> and agent </a:t>
            </a:r>
            <a:r>
              <a:rPr lang="cs-CZ" sz="1200" err="1"/>
              <a:t>simulation</a:t>
            </a:r>
            <a:r>
              <a:rPr lang="cs-CZ" sz="1200"/>
              <a:t> - </a:t>
            </a:r>
            <a:r>
              <a:rPr lang="cs-CZ" sz="1200" err="1"/>
              <a:t>basics</a:t>
            </a:r>
            <a:endParaRPr lang="en-GB" sz="12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Simulation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en-GB" dirty="0"/>
              <a:t>Simulation is the imitation of a system / real world processes </a:t>
            </a:r>
            <a:r>
              <a:rPr lang="cs-CZ" dirty="0"/>
              <a:t>(</a:t>
            </a:r>
            <a:r>
              <a:rPr lang="en-GB" dirty="0"/>
              <a:t>over a period of time</a:t>
            </a:r>
            <a:r>
              <a:rPr lang="cs-CZ" dirty="0"/>
              <a:t>)</a:t>
            </a:r>
            <a:r>
              <a:rPr lang="en-GB" dirty="0"/>
              <a:t>.</a:t>
            </a:r>
          </a:p>
          <a:p>
            <a:endParaRPr lang="cs-CZ" dirty="0"/>
          </a:p>
          <a:p>
            <a:r>
              <a:rPr lang="en-GB" dirty="0"/>
              <a:t>Computer simulation uses computer models.</a:t>
            </a:r>
          </a:p>
          <a:p>
            <a:endParaRPr lang="cs-CZ" dirty="0"/>
          </a:p>
          <a:p>
            <a:r>
              <a:rPr lang="en-GB" dirty="0"/>
              <a:t>Goal is to evaluate and improve system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Why simulation?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Why model?</a:t>
            </a:r>
          </a:p>
          <a:p>
            <a:pPr lvl="1"/>
            <a:r>
              <a:rPr lang="en-GB" noProof="0" dirty="0"/>
              <a:t>Trial-and-error approach on original object is often impossible (e.g. </a:t>
            </a:r>
            <a:r>
              <a:rPr lang="cs-CZ" noProof="0" dirty="0"/>
              <a:t>n</a:t>
            </a:r>
            <a:r>
              <a:rPr lang="en-GB" noProof="0" dirty="0"/>
              <a:t>on</a:t>
            </a:r>
            <a:r>
              <a:rPr lang="cs-CZ" noProof="0" dirty="0"/>
              <a:t>-</a:t>
            </a:r>
            <a:r>
              <a:rPr lang="en-GB" noProof="0" dirty="0"/>
              <a:t>ethical social experiment). </a:t>
            </a:r>
          </a:p>
          <a:p>
            <a:pPr lvl="1"/>
            <a:r>
              <a:rPr lang="en-GB" noProof="0" dirty="0"/>
              <a:t>It is cheaper, faster, reproducible.</a:t>
            </a:r>
            <a:endParaRPr lang="cs-CZ" noProof="0" dirty="0"/>
          </a:p>
          <a:p>
            <a:r>
              <a:rPr lang="en-GB" dirty="0"/>
              <a:t>When simulation model?</a:t>
            </a:r>
          </a:p>
          <a:p>
            <a:pPr lvl="1"/>
            <a:r>
              <a:rPr lang="en-GB" dirty="0"/>
              <a:t>It is not possible (or it is too hard) to solve the problem analytically.</a:t>
            </a:r>
            <a:endParaRPr lang="cs-CZ" dirty="0"/>
          </a:p>
          <a:p>
            <a:pPr lvl="1"/>
            <a:r>
              <a:rPr lang="en-GB" dirty="0"/>
              <a:t>It is not necessary to obtain optimal solution (nowadays</a:t>
            </a:r>
            <a:r>
              <a:rPr lang="cs-CZ" dirty="0"/>
              <a:t>, </a:t>
            </a:r>
            <a:r>
              <a:rPr lang="en-GB" dirty="0"/>
              <a:t>sometimes it is possible to test optimality in simulation </a:t>
            </a:r>
            <a:r>
              <a:rPr lang="en-GB" noProof="0" dirty="0"/>
              <a:t>models).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Costs of simulation</a:t>
            </a:r>
          </a:p>
        </p:txBody>
      </p:sp>
      <p:cxnSp>
        <p:nvCxnSpPr>
          <p:cNvPr id="5" name="Přímá spojovací čára 4"/>
          <p:cNvCxnSpPr/>
          <p:nvPr/>
        </p:nvCxnSpPr>
        <p:spPr>
          <a:xfrm>
            <a:off x="681336" y="1810420"/>
            <a:ext cx="0" cy="201622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ovací čára 12"/>
          <p:cNvCxnSpPr/>
          <p:nvPr/>
        </p:nvCxnSpPr>
        <p:spPr>
          <a:xfrm>
            <a:off x="465312" y="3682628"/>
            <a:ext cx="54000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ovéPole 15"/>
          <p:cNvSpPr txBox="1"/>
          <p:nvPr/>
        </p:nvSpPr>
        <p:spPr>
          <a:xfrm>
            <a:off x="681336" y="166640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Concept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1977480" y="166640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Design</a:t>
            </a:r>
          </a:p>
        </p:txBody>
      </p:sp>
      <p:sp>
        <p:nvSpPr>
          <p:cNvPr id="18" name="TextovéPole 17"/>
          <p:cNvSpPr txBox="1"/>
          <p:nvPr/>
        </p:nvSpPr>
        <p:spPr>
          <a:xfrm>
            <a:off x="3273624" y="1666404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Implementation</a:t>
            </a:r>
          </a:p>
        </p:txBody>
      </p:sp>
      <p:sp>
        <p:nvSpPr>
          <p:cNvPr id="19" name="TextovéPole 18"/>
          <p:cNvSpPr txBox="1"/>
          <p:nvPr/>
        </p:nvSpPr>
        <p:spPr>
          <a:xfrm>
            <a:off x="4569768" y="166640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Operation</a:t>
            </a:r>
          </a:p>
        </p:txBody>
      </p:sp>
      <p:cxnSp>
        <p:nvCxnSpPr>
          <p:cNvPr id="22" name="Přímá spojovací čára 21"/>
          <p:cNvCxnSpPr/>
          <p:nvPr/>
        </p:nvCxnSpPr>
        <p:spPr>
          <a:xfrm>
            <a:off x="1977480" y="1810420"/>
            <a:ext cx="0" cy="2016224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římá spojovací čára 22"/>
          <p:cNvCxnSpPr/>
          <p:nvPr/>
        </p:nvCxnSpPr>
        <p:spPr>
          <a:xfrm>
            <a:off x="3273624" y="1810420"/>
            <a:ext cx="0" cy="2016224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římá spojovací čára 23"/>
          <p:cNvCxnSpPr/>
          <p:nvPr/>
        </p:nvCxnSpPr>
        <p:spPr>
          <a:xfrm>
            <a:off x="4569768" y="1810420"/>
            <a:ext cx="0" cy="2016224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ovéPole 24"/>
          <p:cNvSpPr txBox="1"/>
          <p:nvPr/>
        </p:nvSpPr>
        <p:spPr>
          <a:xfrm>
            <a:off x="1401415" y="3754636"/>
            <a:ext cx="539999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Stage of system development</a:t>
            </a:r>
          </a:p>
        </p:txBody>
      </p:sp>
      <p:sp>
        <p:nvSpPr>
          <p:cNvPr id="26" name="TextovéPole 25"/>
          <p:cNvSpPr txBox="1"/>
          <p:nvPr/>
        </p:nvSpPr>
        <p:spPr>
          <a:xfrm>
            <a:off x="249288" y="1124744"/>
            <a:ext cx="600164" cy="255788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Costs of change</a:t>
            </a:r>
          </a:p>
        </p:txBody>
      </p:sp>
      <p:sp>
        <p:nvSpPr>
          <p:cNvPr id="28" name="Volný tvar 27"/>
          <p:cNvSpPr/>
          <p:nvPr/>
        </p:nvSpPr>
        <p:spPr>
          <a:xfrm>
            <a:off x="683568" y="1988840"/>
            <a:ext cx="5130800" cy="1676400"/>
          </a:xfrm>
          <a:custGeom>
            <a:avLst/>
            <a:gdLst>
              <a:gd name="connsiteX0" fmla="*/ 0 w 5130800"/>
              <a:gd name="connsiteY0" fmla="*/ 1676400 h 1676400"/>
              <a:gd name="connsiteX1" fmla="*/ 2374900 w 5130800"/>
              <a:gd name="connsiteY1" fmla="*/ 1257300 h 1676400"/>
              <a:gd name="connsiteX2" fmla="*/ 5130800 w 5130800"/>
              <a:gd name="connsiteY2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30800" h="1676400">
                <a:moveTo>
                  <a:pt x="0" y="1676400"/>
                </a:moveTo>
                <a:cubicBezTo>
                  <a:pt x="759883" y="1606550"/>
                  <a:pt x="1519767" y="1536700"/>
                  <a:pt x="2374900" y="1257300"/>
                </a:cubicBezTo>
                <a:cubicBezTo>
                  <a:pt x="3230033" y="977900"/>
                  <a:pt x="4673600" y="182033"/>
                  <a:pt x="5130800" y="0"/>
                </a:cubicBezTo>
              </a:path>
            </a:pathLst>
          </a:cu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Přímá spojovací čára 28"/>
          <p:cNvCxnSpPr/>
          <p:nvPr/>
        </p:nvCxnSpPr>
        <p:spPr>
          <a:xfrm>
            <a:off x="3851920" y="4509120"/>
            <a:ext cx="0" cy="201622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Přímá spojovací čára 29"/>
          <p:cNvCxnSpPr/>
          <p:nvPr/>
        </p:nvCxnSpPr>
        <p:spPr>
          <a:xfrm>
            <a:off x="3635896" y="6381328"/>
            <a:ext cx="39600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ovéPole 31"/>
          <p:cNvSpPr txBox="1"/>
          <p:nvPr/>
        </p:nvSpPr>
        <p:spPr>
          <a:xfrm>
            <a:off x="3854152" y="432977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Design</a:t>
            </a:r>
          </a:p>
        </p:txBody>
      </p:sp>
      <p:sp>
        <p:nvSpPr>
          <p:cNvPr id="34" name="TextovéPole 33"/>
          <p:cNvSpPr txBox="1"/>
          <p:nvPr/>
        </p:nvSpPr>
        <p:spPr>
          <a:xfrm>
            <a:off x="6446440" y="432977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Operation</a:t>
            </a:r>
          </a:p>
        </p:txBody>
      </p:sp>
      <p:cxnSp>
        <p:nvCxnSpPr>
          <p:cNvPr id="35" name="Přímá spojovací čára 34"/>
          <p:cNvCxnSpPr/>
          <p:nvPr/>
        </p:nvCxnSpPr>
        <p:spPr>
          <a:xfrm>
            <a:off x="5148064" y="4509120"/>
            <a:ext cx="0" cy="2016224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římá spojovací čára 35"/>
          <p:cNvCxnSpPr/>
          <p:nvPr/>
        </p:nvCxnSpPr>
        <p:spPr>
          <a:xfrm>
            <a:off x="6444208" y="4509120"/>
            <a:ext cx="0" cy="2016224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ovéPole 37"/>
          <p:cNvSpPr txBox="1"/>
          <p:nvPr/>
        </p:nvSpPr>
        <p:spPr>
          <a:xfrm>
            <a:off x="3203849" y="6453336"/>
            <a:ext cx="48965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Stage of system development</a:t>
            </a:r>
          </a:p>
        </p:txBody>
      </p:sp>
      <p:sp>
        <p:nvSpPr>
          <p:cNvPr id="40" name="TextovéPole 39"/>
          <p:cNvSpPr txBox="1"/>
          <p:nvPr/>
        </p:nvSpPr>
        <p:spPr>
          <a:xfrm>
            <a:off x="5150296" y="432977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Implementation</a:t>
            </a:r>
          </a:p>
        </p:txBody>
      </p:sp>
      <p:sp>
        <p:nvSpPr>
          <p:cNvPr id="42" name="TextovéPole 41"/>
          <p:cNvSpPr txBox="1"/>
          <p:nvPr/>
        </p:nvSpPr>
        <p:spPr>
          <a:xfrm>
            <a:off x="2094692" y="4440486"/>
            <a:ext cx="1015663" cy="194421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dirty="0"/>
              <a:t>Cumulative costs of system development</a:t>
            </a:r>
          </a:p>
        </p:txBody>
      </p:sp>
      <p:sp>
        <p:nvSpPr>
          <p:cNvPr id="44" name="Volný tvar 43"/>
          <p:cNvSpPr/>
          <p:nvPr/>
        </p:nvSpPr>
        <p:spPr>
          <a:xfrm>
            <a:off x="3851920" y="5445224"/>
            <a:ext cx="4048968" cy="845468"/>
          </a:xfrm>
          <a:custGeom>
            <a:avLst/>
            <a:gdLst>
              <a:gd name="connsiteX0" fmla="*/ 0 w 3822700"/>
              <a:gd name="connsiteY0" fmla="*/ 1003300 h 1003300"/>
              <a:gd name="connsiteX1" fmla="*/ 1651000 w 3822700"/>
              <a:gd name="connsiteY1" fmla="*/ 292100 h 1003300"/>
              <a:gd name="connsiteX2" fmla="*/ 3822700 w 3822700"/>
              <a:gd name="connsiteY2" fmla="*/ 0 h 10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2700" h="1003300">
                <a:moveTo>
                  <a:pt x="0" y="1003300"/>
                </a:moveTo>
                <a:cubicBezTo>
                  <a:pt x="506941" y="731308"/>
                  <a:pt x="1013883" y="459317"/>
                  <a:pt x="1651000" y="292100"/>
                </a:cubicBezTo>
                <a:cubicBezTo>
                  <a:pt x="2288117" y="124883"/>
                  <a:pt x="3416300" y="6350"/>
                  <a:pt x="3822700" y="0"/>
                </a:cubicBezTo>
              </a:path>
            </a:pathLst>
          </a:cu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Volný tvar 44"/>
          <p:cNvSpPr/>
          <p:nvPr/>
        </p:nvSpPr>
        <p:spPr>
          <a:xfrm>
            <a:off x="3851920" y="5013176"/>
            <a:ext cx="3964260" cy="1295400"/>
          </a:xfrm>
          <a:custGeom>
            <a:avLst/>
            <a:gdLst>
              <a:gd name="connsiteX0" fmla="*/ 0 w 3771900"/>
              <a:gd name="connsiteY0" fmla="*/ 1295400 h 1295400"/>
              <a:gd name="connsiteX1" fmla="*/ 1447800 w 3771900"/>
              <a:gd name="connsiteY1" fmla="*/ 965200 h 1295400"/>
              <a:gd name="connsiteX2" fmla="*/ 2463800 w 3771900"/>
              <a:gd name="connsiteY2" fmla="*/ 406400 h 1295400"/>
              <a:gd name="connsiteX3" fmla="*/ 3771900 w 3771900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1295400">
                <a:moveTo>
                  <a:pt x="0" y="1295400"/>
                </a:moveTo>
                <a:cubicBezTo>
                  <a:pt x="518583" y="1204383"/>
                  <a:pt x="1037167" y="1113367"/>
                  <a:pt x="1447800" y="965200"/>
                </a:cubicBezTo>
                <a:cubicBezTo>
                  <a:pt x="1858433" y="817033"/>
                  <a:pt x="2076450" y="567267"/>
                  <a:pt x="2463800" y="406400"/>
                </a:cubicBezTo>
                <a:cubicBezTo>
                  <a:pt x="2851150" y="245533"/>
                  <a:pt x="3409950" y="50800"/>
                  <a:pt x="3771900" y="0"/>
                </a:cubicBezTo>
              </a:path>
            </a:pathLst>
          </a:cu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ovéPole 45"/>
          <p:cNvSpPr txBox="1"/>
          <p:nvPr/>
        </p:nvSpPr>
        <p:spPr>
          <a:xfrm>
            <a:off x="7742584" y="3452609"/>
            <a:ext cx="1296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00B0F0"/>
                </a:solidFill>
              </a:rPr>
              <a:t>Costs without simulation</a:t>
            </a:r>
          </a:p>
        </p:txBody>
      </p:sp>
      <p:sp>
        <p:nvSpPr>
          <p:cNvPr id="47" name="TextovéPole 46"/>
          <p:cNvSpPr txBox="1"/>
          <p:nvPr/>
        </p:nvSpPr>
        <p:spPr>
          <a:xfrm>
            <a:off x="7854140" y="5146210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</a:rPr>
              <a:t>Costs with simulation</a:t>
            </a:r>
          </a:p>
        </p:txBody>
      </p:sp>
      <p:sp>
        <p:nvSpPr>
          <p:cNvPr id="48" name="Šipka doprava 47"/>
          <p:cNvSpPr/>
          <p:nvPr/>
        </p:nvSpPr>
        <p:spPr>
          <a:xfrm rot="2909655">
            <a:off x="1424783" y="4331587"/>
            <a:ext cx="648072" cy="50405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93713" y="431483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Simulation</a:t>
            </a:r>
            <a:r>
              <a:rPr lang="cs-CZ" dirty="0"/>
              <a:t> </a:t>
            </a:r>
            <a:r>
              <a:rPr lang="cs-CZ" dirty="0" err="1"/>
              <a:t>vs</a:t>
            </a:r>
            <a:r>
              <a:rPr lang="cs-CZ" dirty="0"/>
              <a:t> </a:t>
            </a:r>
            <a:r>
              <a:rPr lang="cs-CZ" dirty="0" err="1"/>
              <a:t>complexity</a:t>
            </a:r>
            <a:endParaRPr lang="cs-CZ" dirty="0"/>
          </a:p>
        </p:txBody>
      </p:sp>
      <p:cxnSp>
        <p:nvCxnSpPr>
          <p:cNvPr id="6" name="Přímá spojovací čára 4"/>
          <p:cNvCxnSpPr/>
          <p:nvPr/>
        </p:nvCxnSpPr>
        <p:spPr>
          <a:xfrm>
            <a:off x="1365413" y="2246953"/>
            <a:ext cx="0" cy="296713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Přímá spojovací čára 12"/>
          <p:cNvCxnSpPr/>
          <p:nvPr/>
        </p:nvCxnSpPr>
        <p:spPr>
          <a:xfrm>
            <a:off x="1149389" y="4902952"/>
            <a:ext cx="6768752" cy="0"/>
          </a:xfrm>
          <a:prstGeom prst="line">
            <a:avLst/>
          </a:prstGeom>
          <a:ln w="2222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ovéPole 7"/>
          <p:cNvSpPr txBox="1"/>
          <p:nvPr/>
        </p:nvSpPr>
        <p:spPr>
          <a:xfrm>
            <a:off x="1365413" y="1926502"/>
            <a:ext cx="1836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 err="1"/>
              <a:t>Low</a:t>
            </a:r>
            <a:endParaRPr lang="en-GB" sz="2400" dirty="0"/>
          </a:p>
        </p:txBody>
      </p:sp>
      <p:sp>
        <p:nvSpPr>
          <p:cNvPr id="10" name="TextovéPole 9"/>
          <p:cNvSpPr txBox="1"/>
          <p:nvPr/>
        </p:nvSpPr>
        <p:spPr>
          <a:xfrm>
            <a:off x="3739446" y="1926502"/>
            <a:ext cx="1804661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cs-CZ" sz="2400" dirty="0"/>
              <a:t>Medium</a:t>
            </a:r>
            <a:endParaRPr lang="en-GB" sz="2400" dirty="0"/>
          </a:p>
        </p:txBody>
      </p:sp>
      <p:sp>
        <p:nvSpPr>
          <p:cNvPr id="11" name="TextovéPole 10"/>
          <p:cNvSpPr txBox="1"/>
          <p:nvPr/>
        </p:nvSpPr>
        <p:spPr>
          <a:xfrm>
            <a:off x="6615972" y="1959223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dirty="0" err="1"/>
              <a:t>High</a:t>
            </a:r>
            <a:endParaRPr lang="en-GB" sz="2400" dirty="0"/>
          </a:p>
        </p:txBody>
      </p:sp>
      <p:cxnSp>
        <p:nvCxnSpPr>
          <p:cNvPr id="12" name="Přímá spojovací čára 21"/>
          <p:cNvCxnSpPr/>
          <p:nvPr/>
        </p:nvCxnSpPr>
        <p:spPr>
          <a:xfrm>
            <a:off x="3602123" y="2388167"/>
            <a:ext cx="0" cy="259509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ovací čára 22"/>
          <p:cNvCxnSpPr/>
          <p:nvPr/>
        </p:nvCxnSpPr>
        <p:spPr>
          <a:xfrm>
            <a:off x="5690355" y="2388167"/>
            <a:ext cx="0" cy="259509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ovéPole 14"/>
          <p:cNvSpPr txBox="1"/>
          <p:nvPr/>
        </p:nvSpPr>
        <p:spPr>
          <a:xfrm>
            <a:off x="1432149" y="4951069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dirty="0" err="1"/>
              <a:t>System</a:t>
            </a:r>
            <a:r>
              <a:rPr lang="cs-CZ" sz="2400" b="1" dirty="0"/>
              <a:t> </a:t>
            </a:r>
            <a:r>
              <a:rPr lang="cs-CZ" sz="2400" b="1" dirty="0" err="1"/>
              <a:t>complexity</a:t>
            </a:r>
            <a:endParaRPr lang="en-GB" sz="2400" b="1" dirty="0"/>
          </a:p>
        </p:txBody>
      </p:sp>
      <p:sp>
        <p:nvSpPr>
          <p:cNvPr id="16" name="TextovéPole 15"/>
          <p:cNvSpPr txBox="1"/>
          <p:nvPr/>
        </p:nvSpPr>
        <p:spPr>
          <a:xfrm>
            <a:off x="334071" y="2508356"/>
            <a:ext cx="923330" cy="214973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cs-CZ" sz="2400" b="1" dirty="0" err="1"/>
              <a:t>System</a:t>
            </a:r>
            <a:r>
              <a:rPr lang="cs-CZ" sz="2400" b="1" dirty="0"/>
              <a:t> </a:t>
            </a:r>
            <a:r>
              <a:rPr lang="cs-CZ" sz="2400" b="1" dirty="0" err="1"/>
              <a:t>predictability</a:t>
            </a:r>
            <a:endParaRPr lang="en-GB" sz="2400" b="1" dirty="0"/>
          </a:p>
        </p:txBody>
      </p:sp>
      <p:sp>
        <p:nvSpPr>
          <p:cNvPr id="19" name="TextovéPole 18"/>
          <p:cNvSpPr txBox="1"/>
          <p:nvPr/>
        </p:nvSpPr>
        <p:spPr>
          <a:xfrm>
            <a:off x="877986" y="4590292"/>
            <a:ext cx="580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0 %</a:t>
            </a:r>
          </a:p>
        </p:txBody>
      </p:sp>
      <p:sp>
        <p:nvSpPr>
          <p:cNvPr id="20" name="TextovéPole 19"/>
          <p:cNvSpPr txBox="1"/>
          <p:nvPr/>
        </p:nvSpPr>
        <p:spPr>
          <a:xfrm>
            <a:off x="649796" y="2134251"/>
            <a:ext cx="81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100 %</a:t>
            </a:r>
          </a:p>
        </p:txBody>
      </p:sp>
      <p:cxnSp>
        <p:nvCxnSpPr>
          <p:cNvPr id="22" name="Přímá spojnice se šipkou 21"/>
          <p:cNvCxnSpPr/>
          <p:nvPr/>
        </p:nvCxnSpPr>
        <p:spPr>
          <a:xfrm>
            <a:off x="1365413" y="2420888"/>
            <a:ext cx="6413174" cy="69314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římá spojnice se šipkou 22"/>
          <p:cNvCxnSpPr/>
          <p:nvPr/>
        </p:nvCxnSpPr>
        <p:spPr>
          <a:xfrm>
            <a:off x="1365412" y="2430310"/>
            <a:ext cx="6413175" cy="2136349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ovéPole 27"/>
          <p:cNvSpPr txBox="1"/>
          <p:nvPr/>
        </p:nvSpPr>
        <p:spPr>
          <a:xfrm>
            <a:off x="7617942" y="411195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i="1" dirty="0" err="1">
                <a:solidFill>
                  <a:srgbClr val="00B0F0"/>
                </a:solidFill>
              </a:rPr>
              <a:t>Without</a:t>
            </a:r>
            <a:r>
              <a:rPr lang="cs-CZ" i="1" dirty="0">
                <a:solidFill>
                  <a:srgbClr val="00B0F0"/>
                </a:solidFill>
              </a:rPr>
              <a:t> </a:t>
            </a:r>
            <a:r>
              <a:rPr lang="cs-CZ" i="1" dirty="0" err="1">
                <a:solidFill>
                  <a:srgbClr val="00B0F0"/>
                </a:solidFill>
              </a:rPr>
              <a:t>simulation</a:t>
            </a:r>
            <a:endParaRPr lang="en-GB" i="1" dirty="0">
              <a:solidFill>
                <a:srgbClr val="00B0F0"/>
              </a:solidFill>
            </a:endParaRPr>
          </a:p>
        </p:txBody>
      </p:sp>
      <p:sp>
        <p:nvSpPr>
          <p:cNvPr id="29" name="TextovéPole 28"/>
          <p:cNvSpPr txBox="1"/>
          <p:nvPr/>
        </p:nvSpPr>
        <p:spPr>
          <a:xfrm>
            <a:off x="7617942" y="2757181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i="1" dirty="0" err="1">
                <a:solidFill>
                  <a:srgbClr val="FF0000"/>
                </a:solidFill>
              </a:rPr>
              <a:t>With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simulation</a:t>
            </a:r>
            <a:endParaRPr lang="en-GB" i="1" dirty="0">
              <a:solidFill>
                <a:srgbClr val="FF0000"/>
              </a:solidFill>
            </a:endParaRPr>
          </a:p>
        </p:txBody>
      </p:sp>
      <p:sp>
        <p:nvSpPr>
          <p:cNvPr id="30" name="TextovéPole 29"/>
          <p:cNvSpPr txBox="1"/>
          <p:nvPr/>
        </p:nvSpPr>
        <p:spPr>
          <a:xfrm>
            <a:off x="1360868" y="5478739"/>
            <a:ext cx="1624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Call </a:t>
            </a:r>
            <a:r>
              <a:rPr lang="cs-CZ" dirty="0" err="1"/>
              <a:t>centers</a:t>
            </a:r>
            <a:endParaRPr lang="cs-CZ" dirty="0"/>
          </a:p>
          <a:p>
            <a:r>
              <a:rPr lang="cs-CZ" dirty="0" err="1"/>
              <a:t>Doctor‘s</a:t>
            </a:r>
            <a:r>
              <a:rPr lang="cs-CZ" dirty="0"/>
              <a:t> </a:t>
            </a:r>
            <a:r>
              <a:rPr lang="cs-CZ" dirty="0" err="1"/>
              <a:t>offices</a:t>
            </a:r>
            <a:endParaRPr lang="cs-CZ" dirty="0"/>
          </a:p>
          <a:p>
            <a:r>
              <a:rPr lang="cs-CZ" dirty="0" err="1"/>
              <a:t>Machining</a:t>
            </a:r>
            <a:r>
              <a:rPr lang="cs-CZ" dirty="0"/>
              <a:t> </a:t>
            </a:r>
            <a:r>
              <a:rPr lang="cs-CZ" dirty="0" err="1"/>
              <a:t>cells</a:t>
            </a:r>
            <a:endParaRPr lang="cs-CZ" dirty="0"/>
          </a:p>
        </p:txBody>
      </p:sp>
      <p:sp>
        <p:nvSpPr>
          <p:cNvPr id="31" name="TextovéPole 30"/>
          <p:cNvSpPr txBox="1"/>
          <p:nvPr/>
        </p:nvSpPr>
        <p:spPr>
          <a:xfrm>
            <a:off x="5904067" y="5478938"/>
            <a:ext cx="2074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dirty="0" err="1"/>
              <a:t>Airports</a:t>
            </a:r>
            <a:endParaRPr lang="cs-CZ" dirty="0"/>
          </a:p>
          <a:p>
            <a:pPr algn="r"/>
            <a:r>
              <a:rPr lang="cs-CZ" dirty="0" err="1"/>
              <a:t>Hospitals</a:t>
            </a:r>
            <a:endParaRPr lang="cs-CZ" dirty="0"/>
          </a:p>
          <a:p>
            <a:pPr algn="r"/>
            <a:r>
              <a:rPr lang="cs-CZ" dirty="0" err="1"/>
              <a:t>Factories</a:t>
            </a:r>
            <a:endParaRPr lang="cs-CZ" dirty="0"/>
          </a:p>
        </p:txBody>
      </p:sp>
      <p:sp>
        <p:nvSpPr>
          <p:cNvPr id="32" name="TextovéPole 31"/>
          <p:cNvSpPr txBox="1"/>
          <p:nvPr/>
        </p:nvSpPr>
        <p:spPr>
          <a:xfrm>
            <a:off x="3602123" y="5498330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err="1"/>
              <a:t>Banks</a:t>
            </a:r>
            <a:endParaRPr lang="cs-CZ" dirty="0"/>
          </a:p>
          <a:p>
            <a:pPr algn="ctr"/>
            <a:r>
              <a:rPr lang="cs-CZ" dirty="0" err="1"/>
              <a:t>Emergency</a:t>
            </a:r>
            <a:r>
              <a:rPr lang="cs-CZ" dirty="0"/>
              <a:t> </a:t>
            </a:r>
            <a:r>
              <a:rPr lang="cs-CZ" dirty="0" err="1"/>
              <a:t>rooms</a:t>
            </a:r>
            <a:endParaRPr lang="cs-CZ" dirty="0"/>
          </a:p>
          <a:p>
            <a:pPr algn="ctr"/>
            <a:r>
              <a:rPr lang="cs-CZ" dirty="0" err="1"/>
              <a:t>Production</a:t>
            </a:r>
            <a:r>
              <a:rPr lang="cs-CZ" dirty="0"/>
              <a:t> lines</a:t>
            </a:r>
          </a:p>
        </p:txBody>
      </p:sp>
    </p:spTree>
    <p:extLst>
      <p:ext uri="{BB962C8B-B14F-4D97-AF65-F5344CB8AC3E}">
        <p14:creationId xmlns:p14="http://schemas.microsoft.com/office/powerpoint/2010/main" val="203835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Types of simulation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noProof="0" dirty="0"/>
              <a:t>Static vs. Dynamic</a:t>
            </a:r>
            <a:endParaRPr lang="cs-CZ" noProof="0" dirty="0"/>
          </a:p>
          <a:p>
            <a:endParaRPr lang="en-GB" noProof="0" dirty="0"/>
          </a:p>
          <a:p>
            <a:r>
              <a:rPr lang="en-GB" noProof="0" dirty="0"/>
              <a:t>Stochastic vs. </a:t>
            </a:r>
            <a:r>
              <a:rPr lang="cs-CZ" noProof="0" dirty="0" err="1"/>
              <a:t>Deterministic</a:t>
            </a:r>
            <a:endParaRPr lang="en-GB" noProof="0" dirty="0"/>
          </a:p>
          <a:p>
            <a:endParaRPr lang="en-GB" noProof="0" dirty="0"/>
          </a:p>
          <a:p>
            <a:r>
              <a:rPr lang="en-GB" dirty="0"/>
              <a:t>Discrete-event vs. Continuous </a:t>
            </a:r>
          </a:p>
          <a:p>
            <a:pPr lvl="1"/>
            <a:r>
              <a:rPr lang="en-GB" dirty="0"/>
              <a:t>vs. Combination of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Simulation project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noProof="0" dirty="0"/>
              <a:t>Identification of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Specification of objective and project plan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Data collection and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Model construction and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Simulation, experiments with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Presentation of results, implementation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070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Monte Carlo Simulation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1560" y="1484784"/>
            <a:ext cx="8153400" cy="4495800"/>
          </a:xfrm>
        </p:spPr>
        <p:txBody>
          <a:bodyPr>
            <a:normAutofit/>
          </a:bodyPr>
          <a:lstStyle/>
          <a:p>
            <a:r>
              <a:rPr lang="en-GB" noProof="0" dirty="0"/>
              <a:t>Static</a:t>
            </a:r>
            <a:r>
              <a:rPr lang="cs-CZ" dirty="0"/>
              <a:t>*</a:t>
            </a:r>
            <a:r>
              <a:rPr lang="en-GB" noProof="0" dirty="0"/>
              <a:t> and stochastic simulation is usually referred as Monte Carlo simulation. </a:t>
            </a:r>
          </a:p>
          <a:p>
            <a:r>
              <a:rPr lang="en-GB" noProof="0" dirty="0"/>
              <a:t>Based on repeated random sampling to compute the results and make a statistical analysis.</a:t>
            </a:r>
          </a:p>
          <a:p>
            <a:r>
              <a:rPr lang="en-GB" noProof="0" dirty="0"/>
              <a:t>„Roots of simulation“: </a:t>
            </a:r>
          </a:p>
          <a:p>
            <a:pPr lvl="1"/>
            <a:r>
              <a:rPr lang="en-GB" noProof="0" dirty="0"/>
              <a:t>First </a:t>
            </a:r>
            <a:r>
              <a:rPr lang="en-GB" b="1" noProof="0" dirty="0"/>
              <a:t>computer</a:t>
            </a:r>
            <a:r>
              <a:rPr lang="en-GB" noProof="0" dirty="0"/>
              <a:t> Monte Carlo models are connected to project Manhattan and J. von </a:t>
            </a:r>
            <a:r>
              <a:rPr lang="en-GB" noProof="0" dirty="0" err="1"/>
              <a:t>Neuman</a:t>
            </a:r>
            <a:r>
              <a:rPr lang="en-GB" noProof="0" dirty="0"/>
              <a:t>, N. Metropolis, S. </a:t>
            </a:r>
            <a:r>
              <a:rPr lang="en-GB" noProof="0" dirty="0" err="1"/>
              <a:t>Ulam</a:t>
            </a:r>
            <a:r>
              <a:rPr lang="en-GB" noProof="0" dirty="0"/>
              <a:t> (nuclear weapons program, 1940s).</a:t>
            </a:r>
          </a:p>
          <a:p>
            <a:r>
              <a:rPr lang="en-GB" dirty="0"/>
              <a:t>What do you know about randomness in computer modelling?</a:t>
            </a:r>
            <a:endParaRPr lang="en-GB" noProof="0" dirty="0"/>
          </a:p>
        </p:txBody>
      </p:sp>
      <p:sp>
        <p:nvSpPr>
          <p:cNvPr id="4" name="TextovéPole 3"/>
          <p:cNvSpPr txBox="1"/>
          <p:nvPr/>
        </p:nvSpPr>
        <p:spPr>
          <a:xfrm>
            <a:off x="0" y="593467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/>
              <a:t>*not </a:t>
            </a:r>
            <a:r>
              <a:rPr lang="en-GB" dirty="0"/>
              <a:t>always some authors say e.g. </a:t>
            </a:r>
            <a:r>
              <a:rPr lang="cs-CZ" dirty="0"/>
              <a:t>“</a:t>
            </a:r>
            <a:r>
              <a:rPr lang="en-GB" dirty="0"/>
              <a:t>Any method which solves a problem by generating suitable random numbers and observing that fraction of the numbers obeying some property or properties.</a:t>
            </a:r>
            <a:r>
              <a:rPr lang="cs-CZ" dirty="0"/>
              <a:t>“ </a:t>
            </a:r>
            <a:r>
              <a:rPr lang="en-GB" dirty="0">
                <a:hlinkClick r:id="rId3"/>
              </a:rPr>
              <a:t>http://mathworld.wolfram.com/MonteCarloMethod.html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1560" y="1556792"/>
            <a:ext cx="8153400" cy="5301208"/>
          </a:xfrm>
        </p:spPr>
        <p:txBody>
          <a:bodyPr>
            <a:normAutofit/>
          </a:bodyPr>
          <a:lstStyle/>
          <a:p>
            <a:r>
              <a:rPr lang="en-GB" noProof="0" dirty="0"/>
              <a:t>Typical example – draw a circle and a </a:t>
            </a:r>
            <a:r>
              <a:rPr lang="cs-CZ" noProof="0" dirty="0"/>
              <a:t>square </a:t>
            </a:r>
            <a:r>
              <a:rPr lang="en-GB" noProof="0" dirty="0"/>
              <a:t>around (side of square </a:t>
            </a:r>
            <a:r>
              <a:rPr lang="en-GB" i="1" noProof="0" dirty="0"/>
              <a:t>a</a:t>
            </a:r>
            <a:r>
              <a:rPr lang="en-GB" noProof="0" dirty="0"/>
              <a:t> is equal to double radius of circle 2*</a:t>
            </a:r>
            <a:r>
              <a:rPr lang="en-GB" i="1" noProof="0" dirty="0"/>
              <a:t>r</a:t>
            </a:r>
            <a:r>
              <a:rPr lang="en-GB" noProof="0" dirty="0"/>
              <a:t>)</a:t>
            </a:r>
            <a:endParaRPr lang="cs-CZ" noProof="0" dirty="0"/>
          </a:p>
          <a:p>
            <a:r>
              <a:rPr lang="en-GB" dirty="0"/>
              <a:t>Throw randomly (uniform </a:t>
            </a:r>
            <a:br>
              <a:rPr lang="en-GB" dirty="0"/>
            </a:br>
            <a:r>
              <a:rPr lang="en-GB" dirty="0"/>
              <a:t>distribution is necessary) </a:t>
            </a:r>
            <a:br>
              <a:rPr lang="en-GB" dirty="0"/>
            </a:br>
            <a:r>
              <a:rPr lang="en-GB" dirty="0"/>
              <a:t>same coins into the square.</a:t>
            </a:r>
          </a:p>
          <a:p>
            <a:r>
              <a:rPr lang="en-GB" noProof="0" dirty="0"/>
              <a:t>Ratio of coins inside the circle to </a:t>
            </a:r>
            <a:br>
              <a:rPr lang="en-GB" noProof="0" dirty="0"/>
            </a:br>
            <a:r>
              <a:rPr lang="en-GB" noProof="0" dirty="0"/>
              <a:t>all coins in square is approximation of  </a:t>
            </a:r>
            <a:r>
              <a:rPr lang="en-GB" noProof="0" dirty="0">
                <a:latin typeface="Cambria Math"/>
                <a:ea typeface="Cambria Math"/>
              </a:rPr>
              <a:t>π/</a:t>
            </a:r>
            <a:r>
              <a:rPr lang="en-GB" noProof="0" dirty="0">
                <a:ea typeface="Cambria Math"/>
              </a:rPr>
              <a:t>4</a:t>
            </a:r>
            <a:r>
              <a:rPr lang="cs-CZ" noProof="0" dirty="0">
                <a:latin typeface="Cambria Math"/>
                <a:ea typeface="Cambria Math"/>
              </a:rPr>
              <a:t>.</a:t>
            </a:r>
          </a:p>
          <a:p>
            <a:r>
              <a:rPr lang="en-GB" dirty="0"/>
              <a:t>The more coins you throw the more accurate your approximation will be.</a:t>
            </a:r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36C9C2C9-B82F-1313-4D7C-3292B81E3996}"/>
              </a:ext>
            </a:extLst>
          </p:cNvPr>
          <p:cNvGrpSpPr/>
          <p:nvPr/>
        </p:nvGrpSpPr>
        <p:grpSpPr>
          <a:xfrm>
            <a:off x="6372200" y="4474158"/>
            <a:ext cx="2160240" cy="2160000"/>
            <a:chOff x="6660232" y="2708920"/>
            <a:chExt cx="2160240" cy="2160000"/>
          </a:xfrm>
        </p:grpSpPr>
        <p:sp>
          <p:nvSpPr>
            <p:cNvPr id="5" name="Obdélník 4"/>
            <p:cNvSpPr/>
            <p:nvPr/>
          </p:nvSpPr>
          <p:spPr>
            <a:xfrm>
              <a:off x="6660232" y="2708920"/>
              <a:ext cx="2160000" cy="2160000"/>
            </a:xfrm>
            <a:prstGeom prst="rect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Elipsa 3"/>
            <p:cNvSpPr/>
            <p:nvPr/>
          </p:nvSpPr>
          <p:spPr>
            <a:xfrm>
              <a:off x="6660232" y="2708920"/>
              <a:ext cx="2160240" cy="2160000"/>
            </a:xfrm>
            <a:prstGeom prst="ellipse">
              <a:avLst/>
            </a:prstGeom>
            <a:solidFill>
              <a:srgbClr val="C00000">
                <a:alpha val="51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2EDFB1-1547-572F-CA60-86F5F205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Example</a:t>
            </a:r>
            <a:endParaRPr lang="cs-CZ" dirty="0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5BBDE33E-09B4-9181-EE77-68E16C55A04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clrChange>
              <a:clrFrom>
                <a:srgbClr val="FEF5F6"/>
              </a:clrFrom>
              <a:clrTo>
                <a:srgbClr val="FEF5F6">
                  <a:alpha val="0"/>
                </a:srgbClr>
              </a:clrTo>
            </a:clrChange>
          </a:blip>
          <a:stretch/>
        </p:blipFill>
        <p:spPr>
          <a:xfrm>
            <a:off x="693208" y="1600200"/>
            <a:ext cx="7992533" cy="4495800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DF02F8DF-0D71-6DA7-BF27-8C159603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1214"/>
            <a:ext cx="9144000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35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Agent-</a:t>
            </a:r>
            <a:r>
              <a:rPr lang="cs-CZ" dirty="0" err="1"/>
              <a:t>based</a:t>
            </a:r>
            <a:r>
              <a:rPr lang="cs-CZ" dirty="0"/>
              <a:t> </a:t>
            </a:r>
            <a:r>
              <a:rPr lang="cs-CZ" dirty="0" err="1"/>
              <a:t>simulation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dirty="0"/>
              <a:t>Agent</a:t>
            </a:r>
          </a:p>
          <a:p>
            <a:pPr lvl="1"/>
            <a:r>
              <a:rPr lang="en-GB" dirty="0"/>
              <a:t>The single most important defining characteristic of an agent is its capability to act </a:t>
            </a:r>
            <a:r>
              <a:rPr lang="en-GB" b="1" dirty="0"/>
              <a:t>autonomously</a:t>
            </a:r>
            <a:r>
              <a:rPr lang="en-GB" dirty="0"/>
              <a:t> that is, to act on its own without external direction in response to situations it encounters.</a:t>
            </a:r>
            <a:endParaRPr lang="cs-CZ" dirty="0"/>
          </a:p>
          <a:p>
            <a:pPr lvl="1"/>
            <a:endParaRPr lang="en-GB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221088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7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 fontScale="90000"/>
          </a:bodyPr>
          <a:lstStyle/>
          <a:p>
            <a:r>
              <a:rPr lang="cs-CZ" sz="3800" dirty="0"/>
              <a:t>Agent-</a:t>
            </a:r>
            <a:r>
              <a:rPr lang="cs-CZ" sz="3800" dirty="0" err="1"/>
              <a:t>based</a:t>
            </a:r>
            <a:r>
              <a:rPr lang="cs-CZ" sz="3800" dirty="0"/>
              <a:t> modelling and </a:t>
            </a:r>
            <a:r>
              <a:rPr lang="cs-CZ" sz="3800" dirty="0" err="1"/>
              <a:t>simulation</a:t>
            </a:r>
            <a:r>
              <a:rPr lang="cs-CZ" sz="3800" dirty="0"/>
              <a:t> (ABMS)</a:t>
            </a:r>
            <a:endParaRPr lang="en-GB" sz="38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dirty="0"/>
              <a:t>More </a:t>
            </a:r>
            <a:r>
              <a:rPr lang="cs-CZ" dirty="0" err="1"/>
              <a:t>general</a:t>
            </a:r>
            <a:r>
              <a:rPr lang="cs-CZ" dirty="0"/>
              <a:t> </a:t>
            </a:r>
            <a:r>
              <a:rPr lang="cs-CZ" dirty="0" err="1"/>
              <a:t>concept</a:t>
            </a:r>
            <a:endParaRPr lang="cs-CZ" dirty="0"/>
          </a:p>
          <a:p>
            <a:pPr lvl="1"/>
            <a:r>
              <a:rPr lang="en-GB" dirty="0"/>
              <a:t>particle swarm optimization </a:t>
            </a:r>
            <a:endParaRPr lang="cs-CZ" dirty="0"/>
          </a:p>
          <a:p>
            <a:pPr lvl="1"/>
            <a:r>
              <a:rPr lang="en-GB" dirty="0"/>
              <a:t>ant optimization algorithms </a:t>
            </a:r>
            <a:endParaRPr lang="cs-CZ" dirty="0"/>
          </a:p>
          <a:p>
            <a:pPr lvl="1"/>
            <a:r>
              <a:rPr lang="en-GB" dirty="0"/>
              <a:t>both inspired by agent-based modelling approaches and are used to achieve an end (optimal) state rather than to investigate a dynamic process, as in a simulation. </a:t>
            </a:r>
          </a:p>
        </p:txBody>
      </p:sp>
    </p:spTree>
    <p:extLst>
      <p:ext uri="{BB962C8B-B14F-4D97-AF65-F5344CB8AC3E}">
        <p14:creationId xmlns:p14="http://schemas.microsoft.com/office/powerpoint/2010/main" val="4068076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Agent-</a:t>
            </a:r>
            <a:r>
              <a:rPr lang="cs-CZ" dirty="0" err="1"/>
              <a:t>based</a:t>
            </a:r>
            <a:r>
              <a:rPr lang="cs-CZ" dirty="0"/>
              <a:t> </a:t>
            </a:r>
            <a:r>
              <a:rPr lang="cs-CZ" dirty="0" err="1"/>
              <a:t>simulation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/>
              <a:t>M</a:t>
            </a:r>
            <a:r>
              <a:rPr lang="en-GB" dirty="0" err="1"/>
              <a:t>odelling</a:t>
            </a:r>
            <a:r>
              <a:rPr lang="en-GB" dirty="0"/>
              <a:t> complex systems composed of interacting, autonomous ‘agents’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en-GB" dirty="0"/>
              <a:t>The emphasis on modelling the </a:t>
            </a:r>
            <a:r>
              <a:rPr lang="en-GB" b="1" dirty="0"/>
              <a:t>heterogeneity</a:t>
            </a:r>
            <a:r>
              <a:rPr lang="en-GB" dirty="0"/>
              <a:t> of agents across a population and the emergence of </a:t>
            </a:r>
            <a:r>
              <a:rPr lang="en-GB" b="1" dirty="0"/>
              <a:t>self-organization</a:t>
            </a:r>
            <a:r>
              <a:rPr lang="en-GB" dirty="0"/>
              <a:t> are two of the distinguishing features of agent-based simulation as compared to other simulation techniques such as </a:t>
            </a:r>
            <a:r>
              <a:rPr lang="en-GB" i="1" dirty="0"/>
              <a:t>discrete event simulation</a:t>
            </a:r>
            <a:r>
              <a:rPr lang="en-GB" dirty="0"/>
              <a:t> and </a:t>
            </a:r>
            <a:r>
              <a:rPr lang="en-GB" i="1" dirty="0"/>
              <a:t>system dynamics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820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Agent-</a:t>
            </a:r>
            <a:r>
              <a:rPr lang="cs-CZ" dirty="0" err="1"/>
              <a:t>based</a:t>
            </a:r>
            <a:r>
              <a:rPr lang="cs-CZ" dirty="0"/>
              <a:t> </a:t>
            </a:r>
            <a:r>
              <a:rPr lang="cs-CZ" dirty="0" err="1"/>
              <a:t>simulation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41168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Agents have behaviours, often described by </a:t>
            </a:r>
            <a:r>
              <a:rPr lang="en-GB" i="1" dirty="0"/>
              <a:t>simple rules</a:t>
            </a:r>
            <a:r>
              <a:rPr lang="en-GB" dirty="0"/>
              <a:t>, and </a:t>
            </a:r>
            <a:r>
              <a:rPr lang="en-GB" i="1" dirty="0"/>
              <a:t>interactions</a:t>
            </a:r>
            <a:r>
              <a:rPr lang="en-GB" dirty="0"/>
              <a:t> with other agents, which in turn influence their behaviours.</a:t>
            </a:r>
          </a:p>
          <a:p>
            <a:pPr marL="0" indent="0">
              <a:buNone/>
            </a:pPr>
            <a:endParaRPr lang="en-GB" dirty="0"/>
          </a:p>
          <a:p>
            <a:pPr lvl="0"/>
            <a:r>
              <a:rPr lang="en-GB" dirty="0"/>
              <a:t>By modelling systems from the ‘</a:t>
            </a:r>
            <a:r>
              <a:rPr lang="en-GB" i="1" dirty="0"/>
              <a:t>ground up</a:t>
            </a:r>
            <a:r>
              <a:rPr lang="en-GB" dirty="0"/>
              <a:t>’– agent-by-agent and interaction-by-interaction</a:t>
            </a:r>
            <a:r>
              <a:rPr lang="cs-CZ" dirty="0"/>
              <a:t>.</a:t>
            </a:r>
          </a:p>
          <a:p>
            <a:pPr marL="0" lvl="0" indent="0">
              <a:buNone/>
            </a:pPr>
            <a:endParaRPr lang="en-GB" dirty="0"/>
          </a:p>
          <a:p>
            <a:pPr lvl="0"/>
            <a:r>
              <a:rPr lang="en-GB" dirty="0"/>
              <a:t>Patterns, structures, and behaviours emerge that were </a:t>
            </a:r>
            <a:r>
              <a:rPr lang="en-GB" i="1" dirty="0"/>
              <a:t>not explicitly programmed </a:t>
            </a:r>
            <a:r>
              <a:rPr lang="en-GB" dirty="0"/>
              <a:t>into the models, but arise through the agent interactions. </a:t>
            </a:r>
          </a:p>
        </p:txBody>
      </p:sp>
    </p:spTree>
    <p:extLst>
      <p:ext uri="{BB962C8B-B14F-4D97-AF65-F5344CB8AC3E}">
        <p14:creationId xmlns:p14="http://schemas.microsoft.com/office/powerpoint/2010/main" val="346672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A</a:t>
            </a:r>
            <a:r>
              <a:rPr lang="en-GB" dirty="0"/>
              <a:t>gent-based </a:t>
            </a:r>
            <a:r>
              <a:rPr lang="cs-CZ" dirty="0" err="1"/>
              <a:t>simulation</a:t>
            </a:r>
            <a:r>
              <a:rPr lang="cs-CZ" dirty="0"/>
              <a:t>: </a:t>
            </a:r>
            <a:r>
              <a:rPr lang="en-GB" dirty="0"/>
              <a:t>elements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cs-CZ" dirty="0"/>
              <a:t>S</a:t>
            </a:r>
            <a:r>
              <a:rPr lang="en-GB" dirty="0"/>
              <a:t>et of </a:t>
            </a:r>
            <a:r>
              <a:rPr lang="en-GB" b="1" dirty="0"/>
              <a:t>agents</a:t>
            </a:r>
            <a:r>
              <a:rPr lang="en-GB" dirty="0"/>
              <a:t>, their attributes and behaviours.</a:t>
            </a:r>
            <a:endParaRPr lang="cs-CZ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 set of agent </a:t>
            </a:r>
            <a:r>
              <a:rPr lang="en-GB" b="1" dirty="0"/>
              <a:t>relationships</a:t>
            </a:r>
            <a:r>
              <a:rPr lang="en-GB" dirty="0"/>
              <a:t> and </a:t>
            </a:r>
            <a:r>
              <a:rPr lang="en-GB" b="1" dirty="0"/>
              <a:t>methods of interaction</a:t>
            </a:r>
            <a:r>
              <a:rPr lang="en-GB" dirty="0"/>
              <a:t>: An underlying topology of connectedness defines how and with whom agents interact.</a:t>
            </a:r>
            <a:endParaRPr lang="cs-CZ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The </a:t>
            </a:r>
            <a:r>
              <a:rPr lang="en-GB" b="1" dirty="0"/>
              <a:t>agents’ environment</a:t>
            </a:r>
            <a:r>
              <a:rPr lang="en-GB" dirty="0"/>
              <a:t>: Agents interact with their environment in addition to other agents.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9979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Agents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Autonomy</a:t>
            </a:r>
            <a:r>
              <a:rPr lang="cs-CZ" dirty="0"/>
              <a:t>: </a:t>
            </a:r>
          </a:p>
          <a:p>
            <a:pPr lvl="1"/>
            <a:r>
              <a:rPr lang="en-GB" dirty="0"/>
              <a:t>act on its own without external direction in response to situations it encounters.</a:t>
            </a:r>
            <a:endParaRPr lang="cs-CZ" dirty="0"/>
          </a:p>
          <a:p>
            <a:pPr lvl="1"/>
            <a:endParaRPr lang="en-GB" dirty="0"/>
          </a:p>
          <a:p>
            <a:r>
              <a:rPr lang="cs-CZ" b="1" dirty="0" err="1"/>
              <a:t>Active</a:t>
            </a:r>
            <a:r>
              <a:rPr lang="cs-CZ" dirty="0"/>
              <a:t>:</a:t>
            </a:r>
          </a:p>
          <a:p>
            <a:pPr lvl="1"/>
            <a:r>
              <a:rPr lang="en-GB" dirty="0"/>
              <a:t>initiating their actions to achieve their internal.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Zástupný symbol pro obsah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94" y="4553025"/>
            <a:ext cx="4102432" cy="23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Modelling autonomy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r>
              <a:rPr lang="en-GB" dirty="0"/>
              <a:t>behaviour can range from simplistic and reactive ‘</a:t>
            </a:r>
            <a:r>
              <a:rPr lang="en-GB" i="1" dirty="0"/>
              <a:t>if-then</a:t>
            </a:r>
            <a:r>
              <a:rPr lang="en-GB" dirty="0"/>
              <a:t>’ rules to complex behaviours modelled by </a:t>
            </a:r>
            <a:r>
              <a:rPr lang="cs-CZ" dirty="0"/>
              <a:t>and </a:t>
            </a:r>
            <a:r>
              <a:rPr lang="en-GB" dirty="0"/>
              <a:t>adaptive artificial intelligence techniques</a:t>
            </a:r>
          </a:p>
        </p:txBody>
      </p:sp>
    </p:spTree>
    <p:extLst>
      <p:ext uri="{BB962C8B-B14F-4D97-AF65-F5344CB8AC3E}">
        <p14:creationId xmlns:p14="http://schemas.microsoft.com/office/powerpoint/2010/main" val="565106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 - </a:t>
            </a:r>
            <a:r>
              <a:rPr lang="cs-CZ" dirty="0" err="1"/>
              <a:t>characteristics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cs-CZ" b="1" dirty="0"/>
              <a:t>S</a:t>
            </a:r>
            <a:r>
              <a:rPr lang="en-GB" b="1" dirty="0"/>
              <a:t>elf-contained</a:t>
            </a:r>
            <a:r>
              <a:rPr lang="en-GB" dirty="0"/>
              <a:t>, modular, and uniquely identifiable individual.</a:t>
            </a:r>
            <a:r>
              <a:rPr lang="cs-CZ" dirty="0"/>
              <a:t> </a:t>
            </a:r>
          </a:p>
          <a:p>
            <a:pPr lvl="1"/>
            <a:r>
              <a:rPr lang="cs-CZ" dirty="0" err="1"/>
              <a:t>i.e</a:t>
            </a:r>
            <a:r>
              <a:rPr lang="cs-CZ" dirty="0"/>
              <a:t>. </a:t>
            </a:r>
            <a:r>
              <a:rPr lang="en-GB" dirty="0"/>
              <a:t>agent has a boundary</a:t>
            </a:r>
            <a:r>
              <a:rPr lang="cs-CZ" dirty="0"/>
              <a:t>.</a:t>
            </a:r>
          </a:p>
          <a:p>
            <a:endParaRPr lang="cs-CZ" dirty="0"/>
          </a:p>
          <a:p>
            <a:pPr marL="514350" indent="-514350">
              <a:buFont typeface="+mj-lt"/>
              <a:buAutoNum type="arabicPeriod" startAt="2"/>
            </a:pPr>
            <a:r>
              <a:rPr lang="en-GB" dirty="0"/>
              <a:t>An agent is </a:t>
            </a:r>
            <a:r>
              <a:rPr lang="en-GB" b="1" dirty="0"/>
              <a:t>autonomous</a:t>
            </a:r>
            <a:r>
              <a:rPr lang="en-GB" dirty="0"/>
              <a:t> and self-directed</a:t>
            </a:r>
            <a:r>
              <a:rPr lang="cs-CZ" dirty="0"/>
              <a:t>.</a:t>
            </a:r>
          </a:p>
          <a:p>
            <a:pPr lvl="1"/>
            <a:r>
              <a:rPr lang="en-GB" dirty="0"/>
              <a:t>function independently in its environment and in its interactions with other agents</a:t>
            </a:r>
            <a:endParaRPr lang="en-GB" sz="2500" dirty="0"/>
          </a:p>
          <a:p>
            <a:pPr lvl="1"/>
            <a:r>
              <a:rPr lang="en-GB" dirty="0"/>
              <a:t>An agent has </a:t>
            </a:r>
            <a:r>
              <a:rPr lang="en-GB" i="1" dirty="0"/>
              <a:t>behaviours</a:t>
            </a:r>
            <a:r>
              <a:rPr lang="en-GB" dirty="0"/>
              <a:t> that relate information sensed by the agent to its decisions and actions.</a:t>
            </a:r>
            <a:endParaRPr lang="en-GB" sz="25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1885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 - </a:t>
            </a:r>
            <a:r>
              <a:rPr lang="cs-CZ" dirty="0" err="1"/>
              <a:t>characteristics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endParaRPr lang="cs-CZ" dirty="0"/>
          </a:p>
          <a:p>
            <a:pPr marL="514350" indent="-514350">
              <a:buFont typeface="+mj-lt"/>
              <a:buAutoNum type="arabicPeriod" startAt="3"/>
            </a:pPr>
            <a:r>
              <a:rPr lang="cs-CZ" dirty="0"/>
              <a:t>A</a:t>
            </a:r>
            <a:r>
              <a:rPr lang="en-GB" dirty="0"/>
              <a:t>gent has a </a:t>
            </a:r>
            <a:r>
              <a:rPr lang="en-GB" b="1" dirty="0"/>
              <a:t>state</a:t>
            </a:r>
            <a:r>
              <a:rPr lang="en-GB" dirty="0"/>
              <a:t> that varies over time</a:t>
            </a:r>
            <a:endParaRPr lang="cs-CZ" dirty="0"/>
          </a:p>
          <a:p>
            <a:pPr marL="834390" lvl="1" indent="-514350"/>
            <a:r>
              <a:rPr lang="en-GB" dirty="0"/>
              <a:t>agent’s state consists of a set or subset of its attributes</a:t>
            </a:r>
            <a:endParaRPr lang="cs-CZ" dirty="0"/>
          </a:p>
          <a:p>
            <a:pPr marL="514350" indent="-514350"/>
            <a:endParaRPr lang="cs-CZ" dirty="0"/>
          </a:p>
          <a:p>
            <a:pPr marL="514350" indent="-514350">
              <a:buFont typeface="+mj-lt"/>
              <a:buAutoNum type="arabicPeriod" startAt="4"/>
            </a:pPr>
            <a:r>
              <a:rPr lang="cs-CZ" dirty="0"/>
              <a:t>A</a:t>
            </a:r>
            <a:r>
              <a:rPr lang="en-GB" dirty="0"/>
              <a:t>gent is </a:t>
            </a:r>
            <a:r>
              <a:rPr lang="en-GB" b="1" dirty="0"/>
              <a:t>social </a:t>
            </a:r>
            <a:endParaRPr lang="cs-CZ" b="1" dirty="0"/>
          </a:p>
          <a:p>
            <a:pPr marL="834390" lvl="1" indent="-514350"/>
            <a:r>
              <a:rPr lang="en-GB" dirty="0"/>
              <a:t>having dynamic interactions with other agents that influence its behaviour</a:t>
            </a:r>
          </a:p>
        </p:txBody>
      </p:sp>
    </p:spTree>
    <p:extLst>
      <p:ext uri="{BB962C8B-B14F-4D97-AF65-F5344CB8AC3E}">
        <p14:creationId xmlns:p14="http://schemas.microsoft.com/office/powerpoint/2010/main" val="230635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Agent – </a:t>
            </a:r>
            <a:r>
              <a:rPr lang="cs-CZ" dirty="0" err="1"/>
              <a:t>other</a:t>
            </a:r>
            <a:r>
              <a:rPr lang="cs-CZ" dirty="0"/>
              <a:t> </a:t>
            </a:r>
            <a:r>
              <a:rPr lang="cs-CZ" dirty="0" err="1"/>
              <a:t>possible</a:t>
            </a:r>
            <a:r>
              <a:rPr lang="cs-CZ" dirty="0"/>
              <a:t> </a:t>
            </a:r>
            <a:r>
              <a:rPr lang="cs-CZ" dirty="0" err="1"/>
              <a:t>characteristics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5"/>
            </a:pPr>
            <a:r>
              <a:rPr lang="cs-CZ" dirty="0"/>
              <a:t>A</a:t>
            </a:r>
            <a:r>
              <a:rPr lang="en-GB" dirty="0"/>
              <a:t>gent may be </a:t>
            </a:r>
            <a:r>
              <a:rPr lang="en-GB" b="1" dirty="0"/>
              <a:t>adaptive</a:t>
            </a:r>
          </a:p>
          <a:p>
            <a:pPr lvl="1"/>
            <a:r>
              <a:rPr lang="en-GB" dirty="0"/>
              <a:t>may have the ability to learn and adapt its behaviours based on its accumulated experiences. </a:t>
            </a:r>
            <a:endParaRPr lang="cs-CZ" dirty="0"/>
          </a:p>
          <a:p>
            <a:pPr lvl="1"/>
            <a:r>
              <a:rPr lang="en-GB" dirty="0"/>
              <a:t>Learning requires some form of memory.</a:t>
            </a:r>
            <a:endParaRPr lang="en-GB" sz="2500" dirty="0"/>
          </a:p>
          <a:p>
            <a:pPr lvl="1"/>
            <a:r>
              <a:rPr lang="cs-CZ" dirty="0"/>
              <a:t>P</a:t>
            </a:r>
            <a:r>
              <a:rPr lang="en-GB" dirty="0" err="1"/>
              <a:t>opulations</a:t>
            </a:r>
            <a:r>
              <a:rPr lang="en-GB" dirty="0"/>
              <a:t> of agents may be adaptive through the process of selection, as individuals better suited to the environment proportionately increase in numbers</a:t>
            </a:r>
            <a:r>
              <a:rPr lang="cs-CZ" dirty="0"/>
              <a:t>.</a:t>
            </a:r>
          </a:p>
          <a:p>
            <a:pPr lvl="1"/>
            <a:endParaRPr lang="cs-CZ" dirty="0"/>
          </a:p>
          <a:p>
            <a:pPr marL="514350" indent="-514350">
              <a:buFont typeface="+mj-lt"/>
              <a:buAutoNum type="arabicPeriod" startAt="6"/>
            </a:pPr>
            <a:r>
              <a:rPr lang="cs-CZ" dirty="0"/>
              <a:t>A</a:t>
            </a:r>
            <a:r>
              <a:rPr lang="en-GB" dirty="0"/>
              <a:t>gent may be </a:t>
            </a:r>
            <a:r>
              <a:rPr lang="en-GB" b="1" dirty="0"/>
              <a:t>goal-directed</a:t>
            </a:r>
          </a:p>
          <a:p>
            <a:pPr marL="834390" lvl="1" indent="-514350"/>
            <a:r>
              <a:rPr lang="en-GB" dirty="0"/>
              <a:t>compare the outcome of its behaviours relative to its goals and adjust its responses</a:t>
            </a:r>
          </a:p>
        </p:txBody>
      </p:sp>
    </p:spTree>
    <p:extLst>
      <p:ext uri="{BB962C8B-B14F-4D97-AF65-F5344CB8AC3E}">
        <p14:creationId xmlns:p14="http://schemas.microsoft.com/office/powerpoint/2010/main" val="301069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Agent – </a:t>
            </a:r>
            <a:r>
              <a:rPr lang="cs-CZ" dirty="0" err="1"/>
              <a:t>other</a:t>
            </a:r>
            <a:r>
              <a:rPr lang="cs-CZ" dirty="0"/>
              <a:t> </a:t>
            </a:r>
            <a:r>
              <a:rPr lang="cs-CZ" dirty="0" err="1"/>
              <a:t>possible</a:t>
            </a:r>
            <a:r>
              <a:rPr lang="cs-CZ" dirty="0"/>
              <a:t> </a:t>
            </a:r>
            <a:r>
              <a:rPr lang="cs-CZ" dirty="0" err="1"/>
              <a:t>characteristics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7"/>
            </a:pPr>
            <a:r>
              <a:rPr lang="cs-CZ" dirty="0"/>
              <a:t>M</a:t>
            </a:r>
            <a:r>
              <a:rPr lang="en-GB" dirty="0"/>
              <a:t>ay be </a:t>
            </a:r>
            <a:r>
              <a:rPr lang="en-GB" b="1" dirty="0"/>
              <a:t>heterogeneous</a:t>
            </a:r>
            <a:endParaRPr lang="cs-CZ" b="1" dirty="0"/>
          </a:p>
          <a:p>
            <a:pPr marL="834390" lvl="1" indent="-514350"/>
            <a:r>
              <a:rPr lang="en-GB" dirty="0"/>
              <a:t>Agent characteristics and behaviours may vary</a:t>
            </a:r>
            <a:endParaRPr lang="cs-CZ" dirty="0"/>
          </a:p>
          <a:p>
            <a:pPr marL="834390" lvl="1" indent="-514350"/>
            <a:r>
              <a:rPr lang="en-GB" dirty="0"/>
              <a:t>Agents may also be endowed with different amounts of resources or accumulate different levels of resources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865343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 - </a:t>
            </a:r>
            <a:r>
              <a:rPr lang="cs-CZ" dirty="0" err="1"/>
              <a:t>interaction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cs-CZ" dirty="0"/>
              <a:t>O</a:t>
            </a:r>
            <a:r>
              <a:rPr lang="en-GB" dirty="0" err="1"/>
              <a:t>nly</a:t>
            </a:r>
            <a:r>
              <a:rPr lang="en-GB" dirty="0"/>
              <a:t> local information is available to an agent</a:t>
            </a:r>
            <a:endParaRPr lang="cs-CZ" dirty="0"/>
          </a:p>
          <a:p>
            <a:endParaRPr lang="cs-CZ" dirty="0"/>
          </a:p>
          <a:p>
            <a:r>
              <a:rPr lang="en-GB" dirty="0"/>
              <a:t>Agent-based systems are decentralized systems</a:t>
            </a:r>
            <a:endParaRPr lang="cs-CZ" dirty="0"/>
          </a:p>
          <a:p>
            <a:endParaRPr lang="cs-CZ" dirty="0"/>
          </a:p>
          <a:p>
            <a:r>
              <a:rPr lang="cs-CZ" dirty="0"/>
              <a:t>N</a:t>
            </a:r>
            <a:r>
              <a:rPr lang="en-GB" dirty="0"/>
              <a:t>o central authority that either pushes out globally available information to all agents or controls their behaviour in an effort to optimize system performance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9738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Agent - </a:t>
            </a:r>
            <a:r>
              <a:rPr lang="cs-CZ" dirty="0" err="1"/>
              <a:t>interaction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</a:t>
            </a:r>
            <a:r>
              <a:rPr lang="en-GB" dirty="0" err="1"/>
              <a:t>ot</a:t>
            </a:r>
            <a:r>
              <a:rPr lang="en-GB" dirty="0"/>
              <a:t> all agents interact directly with all the other agents all the time</a:t>
            </a:r>
            <a:endParaRPr lang="cs-CZ" dirty="0"/>
          </a:p>
          <a:p>
            <a:endParaRPr lang="cs-CZ" dirty="0"/>
          </a:p>
          <a:p>
            <a:r>
              <a:rPr lang="en-GB" dirty="0"/>
              <a:t>How agents are connected to each other is generally termed an agent-based model’s </a:t>
            </a:r>
            <a:r>
              <a:rPr lang="en-GB" b="1" dirty="0"/>
              <a:t>topology</a:t>
            </a:r>
            <a:endParaRPr lang="cs-CZ" b="1" dirty="0"/>
          </a:p>
          <a:p>
            <a:pPr lvl="1"/>
            <a:r>
              <a:rPr lang="en-GB" dirty="0"/>
              <a:t>A topology describes who transfers information to whom</a:t>
            </a:r>
            <a:endParaRPr lang="cs-CZ" dirty="0"/>
          </a:p>
          <a:p>
            <a:pPr lvl="1"/>
            <a:r>
              <a:rPr lang="cs-CZ" dirty="0"/>
              <a:t>A</a:t>
            </a:r>
            <a:r>
              <a:rPr lang="en-GB" dirty="0"/>
              <a:t>gents </a:t>
            </a:r>
            <a:r>
              <a:rPr lang="cs-CZ" dirty="0" err="1"/>
              <a:t>could</a:t>
            </a:r>
            <a:r>
              <a:rPr lang="cs-CZ" dirty="0"/>
              <a:t> </a:t>
            </a:r>
            <a:r>
              <a:rPr lang="en-GB" dirty="0"/>
              <a:t>interact according to multiple topologies</a:t>
            </a:r>
            <a:endParaRPr lang="cs-CZ" b="1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780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cs-CZ" dirty="0"/>
              <a:t>ABS – </a:t>
            </a:r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example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23528" y="1844824"/>
            <a:ext cx="8496944" cy="4297656"/>
          </a:xfrm>
        </p:spPr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r>
              <a:rPr lang="en-US" dirty="0">
                <a:hlinkClick r:id="rId3"/>
              </a:rPr>
              <a:t>John Conway's Game of Life</a:t>
            </a:r>
            <a:endParaRPr lang="cs-CZ" dirty="0"/>
          </a:p>
          <a:p>
            <a:endParaRPr lang="cs-CZ" dirty="0"/>
          </a:p>
          <a:p>
            <a:pPr marL="457200" lvl="1" indent="0">
              <a:buNone/>
            </a:pPr>
            <a:endParaRPr lang="cs-CZ" dirty="0"/>
          </a:p>
          <a:p>
            <a:pPr marL="514350" indent="-514350">
              <a:buFont typeface="+mj-lt"/>
              <a:buAutoNum type="arabicPeriod" startAt="3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41497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ABS - </a:t>
            </a:r>
            <a:r>
              <a:rPr lang="cs-CZ" dirty="0" err="1"/>
              <a:t>applications</a:t>
            </a:r>
            <a:endParaRPr lang="en-GB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agent behaviour in the stock market </a:t>
            </a:r>
          </a:p>
          <a:p>
            <a:pPr lvl="0"/>
            <a:r>
              <a:rPr lang="en-GB" dirty="0"/>
              <a:t>supply chains </a:t>
            </a:r>
          </a:p>
          <a:p>
            <a:pPr lvl="0"/>
            <a:r>
              <a:rPr lang="en-GB" dirty="0"/>
              <a:t>to predicting the spread of epidemics </a:t>
            </a:r>
          </a:p>
          <a:p>
            <a:pPr lvl="0"/>
            <a:r>
              <a:rPr lang="en-GB" dirty="0"/>
              <a:t>the threat of bio-warfare</a:t>
            </a:r>
          </a:p>
          <a:p>
            <a:pPr lvl="0"/>
            <a:r>
              <a:rPr lang="en-GB" dirty="0"/>
              <a:t>modelling the adaptive immune system </a:t>
            </a:r>
          </a:p>
          <a:p>
            <a:pPr lvl="0"/>
            <a:r>
              <a:rPr lang="en-GB" dirty="0"/>
              <a:t>understanding consumer purchasing behaviour </a:t>
            </a:r>
          </a:p>
          <a:p>
            <a:pPr lvl="0"/>
            <a:r>
              <a:rPr lang="en-GB" dirty="0"/>
              <a:t>from understanding the fall of ancient civilizations </a:t>
            </a:r>
          </a:p>
          <a:p>
            <a:pPr lvl="0"/>
            <a:r>
              <a:rPr lang="en-GB"/>
              <a:t>to modelling the engagement of forces on the battlefield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F235ED-F277-8BFA-76E2-8C42597C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cs-CZ" dirty="0" err="1"/>
              <a:t>Preparation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exam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82FDDB-5C3A-1D5A-76F2-8FA76E5C44E4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The </a:t>
            </a:r>
            <a:r>
              <a:rPr lang="en-US" sz="1800" b="1" dirty="0"/>
              <a:t>population of lemmings </a:t>
            </a:r>
            <a:r>
              <a:rPr lang="en-US" sz="1800" dirty="0"/>
              <a:t>is increased by the </a:t>
            </a:r>
            <a:r>
              <a:rPr lang="en-US" sz="1800" u="sng" dirty="0"/>
              <a:t>increase of lemmings</a:t>
            </a:r>
            <a:r>
              <a:rPr lang="en-US" sz="1800" dirty="0"/>
              <a:t>, which depends on the </a:t>
            </a:r>
            <a:r>
              <a:rPr lang="en-US" sz="1800" i="1" dirty="0">
                <a:solidFill>
                  <a:schemeClr val="accent1">
                    <a:lumMod val="75000"/>
                  </a:schemeClr>
                </a:solidFill>
              </a:rPr>
              <a:t>average birth rate of lemmings</a:t>
            </a:r>
            <a:r>
              <a:rPr lang="en-US" sz="1800" dirty="0"/>
              <a:t>. The larger their population, the larger the increase. Their population is then reduced by their </a:t>
            </a:r>
            <a:r>
              <a:rPr lang="en-US" sz="1800" u="sng" dirty="0"/>
              <a:t>decline, </a:t>
            </a:r>
            <a:r>
              <a:rPr lang="en-US" sz="1800" dirty="0"/>
              <a:t>which is mainly influenced by the </a:t>
            </a:r>
            <a:r>
              <a:rPr lang="en-US" sz="1800" i="1" dirty="0">
                <a:solidFill>
                  <a:schemeClr val="accent1">
                    <a:lumMod val="75000"/>
                  </a:schemeClr>
                </a:solidFill>
              </a:rPr>
              <a:t>hunting of lemmings </a:t>
            </a:r>
            <a:r>
              <a:rPr lang="en-US" sz="1800" dirty="0"/>
              <a:t>by their natural predator, the ermine. How much lemming hunting affects their decline is expressed by the </a:t>
            </a:r>
            <a:r>
              <a:rPr lang="en-US" sz="1800" i="1" dirty="0">
                <a:solidFill>
                  <a:schemeClr val="accent1">
                    <a:lumMod val="75000"/>
                  </a:schemeClr>
                </a:solidFill>
              </a:rPr>
              <a:t>average conversion of hunting to lemming decline</a:t>
            </a:r>
            <a:r>
              <a:rPr lang="en-US" sz="1800" dirty="0"/>
              <a:t>.</a:t>
            </a:r>
            <a:endParaRPr lang="cs-CZ" sz="18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48F64B-ECC9-731E-61D5-84986CCD468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Create</a:t>
            </a:r>
            <a:r>
              <a:rPr lang="cs-CZ" dirty="0"/>
              <a:t> SFD </a:t>
            </a:r>
            <a:r>
              <a:rPr lang="cs-CZ" dirty="0" err="1"/>
              <a:t>according</a:t>
            </a:r>
            <a:r>
              <a:rPr lang="cs-CZ" dirty="0"/>
              <a:t> to </a:t>
            </a:r>
            <a:r>
              <a:rPr lang="cs-CZ" dirty="0" err="1"/>
              <a:t>following</a:t>
            </a:r>
            <a:r>
              <a:rPr lang="cs-CZ" dirty="0"/>
              <a:t> text – part I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20C3B55-CE3E-BC7D-15CB-603EC3A3A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Lemming</a:t>
            </a:r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9E357E5-580E-836E-2B4A-D52B090C7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9" r="10464" b="-2"/>
          <a:stretch/>
        </p:blipFill>
        <p:spPr>
          <a:xfrm>
            <a:off x="4800600" y="2438400"/>
            <a:ext cx="3886200" cy="3581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18408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DD152C-CA5F-98BE-044E-6FDCF967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Preparation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exam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AF336F-55FF-BF6F-DAD4-E5BDA5B3BCD3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b="1" dirty="0"/>
              <a:t>The population of ermines </a:t>
            </a:r>
            <a:r>
              <a:rPr lang="en-US" sz="1600" dirty="0"/>
              <a:t>is increased by </a:t>
            </a:r>
            <a:r>
              <a:rPr lang="en-US" sz="1600" u="sng" dirty="0"/>
              <a:t>their increase</a:t>
            </a:r>
            <a:r>
              <a:rPr lang="en-US" sz="1600" dirty="0"/>
              <a:t>, which is also mainly dependent on the hunting of lemmings, because the more lemmings they catch, the better they do and the greater their increase, which is expressed by the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average conversion of hunting to the increase of ermines</a:t>
            </a:r>
            <a:r>
              <a:rPr lang="en-US" sz="1600" dirty="0"/>
              <a:t>. </a:t>
            </a:r>
            <a:r>
              <a:rPr lang="en-US" sz="1600" u="sng" dirty="0"/>
              <a:t>The decline of ermines</a:t>
            </a:r>
            <a:r>
              <a:rPr lang="en-US" sz="1600" dirty="0"/>
              <a:t>, which reduces their population, is influenced mainly by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the average mortality of ermines</a:t>
            </a:r>
            <a:r>
              <a:rPr lang="en-US" sz="1600" dirty="0"/>
              <a:t>. The larger their population, the greater their decline. The hunting of lemmings is greater the greater the population of lemmings and the population of ermines.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cs-CZ" sz="1600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20BF87-1A8E-9AB0-94DB-FD39AEE9B7B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 fontScale="70000" lnSpcReduction="20000"/>
          </a:bodyPr>
          <a:lstStyle/>
          <a:p>
            <a:endParaRPr lang="cs-CZ" dirty="0"/>
          </a:p>
          <a:p>
            <a:r>
              <a:rPr lang="cs-CZ" dirty="0" err="1">
                <a:solidFill>
                  <a:schemeClr val="tx1"/>
                </a:solidFill>
              </a:rPr>
              <a:t>Create</a:t>
            </a:r>
            <a:r>
              <a:rPr lang="cs-CZ" dirty="0">
                <a:solidFill>
                  <a:schemeClr val="tx1"/>
                </a:solidFill>
              </a:rPr>
              <a:t> SFD </a:t>
            </a:r>
            <a:r>
              <a:rPr lang="cs-CZ" dirty="0" err="1">
                <a:solidFill>
                  <a:schemeClr val="tx1"/>
                </a:solidFill>
              </a:rPr>
              <a:t>according</a:t>
            </a:r>
            <a:r>
              <a:rPr lang="cs-CZ" dirty="0">
                <a:solidFill>
                  <a:schemeClr val="tx1"/>
                </a:solidFill>
              </a:rPr>
              <a:t> to </a:t>
            </a:r>
            <a:r>
              <a:rPr lang="cs-CZ" dirty="0" err="1">
                <a:solidFill>
                  <a:schemeClr val="tx1"/>
                </a:solidFill>
              </a:rPr>
              <a:t>following</a:t>
            </a:r>
            <a:r>
              <a:rPr lang="cs-CZ" dirty="0">
                <a:solidFill>
                  <a:schemeClr val="tx1"/>
                </a:solidFill>
              </a:rPr>
              <a:t> text – part </a:t>
            </a:r>
            <a:r>
              <a:rPr lang="cs-CZ" dirty="0"/>
              <a:t>II</a:t>
            </a:r>
            <a:endParaRPr lang="en-US" dirty="0"/>
          </a:p>
          <a:p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F25FBF0-FE40-6188-B39D-06594B8FF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 err="1">
                <a:solidFill>
                  <a:schemeClr val="tx1"/>
                </a:solidFill>
              </a:rPr>
              <a:t>Ermine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err="1">
                <a:solidFill>
                  <a:schemeClr val="tx1"/>
                </a:solidFill>
              </a:rPr>
              <a:t>with</a:t>
            </a:r>
            <a:r>
              <a:rPr lang="cs-CZ" dirty="0">
                <a:solidFill>
                  <a:schemeClr val="tx1"/>
                </a:solidFill>
              </a:rPr>
              <a:t> a </a:t>
            </a:r>
            <a:r>
              <a:rPr lang="cs-CZ" dirty="0" err="1">
                <a:solidFill>
                  <a:schemeClr val="tx1"/>
                </a:solidFill>
              </a:rPr>
              <a:t>lemming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262A33F-1B11-F717-D0E6-B2A03538AD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8" r="29954" b="-2"/>
          <a:stretch/>
        </p:blipFill>
        <p:spPr>
          <a:xfrm>
            <a:off x="4800600" y="2438400"/>
            <a:ext cx="3886200" cy="3581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7053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text 7">
            <a:extLst>
              <a:ext uri="{FF2B5EF4-FFF2-40B4-BE49-F238E27FC236}">
                <a16:creationId xmlns:a16="http://schemas.microsoft.com/office/drawing/2014/main" id="{6FE074B8-7BE2-F268-93FF-A800AD6B8F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4388" y="2899075"/>
            <a:ext cx="7522369" cy="105985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your</a:t>
            </a:r>
            <a:r>
              <a:rPr lang="cs-CZ" dirty="0"/>
              <a:t> </a:t>
            </a:r>
            <a:r>
              <a:rPr lang="cs-CZ" dirty="0" err="1"/>
              <a:t>attention</a:t>
            </a:r>
            <a:r>
              <a:rPr lang="cs-CZ" dirty="0"/>
              <a:t>.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997481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1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1" id="{B0B25E39-7186-46C5-9D39-950CFB3AB267}" vid="{2449E244-AD5F-4BB9-8A5A-7BFBD4B00EA6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0</TotalTime>
  <Words>1730</Words>
  <Application>Microsoft Office PowerPoint</Application>
  <PresentationFormat>Předvádění na obrazovce (4:3)</PresentationFormat>
  <Paragraphs>230</Paragraphs>
  <Slides>28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28</vt:i4>
      </vt:variant>
    </vt:vector>
  </HeadingPairs>
  <TitlesOfParts>
    <vt:vector size="36" baseType="lpstr">
      <vt:lpstr>Arial</vt:lpstr>
      <vt:lpstr>Calibri</vt:lpstr>
      <vt:lpstr>Cambria Math</vt:lpstr>
      <vt:lpstr>Roboto</vt:lpstr>
      <vt:lpstr>Roboto Black</vt:lpstr>
      <vt:lpstr>Roboto Medium</vt:lpstr>
      <vt:lpstr>Wingdings</vt:lpstr>
      <vt:lpstr>Motiv1</vt:lpstr>
      <vt:lpstr>Prezentace aplikace PowerPoint</vt:lpstr>
      <vt:lpstr>Simulation</vt:lpstr>
      <vt:lpstr>Why simulation?</vt:lpstr>
      <vt:lpstr>Costs of simulation</vt:lpstr>
      <vt:lpstr>Simulation vs complexity</vt:lpstr>
      <vt:lpstr>Types of simulation</vt:lpstr>
      <vt:lpstr>Simulation project</vt:lpstr>
      <vt:lpstr>Monte Carlo Simulation</vt:lpstr>
      <vt:lpstr>Example</vt:lpstr>
      <vt:lpstr>Example</vt:lpstr>
      <vt:lpstr>Agent-based simulation</vt:lpstr>
      <vt:lpstr>Agent-based modelling and simulation (ABMS)</vt:lpstr>
      <vt:lpstr>Agent-based simulation</vt:lpstr>
      <vt:lpstr>Agent-based simulation</vt:lpstr>
      <vt:lpstr>Agent-based simulation: elements</vt:lpstr>
      <vt:lpstr>Agents</vt:lpstr>
      <vt:lpstr>Modelling autonomy</vt:lpstr>
      <vt:lpstr>Agent - characteristics</vt:lpstr>
      <vt:lpstr>Agent - characteristics</vt:lpstr>
      <vt:lpstr>Agent – other possible characteristics</vt:lpstr>
      <vt:lpstr>Agent – other possible characteristics</vt:lpstr>
      <vt:lpstr>Agent - interaction</vt:lpstr>
      <vt:lpstr>Agent - interaction</vt:lpstr>
      <vt:lpstr>ABS – simple example</vt:lpstr>
      <vt:lpstr>ABS - applications</vt:lpstr>
      <vt:lpstr>Preparation for the exam</vt:lpstr>
      <vt:lpstr>Preparation for the exam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 and System Analysis</dc:title>
  <dc:creator>krejcii</dc:creator>
  <cp:lastModifiedBy>Horáková Tereza</cp:lastModifiedBy>
  <cp:revision>537</cp:revision>
  <cp:lastPrinted>2024-04-29T07:33:26Z</cp:lastPrinted>
  <dcterms:created xsi:type="dcterms:W3CDTF">2012-01-18T09:02:27Z</dcterms:created>
  <dcterms:modified xsi:type="dcterms:W3CDTF">2024-10-28T21:29:12Z</dcterms:modified>
</cp:coreProperties>
</file>