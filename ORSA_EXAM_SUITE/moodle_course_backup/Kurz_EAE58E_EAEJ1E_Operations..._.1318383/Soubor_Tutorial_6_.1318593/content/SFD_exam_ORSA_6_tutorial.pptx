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-2472" y="-5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9DA839A-E583-8AC3-777F-ACCCF0EF3E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C3DC72AE-8304-AEC9-78D4-6FFE759A09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C63AA4B-1E19-0B96-B24B-1C2955C58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05581-2F23-4CA8-8092-C0D52B5E8DA1}" type="datetimeFigureOut">
              <a:rPr lang="cs-CZ" smtClean="0"/>
              <a:t>25.04.2024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5579B3E-01FA-8CE5-5EAA-BCDFA1C09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7CB0B95-A45D-5FBC-6799-9AB8B27CE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12839-ADA3-43D4-8F29-88B8F5258DD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0531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32A58FF-2838-4578-2172-E157B2571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CC54924-0C37-738B-58E8-34FF19AF3C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FB8A7ED-36CE-8A2D-5BC1-4D3343137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05581-2F23-4CA8-8092-C0D52B5E8DA1}" type="datetimeFigureOut">
              <a:rPr lang="cs-CZ" smtClean="0"/>
              <a:t>25.04.2024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0280B0A-B4B6-54B2-F915-F248EB34A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2834A67-2F78-DE10-4D35-57BF5F8B9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12839-ADA3-43D4-8F29-88B8F5258DD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89012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DCDFC09-AFC9-F6B9-1AFE-DA03C0408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D438B736-4370-8CDF-2F5E-7B2FF1E627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B70DF16-8F17-7528-D95F-9A8F1788D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05581-2F23-4CA8-8092-C0D52B5E8DA1}" type="datetimeFigureOut">
              <a:rPr lang="cs-CZ" smtClean="0"/>
              <a:t>25.04.2024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F2576AB-2C0B-43B3-30CF-3616F0961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42D9D9C-4C88-9903-8B86-949103F11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12839-ADA3-43D4-8F29-88B8F5258DD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96668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2A37813-7D46-04C5-623F-BC665A5A0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C877224-9DBC-F868-F423-C36962B615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0B9DEB62-1587-9BF0-8BD2-FA9BD2EB3D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BE559C59-4580-66CE-6AD4-F674A4449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05581-2F23-4CA8-8092-C0D52B5E8DA1}" type="datetimeFigureOut">
              <a:rPr lang="cs-CZ" smtClean="0"/>
              <a:t>25.04.2024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71CBA966-6D9C-394D-6C99-BB62BE06B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6E5FFBAA-F1E8-341D-7185-CDCD52EF5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12839-ADA3-43D4-8F29-88B8F5258DD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14152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93FB824-3D4E-37DD-56AA-95DB272A4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7B592BA5-F010-3B93-F2EA-F1EFBA2C78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7F9E67DB-1EF8-729E-F2C9-86BE4B3A41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42FA4DB4-4E51-47D2-0A93-CA6463A008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AD856ACE-8AB2-BF8C-0ED6-22FA0C5EA1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48C4C557-A0C6-58EC-BBF7-46F9A9416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05581-2F23-4CA8-8092-C0D52B5E8DA1}" type="datetimeFigureOut">
              <a:rPr lang="cs-CZ" smtClean="0"/>
              <a:t>25.04.2024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5178E03B-B900-5D61-4D84-6569F975C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5E73604C-8C9B-17BF-87DC-D8303F88F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12839-ADA3-43D4-8F29-88B8F5258DD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77807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38D1366-0A1B-3C6F-7D35-2DB3D9CF7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5C9FA82E-C2AF-5982-3920-227807255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05581-2F23-4CA8-8092-C0D52B5E8DA1}" type="datetimeFigureOut">
              <a:rPr lang="cs-CZ" smtClean="0"/>
              <a:t>25.04.2024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30D86CEB-A937-19E1-234D-5782CB439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0D6CFBC-C632-CB1A-1E37-D40A4A4E0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12839-ADA3-43D4-8F29-88B8F5258DD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05396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0C972B64-264A-AAD1-646B-74D531719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05581-2F23-4CA8-8092-C0D52B5E8DA1}" type="datetimeFigureOut">
              <a:rPr lang="cs-CZ" smtClean="0"/>
              <a:t>25.04.2024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3F3047E6-CF3A-02B5-65EF-748633626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7A277397-2458-5661-DB8C-A54877EF5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12839-ADA3-43D4-8F29-88B8F5258DD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90845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DDF946E-5527-D9B8-E268-3B25767E0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254F124-654C-D670-60D6-256BFF3753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F2F3DDFA-4C56-F7BD-8E0A-8CBF88D1D3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274D5C50-281F-23E8-CEF0-569836029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05581-2F23-4CA8-8092-C0D52B5E8DA1}" type="datetimeFigureOut">
              <a:rPr lang="cs-CZ" smtClean="0"/>
              <a:t>25.04.2024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037B2AEB-80E6-BEF8-836F-36927F518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0FE9F15F-2DB1-0DDF-E546-EE0D5B21D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12839-ADA3-43D4-8F29-88B8F5258DD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49313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689639-257D-C497-7319-895E86C1E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CF00244C-977A-D719-8ED2-7B1908E786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2A97C0B1-6B79-B1C7-BB26-BD2C2739C9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53B5298D-AB30-2DD8-5487-D517C72B9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05581-2F23-4CA8-8092-C0D52B5E8DA1}" type="datetimeFigureOut">
              <a:rPr lang="cs-CZ" smtClean="0"/>
              <a:t>25.04.2024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6CBB304C-632B-7F1E-DA8A-452AF85E4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7680531D-6740-CBB7-4E71-3EDDEA9C7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12839-ADA3-43D4-8F29-88B8F5258DD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18352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254129E-9B1D-6D3E-4038-75273871C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7923794C-E99D-13D0-C3F1-81D8A06977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EDEF983-8FC3-8503-940A-AC665A32E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05581-2F23-4CA8-8092-C0D52B5E8DA1}" type="datetimeFigureOut">
              <a:rPr lang="cs-CZ" smtClean="0"/>
              <a:t>25.04.2024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2351229-5560-6235-94A9-FDFE23D2C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BA7E043-BE3E-D233-4983-3972D491E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12839-ADA3-43D4-8F29-88B8F5258DD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11452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7D32E1BF-003E-8542-4DCD-9B4FC43BE3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D874C57D-643A-945E-E908-9FF863C6BC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8BDEDDE-96CD-375D-5903-3D454C027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05581-2F23-4CA8-8092-C0D52B5E8DA1}" type="datetimeFigureOut">
              <a:rPr lang="cs-CZ" smtClean="0"/>
              <a:t>25.04.2024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0B3DBF8-8432-3EB6-47D1-2E97E6217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1314B21-D64F-1ADD-235B-5C72CDF06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12839-ADA3-43D4-8F29-88B8F5258DD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38410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AF2EA18A-E4B0-6AD4-5F40-3D8B7DB70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A2A53838-2377-01FB-D758-780EBE4BF7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7D4202E-73F7-9C0F-464F-05BECD422C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A05581-2F23-4CA8-8092-C0D52B5E8DA1}" type="datetimeFigureOut">
              <a:rPr lang="cs-CZ" smtClean="0"/>
              <a:t>25.04.2024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CA94FC0-A611-3FA4-CAA9-B2657D7183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A64E4B1-4CEF-0AB9-476F-99CE83EAF1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A12839-ADA3-43D4-8F29-88B8F5258DD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58953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F941942-8BB2-D5CA-8A09-E4F6894094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 err="1"/>
              <a:t>Tutorial</a:t>
            </a:r>
            <a:r>
              <a:rPr lang="cs-CZ" dirty="0"/>
              <a:t> 6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2852F44B-5EAD-5AC0-374D-5005C92896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 err="1"/>
              <a:t>Preparation</a:t>
            </a:r>
            <a:r>
              <a:rPr lang="cs-CZ" dirty="0"/>
              <a:t> </a:t>
            </a:r>
            <a:r>
              <a:rPr lang="cs-CZ" dirty="0" err="1"/>
              <a:t>for</a:t>
            </a:r>
            <a:r>
              <a:rPr lang="cs-CZ" dirty="0"/>
              <a:t> </a:t>
            </a:r>
            <a:r>
              <a:rPr lang="cs-CZ" dirty="0" err="1"/>
              <a:t>the</a:t>
            </a:r>
            <a:r>
              <a:rPr lang="cs-CZ" dirty="0"/>
              <a:t>  </a:t>
            </a:r>
            <a:r>
              <a:rPr lang="cs-CZ" dirty="0" err="1"/>
              <a:t>practical</a:t>
            </a:r>
            <a:r>
              <a:rPr lang="cs-CZ" dirty="0"/>
              <a:t>  </a:t>
            </a:r>
            <a:r>
              <a:rPr lang="cs-CZ" dirty="0" err="1"/>
              <a:t>ie</a:t>
            </a:r>
            <a:r>
              <a:rPr lang="cs-CZ" dirty="0"/>
              <a:t>. </a:t>
            </a:r>
            <a:r>
              <a:rPr lang="cs-CZ" dirty="0" err="1"/>
              <a:t>the</a:t>
            </a:r>
            <a:r>
              <a:rPr lang="cs-CZ" dirty="0"/>
              <a:t> second part </a:t>
            </a:r>
            <a:r>
              <a:rPr lang="cs-CZ" dirty="0" err="1"/>
              <a:t>of</a:t>
            </a:r>
            <a:r>
              <a:rPr lang="cs-CZ" dirty="0"/>
              <a:t> </a:t>
            </a:r>
            <a:r>
              <a:rPr lang="cs-CZ" dirty="0" err="1"/>
              <a:t>the</a:t>
            </a:r>
            <a:r>
              <a:rPr lang="cs-CZ" dirty="0"/>
              <a:t> </a:t>
            </a:r>
            <a:r>
              <a:rPr lang="cs-CZ" dirty="0" err="1"/>
              <a:t>exam</a:t>
            </a:r>
            <a:endParaRPr lang="cs-CZ" dirty="0"/>
          </a:p>
          <a:p>
            <a:r>
              <a:rPr lang="cs-CZ" dirty="0"/>
              <a:t>SFD in </a:t>
            </a:r>
            <a:r>
              <a:rPr lang="cs-CZ" dirty="0" err="1"/>
              <a:t>Vensim</a:t>
            </a:r>
            <a:r>
              <a:rPr lang="cs-CZ" dirty="0"/>
              <a:t> PLE (</a:t>
            </a:r>
            <a:r>
              <a:rPr lang="cs-CZ" dirty="0" err="1"/>
              <a:t>without</a:t>
            </a:r>
            <a:r>
              <a:rPr lang="cs-CZ" dirty="0"/>
              <a:t> f(x)), </a:t>
            </a:r>
          </a:p>
        </p:txBody>
      </p:sp>
    </p:spTree>
    <p:extLst>
      <p:ext uri="{BB962C8B-B14F-4D97-AF65-F5344CB8AC3E}">
        <p14:creationId xmlns:p14="http://schemas.microsoft.com/office/powerpoint/2010/main" val="764598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9B8A2E1-3ABB-6BAD-ED21-5AB40634E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4E295BC-B2BB-129E-0A65-0DF3898E7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4491958E-D9E1-35F6-62BC-BB99055D6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" y="1825625"/>
            <a:ext cx="11791950" cy="232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546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4015C07-AA81-0292-2661-693312F58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A4F7077-0DD1-AF66-A721-B16173C52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C4DF8266-9C28-81BE-8382-474CA4784D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" y="1827844"/>
            <a:ext cx="11849100" cy="292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200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DC5CDF4-B129-56E5-FDE7-8B8261C9A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8F30F5FD-0AFF-4162-6821-2B3C019F71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42" y="1208735"/>
            <a:ext cx="12192000" cy="1784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020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6128718-D079-9706-B285-F1BC4EC13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53691" cy="2141537"/>
          </a:xfrm>
        </p:spPr>
        <p:txBody>
          <a:bodyPr>
            <a:normAutofit fontScale="90000"/>
          </a:bodyPr>
          <a:lstStyle/>
          <a:p>
            <a:pPr marL="0" indent="0"/>
            <a:r>
              <a:rPr lang="cs-CZ" dirty="0" err="1"/>
              <a:t>Information</a:t>
            </a:r>
            <a:r>
              <a:rPr lang="cs-CZ" dirty="0"/>
              <a:t> </a:t>
            </a:r>
            <a:r>
              <a:rPr lang="cs-CZ" dirty="0" err="1"/>
              <a:t>about</a:t>
            </a:r>
            <a:r>
              <a:rPr lang="cs-CZ" dirty="0"/>
              <a:t> </a:t>
            </a:r>
            <a:r>
              <a:rPr lang="cs-CZ" dirty="0" err="1"/>
              <a:t>exam</a:t>
            </a:r>
            <a:r>
              <a:rPr lang="cs-CZ" dirty="0"/>
              <a:t> </a:t>
            </a:r>
            <a:r>
              <a:rPr lang="cs-CZ" dirty="0" err="1"/>
              <a:t>scheme</a:t>
            </a:r>
            <a:r>
              <a:rPr lang="cs-CZ" dirty="0"/>
              <a:t> </a:t>
            </a:r>
            <a:r>
              <a:rPr lang="cs-CZ" dirty="0" err="1"/>
              <a:t>is</a:t>
            </a:r>
            <a:r>
              <a:rPr lang="cs-CZ" dirty="0"/>
              <a:t> in </a:t>
            </a:r>
            <a:r>
              <a:rPr lang="cs-CZ" dirty="0" err="1"/>
              <a:t>Moodle</a:t>
            </a:r>
            <a:r>
              <a:rPr lang="cs-CZ" dirty="0"/>
              <a:t>: </a:t>
            </a:r>
            <a:br>
              <a:rPr lang="cs-CZ" dirty="0"/>
            </a:br>
            <a:r>
              <a:rPr lang="cs-CZ" dirty="0" err="1"/>
              <a:t>see</a:t>
            </a:r>
            <a:r>
              <a:rPr lang="cs-CZ" dirty="0"/>
              <a:t> </a:t>
            </a:r>
            <a:r>
              <a:rPr lang="cs-CZ" dirty="0" err="1"/>
              <a:t>document</a:t>
            </a:r>
            <a:br>
              <a:rPr lang="cs-CZ" dirty="0"/>
            </a:br>
            <a:r>
              <a:rPr lang="cs-CZ" dirty="0"/>
              <a:t>„</a:t>
            </a:r>
            <a:r>
              <a:rPr lang="en-US" b="1" dirty="0"/>
              <a:t>Detailed information on the online exam – updated</a:t>
            </a:r>
            <a:r>
              <a:rPr lang="cs-CZ" b="1" dirty="0"/>
              <a:t>“</a:t>
            </a:r>
            <a:br>
              <a:rPr lang="en-US" b="1" dirty="0"/>
            </a:b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CDBA431-4AC7-4417-F354-77A788700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668" y="2506662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The exams are situated at the end of the Moodle course (scroll down until you find the topic called Exam with the date of your exam term).</a:t>
            </a:r>
          </a:p>
          <a:p>
            <a:r>
              <a:rPr lang="en-US" dirty="0"/>
              <a:t>The exam consists of </a:t>
            </a:r>
            <a:r>
              <a:rPr lang="en-US" b="1" dirty="0"/>
              <a:t>two parts</a:t>
            </a:r>
            <a:r>
              <a:rPr lang="en-US" dirty="0"/>
              <a:t>:</a:t>
            </a:r>
          </a:p>
          <a:p>
            <a:r>
              <a:rPr lang="en-US" i="1" dirty="0"/>
              <a:t>The first part</a:t>
            </a:r>
            <a:r>
              <a:rPr lang="en-US" dirty="0"/>
              <a:t> opens with the beginning of the term and has a time limit of </a:t>
            </a:r>
            <a:r>
              <a:rPr lang="en-US" b="1" dirty="0"/>
              <a:t>30</a:t>
            </a:r>
            <a:r>
              <a:rPr lang="en-US" dirty="0"/>
              <a:t> minutes - i.e. you </a:t>
            </a:r>
            <a:r>
              <a:rPr lang="en-US" b="1" dirty="0">
                <a:solidFill>
                  <a:srgbClr val="FF0000"/>
                </a:solidFill>
                <a:effectLst/>
              </a:rPr>
              <a:t>can't</a:t>
            </a:r>
            <a:r>
              <a:rPr lang="en-US" dirty="0"/>
              <a:t> keep this part as the second one.</a:t>
            </a:r>
          </a:p>
          <a:p>
            <a:r>
              <a:rPr lang="en-US" i="1" dirty="0"/>
              <a:t>The second part</a:t>
            </a:r>
            <a:r>
              <a:rPr lang="en-US" dirty="0"/>
              <a:t> also opens with the beginning of the term, however, closes with the end of the term.</a:t>
            </a:r>
          </a:p>
          <a:p>
            <a:r>
              <a:rPr lang="en-US" dirty="0"/>
              <a:t>Therefore, the process is clear - you must start with the </a:t>
            </a:r>
            <a:r>
              <a:rPr lang="en-US" i="1" dirty="0"/>
              <a:t>first part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388452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36874E8-8F65-E7F9-B67C-84314F049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CB07B3C-4929-8D15-F2E9-70EDD91B09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effectLst/>
              </a:rPr>
              <a:t>The first</a:t>
            </a:r>
            <a:r>
              <a:rPr lang="en-US" b="1" dirty="0"/>
              <a:t> </a:t>
            </a:r>
            <a:r>
              <a:rPr lang="en-US" dirty="0"/>
              <a:t>part of the test is for</a:t>
            </a:r>
            <a:r>
              <a:rPr lang="en-US" b="1" dirty="0"/>
              <a:t> 50 points at max</a:t>
            </a:r>
            <a:endParaRPr lang="en-US" dirty="0"/>
          </a:p>
          <a:p>
            <a:r>
              <a:rPr lang="en-US" dirty="0"/>
              <a:t>It consists of</a:t>
            </a:r>
            <a:r>
              <a:rPr lang="en-US" b="1" dirty="0"/>
              <a:t> 6 </a:t>
            </a:r>
            <a:r>
              <a:rPr lang="en-US" dirty="0"/>
              <a:t>tasks: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4 theoretical multiple-choice questions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1 theoretical question of matching type: 8 items - you must match them with 8 statements from the list.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1 task on causal loop diagram (you must prove the understanding of the notation etc.).</a:t>
            </a:r>
          </a:p>
          <a:p>
            <a:pPr marL="0" indent="0"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114266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251F2AE-0E76-C519-01F5-2C1B97CFF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8C37EF0-EC86-3058-7259-00EC5072A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>
                <a:solidFill>
                  <a:srgbClr val="FF0000"/>
                </a:solidFill>
                <a:effectLst/>
              </a:rPr>
              <a:t>The second</a:t>
            </a:r>
            <a:r>
              <a:rPr lang="en-US" b="1" dirty="0"/>
              <a:t> </a:t>
            </a:r>
            <a:r>
              <a:rPr lang="en-US" dirty="0"/>
              <a:t>part is for</a:t>
            </a:r>
            <a:r>
              <a:rPr lang="en-US" b="1" dirty="0"/>
              <a:t> 50 points at max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You must create the stock and flow diagram according to the short text. (evaluation is following: (-5 points) for wrong polarity, (-6 points) for wrong feedback (missing or non-existing), (-4 points) for the wrong type of feedback, up to (-7 points) for the mistake in the model structure, (- 10 points) for a wrongly connected stock variable with another variable of any kind.</a:t>
            </a:r>
          </a:p>
          <a:p>
            <a:r>
              <a:rPr lang="en-US" dirty="0"/>
              <a:t>Every exam has the link where you upload the file with the solution (file *.mdl from </a:t>
            </a:r>
            <a:r>
              <a:rPr lang="en-US" dirty="0" err="1"/>
              <a:t>Vensim</a:t>
            </a:r>
            <a:r>
              <a:rPr lang="en-US" dirty="0"/>
              <a:t> PLE). </a:t>
            </a:r>
            <a:r>
              <a:rPr lang="en-US" dirty="0">
                <a:solidFill>
                  <a:srgbClr val="FF0000"/>
                </a:solidFill>
                <a:effectLst/>
              </a:rPr>
              <a:t>The files submitted in a different way</a:t>
            </a:r>
            <a:r>
              <a:rPr lang="en-US" dirty="0"/>
              <a:t> (e.g. email) </a:t>
            </a:r>
            <a:r>
              <a:rPr lang="en-US" dirty="0">
                <a:solidFill>
                  <a:srgbClr val="FF0000"/>
                </a:solidFill>
                <a:effectLst/>
              </a:rPr>
              <a:t>will </a:t>
            </a:r>
            <a:r>
              <a:rPr lang="en-US" b="1" dirty="0">
                <a:solidFill>
                  <a:srgbClr val="FF0000"/>
                </a:solidFill>
                <a:effectLst/>
              </a:rPr>
              <a:t>not</a:t>
            </a:r>
            <a:r>
              <a:rPr lang="en-US" dirty="0">
                <a:solidFill>
                  <a:srgbClr val="FF0000"/>
                </a:solidFill>
                <a:effectLst/>
              </a:rPr>
              <a:t> be evaluated</a:t>
            </a:r>
            <a:r>
              <a:rPr lang="en-US" dirty="0"/>
              <a:t>. - </a:t>
            </a:r>
            <a:r>
              <a:rPr lang="en-US" b="1" dirty="0"/>
              <a:t>submitting the solution is limited by the time limit of the exam</a:t>
            </a:r>
            <a:r>
              <a:rPr lang="en-US" dirty="0"/>
              <a:t>.</a:t>
            </a:r>
          </a:p>
          <a:p>
            <a:r>
              <a:rPr lang="en-US" i="1" dirty="0"/>
              <a:t>Only in case of technical difficulties, you can't submit the solution via email but it is necessary to attach also the </a:t>
            </a:r>
            <a:r>
              <a:rPr lang="en-US" i="1" dirty="0" err="1"/>
              <a:t>PrintScreen</a:t>
            </a:r>
            <a:r>
              <a:rPr lang="en-US" i="1" dirty="0"/>
              <a:t> with the bug report or </a:t>
            </a:r>
            <a:r>
              <a:rPr lang="en-US" i="1" dirty="0" err="1"/>
              <a:t>PrintScreen</a:t>
            </a:r>
            <a:r>
              <a:rPr lang="en-US" i="1" dirty="0"/>
              <a:t> that depict the problem.</a:t>
            </a:r>
            <a:endParaRPr lang="en-US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062590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7D51E16-5C1F-FB76-340D-5E2C6FD9B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797C805-9111-5B7E-0917-60D3A87837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effectLst/>
              </a:rPr>
              <a:t>Exam evaluation:</a:t>
            </a:r>
            <a:endParaRPr lang="en-US" dirty="0"/>
          </a:p>
          <a:p>
            <a:r>
              <a:rPr lang="en-US" dirty="0"/>
              <a:t>- minimum number of points is </a:t>
            </a:r>
            <a:r>
              <a:rPr lang="en-US" b="1" dirty="0"/>
              <a:t>60</a:t>
            </a:r>
            <a:endParaRPr lang="en-US" dirty="0"/>
          </a:p>
          <a:p>
            <a:r>
              <a:rPr lang="en-US" dirty="0"/>
              <a:t>- you need to get at </a:t>
            </a:r>
            <a:r>
              <a:rPr lang="en-US" dirty="0">
                <a:solidFill>
                  <a:srgbClr val="FF6633"/>
                </a:solidFill>
                <a:effectLst/>
              </a:rPr>
              <a:t>least </a:t>
            </a:r>
            <a:r>
              <a:rPr lang="en-US" b="1" dirty="0">
                <a:solidFill>
                  <a:srgbClr val="FF6633"/>
                </a:solidFill>
                <a:effectLst/>
              </a:rPr>
              <a:t>40%</a:t>
            </a:r>
            <a:r>
              <a:rPr lang="en-US" dirty="0"/>
              <a:t> of the points from part 1</a:t>
            </a:r>
          </a:p>
          <a:p>
            <a:r>
              <a:rPr lang="en-US" dirty="0"/>
              <a:t>- you need to get </a:t>
            </a:r>
            <a:r>
              <a:rPr lang="en-US" dirty="0">
                <a:solidFill>
                  <a:srgbClr val="FF6633"/>
                </a:solidFill>
                <a:effectLst/>
              </a:rPr>
              <a:t>at least </a:t>
            </a:r>
            <a:r>
              <a:rPr lang="en-US" b="1" dirty="0">
                <a:solidFill>
                  <a:srgbClr val="FF6633"/>
                </a:solidFill>
                <a:effectLst/>
              </a:rPr>
              <a:t>40%</a:t>
            </a:r>
            <a:r>
              <a:rPr lang="en-US" dirty="0"/>
              <a:t> of the points from part 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60-75 points: good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76-90 points: very good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91-100 points: excellent</a:t>
            </a:r>
          </a:p>
          <a:p>
            <a:r>
              <a:rPr lang="en-US" dirty="0"/>
              <a:t>The bonus points from lectures are added to the result of the exam.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9930594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B01118B-02F4-40C8-0F4A-B2DF9C550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771A8A5-EAFB-7FDC-99E2-FCE76BF8E9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The current settings are according to the expectation that the exam will be processed online - via Moodle. The equal conditions are of the highest priority.</a:t>
            </a:r>
            <a:br>
              <a:rPr lang="en-US" dirty="0"/>
            </a:br>
            <a:endParaRPr lang="en-US" dirty="0"/>
          </a:p>
          <a:p>
            <a:r>
              <a:rPr lang="en-US" dirty="0"/>
              <a:t>You can find the exam terms in the university information system. </a:t>
            </a:r>
            <a:r>
              <a:rPr lang="en-US" b="1" i="1" dirty="0">
                <a:solidFill>
                  <a:srgbClr val="FF0000"/>
                </a:solidFill>
                <a:effectLst/>
              </a:rPr>
              <a:t>It is necessary to be registered for the term</a:t>
            </a:r>
            <a:r>
              <a:rPr lang="en-US" dirty="0"/>
              <a:t>, otherwise, I will not accept the successful passing of the online test. Before you write to me that you can't register - there is a precondition of the credit in the system, moreover, check the "Registration from" term.</a:t>
            </a:r>
          </a:p>
          <a:p>
            <a:r>
              <a:rPr lang="en-US" dirty="0"/>
              <a:t>Please pay attention also to the term "</a:t>
            </a:r>
            <a:r>
              <a:rPr lang="en-US" b="1" dirty="0"/>
              <a:t>Unregister until</a:t>
            </a:r>
            <a:r>
              <a:rPr lang="en-US" dirty="0"/>
              <a:t>".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r>
              <a:rPr lang="en-US" dirty="0"/>
              <a:t>Please, keep in mind that the terms of type "preliminary-running" are for the credit tests only.</a:t>
            </a:r>
          </a:p>
          <a:p>
            <a:pPr marL="0" indent="0"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038351445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586</Words>
  <Application>Microsoft Office PowerPoint</Application>
  <PresentationFormat>Širokoúhlá obrazovka</PresentationFormat>
  <Paragraphs>31</Paragraphs>
  <Slides>9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Motiv Office</vt:lpstr>
      <vt:lpstr>Tutorial 6</vt:lpstr>
      <vt:lpstr>Prezentace aplikace PowerPoint</vt:lpstr>
      <vt:lpstr>Prezentace aplikace PowerPoint</vt:lpstr>
      <vt:lpstr>Prezentace aplikace PowerPoint</vt:lpstr>
      <vt:lpstr>Information about exam scheme is in Moodle:  see document „Detailed information on the online exam – updated“ 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Tutorial 6</dc:title>
  <dc:creator>Horáková Tereza</dc:creator>
  <cp:lastModifiedBy>Mauleshova Mira</cp:lastModifiedBy>
  <cp:revision>2</cp:revision>
  <dcterms:created xsi:type="dcterms:W3CDTF">2024-04-25T18:45:12Z</dcterms:created>
  <dcterms:modified xsi:type="dcterms:W3CDTF">2024-04-25T20:53:48Z</dcterms:modified>
</cp:coreProperties>
</file>